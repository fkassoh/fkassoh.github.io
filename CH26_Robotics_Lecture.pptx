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Lst>
  <p:notesMasterIdLst>
    <p:notesMasterId r:id="rId10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notesMaster" Target="notesMasters/notesMaster1.xml"/><Relationship Id="rId103" Type="http://schemas.openxmlformats.org/officeDocument/2006/relationships/presProps" Target="presProps.xml"/><Relationship Id="rId104" Type="http://schemas.openxmlformats.org/officeDocument/2006/relationships/viewProps" Target="viewProps.xml"/><Relationship Id="rId105" Type="http://schemas.openxmlformats.org/officeDocument/2006/relationships/theme" Target="theme/theme1.xml"/><Relationship Id="rId10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welcome to what I think is one of the most fun chapters in the entire book: Robotics. For the last several weeks we've been building an enormous toolbox — search, logic, probability, Markov decision processes, reinforcement learning, deep learning. Today we take that whole toolbox and point it at something concrete: a physical machine that has to sense a messy, real environment and actually move through it without breaking anything, including itself. This is a three hour session and I'm not going to rush it, because robotics is where every abstraction we've discussed stops being abstract. We'll use two running examples throughout: the textbook's simple warehouse arm, which we'll call R1, for the clean canonical math, and our own Northgate General Hospital delivery robot, Wren, who is running supplies to Nurse Priya Mehta and Dr. James Okafor for patient Maria Santos, to make everything concrete and human.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open the textbook, look at this list. A robot vacuum in your living room is solving a localization problem with particle filters — the same Monte Carlo localization we'll derive today. A self-driving car merging onto a highway is running model predictive control, replanning dozens of times a second. A Da Vinci surgical robot is doing real-time trajectory tracking control with sub-millimeter precision. And a Mars rover is doing motion planning with a twenty-minute round-trip communication delay, so it has to plan very conservatively and largely on its own. What ties all of these together is one pipeline: sense the world despite noisy, incomplete information; decide where you need to go; move there safely; and constantly correct because reality never quite matches the plan. That is the entire arc of today's lecture, and by the end you'll be able to look at any of these systems and name exactly which piece of the pipeline you're looking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map for the next three hours. We start with hardware — what robots are physically made of — because you can't reason about an agent's software until you know what sensors and actuators it actually has. Then we ask a deceptively simple question: what kind of decision problem is robotics, exactly — is it an MDP, a POMDP, or a game? From there we spend real time on perception, which is filtering under uncertainty, and then the biggest chunk of the day, planning and control, where we go from an abstract configuration space all the way down to the torque sent to a motor. After that we look at uncertainty explicitly, bring in reinforcement learning, spend a good chunk of time on how robots coordinate with and learn from people, look at an entirely different reactive philosophy of robotics, and close with a tour of where all of this shows up in the real world today. Keep this slide in the back of your mind — everything connects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define terms precisely. A robot is a physically embodied agent — the crucial word is physically. When a robot acts, it doesn't just update a variable in memory the way a chess-playing program does; it changes the actual state of the actual world. Drop a robot arm's gripper by a centimeter too soon and a real cup shatters on a real floor. That single fact — that the world is real and unforgiving — is why robotics is worth its own chapter rather than being a footnote in every other chapter. And notice what this chapter does: it is a grand unification. We're going to see probabilistic filtering from Chapter 14, search algorithms from Chapters 3 and 4, generalized to continuous spaces, learning techniques from Chapters 19 through 23, and game theory from Chapter 17, all showing up together, often in the same robot, often in the same ten seconds of that robot's operation. For some of these techniques, robotics is just a hard test case. For continuous-state search in particular, this chapter is where we see genuinely new material — nothing earlier in the book handled infinite-dimensional path spaces.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exactly makes real-world robotics hard, mechanically speaking? Two properties, and they compound each other. First: nondeterminism and partial observability. In a board game like chess, the state is fully known and every move executes exactly as intended. In the real world, a robot commands a wheel to turn a certain number of degrees and the wheel slips a little on a wet floor; a robot commands a joint to move to an angle and the motor overshoots by a fraction of a degree because of momentum. The robot's sensors are noisy too — a camera image is affected by lighting, a range sensor has measurement error. So the robot genuinely does not know its own exact state, ever. Second: continuous, high-dimensional spaces. It's not choosing among a handful of discrete moves; a robot arm's configuration is a set of real numbers, one per joint, and a complex humanoid can have hundreds of joints. There is a third property we haven't put on this slide yet — that the world refuses to run faster than real time, and that mistakes cannot be undone — and we'll come back to that when we discuss learning. Keep these two properties in your head; every technique in this chapter exists specifically to cope with one or both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cataloguing robot bodies, because — and I'll say this once but I want you to carry it through the whole lecture — the software you can write depends entirely on the hardware you're given. First category: manipulators. A manipulator is simply a robot arm, and it doesn't need legs or wheels at all; it can be bolted straight to a table or a factory floor. Car-assembly arms have a huge payload capacity because they're welding heavy steel panels. On the opposite end, a Kinova arm mounted to a wheelchair is much weaker, but it's designed to be safe right next to a person's face and hands, which is a completely different engineering constraint. In the real world beyond the textbook, look at Amazon's warehouse robots — Sparrow and Cardinal — which use vision-guided suction and parallel-jaw grippers to sort irregular packages at incredible speed. Throughout today, we'll ground every abstract idea in R1, the book's canonical warehouse arm, before generalizing to messier real robots.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Mobile robots use wheels, legs, or rotors instead of staying bolted in place. Indoors, on flat floors, wheels dominate — your Roomba, hotel delivery robots carrying towels and toothpaste. Outdoors we get autonomous cars and planetary rovers — Curiosity on Mars is a wheeled mobile robot dealing with rocky, uneven terrain and a twenty-minute communication delay to Earth, which forces a huge amount of onboard autonomy. Quadcopter drones are unmanned aerial vehicles — Skydio's consumer drone follows you around as an autonomous personal videographer while doing real-time obstacle avoidance. Underwater we get autonomous underwater vehicles, or AUVs, which map the sea floor and inspect pipelines using sonar since light doesn't travel far underwater. And then legged robots — think Boston Dynamics' Spot — which can climb stairs and pick through rubble that would stop any wheel cold. But legs come at a real cost: as the book puts it, controlling legs to do the right thing is much more challenging than spinning a wheel. We'll see precisely why when we get to configuration spaces — a legged robot's configuration space has many more dimensions than a wheeled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tour of forms that don't fit neatly into 'arm' or 'wheeled base.' Prostheses and exoskeletons intelligently respond to a wearer's remaining muscle signals — some restore basic mobility to someone with a spinal injury, others grant a warehouse worker superhuman lifting strength. There are robots with wings for flight in tight or delicate spaces. There are swarms — large numbers of simple, often cheap robots that achieve something complex only as a collective, the way a colony of ants can build elaborate structures none of them individually understands. And there's a category I want you to remember: intelligent environments, where the robot isn't a discrete moving body at all — it's the room itself, wired with sensors and actuators. And I want to name the trap we all fall into: science fiction — The Terminator, The Jetsons — trained us to picture a robot as a two-armed, two-legged humanoid. That's actually one of the rarer and hardest forms to build well. Real robots are shaped by their task, and most of them don't look human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Sensors are the perceptual interface between a robot and its environment, and the very first distinction to make is passive versus active. Passive sensors, like a camera, are true observers — they capture signals generated by other sources; a camera does nothing to the scene, it just gathers whatever light is already bouncing around. Active sensors, like sonar or lidar, actually emit energy — a sound pulse, a laser beam — and measure what comes back. Active sensors generally give you more information, because you control the signal you're interpreting, but that comes at a cost: more power draw, and a real risk of interference when several active sensors are working near each other — think of two lidar-equipped cars sweeping beams through the same intersection. We also distinguish sensors by what they're aimed at: the environment, the robot's own location, or the robot's internal configuration. Let's walk through each of those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sensor menu I want you to be able to recite by the end of this course, because you'll see every one of these named in a spec sheet or a research paper. Sonar is an active range finder, popular in early indoor robotics and still standard underwater, since sound travels far better than light through water. Stereo vision uses two cameras and triangulates parallax — cheap, but on the ground, it's turned out to be unreliable enough that most modern ground robots have largely moved away from it. Structured light, popularized by the original Kinect, projects a grid of lines and watches how they bend over 3D shapes; it can use infrared light so it doesn't interfere with human vision or other sensors. Time-of-flight cameras actively time a light pulse's round trip and can produce a full range image up to sixty times a second. Scanning lidar is the current workhorse for autonomous cars — it sweeps a laser using rotating mirrors and gets you centimeter accuracy at a hundred meters, though it tends to struggle in poor weather. Radar is the go-to for aircraft because it reaches kilometers and, crucially, sees through fog, which is why cars increasingly carry radar as a backup to lidar and cameras. And tactile sensors — whiskers, bump panels, touch-sensitive skin — only work at zero range, quite literally on contact, but they're indispensable for delicate manipulation.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Location sensing splits cleanly along one line: does GPS work here or not? Outdoors, GPS is the default solution — your receiver measures the phase shift to multiple satellites out of a constellation of over thirty GPS satellites plus two dozen Russian GLONASS satellites, triangulates, and gets you within a few meters. If you need better than that, differential GPS adds a second, fixed receiver at a known location, and comparing the two can get you down to millimeter accuracy. But GPS signals are weak radio waves, and they simply do not penetrate building materials or water. So indoors, engineers fall back on placed beacons at known positions, or on the Wi-Fi access points that are already all over most buildings — the pattern of signal strengths you receive is itself a location fingerprint. Underwater, sound again does the job GPS can't, with active sonar beacons. This is precisely Wren's situation at Northgate General — there's no GPS signal inside the hospital, so Nurse Priya's engineering team placed Wi-Fi beacons at the hallway junctions, and Wren fuses those readings with the probabilistic localization machinery we're about to build in Section 26.4.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sensor category is proprioception — sensing yourself rather than the world outside. Shaft decoders sit on motors and measure the exact angular position of a shaft; on an arm's joints, that tells you the joint angle directly, and on a mobile robot's wheels, counting revolutions gives you odometry, an estimate of distance traveled. But odometry drifts, because wheels slip and skid on real floors — it's only trustworthy over short distances, which is exactly why we'll need probabilistic localization on top of it in a few minutes. Inertial sensors, gyroscopes especially, use the physical resistance of a mass to changing velocity to help fill the gap between fixes. And force and torque sensors are the unsung heroes of manipulation: the book's example is a one-ton robotic arm trying to screw in a light bulb. Without force feedback, it is trivially easy for that much raw power to shatter the bulb; with high-quality sensors sampling hundreds of times a second, the robot can feel exactly how hard it's gripping and turning, and correct before anything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actuator is the mechanism that actually initiates motion — transmissions, gears, cables, linkages. The most common is electric: electricity spins a motor, and that's what drives most rotational joints on modern arms. Hydraulic actuators push pressurized fluid, oil or water, for very high-force applications like excavators. Pneumatic actuators use compressed air — fast, but harder to control precisely. Actuators move joints, which connect rigid links. A revolute joint rotates, like your elbow; a prismatic joint slides, like a piston; both are single-axis. Spherical, cylindrical, and planar joints allow multiple axes of motion at once. At the bottom of the slide is our two-link arm — think of R1's shoulder and elbow. Two joints means two independently controllable angles, theta-shoulder and theta-elbow, and that pair is going to become our very first configuration space in Section 26.5. Hold onto this exact picture; we come back to it in fifteen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Grippers are how a robot actually touches the world, and there's a clean trade-off along one axis: more fingers and actuators buys you more dexterity, at the direct cost of being harder to control. The parallel-jaw gripper — two fingers, one actuator, closing together — is, in the book's words, both loved and hated for its simplicity; it's incredibly reliable and easy to reason about, but it can't do much beyond a basic pinch. Three-fingered grippers add a bit more flexibility while staying simple. At the far end is the humanoid hand — the Shadow Dexterous Hand has twenty actuators — which lets a robot do genuine in-hand manipulation, like picking up your phone and rotating it right-side up without setting it down. But that flexibility is expensive: learning to control twenty independent actuators is a dramatically harder problem, and we'll see exactly why when we get to reinforcement learning in Section 26.7, where OpenAI's dexterous-hand project used almost this exact gripper to study that difficulty.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consolidate everything from this section into one concrete robot we'll follow all day. Meet Wren, Northgate General Hospital's delivery robot. Wren is a wheeled mobile robot — no legs, indoor only. For sensing, Wren carries a scanning lidar and an RGB camera for general perception, uses Wi-Fi beacon fingerprinting for location since there's obviously no GPS signal inside a hospital, uses wheel shaft decoders for odometry, and has bump-panel tactile sensors as an absolute last line of defense if everything else fails. For actuation, Wren has electric motors on a differential-drive wheel base, plus a small parallel-jaw gripper just capable enough to open a supply cabinet door. Wren's task today: get a medication tray from the pharmacy to patient Maria Santos's room, and along the way, coordinate in the hallway with Nurse Priya Mehta, who's also trying to get where she's going. Every technique for the rest of this lecture — localization, motion planning, control, coordination — we will apply directly to Wren completing this one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of us writes a line of robot code, we have to answer a design question: what computational framework are we even in? You've already met every rung of this ladder this semester. If the robot is acting alone and fully knows its environment, an MDP suffices. The moment information is hidden from it — which, given our sensor discussion, is basically always — we're in POMDP territory. And the moment other agents, human or robot, are acting in the same space and their choices affect the robot's outcome, we're in a genuine game, exactly the multi-agent framework from Chapter 17. Robotics problems routinely sit at different rungs depending on context, and part of good robot design is recognizing which rung you're actually on rather than defaulting to the simplest one out of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subtlety that trips people up: whether an interaction is cooperative or competitive isn't fixed for a robot — it can flip within the same five seconds. In a narrow corridor where only one of Wren and Nurse Priya can go first, they're cooperating: neither wants a collision, so their objectives align. But zoom out slightly and both of them also want to get to their destination quickly, and that's a small competitive tension. If Wren is programmed to always be maximally polite — always yield, always wait — it can get stuck in a busy hallway indefinitely and never actually deliver that medication tray. This isn't hypothetical: early generations of hospital and airport service robots were notorious for exactly this failure mode, freezing in place while human traffic flowed around them forever. Waymo's public research on highway merging describes exactly the same fix: the car needs to model a bit of assertive, competitive behavior, or it will never merge in dense traffic. We'll formalize this properly as a game in Section 26.8.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next point is, in my opinion, one of the most important sentences in the whole chapter: usually the robot is acting in service of a human, and the true reward function belongs to that human, not to the robot or even to the robot's designer. Delivering a meal to a hospital patient is for the patient's benefit, full stop — the robot has no reward of its own. In practice, this creates a real gap: an engineer sits down and codes some proxy reward, something like 'minimize delivery time,' and hopes that proxy is a decent stand-in for what the person actually wants. But think about Maria Santos's actual, unstated preferences: don't startle me while I'm resting, don't block Nurse Priya if she's mid-procedure, and for heaven's sake don't drop the tray. A robot that hits its coded proxy perfectly — fastest possible delivery time — could still completely fail Maria if it barrels through the room ignoring all of that. This exact tension between a coded proxy reward and a human's true, often unspoken preferences is what motivates the entire discussion of learning what humans want, which we'll dig into properly in Section 26.8.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bridge the enormous gap between a high-level goal like 'get to the cafeteria' and a low-level motor command like 'rotate the main axle one degree'? Roboticists almost universally use a three-level hierarchy. Task planning decides on high-level actions or subgoals — move to the door, open it, go to the elevator. Motion planning then finds a concrete geometric path that achieves each of those subgoals. And control is what actually drives the actuators to execute that planned motion. Running in parallel to all three levels are preference learning, estimating what the end user actually wants, and people prediction, forecasting what other agents nearby will do — both of which feed information into every layer of the stack above. We're going to spend the rest of today working almost entirely inside motion planning and control, because that's where the discrete techniques from Chapters 3 and 11 need real extension to continuous spaces — but keep task planning and these two parallel strands in mind, because they never actually go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honest caveat before we move on: every time we split this problem into layers, we make it more tractable, but we also throw away information the pieces could have shared. Action can improve perception — sometimes the single best thing a robot can do is move somewhere specifically to get a better look, but a robot that treats perception and action as fully separate stages will never consider that option. A decision that looks optimal at the motion-planning level can be a disaster once you realize how the tracking controller will actually execute it. And a task-level plan can sound perfectly reasonable — 'go to the elevator' — while being literally impossible to instantiate once motion planning tries to find a real, collision-free path. So the state of the art in robotics right now is a genuine push toward reintegration: doing motion planning and control together, doing task and motion planning together, and closing the loop between perception, prediction, and action. Keep this tension in mind for the rest of the lecture — almost every technique we cover today is a deliberate simplification, and I'll flag exactly what each one gives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Perception, formally, is the process of mapping sensor measurements into an internal representation of the environment. And here's the key connection to make right now: this is exactly the state-estimation, or filtering, problem we built in Section 14.2 — we are just going to make it continuous, and we're going to explicitly condition on the robot's own past actions, not just its observations. The notation for this chapter: X sub t is the state of the environment, including the robot itself, at time t; Z sub t is the observation the robot receives at time t; and A sub t is the action the robot takes right after receiving that observation. Good internal representations, the book tells us, need three properties: enough information to make good decisions, a structure that's efficient to update, and variables that correspond naturally to real physical quantities in the world. Every localization technique we look at next is really just a specific instantiation of this same recursive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read Equation 26.1 the way we read every formula in this course — general form first, then substitute in what each piece means, then state the plain-English result. In general form, the posterior over next-state given all observations and actions equals a normalizing constant, times the sensor model evaluated at the new observation, times an integral of the transition model times the previous belief. Substituting in what that integral actually does: it takes yesterday's belief — everything the robot knew as of the last time step — and pushes it forward through the motion model, which tells you how the world including the robot changes given the action that was taken; then the sensor model comes in and re-weights that prediction against the observation that just arrived. The result, in plain English, is exactly the recursive filtering update from Chapter 14: yesterday's belief, plus today's action, plus today's observation, gives you today's belief. The only real difference here is that our state variable is continuous, so the sum from the discrete case becomes an integral. That's it — same idea, continuous flavor.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ground localization concretely. We simplify to a mobile robot moving slowly in a flat 2D world, with an exact map given. Its pose — that's the technical term — is fully described by three numbers: an x coordinate, a y coordinate, and a heading angle theta. In the kinematic approximation, an action is simply a translational velocity v and a rotational velocity omega, applied for a short time interval. If everything were perfect, the new pose would just be the old pose plus v-delta-t times cosine theta in x, v-delta-t times sine theta in y, and omega-delta-t added to theta — pure trigonometry. But of course nothing is perfect, so we wrap a Gaussian distribution around that deterministic prediction, with some covariance capturing how much the wheels might slip or drift. This Gaussian is what we call the motion model. For R1 rolling forward in the warehouse, this equation says exactly how its estimated position shifts each tenth of a second, and the covariance quantifies how much uncertainty we should expect to accumulate from wheel slip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a sensor model to complete the filter, and the book gives us two flavors. First, the landmark model: the robot's sensor detects a stable, recognizable feature — a specific doorway, a specific sign — at a known location, and simple geometry lets us predict the range and bearing we should observe if our current pose estimate were correct; wrap Gaussian noise around that prediction and we have our sensor model. The advantage is that a single clear landmark sighting can nearly instantly localize you. The catch is the data-association problem — before you can use this model, you have to correctly identify which landmark you're looking at, and getting that wrong is disastrous. Second, the range-scan or beam model, used by an array of range sensors at fixed bearings relative to the robot — this is exactly what a lidar sweep gives you. Its big advantage: no landmark identification required at all, it even works facing a completely featureless wall. Wren's lidar produces exactly this kind of data — a full 360-degree sweep of raw distances, with no landmark recognition step needed, which is one reason range-scan-based localization has become the default for indoor service robots.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watch localization actually happen. Monte Carlo localization, or MCL, is nothing more than the particle-filtering algorithm from Chapter 14, with our specific motion model and range-scan sensor model plugged in. Each particle is a hypothesized pose — an (x, y, theta) guess for where the robot might be. Watch these three panels: in the first, with zero observations, particles are spread uniformly across the whole map, representing total global uncertainty about where the robot is. In the second, after moving through a symmetric corridor, the particles cluster into roughly two groups — because a symmetric corridor genuinely looks the same from two different places, so the belief is bimodal. In the third panel, the robot enters a room with a distinctive shape, and that asymmetric information collapses the belief down onto essentially one location. This is precisely how Wren figures out where it is in Northgate's hallways: start uncertain, refine with every lidar scan, and converge as soon as a hallway or room shape is distinctive enough to break the symmetry.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major approach to localization is the Kalman filter, which you met in Chapter 14. Instead of a swarm of particles, it represents the entire belief as one Gaussian distribution, tracked by just a mean, mu-t, and a covariance, sigma-t. The problem: Gaussians are only closed under linear operations. Feed a Gaussian through a nonlinear motion or sensor model and, in general, the result is not Gaussian anymore. The standard fix is linearization: approximate the nonlinear function locally by its tangent line at the current mean estimate — a first-degree Taylor expansion. A Kalman filter that does this linearization on the fly is called an Extended Kalman Filter, or EKF. On the right, you're seeing exactly what that looks like over time: as the robot moves without new information, its uncertainty ellipse grows, because errors compound; the moment it senses a known landmark, that ellipse shrinks sharply, because the new observation constrains where the robot could actually be. EKFs work beautifully when landmarks are unambiguous, but if identity is unclear, the true posterior can be multi-modal — exactly the data-association problem we flagged a moment ago, and precisely why Figure 26.7's bimodal corridor case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happens when there's no map at all yet? This is SLAM — simultaneous localization and mapping — and the book is honest about calling it a chicken-and-egg problem: the robot needs to know its location to build an accurate map, but it needs an accurate map to know its location, and it has to solve both at once. One clean solution: EKF-SLAM, where you simply augment the state vector to include the estimated locations of every landmark in the environment, alongside the robot's own pose, and run the same extended Kalman filter machinery over this bigger joint state. The catch is that the EKF update cost scales quadratically with the number of landmarks, so this works fine for a few hundred landmarks but becomes painfully expensive for large, richly featured environments. At that scale, roboticists turn to graph relaxation methods — genuinely similar to the Bayesian network inference from Chapter 13 — or to Expectation-Maximization from our unsupervised learning chapters. And here's a real-world anchor you've probably experienced directly: the very first time you place a new robot vacuum in your home and it does that slow, careful mapping sweep — that's SLAM running live, in your living room, one sensor reading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closing ideas for perception. First, not everything a robot needs to estimate is spatial — temperature, odor, sound are all handled by the identical dynamic-Bayes-net machinery, just with different transition and sensor models plugged in; and there's a completely different philosophy available, skipping probability distributions altogether in favor of a purely reactive agent, which we'll unpack properly in Section 26.9. Second, learning shows up directly inside perception. Low-dimensional embedding uses unsupervised learning from Chapter 19 to compress an enormous, high-dimensional sensor stream — a full camera image, say — into a compact representation that's actually useful for decision-making. And there's a beautiful self-supervised trick, illustrated in Figure 26.10: an autonomous ground vehicle uses its short-range laser to confirm 'the ground directly in front of me right now is flat and drivable,' and uses that as a free, automatically generated positive training label to teach a vision classifier what 'drivable surface' looks like much farther out, where the laser can't reach yet. That's the robot collecting its own labeled training data — no human annotator required — which is exactly what lets it drive faster, since it can now trust its long-range camera judgment instead of only its short-range laser.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tie a bow on perception by walking through Wren's morning end to end. Wren starts in the pharmacy hallway with a broad, uniform belief about its exact position — total global uncertainty, panel one of our MCL diagram. As its lidar sweeps the corridor, each range scan gets fed into the recursive filtering equation we derived earlier, and the particle population starts to cluster once Wren passes a distinctive feature, like a supply-closet doorway that looks different from a plain stretch of wall. Along the way, Wi-Fi beacon readings act exactly like landmark sightings, sharply shrinking Wren's uncertainty ellipse each time it passes near a known beacon location. By the time Wren reaches the hallway outside Maria Santos's room, its belief has fully converged — that's panel three, a single confident pose estimate. Everything from here forward in the lecture — motion planning, control, coordinating with Nurse Priya — assumes Wren has this confident location estimate in hand. Perception earns you the right to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whole section rests on one clean distinction. A path is purely geometric — a sequence of points in space, with no notion of time: go from A to B to C. A trajectory adds time to every point along that path: start at A, take one second to reach B, another second and a half to reach C. Finding a good path is motion planning; executing a trajectory in real time is trajectory tracking control. Why separate these? Because it lets us ask 'what geometric route avoids every obstacle' completely independently from 'what physical forces make the robot actually follow that route.' This is exactly the plans-versus-policies distinction you saw in Chapters 3 and 16, just wearing a robotics costume, and we're going to make that analogy completely explicit about halfway through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single most important conceptual leap in this whole section, so let's slow all the way down. In general, a robot's body occupies a whole set of points in the real, physical workspace, and so does an obstacle; checking for a collision, in principle, means checking every point on the robot against every point on the obstacle, which is a nightmare of geometry. So we substitute a much cleverer representation: since we know the robot's exact shape and size, we can compute the location of every single body point just from one small piece of information — its current pose. That means we can represent the ENTIRE robot, however complex its shape, as a single point in an abstract space we call configuration space, or C-space. The result: motion planning collapses from 'avoid collision between two complicated shapes' down to 'find a path for one point that avoids one region, called C-obs, the configuration-space obstacle.' Look at the diagram — the triangular robot on the left needs a whole shape-avoidance calculation, but on the right, once we track just its right-angle vertex, that same problem becomes finding a path for a single dot around a five-sided polygon. Every motion-planning algorithm for the rest of today lives on the right-hand side of this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dimensionality of C-space is exactly the robot's number of degrees of freedom, or DOF — one dimension per independently controllable joint. Our two-link arm has two DOF: theta-shoulder and theta-elbow, so its C-space is a flat 2D plane. Add rotation to a translating robot and you need a third dimension, theta; add the ability to scale and you'd need a fourth. Now, given a configuration, how do we find out where any particular point on the robot's body actually is in real 3D space? That's forward kinematics — a function, phi-sub-b, mapping a configuration to a location in the workspace; it's straightforward trigonometry once you know the configuration. The much harder, and more useful, direction is inverse kinematics: given a desired location — and often a desired orientation too — for some point on the robot, like the gripper, find a configuration, or configurations, that puts it there. Think about grasping a bottle: you compute the position and orientation you want the gripper to have, run inverse kinematics to get a goal configuration, and only then does a motion planner take over to find a collision-free path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genuinely surprising fact worth pausing on: even a workspace obstacle as simple as a single straight vertical bar hanging from the ceiling can turn into a wildly nonlinear, even concave, shape once you map it into C-space for a two-link arm. Go stare at figure 26.12b sometime — it takes a moment to even recognize the shape of the gripper hiding in that boundary. And notice something else: part of C-space is always off-limits for a completely different reason — the dark region representing configurations where the robot's own links would collide with each other, self-collision, not obstacle collision. Because these shapes get complicated fast, in practice nobody actually builds Cobs explicitly as a geometric object. Instead, we build a collision checker — a function gamma of q that just answers yes or no: does this one specific configuration collide with anything? That's a much easier computation than constructing the whole obstacle region, and this single yes/no function is the workhorse underneath essentially every planning algorithm we're about to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formal statement of motion planning has a wonderfully old-fashioned nickname: the piano mover's problem, named for a mover struggling to get a big, irregularly shaped piano from one room to another without smashing it into a doorframe. Formally: we're given a workspace, an obstacle region inside it, a robot with its configuration space and known body-point mapping, a start configuration, and a goal configuration; we need to find a continuous path — a function tau of t — that starts exactly at the start, ends exactly at the goal, and never leaves free space for any value of t in between. One notational trap I want to flag explicitly: t here is NOT time. It's purely a parameter from zero to one describing how far along the path you are — think of it as percentage-complete, not seconds elapsed. We'll add real time back in later when we get to trajectories. And this basic problem can get much richer: maybe the goal is a whole region rather than one exact point, maybe you want the shortest path rather than just any path, or maybe you're carrying a full cup of coffee and there's a hard constraint that it stays upright the entire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concrete motion-planning technique for the special case of a 2D configuration space with polygonal obstacles: visibility graphs. Take every vertex of every obstacle polygon, throw in the start and goal, and connect two vertices with an edge whenever the straight line between them doesn't cross any obstacle — that's the 'visibility' the name refers to. Once you have that graph, run any discrete graph search you already know — best-first search works great — from start to goal, and you are mathematically guaranteed the shortest possible path, if one exists at all. The green path in the diagram is exactly that optimal solution. But here's the catch that motivates our very next technique: notice how the optimal path hugs the obstacle's corners as tightly as geometrically possible. That's mathematically optimal in a perfect, noise-free world — but if you had to actually walk around a table like that in real life, you'd want a bit of buffer, because any noise in your motion or sensing puts you at real risk of clipping the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hugging corners makes you nervous, here's the opposite philosophy: Voronoi diagrams. Surround every obstacle with the region of space that's closer to it than to any other obstacle; the boundaries between these regions — the Voronoi graph — are, by construction, the set of points maximally far from every obstacle simultaneously. To plan a path, connect your start and goal to the nearest point on this graph with a straight line, then do a discrete graph search along the graph itself. For an indoor hallway, this produces exactly the path you'd want intuitively — straight down the center of the corridor, as far as possible from both walls. But the catch shows up outdoors: in a wide-open two-hundred-meter clearing with one small rock off to the side, a Voronoi path might insist on an unnecessary hundred-meter detour just to stay exactly equidistant from every nearby obstacle, when frankly nobody cares about being exactly in the middle of a huge open field. So: visibility graphs hug corners and are efficient but risky; Voronoi diagrams are safe but can be wastefully conservative. Neither one is universally right — the right tool depends on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Approach three: just discretize the whole configuration space into a grid of cells and run search algorithms you already know cold — A star works perfectly well here, and grayscale shading in the diagram represents the value function, the cost-to-go from each free cell to the goal, computable with a deterministic form of value iteration. This is simple to implement, but it has three real limitations worth naming precisely. First, the curse of dimensionality — the number of grid cells explodes exponentially with the number of degrees of freedom, so this only works for low-dimensional C-spaces. Second, grid paths are jagged; look at the diagonal segments in the diagram — a real robot with momentum cannot execute instantaneous ninety-degree turns like that. Third, some cells are 'mixed' — partly free, partly obstacle — and it's genuinely ambiguous whether a path through one is safe; recursive subdivision into smaller and smaller cells resolves this, at added computational cost. The fix for the jagged-corners problem specifically is an algorithm called hybrid A star, which stores the robot's actual continuous position and velocity at each cell rather than just a grid coordinate, so transitions obey real motion dynamics and produce smooth, physically realizable turns instead of impossible instant corners.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move into randomized motion planning, starting with the probabilistic roadmap, or PRM. Instead of a regular grid, we sample M random points, called milestones, in free space using our collision checker to reject any that land inside an obstacle. Then we try to connect each milestone to its k nearest neighbors using a fast but incomplete 'simple planner' — something quick, like just checking if a straight line between them is collision-free; it doesn't need to be perfect, it just needs to try quickly and report success or failure. Watch the four panels: start and goal, then scattered milestones, then a k-nearest-neighbor graph connecting them, then a shortest path found by ordinary graph search across that structure. If no path is found, PRM just samples more milestones and tries again. This gives us a new completeness guarantee worth knowing precisely: PRM is probabilistically complete — not guaranteed to succeed on any one attempt, but guaranteed to eventually find a path if one exists, because you keep sampling. And PRMs genuinely shine in high-dimensional spaces where grids choke, and they're especially popular for multi-query planning, where a robot builds one roadmap up front and reuses it across many different start-goal pairs over its lifetime.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PRM is great when you'll reuse a roadmap across many queries. When you just need one path, right now, the go-to technique is the rapidly exploring random tree, or RRT — specifically, the bidirectional version. Grow two trees simultaneously, one rooted at the start, one rooted at the goal. Sample a random point in configuration space; find whichever tree has the closest existing node to that sample, and extend that tree toward the sample by a small fixed step size, delta. Do this over and over, and the moment a new sample manages to connect both trees — as in the diagram, where the blue tree from the start and the gold tree from the goal meet near the center — you have a complete solution path. Roboticists genuinely love RRT for how easy it is to implement, but raw RRT solutions tend to be non-optimal and jerky, so they're almost always followed by post-processing, most commonly 'short-cutting': randomly pick a vertex on the solution path and try to remove it entirely by connecting its two neighbors directly, repeating for as many iterations as you can afford. And RRT-star is a clever variant that additionally rewires the tree as new samples arrive, making the solution asymptotically converge toward the true optimal path rather than just any feasible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put all five side by side, because in three weeks I'm going to expect you to pick the right one for a scenario I hand you, not just recite definitions. Visibility graphs give you a complete, provably optimal path, but only cleanly in 2D with polygonal obstacles, and they hug corners in a way that's risky under any real-world noise. Voronoi diagrams are complete and safe, ideal for narrow indoor corridors, but wastefully conservative in wide-open outdoor spaces. Cell decomposition is complete up to your chosen resolution and gives you a value function for free, but it suffers the curse of dimensionality and produces jagged, hard-to-execute paths. Probabilistic roadmaps and RRTs are both merely probabilistically complete — not a guarantee on any single run, but a guarantee eventually — and both scale beautifully to high-dimensional spaces; PRM is worth the up-front roadmap-building cost when you'll query it repeatedly, while RRT is better when you just need one path, fast, and are willing to post-process it smooth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philosophy for motion planning, and it flips the previous approach on its head. Randomized planners like PRM and RRT build something complex but feasible first — a valid, collision-free but ugly path — and then clean it up. Trajectory optimization does the exact opposite: it starts with something dead simple but almost certainly infeasible, typically the straight line straight from start to goal, which very likely plows straight through an obstacle, and then iteratively pushes that path out of collision until it's both feasible and smooth. Formally, we minimize a cost functional, J of tau, made of two competing terms: J-obs, penalizing collisions, plus lambda times J-eff, penalizing inefficiency, like unnecessary path length. Look at the diagram: the dashed line is that naive straight-line start, plowing right through two point obstacles' danger zones; the solid green path is what falls out of the optimization, bending smoothly around both danger zones while staying about as short as it can. This idea underlies a huge amount of modern industrial motion planning because, unlike sampling-based methods, it naturally produces smooth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build the obstacle-avoidance term precisely. In general, define a signed distance field, d of x: for any point x in the workspace, it's the distance to the nearest obstacle edge — positive outside obstacles, exactly zero right at the boundary, and negative once you're inside. Substituting that into a cost field, c, that's high inside obstacles and small but nonzero just outside gives every point in the workspace a 'how much do I hate being here' score. The result is J-obs, a path integral — not just over time, but over every physical point b on the robot's body, integrating that cost as the robot sweeps through the field, and crucially multiplied by the derivative term so that the total accumulated cost doesn't depend on how fast or slow the robot moves through it — only on the geometry of the path itself. As for solving this optimization: the simplest method is plain gradient descent, exactly like hill climbing from Section 4.1, which means it only guarantees a local optimum, not a global one — and just like hill climbing, techniques like simulated annealing can help you avoid getting stuck in a bad local minimum near a nasty-shaped obstacle.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do one full worked derivation together, because I think it's the cleanest possible illustration of the calculus of variations, and it lands somewhere satisfying. The Euler-Lagrange equation, in general, tells you the gradient of a functional — a function of a function — with respect to the path itself. Substitute in our efficiency-only cost, F equals the squared norm of tau-dot, the path's velocity; notice this F has no direct dependence on tau of s itself, only on its derivative, so the first term in Euler-Lagrange vanishes entirely, leaving just the negative second derivative of tau. Setting that gradient to zero — because we want to minimize, and a zero gradient is a critical point — gives us tau-double-dot equals zero. Integrate once, and the first derivative must be constant; integrate again, and tau of s equals a times s plus b, with a and b pinned down by our start and goal endpoints. That is precisely the equation of a straight line. In plain English: if there were no obstacles at all, the most efficient path between two configurations is exactly the straight line connecting them — which is obvious in hindsight, but now you've actually derived it, and you understand exactly why adding the obstacle term, J-obs, is what bends that line away from danger.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been planning purely geometric paths. Now we need to actually move — apply current, produce torque, make the robot go. First, a crucial distinction: kinematic state is just the configuration q — position alone — and that turns out NOT to be enough information to compute the right torque, because you also need to know how fast you're currently moving. Dynamic state is the pair (q, q-dot) — configuration and velocity together. The dynamics model, f, tells you the acceleration that results from a given torque at a given dynamic state; its inverse, f-inverse, tells you the torque needed to produce a desired acceleration — think of this as F equals m-a's robotic cousin, now involving mass, inertia, gravity, and even Coriolis forces. But there's a subtlety we have to fix first: our planned path, tau of t, was built purely as a sequence of points — it has no notion of velocity, acceleration, or real elapsed time in seconds; the parameter t just ran from zero to one as a fraction of completion. So before any of this dynamics machinery applies, we have to retime the path — convert it into an honest trajectory, xi of t, defined over an actual time interval from zero to some real duration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naive approach — open-loop control — is disarmingly simple: at every instant, use the inverse dynamics model to compute the torque you think will produce the planned acceleration, and just send it, no questions asked, no feedback. This works perfectly in one special case: if f, your dynamics model, is exact. It never is. Real robots can't measure their own mass distribution and inertia with perfect precision; the model conveniently ignores messy physical effects like stiction, the friction that specifically resists getting a stationary surface moving in the first place. And because there's zero feedback in an open-loop scheme, any small error compounds: a slightly wrong torque produces a slightly wrong position, which produces a slightly wrong torque next step, and so on, with absolutely nothing in the loop to correct it. The robot simply drifts further and further from the reference trajectory over time. This is precisely the failure mode that motivates everything on the next few slides: we need to look at where the robot actually is, compare it to where it's supposed to be, and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close the loop. Instead of blindly firing torques from the model alone, a control law compares where the robot currently thinks it is against where the reference trajectory says it should be, computes an error, and applies a torque specifically designed to reduce that error — this is the feedback path drawn in red on the diagram. Before we design specific controllers, let's nail down two precise definitions the book insists on. A controller is stable if small perturbations lead to a bounded error — the robot doesn't fly off to infinity, but it might not settle down either. A controller is strictly stable if it actually returns to, and then stays on, the reference path after a perturbation — a meaningfully stronger guarantee. Keep that distinction sharp in your head, because it's exactly what separates our first controller, which is merely stable, from our second, which is strictly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real controller: proportional control, or P control. The rule is disarmingly simple — apply a torque proportional to the current error between where you want to be and where you are, scaled by a gain factor, K-P. Intuitively this sounds right: bigger error, bigger correction. But look at what actually happens when you try it, at both a strong gain of one point oh and a much gentler gain of point one — in both cases the arm oscillates, overshooting the target, correcting back, overshooting again. The reason is genuinely elegant: in the absence of friction, a P controller is mathematically identical to an ideal spring, and an ideal spring, once displaced, oscillates around its rest position forever. Lowering the gain doesn't remove the oscillation, it just slows it down. This is exactly our stable-but-not-strictly-stable case: the error stays bounded, but the controller never actually settles onto the reference path — it just orbits around it indefinitely.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PD control fixes the oscillation problem by adding one more term: the derivative of the error over time, scaled by a second gain, K-D. So now the applied torque is proportional error, plus a term proportional to how fast that error is currently changing. What does this buy you? When the error is changing rapidly — exactly the situation that made our P controller overshoot — the derivative term generates a counteracting force that specifically damps that rapid motion; if the same error persists unchanged over time, the derivative term vanishes and the proportional term alone takes over. With gains of point three and point eight, the resulting path is smooth, with no visible oscillation at all — this is our first strictly stable controller, one that actually returns to and stays on the reference path. Physically, think of the proportional term as a spring and the derivative term as a shock absorber sitting right next to it — the shock absorber is precisely what a pure P controller was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PD controllers have one remaining blind spot: they can fail to drive error all the way down to zero when there's a persistent, systematic outside force the model never accounted for — the book's example is an autonomous car on a banked road surface that's constantly, gently pulled to one side. In that situation, PD alone leaves a stubborn residual offset, because once the error stops changing, the derivative term contributes nothing and the proportional term alone can't fully cancel a constant external bias. The fix: add a third term, the integral of the error accumulated over all past time, scaled by a third gain, K-I. As long as any error persists, that integral keeps growing, and the correction keeps getting stronger and stronger until the systematic bias is finally driven to zero — the price is a real risk of oscillatory overshoot if K-I is set too aggressively. Put all three terms together and you have the PID controller, the single most widely deployed control law in all of industry, and here's the mnemonic I want you to leave with today, matching the pattern we've used all semester: proportional says try harder the farther away you are; derivative says try even harder if the error is getting worse; integral says try harder if you haven't made any progress in a while.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 middle ground between pure open-loop inverse-dynamics control and pure closed-loop PID, and it's called computed torque control. In general form, it's two terms added together: a feedforward term that uses inverse dynamics exactly as we did in open-loop control, computing the torque the model thinks it needs assuming everything is perfect; plus a feedback term, a PD correction on whatever residual error shows up, scaled by m of q, the robot's inertia matrix at its current configuration. Substituting that in: the feedforward term looks ahead and does the heavy lifting the model can actually predict correctly, while the feedback term mops up whatever the model got wrong. The result is genuinely the best of both approaches: you get the anticipatory power of a good dynamics model, plus closed-loop correction for the errors that model inevitably has, and unlike ordinary PD control, the effective gains adapt automatically as the robot's own configuration changes, because that inertia matrix m of q is recomputed at every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step back and make the analogy I promised you fully explicit. Everything we've just built — motion planning plus tracking control — is secretly one big underlying MDP, where the states are dynamic states, position and velocity together, and the actions are control torques. Our control laws — P, PD, PID, computed torque — are, technically, policies: each one tells the robot what torque to apply from whatever state it currently finds itself in. But they are far from optimal policies, because the true MDP here has a continuous, high-dimensional state and action space, and solving that exactly with value iteration or policy iteration is computationally out of reach. So what did we actually do instead, across this entire section? We broke the problem into two pieces: first, plan in a simplified kinematic space, ignoring dynamics entirely, to get a reference path; second, turn that into a policy that tracks the plan and corrects for drift when reality departs from it. That decomposition introduces two distinct sources of suboptimality worth naming precisely: planning without considering dynamics at all, and then assuming that whenever we drift off the plan, the best thing to do is simply return to that same original plan, rather than replanning something better given where we've actually ended up. Hold onto that second point — it's exactly what Section 26.6 exists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Optimal control asks: why split the problem in two at all? Instead of planning a kinematic path and then separately designing a policy to track it, why not optimize directly over the actual control inputs, the torques, from the very start, with the true dynamics baked in as a hard constraint the whole time? In general, we want to find the sequence of torques, u of t, minimizing a cumulative cost integral, subject to the robot's actual dynamics equation and fixed start and goal states. This brings us right back to something you've seen before, just now living in continuous time: if you know the dynamics exactly, this is a sequence-of-actions problem exactly like Chapter 3's search; if you're uncertain about the dynamics, you want a policy instead, exactly like Chapter 16's MDPs. The practical techniques for solving this — multiple shooting, direct collocation — won't find the provably global optimum, but in practice they're good enough to make real humanoid robots walk and real autonomous cars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one special case of optimal control that is close to magical, and I want you to recognize it instantly whenever you see it in a paper or a spec sheet. If your cost function is quadratic — x-transpose Q x plus u-transpose R u — and your dynamics are linear — x-dot equals A x plus B u — then the optimal policy has a closed-form solution. No value iteration. No policy iteration. No local search of any kind. This is the linear quadratic regulator, or LQR. The optimal cost-to-go turns out to be quadratic in the state, and remarkably, the optimal policy itself is exactly linear: u equals negative K times x, for some matrix K that you find by solving a single algebraic Riccati equation — one direct calculation, not an iterative search. Now, real robots almost never have exactly quadratic costs and exactly linear dynamics. But LQR gets used constantly anyway, precisely because it's so cheap and so reliable, and because — as we're about to see — you can bootstrap your way to good approximate solutions for genuinely nonlinear problems by leaning on LQR repeatedly.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actually use LQR when our real cost and dynamics aren't quadratic or linear? Iterative LQR, or ILQR: start with any initial candidate solution — even a bad one. At every iteration, build a local linear approximation of the true, nonlinear dynamics, and a local quadratic approximation of the true cost, both centered around the current trajectory — this is exactly the linearization trick we used for the extended Kalman filter, now applied to control instead of estimation. Then solve that local, now-linear-quadratic problem exactly using the closed-form LQR machinery, which gives you an improved trajectory; recenter your approximations there and repeat. Each iteration nudges you closer to a genuinely good trajectory, even though you never solve the true nonlinear problem exactly. This is not just a textbook curiosity — ILQR-style methods are genuinely at the heart of real, deployed robot control, including research that got simplified humanoid robots to walk and got a robot arm to learn to hit a baseball, both of which needed exactly this repeated linearize-solve-relinearize loop to handle dynamics far too complex for plain LQR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assemble everything from this massive section into Wren's actual motion stack for one hallway. Task planning has already handed down the subgoal: get to Maria Santos's room. Wren's configuration space for its wheeled base is three-dimensional — x, y, and heading theta — and today there's a housekeeping cart blocking part of the hallway, so Wren runs a bidirectional RRT to find a fast, collision-free geometric path around it. That raw path then gets retimed into an honest trajectory, xi of t, respecting Wren's maximum safe speed near patients — hospitals don't want a robot speeding down a hallway. A PID controller then tracks that trajectory in real time, correcting moment to moment for wheel slip on the hospital's linoleum floor, exactly the oscillate-then-settle behavior we watched in our P, PD, and PID diagrams. And if Wren's engineers wanted tighter, more precise tracking than PID alone offers, an ILQR-based controller could fuse the path-planning and tracking steps into one unified optimization. This is the entire section 26.5 pipeline, running inside one robot, in one hallway, in about four seconds of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in Section 26.5, we quietly assumed perception gives us a clean, known state, and we've been planning as if the world were deterministic. Time to be honest about what we swept under the rug. Uncertainty in robotics comes from two sources at once: partial observability of the environment, and genuinely stochastic, or simply unmodeled, effects of the robot's own actions — and even the approximation algorithms we use to estimate belief, like particle filtering, introduce their own additional error on top of that. Given all this, the overwhelming majority of robots today cope using two deterministic shortcuts layered on top of everything from last section: discretizing the continuous state space, which we already covered, and — this is the new idea — simply picking the single most likely state out of the entire belief distribution and planning as if that were the true, certain state. This is fast and it's usually fine. But it throws away the entire shape of your uncertainty. Sometimes the right action genuinely depends on how spread out your possibilities are, not just on your single best guess — and that's exactly the gap this section exists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tool for coping with uncertainty properly: online replanning, and the specific, hugely popular version of it called Model Predictive Control, or MPC. The core idea is almost stubbornly simple: don't try to plan one long, perfect trajectory all the way to the goal. Instead, plan for only a short time horizon — a couple of seconds, say — execute only the very first action of that short plan, and then immediately throw the rest away and replan completely from scratch at the next time step. This effectively turns your planner into a policy: at every single moment, you run a planner, take its first action, and repeat. If new information arrives, or you end up somewhere slightly different than you expected — genuinely fine, no special handling required, because you were about to replan anyway regardless. This should feel familiar: it's closely related to the real-time, limited-horizon search and game-playing algorithms from earlier in the course. And here is a real-world anchor you interact with, or at least read headlines about, constantly: this is exactly what Waymo's self-driving software and Tesla's Autopilot are doing on the highway, dozens of times every second — plan a couple of seconds ahead, act on the very first sliver of that plan, throw the rest away, and do it all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subtlety that's easy to miss and important to name precisely. When a robot plans using only its current belief and pretends it will never learn anything more — that's exactly what we mean by separating estimation from control — it's effectively solving a brand new, ordinary MDP at every single step. But the true structure of the problem is a POMDP, and remember from earlier this semester the value of information: in a properly solved POMDP, an agent can deliberately take actions specifically because those actions will reveal useful information later, even if they look suboptimal given only what's currently known. A robot that ignores this will systematically never choose those information-gathering detours. Concretely: imagine a navigation robot whose shortest apparent route to its goal skips past a landmark. If the robot only reasons about what it currently knows, it never sees a reason to detour toward that landmark. But if it properly accounts for the future information that landmark sighting would provide — dramatically firming up its position estimate — detouring toward it can actually be the better long-run choice, even though it looks like a wasted step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elegant, very practical technique: guarded movements. A guarded motion consists of exactly two ingredients — a motion command, and a termination condition, a rule based on the robot's sensor readings that tells it precisely when to stop. Look at the classic peg-in-hole example, which could just as easily be inserting a car key into an ignition. If the robot just commands 'move straight down,' velocity uncertainty means it could land anywhere within a cone of possible motions — quite possibly right into the hole, but far more likely landing to one side or the other of it, and crucially, it wouldn't even know which side. But watch step one and step two together: first, deliberately command a motion that's guaranteed, no matter the uncertainty, to land somewhere to one specific side of the hole; then command a second motion — slide along the surface — where every possible velocity within the uncertainty cone points the robot in the same direction, guaranteeing it slides right up to, and then down into, the hole. Despite genuine uncertainty in every single motion, the sequence as a whole is guaranteed to succeed. This is a beautiful example of engineering robustness into the plan itself, rather than trying to eliminate the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strategies for building information-seeking directly into a robot's behavior. The coastal navigation heuristic is named for exactly what it sounds like — sailors historically hugged coastlines rather than crossing open, featureless ocean, because the coast gave them landmarks to fix their position against. Roboticists build this same bias directly into the cost function: penalize routes that stray far from known landmarks, even if a more direct route exists geometrically. The more general, more principled version of this idea skips the human-designed heuristic entirely: add the expected information gain — formally, the expected reduction in the entropy of the robot's belief — as an actual term in the cost function being optimized. The advantage here is real: the robot invents its own information-gathering behavior from first principles, rather than blindly following a scripted rule like 'stay near landmarks,' which might not even be the right heuristic in every environment. The cost is that this is computationally much harder, because now you're explicitly reasoning about how future belief states — not just future physical states — will evolve under each candidate action, which is exactly the full POMDP planning problem in all its difficulty.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up through Section 26.6 assumed we HAVE a dynamics model. Reinforcement learning is what we reach for when we don't — or when writing one down explicitly is simply too hard. But robotics makes reinforcement learning uniquely difficult, for two separate reasons. First, the continuous nature of the spaces: we handle this either by discretizing, or, far more commonly today, with function approximation — either engineered features or deep neural networks; nets skip the tedious work of manual feature engineering entirely, but that convenience comes at the cost of needing much more training data. Second, and more fundamental: real robots operate in the real world. We can run a simulated game of Go millions of times in a few hours of computer time; a real world refuses, stubbornly, to move faster than one second per second, so real-world training is inherently, brutally slow. And unlike a simulated game, real robot actions have real, permanent consequences — there's no undo button if the robot breaks something or hurts itself. So a central preoccupation of this whole subfield is reducing sample complexity: how few real-world interactions can we get away with before the robot has actually learned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Given how expensive real-world samples are, the first family of tricks is to exploit whatever model of the world's dynamics we do have, even an imperfect one. Model-based reinforcement learning, from Chapter 23, alternates between two steps: fit the dynamics parameters from experience, then compute a better policy using that fitted model, then repeat. Even when we know our physics equations aren't perfectly accurate, researchers have had success learning an explicit error term on top of the equations — a correction factor that compensates for whatever physics failed to capture. Or you can skip hand-derived equations entirely and instead fit a collection of locally linear models, each one only valid in a small region of the state space — an approach that's successfully taught robots genuinely complex dynamic skills like juggling. And there's a safety dimension to all of this that I want to emphasize precisely, because it's arguably more important than raw sample efficiency: it's not just about minimizing total real-world samples, it's about minimizing samples specifically in dangerous states — we really don't want robots falling off cliffs or shattering favorite mugs while they're mid-training. An approximate model that comes with quantified uncertainty about its own parameters can actively constrain which actions the robot is even allowed to attempt during exploration, and this remains a genuinely active area of robotics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useful ideas in the whole chapter: sim-to-real transfer. Train your policy inside a simulator, where you can run millions of trials in hours instead of years, and then deploy that policy directly on the real robot. The obvious problem: any simulator is an imperfect model of reality, and a policy that's overfit to your exact, idealized simulator can fail badly the moment real friction, real lighting, or real sensor noise doesn't quite match. Two fixes. First, simply add noise to the simulated model during training, which makes the resulting policy inherently more robust to imperfections. Second, and more powerful, domain randomization: instead of training in one fixed simulated environment, train across thousands of variations — different friction coefficients, different damping, even different lighting and visual textures — so the policy is forced to generalize rather than memorize one exact simulator's quirks. OpenAI's well-known dexterous-hand project is the textbook case study here: they trained entirely in randomized simulation, varying physics and visual appearance across thousands of parallel simulated runs, and then deployed that same trained policy directly onto a physical robot hand surrounded by real cameras and range finders — and it worked, producing genuinely dexterous, human-like grasping behaviors it had never seen in exactly that form during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pieces to round out the RL toolkit. First, hybrid approaches that borrow from both camps at once — the classic example is the Dyna architecture, which improves its policy in two complementary ways simultaneously: the standard model-free way, directly updating the policy from real experience, and the model-based way, using that same experience to fit a model and then planning with it to generate further improvements. More recent versions of this idea have led to end-to-end deep reinforcement learning, where the policy maps raw camera pixels directly to torque commands with no hand-engineered features anywhere in between — this is exactly what enabled the first successful demonstration of deep RL running on a real physical robot rather than just in simulation. Second, Section 26.7.2's broader toolkit for reducing sample complexity: motion primitives, where instead of relearning low-level torque control from scratch, the robot reuses a library of parameterized skills — imagine a soccer-playing robot with a built-in 'pass the ball to this location' primitive — which learns dramatically faster, at the cost of restricting the space of behaviors it can ever discover. And metalearning or transfer learning, where a robot reuses what it learned on one task to bootstrap learning on a related one, rather than always starting from a completely blank slate.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build robots almost exclusively to help people, and to work in human spaces — Section 26.8 is about the two big challenges that creates. First, coordination: given that the robot already has a clearly defined reward function, how does it optimize that reward when people are simultaneously acting in the exact same environment? Think of an autonomous car merging onto a highway, negotiating in real time with the human driver in the target lane, or watching for a cyclist and a pedestrian at the same intersection. When the human and robot happen to share the exact same goal, this becomes collaboration rather than mere coordination. Second, and this connects directly back to our reward-function discussion in Section 26.3: figuring out the right reward function, or the right policy, in the first place is itself an interaction problem. If a robot's coded reward doesn't actually incentivize what the person wants, then no amount of clever coordination will save it — it'll be brilliantly, efficiently optimizing exactly the wrong thing. We'll take these two challenges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natural way to formalize coordination is exactly the game-theoretic machinery from Chapter 17. The shared state captures both the robot's configuration and the human's; each agent has its own action; and each agent's cost depends on the FULL joint state and BOTH agents' actions — think of a car and a pedestrian at a crosswalk: the car should stop if the pedestrian steps out, and should proceed if the pedestrian waits, so each agent's best action genuinely depends on what the other one does. Three real complications make this harder than the board games in Chapter 6. First, it's an incomplete information game — neither side fully knows the other's true objective. Second, the state and action spaces are continuous, not discrete, so ordinary discrete tree search doesn't directly apply. Third, and this is the one I find most philosophically interesting: human behavior might not even be well-described as 'solving the game optimally' at all — reasoning fully correctly requires thinking about what the robot will do in response to what the person does, which depends on what the robot thinks the person will do, and pretty soon you're in an infinite regress of 'what do you think I think you think I think' that no human, and honestly no robot either, can fully resolve. So the robot needs to explicitly account for human suboptimality, not assume perfect rationality.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make this game tractable? The trick is to pretend, for the purpose of prediction, that the person is ignoring the robot entirely, and model them as noisily optimal with respect to their own objective, which is unknown to the robot. Formally, the probability of a human action is proportional to e raised to the negative Q-value of that action, given their objective — this is exactly the softmax function you saw back around page 862, now applied to human behavior instead of a policy we're training. Substituting in what that means: the lower the cost-to-go for an action — the better that action serves the human's true goal — the exponentially higher the probability the robot assigns to the human actually taking it. The result is a model where the human is likely, but not certain, to act well — noisily rational, not perfectly rational, and crucially, not modeled as reasoning about the robot at all, which sidesteps that infinite regress from the previous slide. And here's the payoff: because we have this probabilistic model, every action the human actually takes becomes evidence the robot can use to update its belief about the human's true, hidden objective — exactly a Bayesian update, b-prime proportional to the prior belief times the likelihood of that action under each candidate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watch this belief-update mechanism play out concretely. A person in a room could plausibly be heading to look out the window, or to the kitchen, and the robot is tracking their path so far. As that path bends up and to the right, toward the window, the robot's belief shifts accordingly — the probability that the goal is the window goes up, and the probability it's the kitchen goes down, purely because a path heading toward the kitchen would have been an unnecessarily bad path if the true goal were the window, and vice versa; the heatmap you're looking at is literally the robot's predicted future trajectory, brightest where it thinks the person is most likely headed next. And here's the payoff that makes all of this tractable: once the robot has a working model for predicting the human's likely next actions, the entire multi-agent game effectively collapses back down into an ordinary MDP — the robot can compute the probability of the world's next state given its own action by marginalizing over the human's likely action, and then it's solving exactly the kind of MDP we already know how to handle from Section 26.5 and 26.6. Prediction and action get split, exactly the same divide-and-conquer trick we used for perception and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 real cost to the prediction-then-action split we just built, and I want to name it precisely: a robot using that split no longer understands that its OWN actions can influence what the human ends up doing. If an autonomous car just reacts passively to other cars' predicted trajectories, it might sit there waiting a very long time for someone to voluntarily vacate its target lane in dense highway traffic. But a car that jointly reasons about prediction and action realizes something genuinely clever: if it starts to assert itself, nudging into the lane, other human drivers are statistically likely to slow down a little and make room — the car's own action changes the human's subsequent prediction and behavior, not just the other way around. There's an equally striking example at an intersection: the same joint-reasoning algorithm discovered that a car could make a hesitant pedestrian proceed faster through a crosswalk by very slightly inching backward first — a signal of deference that speeds the human up. This is genuinely sophisticated social reasoning emerging from the math, and it's precisely the kind of behavior that a purely reactive controller, which we're about to cover in Section 26.9, would have no principled way to 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 beautiful special case of this whole game framework: when the human's objective and the robot's objective are literally identical — you've just gotten a home robot to help you cook, say — we can define a single joint agent whose actions are pairs, one human action and one robot action together, and solve one ordinary joint planning problem for both of them at once. This works wonderfully if people execute their half of the optimal joint plan perfectly. They don't — people have minds of their own, and deviate constantly, often for good reasons the plan didn't anticipate. The fix is a technique we've already met: model predictive control. Compute the optimal joint plan, execute the robot's assigned part, and the instant the human deviates from their assigned part, recompute the whole joint plan from scratch given where things actually stand. Walk through the waffle example with me: the optimal joint plan has you grabbing eggs and milk from the fridge while the robot fetches flour from the cabinet, because you happen to be standing closer to the fridge. But suppose you unexpectedly start walking toward the flour cabinet instead. Rather than stubbornly also heading for the flour and colliding with you, the MPC-based robot instantly replans and grabs the waffle iron instead — adapting cleanly to what you're actually doing, not what the original plan assumed you'd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strictly need to model people as intentional, objective-driven agents at all to get useful coordination behavior. An alternative philosophy treats the human as a black box — just some agent whose policy, pi-sub-H, effectively 'messes with' the environment's dynamics from the robot's perspective. The robot doesn't need to know that policy explicitly; it can treat the whole situation as acting in an MDP with unknown dynamics, which is exactly the same framing we used for general agents back in Chapter 23, and for robots specifically in Section 26.7. In practice, because human interaction data is scarce, this has mostly been applied at the coarser task level rather than low-level motion — for example, robots have learned, purely from interaction, what actions a human co-worker tends to take in response to the robot's own actions during an industrial screw-placement assembly task. And there's a fully model-free alternative too: just start with some initial policy or value function and keep improving it through ordinary trial-and-error interaction with the human over time, no explicit model of their behavior required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pivot to Section 26.8.2 — learning what humans actually want, rather than just predicting what they'll do. And the beautiful thing is we already built the exact right tool a few slides ago, we just used it for a different purpose. Before, we assumed noisy-rational human actions in order to PREDICT what a person would do next. Now, we assume noisy-rational human DEMONSTRATIONS — think of someone driving a car exactly the way they'd like the robot to drive it — and use that same machinery to infer which cost function best explains those demonstrated actions. Once we've inferred that cost function, the robot simply adopts it as its own. Here's the concrete example from Figure 26.29: a person demonstrates driving carefully along a dirt road, staying off the grassy shoulder. The robot infers a cost function that penalizes leaving the road surface. And here's the crucial test of whether this actually worked: place the robot in a brand new scene it's never seen before, with a differently-shaped road, and it correctly plans a path staying on THAT road too — because it learned the underlying preference, 'stay on roads,' rather than merely memorizing the one demonstrated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an even more direct alternative to preference learning: skip inferring a cost function entirely, and just learn the desired policy straight from demonstrations. This is behavioral cloning, or imitation learning. Treat every demonstrated state-action pair as one labeled training example, and run ordinary supervised learning to fit a policy mapping states directly to actions. Sounds great — until you hit the fundamental challenge: generalization. The learned policy has no causal understanding of WHY a given action was correct in a given state; it's pure pattern matching, and there's no guarantee that pattern generalizes correctly to states it never saw during training. The historical ALVINN autonomous-car project is the canonical cautionary tale here: even starting exactly on the demonstrated path, the learned policy makes small errors — nobody's perfect — which nudges the car slightly off that path. But now the car is in a state it never saw demonstrated, where the policy has even less relevant training data to lean on, so it makes an even bigger error, drifting further off course, and the errors compound catastrophically. This exact compounding-error failure mode is precisely what our next technique, DAGGER, was invented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DAGGER — short for Data Aggregation — solves exactly the compounding-error problem we just diagnosed, and the trick is elegant. In general, start from an initial human expert demonstration and train a first policy, pi-one. Substituting in the fix: instead of stopping there, actually run pi-one in the real environment, let it wander wherever its own small errors take it — including states well off the original demonstrated path — and then, crucially, go back to the human expert and ask what THEY would have done at every one of those newly visited states, adding those fresh labels to the dataset. The result is a genuinely virtuous cycle: train pi-two on the combined original-plus-new data, run pi-two, collect more corrective labels at whatever new states IT wanders into, train pi-three on everything gathered so far, and so on. At every iteration, the policy is specifically getting labeled correction data for exactly the mistakes it's currently prone to making — which means, unlike plain behavioral cloning, it genuinely learns how to correct its own errors as it drifts, rather than only ever seeing the pristine, error-free demonstrated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last practical wrinkle. For an autonomous car or helicopter, demonstration is easy because the human uses the exact same actions the robot will use — accelerate, brake, steer. But think about teaching a robot to clear a kitchen table: what does a human even demonstrate WITH? There are three real approaches, each with a real catch. First, the human demonstrates using their own body while the robot watches — natural and intuitive for the end user, but it runs into the correspondence problem: mapping a five-fingered human grasp onto a two-fingered parallel-jaw gripper is genuinely difficult, because human and robot kinematics are just different, and sometimes a person's whole high-level strategy doesn't even make sense for the robot's different body. Second, kinesthetic teaching: the human physically grabs the robot's own arm and guides it through the motion directly. This sounds simpler, but it's actually hard for humans to do well, especially coordinating several joints simultaneously — which is exactly why researchers often demonstrate with discrete keyframes rather than one smooth continuous motion. And third, visual programming interfaces, where a user places specially designed blocks in the workspace to select objects and specify high-level actions, which requires a library of pre-built primitives to already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close Section 26.8 with Wren at Northgate. Wren's default hallway path runs straight down the geometric center of the corridor — which is fine almost everywhere, except it clips a little too close to the nurses' station counter, where Nurse Priya and her colleagues are constantly leaning over paperwork and equipment. So Priya does something wonderfully simple: as Wren rolls by, she gently pushes its base a few inches further from the counter. That's a kinesthetic correction — physically guiding the robot's own effector, exactly the teaching technique from a couple of slides ago. Wren's onboard learning system doesn't treat this as noise to be filtered out; it treats it as a demonstration signal, exactly like our dirt-road driving example, and updates its inferred cost function to add a penalty for passing close to that particular counter. The payoff: the very next time Wren plans a route down that hallway, entirely on its own, it stays further from the counter — nobody wrote a new line of code, nobody adjusted a parameter by hand. A single physical nudge from Nurse Priya became a permanent update to Wren's learned preferences, exactly the mechanism Section 26.8.2 gave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we've covered from Section 26.3 all the way through 26.8 shares one philosophy: define or learn some reward or cost function, then have the robot optimize it, via planning, control, or learning. That's the deliberative view of robotics. Section 26.9 introduces a genuinely different philosophy: the reactive view. Instead of a rational agent that reasons about a model of the world, a reactive robot is simply a reflex agent — it maps sensor readings directly to actions, with no explicit world model and no explicit planning step in between at all. This isn't a lesser or outdated approach; in some situations, as we're about to see with a walking robot, it's easier and more robust to hand-design a good direct policy than it is to build an accurate enough world model to plan against. Keep an open mind here — the right answer for a given robot is genuinely 'it depends.'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Genghis, the six-legged hexapod robot designed for walking over rough terrain. Why not just apply everything we built in Section 26.5? Because the numbers are brutal: six legs, two motors each, is twelve degrees of freedom for the legs alone, plus six more for the robot's overall position and orientation, giving an eighteen-dimensional configuration space — and even with high-precision cameras and range finders, which Genghis's actual sensors are too weak to provide anyway, path planning in eighteen dimensions runs straight into the curse of dimensionality. So instead, Genghis uses a remarkably simple reactive rule, with no environmental model at all. First, choose a gait — a pattern of leg movement, like moving the right-front, right-rear, and left-center legs together, then the other three. On flat terrain, that's the whole story. On rugged terrain, when a leg's forward swing gets physically blocked by an obstacle, the controller applies one simple rule: retract the leg, lift it a bit higher than before, and try the swing again. That's the whole finite-state machine you're looking at on the left — states one through four, with a single sensor-triggered branch for 'am I stuck.' No model of the terrain was ever built, and none was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you scale a single leg's reflex up to a whole coordinated robot? Brooks's subsumption architecture, from 1986, gives you the building blocks. Augmented finite state machines, or AFSMs, are finite state machines whose transitions can be conditioned on sensor tests, whose arcs can carry messages to motors or to other AFSMs, and which additionally carry internal timers — that's the 'augmented' part. The subsumption architecture then adds primitives specifically for synchronizing multiple AFSMs running concurrently, and for combining the outputs of several, possibly conflicting, AFSMs into one coherent action. The composition strategy is genuinely bottom-up: start with one AFSM per leg — exactly the four-state machine we just saw — then add a coordinating AFSM that synchronizes all six legs into a proper gait, and then layer higher-level behaviors, like collision avoidance, on top of that. I want you to genuinely appreciate how impressive this is: producing Genghis's walking behavior using configuration-space path planning from Section 26.5 would require an accurate eighteen-dimensional terrain model and would have to explicitly handle stochastic effects like the robot sliding on a slope — subsumption sidesteps the entire problem through purely bottom-up composition of simple reflexes.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Subsumption isn't a free lunch, and the book is refreshingly candid about three genuine limitations. First, AFSMs are driven directly by raw sensor input, which works fine when sensor data is reliable and self-contained, but fails when the right decision requires integrating information nontrivially over time — subsumption-style controllers have mostly stuck to simple tasks like wall-following, for exactly this reason. Second, there's no notion of changing goals: a subsumption robot typically does one task and has no built-in mechanism for retargeting itself to a new goal. Third, and this is the one I most want you to internalize: in many real problems the desired policy is simply too complex to hand-encode explicitly. Walk through the lane-change example with me. You start simple: nudge into the target lane. Then you discover not every driver yields, so you add: wait for a response, then either proceed or retreat. Then you discover the correct nudge speed depends on the target lane's traffic speed, on whether there's a car directly ahead in that lane, and on whether there's a car behind you in your OWN lane — and the list of conditions you need to hand-code just keeps growing, for what sounded like a deceptively simple maneuver. This exact difficulty is precisely why real deployed autonomous-driving stacks blend reactive components with deliberative planning, rather than committing purely to one philosophy or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tour where robotics actually shows up in the world, starting close to home. Wheelchair-mounted arms, like the Kinova arm we saw all the way back in Section 26.2, help people with motor impairments live more independently — and notice the trend: these started off entirely human-operated, and they're gaining more autonomy year over year. On the horizon, and genuinely remarkable, are robots controlled through brain-machine interfaces, which have already let people with quadriplegia use a robot arm to grasp objects and even feed themselves. Related to both of these are intelligent prosthetic limbs and exoskeletons that respond to a wearer's remaining muscle signals — some restore basic mobility, some grant superhuman strength for industrial work. And then personal robots meant to help with everyday tasks like cleaning and organizing: navigation has genuinely matured here, which is exactly why your Roomba works so well, but manipulation in a cluttered, unstructured human home — actually picking things up and putting them away — remains a much harder open problem that hasn't been solved nearly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health care specifically, the Da Vinci surgical robot is now widely deployed across U.S. hospitals, enabling more precise, minimally invasive procedures with measurably better patient outcomes than un-assisted surgery in many cases. Beyond the operating room, mobile service robots have quietly become common in hotels, offices, and hospitals: Savioke's robots deliver towels and toothpaste to hotel guests; TUG and HelpMate carry food and medicine through hospital hallways; Diligent Robotics' Moxi specifically handles back-end logistics so nurses can spend more of their time actually with patients; CoBot roams Carnegie Mellon's hallways guiding visitors to faculty offices; and telepresence robots like Beam let someone attend a meeting, or check in on aging relatives, remotely. And I want you to notice something directly: TUG, Moxi, and HelpMate are exactly the real-world category Wren belongs to. Everything we've built for Wren all day — localization, motion planning, control, coordination with Nurse Priya — is precisely the technology stack underneath these actual, currently-deployed hospital robots.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Autonomous cars deserve their own case study because the timeline maps almost perfectly onto everything we've covered today. Prototypes existed as early as the 1980s, with pioneers like Dickmanns and Pomerleau, but progress was slow. The real catalyst was the 2004 DARPA Grand Challenge — a two-hundred-kilometer autonomous race across unrehearsed desert terrain — and notably, not a single vehicle finished; the furthest any robot got was eight miles, leading plenty of people to believe the prize would never be claimed. Just one year later, in 2005, Stanford's Stanley completed the same course in under seven hours, winning two million dollars and a place in the National Museum of American History. In 2007, DARPA's follow-up Urban Challenge added other traffic and real traffic rules on actual city streets, and Carnegie Mellon's BOSS took first place. In 2009, Google started an autonomous-driving project staffed by many of the same Stanley and BOSS researchers, which eventually spun off as Waymo, and by 2018 Waymo was running fully driverless tests — nobody behind the wheel at all — in the suburbs of Phoenix. And I want to be direct about why this matters beyond convenience: more than a million people die in traffic accidents worldwide every year, frequently due to human distraction, and that stark human cost, alongside simply reclaiming the time we spend driving, is the actual driving force — pun intended — behind this entire multi-decade research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tour of three more domains, and then an honest note about costs. Entertainment: Disney has used robots, under the name animatronics, in its parks since 1963; originally these were entirely fixed, open-loop, unvarying motion and speech, but since 2009 a version called autonomatronics can actually generate genuinely autonomous action. On a smaller scale, Anki's Cozmo is an intelligent toy that plays games with children and will visibly express frustration, even pounding the table, when it loses, and Skydio's quadrotor drones act as autonomous personal photographers, following you around while skiing or biking. Exploration and hazardous environments: robots have mapped abandoned coal mines and sunken ships, one team even released a legged robot into an active volcano's crater to gather climate data, and robots have assisted in cleaning up nuclear disasters at Three Mile Island, Chernobyl, and Fukushima, and entered structures too dangerous for human rescue crews after the collapse of the World Trade Center. And industry: the majority of all robots deployed today work in factories, with roughly half of those in automobile manufacturing alone. But I want to be honest with you about the real trade-off here, which the textbook itself names directly: automating these tasks efficiently produces what society needs, but it also genuinely displaces human workers, raising real policy questions about retraining and the fair distribution of the resulting productivity gains — questions this course returns to properly in a later chapter on AI's societal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compress the entire three hours into the handful of sentences I most want you to remember. A robot is a physically embodied agent — its actions change the actual, unforgiving physical world, which refuses to run faster than real time and offers no undo button. The general robotics problem is simultaneously stochastic, which we handle with MDPs; partially observable, which we handle with POMDPs; and multi-agent, which we handle with game theory — often genuinely all three at once, layered on top of continuous, high-dimensional state and action spaces that make everything harder than the discrete problems earlier in this course. In an ideal world, we'd solve this whole thing end to end: raw sensor feeds go in, motor torques come out, one giant optimization. In practice, that's intractable, so we decouple perception from motion planning from control, accepting some lost performance in exchange for actually being able to compute something. And the single sentence I want you to leave with: the entire modern research frontier in robotics is about re-integrating those decoupled pieces as our algorithms and hardware mature — closing exactly the loops we spent all day deliberately opening.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promised you at the very start that this chapter was a grand unification, and here's the receipt. Chapter 3's search algorithms are quietly running underneath visibility graphs, Voronoi graphs, and cell decomposition. Chapter 4's hill climbing and simulated annealing are exactly what powers gradient descent in trajectory optimization. Chapter 11's automated planning lives at the top of our three-level hierarchy as task planning. Chapter 13's Bayesian network inference reappears as graph relaxation for large-scale SLAM. Chapter 14's recursive filtering equation is, quite literally, the equation underneath every single localization technique we covered. Chapter 16's MDPs, policies, and value functions are the exact vocabulary we used for trajectory tracking control and optimal control. Chapter 17's multi-agent game theory became our formal model of robot-human coordination. Chapters 19 through 21's learning techniques showed up as low-dimensional embedding, self-supervised perception, and cost-function inference. And Chapters 22 and 23's reinforcement learning became sim-to-real transfer, domain randomization, and model-based RL. If you take one thing from this table, take this: robotics isn't a niche application of AI — it's the proving ground where every technique in this course has to work together, under real-world pressure,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watch the entire lecture play out one more time, compressed into thirty seconds of Wren's actual morning. Section 26.2 gave Wren its body: lidar, camera, Wi-Fi beacons for indoor localization, wheel encoders, a small gripper. Section 26.3 reminded us that the true reward for this delivery belongs to patient Maria Santos, not to Wren itself, with task planning handing down the simple instruction 'deliver tray.' Section 26.4 had Wren's Monte Carlo localization filter converge from total uncertainty down to a confident pose estimate as it passed distinctive hallway features and known beacons. Section 26.5 had an RRT plan a path around an unexpected housekeeping cart, retimed into a trajectory that a PID controller then tracked in real time, correcting for wheel slip on the linoleum. Section 26.6 had Wren replan immediately, MPC-style, the moment that cart actually moved, rather than blindly executing a plan built on stale information. Section 26.7 reminds us that Wren's underlying obstacle-avoidance policy was originally trained in randomized simulation, long before it ever touched a real hospital floor. And Section 26.8 had Wren predict Nurse Priya's path through the corridor and negotiate who goes first — while, from earlier, Priya's simple kinesthetic nudge near the nurses' station had already permanently updated Wren's learned cost function. That's the whole chapter, in one robot, in one hallway.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discussion questions to sit with before our next session, and I'll want your thoughts in writing as part of the upcoming checkpoint. First: Wren's coded reward function is something simple like 'minimize delivery time.' Spend some real time thinking about what unstated preferences Maria Santos or Nurse Priya might have that a proxy that crude completely misses — and think about how you'd actually go about eliciting those preferences using the tools from Section 26.8.2. Second: pick any one motion-planning algorithm from today — visibility graphs, Voronoi diagrams, cell decomposition, PRM, or RRT — and construct a specific real robot and environment where that algorithm would genuinely be the wrong choice, not just a suboptimal one. I want a concrete failure mode, not a vague gesture at 'high dimensions.' Next time, we move to Chapter 27, Computer Vision, which is going to formalize a lot of what we simply assumed today about how cameras and lidar actually turn raw pixels and point clouds into the clean observations our filtering equations consumed. See you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Chapter 26 — thank you all for sticking with me through three hours of genuinely dense material. If anything didn't fully land, the two spots I'd expect the most questions are the leap from workspace to configuration space near the start of Section 26.5, and the Euler-Lagrange derivation for why straight lines are optimal — both are conceptually the hardest moments in today's lecture, and I'm glad to walk through either one again in office hours, on the board, as many times as it takes. Bring your discussion question answers too; I genuinely want to hear what failure modes you come up with for the motion-planning comparison question. See you all next time for Computer 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3A5C"/>
          </a:solidFill>
          <a:ln/>
        </p:spPr>
      </p:sp>
      <p:sp>
        <p:nvSpPr>
          <p:cNvPr id="3" name="Shape 1"/>
          <p:cNvSpPr/>
          <p:nvPr/>
        </p:nvSpPr>
        <p:spPr>
          <a:xfrm>
            <a:off x="9966960" y="-914400"/>
            <a:ext cx="3840480" cy="3840480"/>
          </a:xfrm>
          <a:prstGeom prst="ellipse">
            <a:avLst/>
          </a:prstGeom>
          <a:solidFill>
            <a:srgbClr val="132B45"/>
          </a:solidFill>
          <a:ln/>
        </p:spPr>
      </p:sp>
      <p:sp>
        <p:nvSpPr>
          <p:cNvPr id="4" name="Shape 2"/>
          <p:cNvSpPr/>
          <p:nvPr/>
        </p:nvSpPr>
        <p:spPr>
          <a:xfrm>
            <a:off x="10607040" y="4937760"/>
            <a:ext cx="2743200" cy="2743200"/>
          </a:xfrm>
          <a:prstGeom prst="ellipse">
            <a:avLst/>
          </a:prstGeom>
          <a:solidFill>
            <a:srgbClr val="4A6FA5"/>
          </a:solidFill>
          <a:ln/>
        </p:spPr>
      </p:sp>
      <p:sp>
        <p:nvSpPr>
          <p:cNvPr id="5" name="Shape 3"/>
          <p:cNvSpPr/>
          <p:nvPr/>
        </p:nvSpPr>
        <p:spPr>
          <a:xfrm>
            <a:off x="-1097280" y="5120640"/>
            <a:ext cx="3108960" cy="3108960"/>
          </a:xfrm>
          <a:prstGeom prst="ellipse">
            <a:avLst/>
          </a:prstGeom>
          <a:solidFill>
            <a:srgbClr val="C8840A"/>
          </a:solidFill>
          <a:ln/>
        </p:spPr>
      </p:sp>
      <p:sp>
        <p:nvSpPr>
          <p:cNvPr id="6" name="Text 4"/>
          <p:cNvSpPr/>
          <p:nvPr/>
        </p:nvSpPr>
        <p:spPr>
          <a:xfrm>
            <a:off x="822960" y="1417320"/>
            <a:ext cx="10058400" cy="457200"/>
          </a:xfrm>
          <a:prstGeom prst="rect">
            <a:avLst/>
          </a:prstGeom>
          <a:noFill/>
          <a:ln/>
        </p:spPr>
        <p:txBody>
          <a:bodyPr wrap="square" lIns="0" tIns="0" rIns="0" bIns="0" rtlCol="0" anchor="ctr"/>
          <a:lstStyle/>
          <a:p>
            <a:pPr indent="0" marL="0">
              <a:buNone/>
            </a:pPr>
            <a:r>
              <a:rPr lang="en-US" sz="1600" b="1" spc="200" kern="0" dirty="0">
                <a:solidFill>
                  <a:srgbClr val="E8960C"/>
                </a:solidFill>
                <a:latin typeface="Calibri" pitchFamily="34" charset="0"/>
                <a:ea typeface="Calibri" pitchFamily="34" charset="-122"/>
                <a:cs typeface="Calibri" pitchFamily="34" charset="-120"/>
              </a:rPr>
              <a:t>CS650 · ARTIFICIAL INTELLIGENCE · CHAPTER 26</a:t>
            </a:r>
            <a:endParaRPr lang="en-US" sz="1600" dirty="0"/>
          </a:p>
        </p:txBody>
      </p:sp>
      <p:sp>
        <p:nvSpPr>
          <p:cNvPr id="7" name="Text 5"/>
          <p:cNvSpPr/>
          <p:nvPr/>
        </p:nvSpPr>
        <p:spPr>
          <a:xfrm>
            <a:off x="822960" y="1874520"/>
            <a:ext cx="10332720" cy="155448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Robotics</a:t>
            </a:r>
            <a:endParaRPr lang="en-US" sz="4600" dirty="0"/>
          </a:p>
        </p:txBody>
      </p:sp>
      <p:sp>
        <p:nvSpPr>
          <p:cNvPr id="8" name="Text 6"/>
          <p:cNvSpPr/>
          <p:nvPr/>
        </p:nvSpPr>
        <p:spPr>
          <a:xfrm>
            <a:off x="822960" y="3337560"/>
            <a:ext cx="9875520" cy="100584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Where perception, planning, learning, and control meet the physical world.</a:t>
            </a:r>
            <a:endParaRPr lang="en-US" sz="1800" dirty="0"/>
          </a:p>
        </p:txBody>
      </p:sp>
      <p:sp>
        <p:nvSpPr>
          <p:cNvPr id="9" name="Shape 7"/>
          <p:cNvSpPr/>
          <p:nvPr/>
        </p:nvSpPr>
        <p:spPr>
          <a:xfrm>
            <a:off x="822960" y="4526280"/>
            <a:ext cx="3840480" cy="0"/>
          </a:xfrm>
          <a:prstGeom prst="line">
            <a:avLst/>
          </a:prstGeom>
          <a:noFill/>
          <a:ln w="25400">
            <a:solidFill>
              <a:srgbClr val="E8960C"/>
            </a:solidFill>
            <a:prstDash val="solid"/>
          </a:ln>
        </p:spPr>
      </p:sp>
      <p:sp>
        <p:nvSpPr>
          <p:cNvPr id="10" name="Text 8"/>
          <p:cNvSpPr/>
          <p:nvPr/>
        </p:nvSpPr>
        <p:spPr>
          <a:xfrm>
            <a:off x="822960" y="4709160"/>
            <a:ext cx="9601200" cy="1463040"/>
          </a:xfrm>
          <a:prstGeom prst="rect">
            <a:avLst/>
          </a:prstGeom>
          <a:noFill/>
          <a:ln/>
        </p:spPr>
        <p:txBody>
          <a:bodyPr wrap="square" lIns="0" tIns="0" rIns="0" bIns="0" rtlCol="0" anchor="ctr"/>
          <a:lstStyle/>
          <a:p>
            <a:pPr indent="0" marL="0">
              <a:lnSpc>
                <a:spcPct val="130000"/>
              </a:lnSpc>
              <a:buNone/>
            </a:pPr>
            <a:r>
              <a:rPr lang="en-US" sz="1300" dirty="0">
                <a:solidFill>
                  <a:srgbClr val="AFC3E0"/>
                </a:solidFill>
                <a:latin typeface="Calibri" pitchFamily="34" charset="0"/>
                <a:ea typeface="Calibri" pitchFamily="34" charset="-122"/>
                <a:cs typeface="Calibri" pitchFamily="34" charset="-120"/>
              </a:rPr>
              <a:t>Prof. Fomba Kassoh  ·  26SP-CS650-154HY (Hybrid)</a:t>
            </a:r>
            <a:endParaRPr lang="en-US" sz="1300" dirty="0"/>
          </a:p>
          <a:p>
            <a:pPr indent="0" marL="0">
              <a:lnSpc>
                <a:spcPct val="130000"/>
              </a:lnSpc>
              <a:buNone/>
            </a:pPr>
            <a:r>
              <a:rPr lang="en-US" sz="1300" dirty="0">
                <a:solidFill>
                  <a:srgbClr val="AFC3E0"/>
                </a:solidFill>
                <a:latin typeface="Calibri" pitchFamily="34" charset="0"/>
                <a:ea typeface="Calibri" pitchFamily="34" charset="-122"/>
                <a:cs typeface="Calibri" pitchFamily="34" charset="-120"/>
              </a:rPr>
              <a:t>Russell &amp; Norvig, Artificial Intelligence: A Modern Approach, 4th Edition</a:t>
            </a:r>
            <a:endParaRPr lang="en-US" sz="1300" dirty="0"/>
          </a:p>
          <a:p>
            <a:pPr indent="0" marL="0">
              <a:lnSpc>
                <a:spcPct val="130000"/>
              </a:lnSpc>
              <a:buNone/>
            </a:pPr>
            <a:r>
              <a:rPr lang="en-US" sz="1300" dirty="0">
                <a:solidFill>
                  <a:srgbClr val="AFC3E0"/>
                </a:solidFill>
                <a:latin typeface="Calibri" pitchFamily="34" charset="0"/>
                <a:ea typeface="Calibri" pitchFamily="34" charset="-122"/>
                <a:cs typeface="Calibri" pitchFamily="34" charset="-120"/>
              </a:rPr>
              <a:t>Running examples: the textbook's warehouse arm R1  ·  Northgate General Hospital's delivery robot Wren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WHY THIS CHAPTER MATTERS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Robots Are Already Everywhere</a:t>
            </a:r>
            <a:endParaRPr lang="en-US" sz="2700" dirty="0"/>
          </a:p>
        </p:txBody>
      </p:sp>
      <p:sp>
        <p:nvSpPr>
          <p:cNvPr id="4" name="Shape 2"/>
          <p:cNvSpPr/>
          <p:nvPr/>
        </p:nvSpPr>
        <p:spPr>
          <a:xfrm>
            <a:off x="548640" y="1417320"/>
            <a:ext cx="2636444" cy="3200400"/>
          </a:xfrm>
          <a:prstGeom prst="roundRect">
            <a:avLst>
              <a:gd name="adj" fmla="val 2081"/>
            </a:avLst>
          </a:prstGeom>
          <a:solidFill>
            <a:srgbClr val="EEF2FF"/>
          </a:solidFill>
          <a:ln w="15875">
            <a:solidFill>
              <a:srgbClr val="4A6FA5"/>
            </a:solidFill>
            <a:prstDash val="solid"/>
          </a:ln>
        </p:spPr>
      </p:sp>
      <p:sp>
        <p:nvSpPr>
          <p:cNvPr id="5" name="Text 3"/>
          <p:cNvSpPr/>
          <p:nvPr/>
        </p:nvSpPr>
        <p:spPr>
          <a:xfrm>
            <a:off x="658368" y="1508760"/>
            <a:ext cx="2416988" cy="310896"/>
          </a:xfrm>
          <a:prstGeom prst="rect">
            <a:avLst/>
          </a:prstGeom>
          <a:noFill/>
          <a:ln/>
        </p:spPr>
        <p:txBody>
          <a:bodyPr wrap="square" lIns="0" tIns="0" rIns="0" bIns="0" rtlCol="0" anchor="t"/>
          <a:lstStyle/>
          <a:p>
            <a:pPr algn="l" indent="0" marL="0">
              <a:buNone/>
            </a:pPr>
            <a:r>
              <a:rPr lang="en-US" sz="1250" b="1" dirty="0">
                <a:solidFill>
                  <a:srgbClr val="1A3A5C"/>
                </a:solidFill>
                <a:latin typeface="Calibri" pitchFamily="34" charset="0"/>
                <a:ea typeface="Calibri" pitchFamily="34" charset="-122"/>
                <a:cs typeface="Calibri" pitchFamily="34" charset="-120"/>
              </a:rPr>
              <a:t>🧹  In your home</a:t>
            </a:r>
            <a:endParaRPr lang="en-US" sz="1250" dirty="0"/>
          </a:p>
        </p:txBody>
      </p:sp>
      <p:sp>
        <p:nvSpPr>
          <p:cNvPr id="6" name="Text 4"/>
          <p:cNvSpPr/>
          <p:nvPr/>
        </p:nvSpPr>
        <p:spPr>
          <a:xfrm>
            <a:off x="658368" y="1837944"/>
            <a:ext cx="2416988" cy="2697480"/>
          </a:xfrm>
          <a:prstGeom prst="rect">
            <a:avLst/>
          </a:prstGeom>
          <a:noFill/>
          <a:ln/>
        </p:spPr>
        <p:txBody>
          <a:bodyPr wrap="square" lIns="0" tIns="0" rIns="0" bIns="0" rtlCol="0" anchor="t"/>
          <a:lstStyle/>
          <a:p>
            <a:pPr algn="l" indent="0" marL="0">
              <a:buNone/>
            </a:pPr>
            <a:r>
              <a:rPr lang="en-US" sz="1000" dirty="0">
                <a:solidFill>
                  <a:srgbClr val="51606F"/>
                </a:solidFill>
                <a:latin typeface="Calibri" pitchFamily="34" charset="0"/>
                <a:ea typeface="Calibri" pitchFamily="34" charset="-122"/>
                <a:cs typeface="Calibri" pitchFamily="34" charset="-120"/>
              </a:rPr>
              <a:t>Robot vacuums navigate your living room using the same localization math we'll derive today.</a:t>
            </a:r>
            <a:endParaRPr lang="en-US" sz="1000" dirty="0"/>
          </a:p>
        </p:txBody>
      </p:sp>
      <p:sp>
        <p:nvSpPr>
          <p:cNvPr id="7" name="Shape 5"/>
          <p:cNvSpPr/>
          <p:nvPr/>
        </p:nvSpPr>
        <p:spPr>
          <a:xfrm>
            <a:off x="3367964" y="1417320"/>
            <a:ext cx="2636444" cy="3200400"/>
          </a:xfrm>
          <a:prstGeom prst="roundRect">
            <a:avLst>
              <a:gd name="adj" fmla="val 2081"/>
            </a:avLst>
          </a:prstGeom>
          <a:solidFill>
            <a:srgbClr val="FFF8E6"/>
          </a:solidFill>
          <a:ln w="15875">
            <a:solidFill>
              <a:srgbClr val="C8840A"/>
            </a:solidFill>
            <a:prstDash val="solid"/>
          </a:ln>
        </p:spPr>
      </p:sp>
      <p:sp>
        <p:nvSpPr>
          <p:cNvPr id="8" name="Text 6"/>
          <p:cNvSpPr/>
          <p:nvPr/>
        </p:nvSpPr>
        <p:spPr>
          <a:xfrm>
            <a:off x="3477692" y="1508760"/>
            <a:ext cx="2416988" cy="310896"/>
          </a:xfrm>
          <a:prstGeom prst="rect">
            <a:avLst/>
          </a:prstGeom>
          <a:noFill/>
          <a:ln/>
        </p:spPr>
        <p:txBody>
          <a:bodyPr wrap="square" lIns="0" tIns="0" rIns="0" bIns="0" rtlCol="0" anchor="t"/>
          <a:lstStyle/>
          <a:p>
            <a:pPr algn="l" indent="0" marL="0">
              <a:buNone/>
            </a:pPr>
            <a:r>
              <a:rPr lang="en-US" sz="1250" b="1" dirty="0">
                <a:solidFill>
                  <a:srgbClr val="1A3A5C"/>
                </a:solidFill>
                <a:latin typeface="Calibri" pitchFamily="34" charset="0"/>
                <a:ea typeface="Calibri" pitchFamily="34" charset="-122"/>
                <a:cs typeface="Calibri" pitchFamily="34" charset="-120"/>
              </a:rPr>
              <a:t>🚗  On the road</a:t>
            </a:r>
            <a:endParaRPr lang="en-US" sz="1250" dirty="0"/>
          </a:p>
        </p:txBody>
      </p:sp>
      <p:sp>
        <p:nvSpPr>
          <p:cNvPr id="9" name="Text 7"/>
          <p:cNvSpPr/>
          <p:nvPr/>
        </p:nvSpPr>
        <p:spPr>
          <a:xfrm>
            <a:off x="3477692" y="1837944"/>
            <a:ext cx="2416988" cy="2697480"/>
          </a:xfrm>
          <a:prstGeom prst="rect">
            <a:avLst/>
          </a:prstGeom>
          <a:noFill/>
          <a:ln/>
        </p:spPr>
        <p:txBody>
          <a:bodyPr wrap="square" lIns="0" tIns="0" rIns="0" bIns="0" rtlCol="0" anchor="t"/>
          <a:lstStyle/>
          <a:p>
            <a:pPr algn="l" indent="0" marL="0">
              <a:buNone/>
            </a:pPr>
            <a:r>
              <a:rPr lang="en-US" sz="1000" dirty="0">
                <a:solidFill>
                  <a:srgbClr val="51606F"/>
                </a:solidFill>
                <a:latin typeface="Calibri" pitchFamily="34" charset="0"/>
                <a:ea typeface="Calibri" pitchFamily="34" charset="-122"/>
                <a:cs typeface="Calibri" pitchFamily="34" charset="-120"/>
              </a:rPr>
              <a:t>Waymo and Tesla replan a trajectory dozens of times per second while merging around you.</a:t>
            </a:r>
            <a:endParaRPr lang="en-US" sz="1000" dirty="0"/>
          </a:p>
        </p:txBody>
      </p:sp>
      <p:sp>
        <p:nvSpPr>
          <p:cNvPr id="10" name="Shape 8"/>
          <p:cNvSpPr/>
          <p:nvPr/>
        </p:nvSpPr>
        <p:spPr>
          <a:xfrm>
            <a:off x="6187288" y="1417320"/>
            <a:ext cx="2636444" cy="3200400"/>
          </a:xfrm>
          <a:prstGeom prst="roundRect">
            <a:avLst>
              <a:gd name="adj" fmla="val 2081"/>
            </a:avLst>
          </a:prstGeom>
          <a:solidFill>
            <a:srgbClr val="EEF8EE"/>
          </a:solidFill>
          <a:ln w="15875">
            <a:solidFill>
              <a:srgbClr val="1B6B3A"/>
            </a:solidFill>
            <a:prstDash val="solid"/>
          </a:ln>
        </p:spPr>
      </p:sp>
      <p:sp>
        <p:nvSpPr>
          <p:cNvPr id="11" name="Text 9"/>
          <p:cNvSpPr/>
          <p:nvPr/>
        </p:nvSpPr>
        <p:spPr>
          <a:xfrm>
            <a:off x="6297016" y="1508760"/>
            <a:ext cx="2416988" cy="310896"/>
          </a:xfrm>
          <a:prstGeom prst="rect">
            <a:avLst/>
          </a:prstGeom>
          <a:noFill/>
          <a:ln/>
        </p:spPr>
        <p:txBody>
          <a:bodyPr wrap="square" lIns="0" tIns="0" rIns="0" bIns="0" rtlCol="0" anchor="t"/>
          <a:lstStyle/>
          <a:p>
            <a:pPr algn="l" indent="0" marL="0">
              <a:buNone/>
            </a:pPr>
            <a:r>
              <a:rPr lang="en-US" sz="1250" b="1" dirty="0">
                <a:solidFill>
                  <a:srgbClr val="1A3A5C"/>
                </a:solidFill>
                <a:latin typeface="Calibri" pitchFamily="34" charset="0"/>
                <a:ea typeface="Calibri" pitchFamily="34" charset="-122"/>
                <a:cs typeface="Calibri" pitchFamily="34" charset="-120"/>
              </a:rPr>
              <a:t>🏥  In the OR</a:t>
            </a:r>
            <a:endParaRPr lang="en-US" sz="1250" dirty="0"/>
          </a:p>
        </p:txBody>
      </p:sp>
      <p:sp>
        <p:nvSpPr>
          <p:cNvPr id="12" name="Text 10"/>
          <p:cNvSpPr/>
          <p:nvPr/>
        </p:nvSpPr>
        <p:spPr>
          <a:xfrm>
            <a:off x="6297016" y="1837944"/>
            <a:ext cx="2416988" cy="2697480"/>
          </a:xfrm>
          <a:prstGeom prst="rect">
            <a:avLst/>
          </a:prstGeom>
          <a:noFill/>
          <a:ln/>
        </p:spPr>
        <p:txBody>
          <a:bodyPr wrap="square" lIns="0" tIns="0" rIns="0" bIns="0" rtlCol="0" anchor="t"/>
          <a:lstStyle/>
          <a:p>
            <a:pPr algn="l" indent="0" marL="0">
              <a:buNone/>
            </a:pPr>
            <a:r>
              <a:rPr lang="en-US" sz="1000" dirty="0">
                <a:solidFill>
                  <a:srgbClr val="51606F"/>
                </a:solidFill>
                <a:latin typeface="Calibri" pitchFamily="34" charset="0"/>
                <a:ea typeface="Calibri" pitchFamily="34" charset="-122"/>
                <a:cs typeface="Calibri" pitchFamily="34" charset="-120"/>
              </a:rPr>
              <a:t>The Da Vinci surgical robot turns a surgeon's hand motion into millimeter-precise instrument control.</a:t>
            </a:r>
            <a:endParaRPr lang="en-US" sz="1000" dirty="0"/>
          </a:p>
        </p:txBody>
      </p:sp>
      <p:sp>
        <p:nvSpPr>
          <p:cNvPr id="13" name="Shape 11"/>
          <p:cNvSpPr/>
          <p:nvPr/>
        </p:nvSpPr>
        <p:spPr>
          <a:xfrm>
            <a:off x="9006611" y="1417320"/>
            <a:ext cx="2636444" cy="3200400"/>
          </a:xfrm>
          <a:prstGeom prst="roundRect">
            <a:avLst>
              <a:gd name="adj" fmla="val 2081"/>
            </a:avLst>
          </a:prstGeom>
          <a:solidFill>
            <a:srgbClr val="FFF0EE"/>
          </a:solidFill>
          <a:ln w="15875">
            <a:solidFill>
              <a:srgbClr val="B5311A"/>
            </a:solidFill>
            <a:prstDash val="solid"/>
          </a:ln>
        </p:spPr>
      </p:sp>
      <p:sp>
        <p:nvSpPr>
          <p:cNvPr id="14" name="Text 12"/>
          <p:cNvSpPr/>
          <p:nvPr/>
        </p:nvSpPr>
        <p:spPr>
          <a:xfrm>
            <a:off x="9116339" y="1508760"/>
            <a:ext cx="2416988" cy="310896"/>
          </a:xfrm>
          <a:prstGeom prst="rect">
            <a:avLst/>
          </a:prstGeom>
          <a:noFill/>
          <a:ln/>
        </p:spPr>
        <p:txBody>
          <a:bodyPr wrap="square" lIns="0" tIns="0" rIns="0" bIns="0" rtlCol="0" anchor="t"/>
          <a:lstStyle/>
          <a:p>
            <a:pPr algn="l" indent="0" marL="0">
              <a:buNone/>
            </a:pPr>
            <a:r>
              <a:rPr lang="en-US" sz="1250" b="1" dirty="0">
                <a:solidFill>
                  <a:srgbClr val="1A3A5C"/>
                </a:solidFill>
                <a:latin typeface="Calibri" pitchFamily="34" charset="0"/>
                <a:ea typeface="Calibri" pitchFamily="34" charset="-122"/>
                <a:cs typeface="Calibri" pitchFamily="34" charset="-120"/>
              </a:rPr>
              <a:t>🪐  On other planets</a:t>
            </a:r>
            <a:endParaRPr lang="en-US" sz="1250" dirty="0"/>
          </a:p>
        </p:txBody>
      </p:sp>
      <p:sp>
        <p:nvSpPr>
          <p:cNvPr id="15" name="Text 13"/>
          <p:cNvSpPr/>
          <p:nvPr/>
        </p:nvSpPr>
        <p:spPr>
          <a:xfrm>
            <a:off x="9116339" y="1837944"/>
            <a:ext cx="2416988" cy="2697480"/>
          </a:xfrm>
          <a:prstGeom prst="rect">
            <a:avLst/>
          </a:prstGeom>
          <a:noFill/>
          <a:ln/>
        </p:spPr>
        <p:txBody>
          <a:bodyPr wrap="square" lIns="0" tIns="0" rIns="0" bIns="0" rtlCol="0" anchor="t"/>
          <a:lstStyle/>
          <a:p>
            <a:pPr algn="l" indent="0" marL="0">
              <a:buNone/>
            </a:pPr>
            <a:r>
              <a:rPr lang="en-US" sz="1000" dirty="0">
                <a:solidFill>
                  <a:srgbClr val="51606F"/>
                </a:solidFill>
                <a:latin typeface="Calibri" pitchFamily="34" charset="0"/>
                <a:ea typeface="Calibri" pitchFamily="34" charset="-122"/>
                <a:cs typeface="Calibri" pitchFamily="34" charset="-120"/>
              </a:rPr>
              <a:t>NASA's Curiosity rover plans multi-hour drives on Mars with a 20-minute communication delay.</a:t>
            </a:r>
            <a:endParaRPr lang="en-US" sz="1000" dirty="0"/>
          </a:p>
        </p:txBody>
      </p:sp>
      <p:sp>
        <p:nvSpPr>
          <p:cNvPr id="16" name="Shape 14"/>
          <p:cNvSpPr/>
          <p:nvPr/>
        </p:nvSpPr>
        <p:spPr>
          <a:xfrm>
            <a:off x="548640" y="4846320"/>
            <a:ext cx="11094415" cy="1051560"/>
          </a:xfrm>
          <a:prstGeom prst="roundRect">
            <a:avLst>
              <a:gd name="adj" fmla="val 6957"/>
            </a:avLst>
          </a:prstGeom>
          <a:solidFill>
            <a:srgbClr val="F4F7FB"/>
          </a:solidFill>
          <a:ln w="12700">
            <a:solidFill>
              <a:srgbClr val="1A3A5C"/>
            </a:solidFill>
            <a:prstDash val="solid"/>
          </a:ln>
        </p:spPr>
      </p:sp>
      <p:sp>
        <p:nvSpPr>
          <p:cNvPr id="17" name="Text 15"/>
          <p:cNvSpPr/>
          <p:nvPr/>
        </p:nvSpPr>
        <p:spPr>
          <a:xfrm>
            <a:off x="749808" y="4956048"/>
            <a:ext cx="10692079" cy="274320"/>
          </a:xfrm>
          <a:prstGeom prst="rect">
            <a:avLst/>
          </a:prstGeom>
          <a:noFill/>
          <a:ln/>
        </p:spPr>
        <p:txBody>
          <a:bodyPr wrap="square" lIns="0" tIns="0" rIns="0" bIns="0" rtlCol="0" anchor="ctr"/>
          <a:lstStyle/>
          <a:p>
            <a:pPr indent="0" marL="0">
              <a:buNone/>
            </a:pPr>
            <a:r>
              <a:rPr lang="en-US" sz="1250" b="1" spc="50" kern="0" dirty="0">
                <a:solidFill>
                  <a:srgbClr val="1A3A5C"/>
                </a:solidFill>
                <a:latin typeface="Calibri" pitchFamily="34" charset="0"/>
                <a:ea typeface="Calibri" pitchFamily="34" charset="-122"/>
                <a:cs typeface="Calibri" pitchFamily="34" charset="-120"/>
              </a:rPr>
              <a:t>THE THROUGH-LINE</a:t>
            </a:r>
            <a:endParaRPr lang="en-US" sz="1250" dirty="0"/>
          </a:p>
        </p:txBody>
      </p:sp>
      <p:sp>
        <p:nvSpPr>
          <p:cNvPr id="18" name="Text 16"/>
          <p:cNvSpPr/>
          <p:nvPr/>
        </p:nvSpPr>
        <p:spPr>
          <a:xfrm>
            <a:off x="749808" y="5266944"/>
            <a:ext cx="10692079" cy="53949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Every one of these machines is running a version of the same pipeline: sense the world under uncertainty → decide where to go → move safely → correct when it drifts. That pipeline is Chapter 26.</a:t>
            </a:r>
            <a:endParaRPr lang="en-US" sz="1300" dirty="0"/>
          </a:p>
        </p:txBody>
      </p:sp>
      <p:sp>
        <p:nvSpPr>
          <p:cNvPr id="19" name="Text 17"/>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20" name="Text 18"/>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26.1 Introduction</a:t>
            </a:r>
            <a:endParaRPr lang="en-US" sz="900" dirty="0"/>
          </a:p>
        </p:txBody>
      </p:sp>
      <p:sp>
        <p:nvSpPr>
          <p:cNvPr id="21" name="Text 19"/>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LECTURE ROADMAP</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Ten Sections, One Continuous Story</a:t>
            </a:r>
            <a:endParaRPr lang="en-US" sz="2700" dirty="0"/>
          </a:p>
        </p:txBody>
      </p:sp>
      <p:sp>
        <p:nvSpPr>
          <p:cNvPr id="4" name="Text 2"/>
          <p:cNvSpPr/>
          <p:nvPr/>
        </p:nvSpPr>
        <p:spPr>
          <a:xfrm>
            <a:off x="548640" y="1170432"/>
            <a:ext cx="11094415" cy="292608"/>
          </a:xfrm>
          <a:prstGeom prst="rect">
            <a:avLst/>
          </a:prstGeom>
          <a:noFill/>
          <a:ln/>
        </p:spPr>
        <p:txBody>
          <a:bodyPr wrap="square" lIns="0" tIns="0" rIns="0" bIns="0" rtlCol="0" anchor="ctr"/>
          <a:lstStyle/>
          <a:p>
            <a:pPr indent="0" marL="0">
              <a:buNone/>
            </a:pPr>
            <a:r>
              <a:rPr lang="en-US" sz="1350" i="1" dirty="0">
                <a:solidFill>
                  <a:srgbClr val="51606F"/>
                </a:solidFill>
                <a:latin typeface="Calibri" pitchFamily="34" charset="0"/>
                <a:ea typeface="Calibri" pitchFamily="34" charset="-122"/>
                <a:cs typeface="Calibri" pitchFamily="34" charset="-120"/>
              </a:rPr>
              <a:t>Three hours, building from hardware up to human-robot teamwork</a:t>
            </a:r>
            <a:endParaRPr lang="en-US" sz="13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822960"/>
                <a:gridCol w="2651760"/>
                <a:gridCol w="7619695"/>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Section</a:t>
                      </a:r>
                      <a:endParaRPr lang="en-US" sz="13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you'll walk away knowing</a:t>
                      </a:r>
                      <a:endParaRPr lang="en-US" sz="13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26.1</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Robots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What makes robotics a distinct AI problem</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26.2</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Robot Hardware</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Bodies, sensors, and actuators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26.3</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Framing the Problem</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MDP, POMDP, or game? Task/motion/control hierarchy</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26.4</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Robotic Perception</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Filtering, localization, mapping (SLAM), learned perception</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26.5</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Planning &amp; Control</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Configuration space, motion planning, controllers, LQR</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26.6</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Uncertain Movements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Replanning, information-gathering, guarded moves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26.7</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RL in Robotics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Sim-to-real, domain randomization, safe exploration</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26.8</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Humans &amp; Robots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Coordination games, learning what people want</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26.9</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Alternative Frameworks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Reactive control and subsumption architectures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26.10</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Application Domains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Where robots work today, and the road ahead</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r>
            </a:tbl>
          </a:graphicData>
        </a:graphic>
      </p:graphicFrame>
      <p:sp>
        <p:nvSpPr>
          <p:cNvPr id="6" name="Text 3"/>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7" name="Text 4"/>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26.1 Introduction</a:t>
            </a:r>
            <a:endParaRPr lang="en-US" sz="900" dirty="0"/>
          </a:p>
        </p:txBody>
      </p:sp>
      <p:sp>
        <p:nvSpPr>
          <p:cNvPr id="8" name="Text 5"/>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3A5C"/>
          </a:solidFill>
          <a:ln/>
        </p:spPr>
      </p:sp>
      <p:sp>
        <p:nvSpPr>
          <p:cNvPr id="3" name="Shape 1"/>
          <p:cNvSpPr/>
          <p:nvPr/>
        </p:nvSpPr>
        <p:spPr>
          <a:xfrm>
            <a:off x="9692640" y="2377440"/>
            <a:ext cx="5120640" cy="5120640"/>
          </a:xfrm>
          <a:prstGeom prst="ellipse">
            <a:avLst/>
          </a:prstGeom>
          <a:solidFill>
            <a:srgbClr val="132B45"/>
          </a:solidFill>
          <a:ln/>
        </p:spPr>
      </p:sp>
      <p:sp>
        <p:nvSpPr>
          <p:cNvPr id="4" name="Text 2"/>
          <p:cNvSpPr/>
          <p:nvPr/>
        </p:nvSpPr>
        <p:spPr>
          <a:xfrm>
            <a:off x="822960" y="1463040"/>
            <a:ext cx="3657600" cy="1554480"/>
          </a:xfrm>
          <a:prstGeom prst="rect">
            <a:avLst/>
          </a:prstGeom>
          <a:noFill/>
          <a:ln/>
        </p:spPr>
        <p:txBody>
          <a:bodyPr wrap="square" lIns="0" tIns="0" rIns="0" bIns="0" rtlCol="0" anchor="ctr"/>
          <a:lstStyle/>
          <a:p>
            <a:pPr indent="0" marL="0">
              <a:buNone/>
            </a:pPr>
            <a:r>
              <a:rPr lang="en-US" sz="8400" b="1" dirty="0">
                <a:solidFill>
                  <a:srgbClr val="E8960C"/>
                </a:solidFill>
                <a:latin typeface="Calibri" pitchFamily="34" charset="0"/>
                <a:ea typeface="Calibri" pitchFamily="34" charset="-122"/>
                <a:cs typeface="Calibri" pitchFamily="34" charset="-120"/>
              </a:rPr>
              <a:t>26.1</a:t>
            </a:r>
            <a:endParaRPr lang="en-US" sz="8400" dirty="0"/>
          </a:p>
        </p:txBody>
      </p:sp>
      <p:sp>
        <p:nvSpPr>
          <p:cNvPr id="5" name="Text 3"/>
          <p:cNvSpPr/>
          <p:nvPr/>
        </p:nvSpPr>
        <p:spPr>
          <a:xfrm>
            <a:off x="822960" y="2971800"/>
            <a:ext cx="9875520" cy="105156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Robots</a:t>
            </a:r>
            <a:endParaRPr lang="en-US" sz="3800" dirty="0"/>
          </a:p>
        </p:txBody>
      </p:sp>
      <p:sp>
        <p:nvSpPr>
          <p:cNvPr id="6" name="Text 4"/>
          <p:cNvSpPr/>
          <p:nvPr/>
        </p:nvSpPr>
        <p:spPr>
          <a:xfrm>
            <a:off x="822960" y="3977640"/>
            <a:ext cx="8778240" cy="82296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Physically embodied agents that change the state of the real world.</a:t>
            </a:r>
            <a:endParaRPr lang="en-US" sz="1600" dirty="0"/>
          </a:p>
        </p:txBody>
      </p:sp>
      <p:sp>
        <p:nvSpPr>
          <p:cNvPr id="7" name="Shape 5"/>
          <p:cNvSpPr/>
          <p:nvPr/>
        </p:nvSpPr>
        <p:spPr>
          <a:xfrm>
            <a:off x="868680" y="4956048"/>
            <a:ext cx="82296" cy="82296"/>
          </a:xfrm>
          <a:prstGeom prst="ellipse">
            <a:avLst/>
          </a:prstGeom>
          <a:solidFill>
            <a:srgbClr val="E8960C"/>
          </a:solidFill>
          <a:ln/>
        </p:spPr>
      </p:sp>
      <p:sp>
        <p:nvSpPr>
          <p:cNvPr id="8" name="Text 6"/>
          <p:cNvSpPr/>
          <p:nvPr/>
        </p:nvSpPr>
        <p:spPr>
          <a:xfrm>
            <a:off x="1097280" y="4837176"/>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Why robotics integrates nearly every technique in this book</a:t>
            </a:r>
            <a:endParaRPr lang="en-US" sz="1350" dirty="0"/>
          </a:p>
        </p:txBody>
      </p:sp>
      <p:sp>
        <p:nvSpPr>
          <p:cNvPr id="9" name="Shape 7"/>
          <p:cNvSpPr/>
          <p:nvPr/>
        </p:nvSpPr>
        <p:spPr>
          <a:xfrm>
            <a:off x="868680" y="5285232"/>
            <a:ext cx="82296" cy="82296"/>
          </a:xfrm>
          <a:prstGeom prst="ellipse">
            <a:avLst/>
          </a:prstGeom>
          <a:solidFill>
            <a:srgbClr val="E8960C"/>
          </a:solidFill>
          <a:ln/>
        </p:spPr>
      </p:sp>
      <p:sp>
        <p:nvSpPr>
          <p:cNvPr id="10" name="Text 8"/>
          <p:cNvSpPr/>
          <p:nvPr/>
        </p:nvSpPr>
        <p:spPr>
          <a:xfrm>
            <a:off x="1097280" y="5166360"/>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The core difficulty: continuous, high-dimensional, unforgiving reality</a:t>
            </a:r>
            <a:endParaRPr lang="en-US" sz="1350" dirty="0"/>
          </a:p>
        </p:txBody>
      </p:sp>
      <p:sp>
        <p:nvSpPr>
          <p:cNvPr id="11" name="Text 9"/>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2" name="Text 10"/>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Robots</a:t>
            </a:r>
            <a:endParaRPr lang="en-US" sz="900" dirty="0"/>
          </a:p>
        </p:txBody>
      </p:sp>
      <p:sp>
        <p:nvSpPr>
          <p:cNvPr id="13" name="Text 11"/>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26.1 ROBOTS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An Agent Program the World Can Push Back On</a:t>
            </a:r>
            <a:endParaRPr lang="en-US" sz="2700" dirty="0"/>
          </a:p>
        </p:txBody>
      </p:sp>
      <p:sp>
        <p:nvSpPr>
          <p:cNvPr id="4" name="Text 2"/>
          <p:cNvSpPr/>
          <p:nvPr/>
        </p:nvSpPr>
        <p:spPr>
          <a:xfrm>
            <a:off x="548640" y="1417320"/>
            <a:ext cx="11094415" cy="4937760"/>
          </a:xfrm>
          <a:prstGeom prst="rect">
            <a:avLst/>
          </a:prstGeom>
          <a:noFill/>
          <a:ln/>
        </p:spPr>
        <p:txBody>
          <a:bodyPr wrap="square" lIns="0" tIns="0" rIns="0" bIns="0" rtlCol="0" anchor="t"/>
          <a:lstStyle/>
          <a:p>
            <a:pPr marL="228600" indent="-228600">
              <a:spcAft>
                <a:spcPts val="1000"/>
              </a:spcAft>
              <a:buSzPct val="100000"/>
              <a:buChar char="●"/>
            </a:pPr>
            <a:r>
              <a:rPr lang="en-US" sz="1550" dirty="0">
                <a:solidFill>
                  <a:srgbClr val="1F2A37"/>
                </a:solidFill>
                <a:latin typeface="Calibri" pitchFamily="34" charset="0"/>
                <a:ea typeface="Calibri" pitchFamily="34" charset="-122"/>
                <a:cs typeface="Calibri" pitchFamily="34" charset="-120"/>
              </a:rPr>
              <a:t>A robot is a physically embodied agent: its actions change the actual state of the physical world, not just a simulated one.</a:t>
            </a:r>
            <a:endParaRPr lang="en-US" sz="1550" dirty="0"/>
          </a:p>
          <a:p>
            <a:pPr marL="228600" indent="-228600">
              <a:spcAft>
                <a:spcPts val="1000"/>
              </a:spcAft>
              <a:buSzPct val="100000"/>
              <a:buChar char="●"/>
            </a:pPr>
            <a:r>
              <a:rPr lang="en-US" sz="1550" b="1" dirty="0">
                <a:solidFill>
                  <a:srgbClr val="1F2A37"/>
                </a:solidFill>
                <a:latin typeface="Calibri" pitchFamily="34" charset="0"/>
                <a:ea typeface="Calibri" pitchFamily="34" charset="-122"/>
                <a:cs typeface="Calibri" pitchFamily="34" charset="-120"/>
              </a:rPr>
              <a:t>Robotics is a grand-unification chapter — it pulls together nearly every technique from this course:</a:t>
            </a:r>
            <a:endParaRPr lang="en-US" sz="1550" dirty="0"/>
          </a:p>
          <a:p>
            <a:pPr lvl="1" marL="457200" indent="-228600">
              <a:spcAft>
                <a:spcPts val="1000"/>
              </a:spcAft>
              <a:buSzPct val="100000"/>
              <a:buChar char="–"/>
            </a:pPr>
            <a:r>
              <a:rPr lang="en-US" sz="1550" dirty="0">
                <a:solidFill>
                  <a:srgbClr val="1F2A37"/>
                </a:solidFill>
                <a:latin typeface="Calibri" pitchFamily="34" charset="0"/>
                <a:ea typeface="Calibri" pitchFamily="34" charset="-122"/>
                <a:cs typeface="Calibri" pitchFamily="34" charset="-120"/>
              </a:rPr>
              <a:t>Probabilistic state estimation (Ch. 14) — the robot never knows its exact state</a:t>
            </a:r>
            <a:endParaRPr lang="en-US" sz="1550" dirty="0"/>
          </a:p>
          <a:p>
            <a:pPr lvl="1" marL="457200" indent="-228600">
              <a:spcAft>
                <a:spcPts val="1000"/>
              </a:spcAft>
              <a:buSzPct val="100000"/>
              <a:buChar char="–"/>
            </a:pPr>
            <a:r>
              <a:rPr lang="en-US" sz="1550" dirty="0">
                <a:solidFill>
                  <a:srgbClr val="1F2A37"/>
                </a:solidFill>
                <a:latin typeface="Calibri" pitchFamily="34" charset="0"/>
                <a:ea typeface="Calibri" pitchFamily="34" charset="-122"/>
                <a:cs typeface="Calibri" pitchFamily="34" charset="-120"/>
              </a:rPr>
              <a:t>Search and planning (Ch. 3–4, 11) — finding a path from here to a goal</a:t>
            </a:r>
            <a:endParaRPr lang="en-US" sz="1550" dirty="0"/>
          </a:p>
          <a:p>
            <a:pPr lvl="1" marL="457200" indent="-228600">
              <a:spcAft>
                <a:spcPts val="1000"/>
              </a:spcAft>
              <a:buSzPct val="100000"/>
              <a:buChar char="–"/>
            </a:pPr>
            <a:r>
              <a:rPr lang="en-US" sz="1550" dirty="0">
                <a:solidFill>
                  <a:srgbClr val="1F2A37"/>
                </a:solidFill>
                <a:latin typeface="Calibri" pitchFamily="34" charset="0"/>
                <a:ea typeface="Calibri" pitchFamily="34" charset="-122"/>
                <a:cs typeface="Calibri" pitchFamily="34" charset="-120"/>
              </a:rPr>
              <a:t>Unsupervised &amp; supervised learning (Ch. 19–21) — perception from raw sensor streams</a:t>
            </a:r>
            <a:endParaRPr lang="en-US" sz="1550" dirty="0"/>
          </a:p>
          <a:p>
            <a:pPr lvl="1" marL="457200" indent="-228600">
              <a:spcAft>
                <a:spcPts val="1000"/>
              </a:spcAft>
              <a:buSzPct val="100000"/>
              <a:buChar char="–"/>
            </a:pPr>
            <a:r>
              <a:rPr lang="en-US" sz="1550" dirty="0">
                <a:solidFill>
                  <a:srgbClr val="1F2A37"/>
                </a:solidFill>
                <a:latin typeface="Calibri" pitchFamily="34" charset="0"/>
                <a:ea typeface="Calibri" pitchFamily="34" charset="-122"/>
                <a:cs typeface="Calibri" pitchFamily="34" charset="-120"/>
              </a:rPr>
              <a:t>Reinforcement learning (Ch. 22–23) — learning to act when the dynamics are unknown</a:t>
            </a:r>
            <a:endParaRPr lang="en-US" sz="1550" dirty="0"/>
          </a:p>
          <a:p>
            <a:pPr lvl="1" marL="457200" indent="-228600">
              <a:spcAft>
                <a:spcPts val="1000"/>
              </a:spcAft>
              <a:buSzPct val="100000"/>
              <a:buChar char="–"/>
            </a:pPr>
            <a:r>
              <a:rPr lang="en-US" sz="1550" dirty="0">
                <a:solidFill>
                  <a:srgbClr val="1F2A37"/>
                </a:solidFill>
                <a:latin typeface="Calibri" pitchFamily="34" charset="0"/>
                <a:ea typeface="Calibri" pitchFamily="34" charset="-122"/>
                <a:cs typeface="Calibri" pitchFamily="34" charset="-120"/>
              </a:rPr>
              <a:t>Game theory (Ch. 17) — because people are acting in the same space as the robot</a:t>
            </a:r>
            <a:endParaRPr lang="en-US" sz="1550" dirty="0"/>
          </a:p>
          <a:p>
            <a:pPr marL="228600" indent="-228600">
              <a:spcAft>
                <a:spcPts val="1000"/>
              </a:spcAft>
              <a:buSzPct val="100000"/>
              <a:buChar char="●"/>
            </a:pPr>
            <a:r>
              <a:rPr lang="en-US" sz="1550" dirty="0">
                <a:solidFill>
                  <a:srgbClr val="1F2A37"/>
                </a:solidFill>
                <a:latin typeface="Calibri" pitchFamily="34" charset="0"/>
                <a:ea typeface="Calibri" pitchFamily="34" charset="-122"/>
                <a:cs typeface="Calibri" pitchFamily="34" charset="-120"/>
              </a:rPr>
              <a:t>For some of these ideas robots are just a challenging application. For others — like continuous-state search — this chapter breaks genuinely new ground.</a:t>
            </a:r>
            <a:endParaRPr lang="en-US" sz="1550" dirty="0"/>
          </a:p>
        </p:txBody>
      </p:sp>
      <p:sp>
        <p:nvSpPr>
          <p:cNvPr id="5" name="Text 3"/>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6" name="Text 4"/>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26.1 Robots</a:t>
            </a:r>
            <a:endParaRPr lang="en-US" sz="900" dirty="0"/>
          </a:p>
        </p:txBody>
      </p:sp>
      <p:sp>
        <p:nvSpPr>
          <p:cNvPr id="7" name="Text 5"/>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26.1 ROBOTS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Why Real-World Robotics Is Hard</a:t>
            </a:r>
            <a:endParaRPr lang="en-US" sz="2700" dirty="0"/>
          </a:p>
        </p:txBody>
      </p:sp>
      <p:sp>
        <p:nvSpPr>
          <p:cNvPr id="4" name="Text 2"/>
          <p:cNvSpPr/>
          <p:nvPr/>
        </p:nvSpPr>
        <p:spPr>
          <a:xfrm>
            <a:off x="548640" y="1170432"/>
            <a:ext cx="11094415" cy="292608"/>
          </a:xfrm>
          <a:prstGeom prst="rect">
            <a:avLst/>
          </a:prstGeom>
          <a:noFill/>
          <a:ln/>
        </p:spPr>
        <p:txBody>
          <a:bodyPr wrap="square" lIns="0" tIns="0" rIns="0" bIns="0" rtlCol="0" anchor="ctr"/>
          <a:lstStyle/>
          <a:p>
            <a:pPr indent="0" marL="0">
              <a:buNone/>
            </a:pPr>
            <a:r>
              <a:rPr lang="en-US" sz="1350" i="1" dirty="0">
                <a:solidFill>
                  <a:srgbClr val="51606F"/>
                </a:solidFill>
                <a:latin typeface="Calibri" pitchFamily="34" charset="0"/>
                <a:ea typeface="Calibri" pitchFamily="34" charset="-122"/>
                <a:cs typeface="Calibri" pitchFamily="34" charset="-120"/>
              </a:rPr>
              <a:t>Three properties that don't show up in a board game</a:t>
            </a:r>
            <a:endParaRPr lang="en-US" sz="1350" dirty="0"/>
          </a:p>
        </p:txBody>
      </p:sp>
      <p:sp>
        <p:nvSpPr>
          <p:cNvPr id="5" name="Shape 3"/>
          <p:cNvSpPr/>
          <p:nvPr/>
        </p:nvSpPr>
        <p:spPr>
          <a:xfrm>
            <a:off x="548640" y="1417320"/>
            <a:ext cx="5364328" cy="4892040"/>
          </a:xfrm>
          <a:prstGeom prst="roundRect">
            <a:avLst>
              <a:gd name="adj" fmla="val 1682"/>
            </a:avLst>
          </a:prstGeom>
          <a:solidFill>
            <a:srgbClr val="EEF2FF"/>
          </a:solidFill>
          <a:ln/>
          <a:effectLst>
            <a:outerShdw sx="100000" sy="100000" kx="0" ky="0" algn="bl" rotWithShape="0" blurRad="76200" dist="25400" dir="5400000">
              <a:srgbClr val="1A3A5C">
                <a:alpha val="12000"/>
              </a:srgbClr>
            </a:outerShdw>
          </a:effectLst>
        </p:spPr>
      </p:sp>
      <p:sp>
        <p:nvSpPr>
          <p:cNvPr id="6" name="Text 4"/>
          <p:cNvSpPr/>
          <p:nvPr/>
        </p:nvSpPr>
        <p:spPr>
          <a:xfrm>
            <a:off x="749808" y="1545336"/>
            <a:ext cx="4961992" cy="329184"/>
          </a:xfrm>
          <a:prstGeom prst="rect">
            <a:avLst/>
          </a:prstGeom>
          <a:noFill/>
          <a:ln/>
        </p:spPr>
        <p:txBody>
          <a:bodyPr wrap="square" lIns="0" tIns="0" rIns="0" bIns="0" rtlCol="0" anchor="ctr"/>
          <a:lstStyle/>
          <a:p>
            <a:pPr indent="0" marL="0">
              <a:buNone/>
            </a:pPr>
            <a:r>
              <a:rPr lang="en-US" sz="1450" b="1" dirty="0">
                <a:solidFill>
                  <a:srgbClr val="4A6FA5"/>
                </a:solidFill>
                <a:latin typeface="Calibri" pitchFamily="34" charset="0"/>
                <a:ea typeface="Calibri" pitchFamily="34" charset="-122"/>
                <a:cs typeface="Calibri" pitchFamily="34" charset="-120"/>
              </a:rPr>
              <a:t>Nondeterministic &amp; partially observable</a:t>
            </a:r>
            <a:endParaRPr lang="en-US" sz="1450" dirty="0"/>
          </a:p>
        </p:txBody>
      </p:sp>
      <p:sp>
        <p:nvSpPr>
          <p:cNvPr id="7" name="Text 5"/>
          <p:cNvSpPr/>
          <p:nvPr/>
        </p:nvSpPr>
        <p:spPr>
          <a:xfrm>
            <a:off x="749808" y="1929384"/>
            <a:ext cx="4961992" cy="4270248"/>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Motors slip, wheels drift, sensors are noisy — the robot never knows its exact state.</a:t>
            </a:r>
            <a:endParaRPr lang="en-US" sz="1350" dirty="0"/>
          </a:p>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Contrast with Chess or Go: perfectly known board, perfectly reliable moves.</a:t>
            </a:r>
            <a:endParaRPr lang="en-US" sz="1350" dirty="0"/>
          </a:p>
        </p:txBody>
      </p:sp>
      <p:sp>
        <p:nvSpPr>
          <p:cNvPr id="8" name="Shape 6"/>
          <p:cNvSpPr/>
          <p:nvPr/>
        </p:nvSpPr>
        <p:spPr>
          <a:xfrm>
            <a:off x="6278728" y="1417320"/>
            <a:ext cx="5364328" cy="4892040"/>
          </a:xfrm>
          <a:prstGeom prst="roundRect">
            <a:avLst>
              <a:gd name="adj" fmla="val 1682"/>
            </a:avLst>
          </a:prstGeom>
          <a:solidFill>
            <a:srgbClr val="FFF8E6"/>
          </a:solidFill>
          <a:ln/>
          <a:effectLst>
            <a:outerShdw sx="100000" sy="100000" kx="0" ky="0" algn="bl" rotWithShape="0" blurRad="76200" dist="25400" dir="5400000">
              <a:srgbClr val="1A3A5C">
                <a:alpha val="12000"/>
              </a:srgbClr>
            </a:outerShdw>
          </a:effectLst>
        </p:spPr>
      </p:sp>
      <p:sp>
        <p:nvSpPr>
          <p:cNvPr id="9" name="Text 7"/>
          <p:cNvSpPr/>
          <p:nvPr/>
        </p:nvSpPr>
        <p:spPr>
          <a:xfrm>
            <a:off x="6479896" y="1545336"/>
            <a:ext cx="4961992" cy="329184"/>
          </a:xfrm>
          <a:prstGeom prst="rect">
            <a:avLst/>
          </a:prstGeom>
          <a:noFill/>
          <a:ln/>
        </p:spPr>
        <p:txBody>
          <a:bodyPr wrap="square" lIns="0" tIns="0" rIns="0" bIns="0" rtlCol="0" anchor="ctr"/>
          <a:lstStyle/>
          <a:p>
            <a:pPr indent="0" marL="0">
              <a:buNone/>
            </a:pPr>
            <a:r>
              <a:rPr lang="en-US" sz="1450" b="1" dirty="0">
                <a:solidFill>
                  <a:srgbClr val="C8840A"/>
                </a:solidFill>
                <a:latin typeface="Calibri" pitchFamily="34" charset="0"/>
                <a:ea typeface="Calibri" pitchFamily="34" charset="-122"/>
                <a:cs typeface="Calibri" pitchFamily="34" charset="-120"/>
              </a:rPr>
              <a:t>Continuous &amp; high-dimensional</a:t>
            </a:r>
            <a:endParaRPr lang="en-US" sz="1450" dirty="0"/>
          </a:p>
        </p:txBody>
      </p:sp>
      <p:sp>
        <p:nvSpPr>
          <p:cNvPr id="10" name="Text 8"/>
          <p:cNvSpPr/>
          <p:nvPr/>
        </p:nvSpPr>
        <p:spPr>
          <a:xfrm>
            <a:off x="6479896" y="1929384"/>
            <a:ext cx="4961992" cy="4270248"/>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State and action spaces aren't a handful of discrete choices — they're real-valued vectors.</a:t>
            </a:r>
            <a:endParaRPr lang="en-US" sz="1350" dirty="0"/>
          </a:p>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A humanoid robot can have hundreds of joints, each a continuous degree of freedom.</a:t>
            </a:r>
            <a:endParaRPr lang="en-US" sz="1350" dirty="0"/>
          </a:p>
        </p:txBody>
      </p:sp>
      <p:sp>
        <p:nvSpPr>
          <p:cNvPr id="11" name="Text 9"/>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2" name="Text 10"/>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26.1 Robots</a:t>
            </a:r>
            <a:endParaRPr lang="en-US" sz="900" dirty="0"/>
          </a:p>
        </p:txBody>
      </p:sp>
      <p:sp>
        <p:nvSpPr>
          <p:cNvPr id="13" name="Text 11"/>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3A5C"/>
          </a:solidFill>
          <a:ln/>
        </p:spPr>
      </p:sp>
      <p:sp>
        <p:nvSpPr>
          <p:cNvPr id="3" name="Shape 1"/>
          <p:cNvSpPr/>
          <p:nvPr/>
        </p:nvSpPr>
        <p:spPr>
          <a:xfrm>
            <a:off x="9692640" y="2377440"/>
            <a:ext cx="5120640" cy="5120640"/>
          </a:xfrm>
          <a:prstGeom prst="ellipse">
            <a:avLst/>
          </a:prstGeom>
          <a:solidFill>
            <a:srgbClr val="132B45"/>
          </a:solidFill>
          <a:ln/>
        </p:spPr>
      </p:sp>
      <p:sp>
        <p:nvSpPr>
          <p:cNvPr id="4" name="Text 2"/>
          <p:cNvSpPr/>
          <p:nvPr/>
        </p:nvSpPr>
        <p:spPr>
          <a:xfrm>
            <a:off x="822960" y="1463040"/>
            <a:ext cx="3657600" cy="1554480"/>
          </a:xfrm>
          <a:prstGeom prst="rect">
            <a:avLst/>
          </a:prstGeom>
          <a:noFill/>
          <a:ln/>
        </p:spPr>
        <p:txBody>
          <a:bodyPr wrap="square" lIns="0" tIns="0" rIns="0" bIns="0" rtlCol="0" anchor="ctr"/>
          <a:lstStyle/>
          <a:p>
            <a:pPr indent="0" marL="0">
              <a:buNone/>
            </a:pPr>
            <a:r>
              <a:rPr lang="en-US" sz="8400" b="1" dirty="0">
                <a:solidFill>
                  <a:srgbClr val="E8960C"/>
                </a:solidFill>
                <a:latin typeface="Calibri" pitchFamily="34" charset="0"/>
                <a:ea typeface="Calibri" pitchFamily="34" charset="-122"/>
                <a:cs typeface="Calibri" pitchFamily="34" charset="-120"/>
              </a:rPr>
              <a:t>26.2</a:t>
            </a:r>
            <a:endParaRPr lang="en-US" sz="8400" dirty="0"/>
          </a:p>
        </p:txBody>
      </p:sp>
      <p:sp>
        <p:nvSpPr>
          <p:cNvPr id="5" name="Text 3"/>
          <p:cNvSpPr/>
          <p:nvPr/>
        </p:nvSpPr>
        <p:spPr>
          <a:xfrm>
            <a:off x="822960" y="2971800"/>
            <a:ext cx="9875520" cy="105156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Robot Hardware</a:t>
            </a:r>
            <a:endParaRPr lang="en-US" sz="3800" dirty="0"/>
          </a:p>
        </p:txBody>
      </p:sp>
      <p:sp>
        <p:nvSpPr>
          <p:cNvPr id="6" name="Text 4"/>
          <p:cNvSpPr/>
          <p:nvPr/>
        </p:nvSpPr>
        <p:spPr>
          <a:xfrm>
            <a:off x="822960" y="3977640"/>
            <a:ext cx="8778240" cy="82296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You can't design the software until you understand the body.</a:t>
            </a:r>
            <a:endParaRPr lang="en-US" sz="1600" dirty="0"/>
          </a:p>
        </p:txBody>
      </p:sp>
      <p:sp>
        <p:nvSpPr>
          <p:cNvPr id="7" name="Shape 5"/>
          <p:cNvSpPr/>
          <p:nvPr/>
        </p:nvSpPr>
        <p:spPr>
          <a:xfrm>
            <a:off x="868680" y="4956048"/>
            <a:ext cx="82296" cy="82296"/>
          </a:xfrm>
          <a:prstGeom prst="ellipse">
            <a:avLst/>
          </a:prstGeom>
          <a:solidFill>
            <a:srgbClr val="E8960C"/>
          </a:solidFill>
          <a:ln/>
        </p:spPr>
      </p:sp>
      <p:sp>
        <p:nvSpPr>
          <p:cNvPr id="8" name="Text 6"/>
          <p:cNvSpPr/>
          <p:nvPr/>
        </p:nvSpPr>
        <p:spPr>
          <a:xfrm>
            <a:off x="1097280" y="4837176"/>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Types of robots: manipulators, mobile robots, and more</a:t>
            </a:r>
            <a:endParaRPr lang="en-US" sz="1350" dirty="0"/>
          </a:p>
        </p:txBody>
      </p:sp>
      <p:sp>
        <p:nvSpPr>
          <p:cNvPr id="9" name="Shape 7"/>
          <p:cNvSpPr/>
          <p:nvPr/>
        </p:nvSpPr>
        <p:spPr>
          <a:xfrm>
            <a:off x="868680" y="5285232"/>
            <a:ext cx="82296" cy="82296"/>
          </a:xfrm>
          <a:prstGeom prst="ellipse">
            <a:avLst/>
          </a:prstGeom>
          <a:solidFill>
            <a:srgbClr val="E8960C"/>
          </a:solidFill>
          <a:ln/>
        </p:spPr>
      </p:sp>
      <p:sp>
        <p:nvSpPr>
          <p:cNvPr id="10" name="Text 8"/>
          <p:cNvSpPr/>
          <p:nvPr/>
        </p:nvSpPr>
        <p:spPr>
          <a:xfrm>
            <a:off x="1097280" y="5166360"/>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Sensing the world: passive, active, location, and proprioceptive sensors</a:t>
            </a:r>
            <a:endParaRPr lang="en-US" sz="1350" dirty="0"/>
          </a:p>
        </p:txBody>
      </p:sp>
      <p:sp>
        <p:nvSpPr>
          <p:cNvPr id="11" name="Shape 9"/>
          <p:cNvSpPr/>
          <p:nvPr/>
        </p:nvSpPr>
        <p:spPr>
          <a:xfrm>
            <a:off x="868680" y="5614416"/>
            <a:ext cx="82296" cy="82296"/>
          </a:xfrm>
          <a:prstGeom prst="ellipse">
            <a:avLst/>
          </a:prstGeom>
          <a:solidFill>
            <a:srgbClr val="E8960C"/>
          </a:solidFill>
          <a:ln/>
        </p:spPr>
      </p:sp>
      <p:sp>
        <p:nvSpPr>
          <p:cNvPr id="12" name="Text 10"/>
          <p:cNvSpPr/>
          <p:nvPr/>
        </p:nvSpPr>
        <p:spPr>
          <a:xfrm>
            <a:off x="1097280" y="5495544"/>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Producing motion: actuators, joints, and grippers</a:t>
            </a:r>
            <a:endParaRPr lang="en-US" sz="1350" dirty="0"/>
          </a:p>
        </p:txBody>
      </p:sp>
      <p:sp>
        <p:nvSpPr>
          <p:cNvPr id="13" name="Text 11"/>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4" name="Text 12"/>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Robot Hardware</a:t>
            </a:r>
            <a:endParaRPr lang="en-US" sz="900" dirty="0"/>
          </a:p>
        </p:txBody>
      </p:sp>
      <p:sp>
        <p:nvSpPr>
          <p:cNvPr id="15" name="Text 13"/>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26.2 ROBOT HARDWARE — TYPES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Manipulators: Robot Arms</a:t>
            </a:r>
            <a:endParaRPr lang="en-US" sz="2700" dirty="0"/>
          </a:p>
        </p:txBody>
      </p:sp>
      <p:sp>
        <p:nvSpPr>
          <p:cNvPr id="4" name="Text 2"/>
          <p:cNvSpPr/>
          <p:nvPr/>
        </p:nvSpPr>
        <p:spPr>
          <a:xfrm>
            <a:off x="548640" y="1417320"/>
            <a:ext cx="5318608" cy="493776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1F2A37"/>
                </a:solidFill>
                <a:latin typeface="Calibri" pitchFamily="34" charset="0"/>
                <a:ea typeface="Calibri" pitchFamily="34" charset="-122"/>
                <a:cs typeface="Calibri" pitchFamily="34" charset="-120"/>
              </a:rPr>
              <a:t>A manipulator is just a robot arm — it doesn't even need to be attached to a mobile body.</a:t>
            </a:r>
            <a:endParaRPr lang="en-US" sz="1400" dirty="0"/>
          </a:p>
          <a:p>
            <a:pPr lvl="1" marL="457200" indent="-228600">
              <a:spcAft>
                <a:spcPts val="1000"/>
              </a:spcAft>
              <a:buSzPct val="100000"/>
              <a:buChar char="–"/>
            </a:pPr>
            <a:r>
              <a:rPr lang="en-US" sz="1400" dirty="0">
                <a:solidFill>
                  <a:srgbClr val="1F2A37"/>
                </a:solidFill>
                <a:latin typeface="Calibri" pitchFamily="34" charset="0"/>
                <a:ea typeface="Calibri" pitchFamily="34" charset="-122"/>
                <a:cs typeface="Calibri" pitchFamily="34" charset="-120"/>
              </a:rPr>
              <a:t>Bolted to a table or floor, as in a factory assembly line.</a:t>
            </a:r>
            <a:endParaRPr lang="en-US" sz="1400" dirty="0"/>
          </a:p>
          <a:p>
            <a:pPr lvl="1" marL="457200" indent="-228600">
              <a:spcAft>
                <a:spcPts val="1000"/>
              </a:spcAft>
              <a:buSzPct val="100000"/>
              <a:buChar char="–"/>
            </a:pPr>
            <a:r>
              <a:rPr lang="en-US" sz="1400" dirty="0">
                <a:solidFill>
                  <a:srgbClr val="1F2A37"/>
                </a:solidFill>
                <a:latin typeface="Calibri" pitchFamily="34" charset="0"/>
                <a:ea typeface="Calibri" pitchFamily="34" charset="-122"/>
                <a:cs typeface="Calibri" pitchFamily="34" charset="-120"/>
              </a:rPr>
              <a:t>Large-payload arms weld and assemble cars.</a:t>
            </a:r>
            <a:endParaRPr lang="en-US" sz="1400" dirty="0"/>
          </a:p>
          <a:p>
            <a:pPr lvl="1" marL="457200" indent="-228600">
              <a:spcAft>
                <a:spcPts val="1000"/>
              </a:spcAft>
              <a:buSzPct val="100000"/>
              <a:buChar char="–"/>
            </a:pPr>
            <a:r>
              <a:rPr lang="en-US" sz="1400" dirty="0">
                <a:solidFill>
                  <a:srgbClr val="1F2A37"/>
                </a:solidFill>
                <a:latin typeface="Calibri" pitchFamily="34" charset="0"/>
                <a:ea typeface="Calibri" pitchFamily="34" charset="-122"/>
                <a:cs typeface="Calibri" pitchFamily="34" charset="-120"/>
              </a:rPr>
              <a:t>Small, safety-rated arms — like a Kinova wheelchair-mounted arm — carry less, but work safely right next to a person.</a:t>
            </a:r>
            <a:endParaRPr lang="en-US" sz="1400" dirty="0"/>
          </a:p>
          <a:p>
            <a:pPr marL="228600" indent="-228600">
              <a:spcAft>
                <a:spcPts val="1000"/>
              </a:spcAft>
              <a:buSzPct val="100000"/>
              <a:buChar char="●"/>
            </a:pPr>
            <a:r>
              <a:rPr lang="en-US" sz="1400" b="1" dirty="0">
                <a:solidFill>
                  <a:srgbClr val="C8840A"/>
                </a:solidFill>
                <a:latin typeface="Calibri" pitchFamily="34" charset="0"/>
                <a:ea typeface="Calibri" pitchFamily="34" charset="-122"/>
                <a:cs typeface="Calibri" pitchFamily="34" charset="-120"/>
              </a:rPr>
              <a:t>Real-world example: modern warehouse pick-and-place arms (Amazon's Sparrow/Cardinal systems) grasp irregular packages thousands of times a day.</a:t>
            </a:r>
            <a:endParaRPr lang="en-US" sz="1400" dirty="0"/>
          </a:p>
        </p:txBody>
      </p:sp>
      <p:sp>
        <p:nvSpPr>
          <p:cNvPr id="5" name="Shape 3"/>
          <p:cNvSpPr/>
          <p:nvPr/>
        </p:nvSpPr>
        <p:spPr>
          <a:xfrm>
            <a:off x="6324448" y="1417320"/>
            <a:ext cx="5318608" cy="4937760"/>
          </a:xfrm>
          <a:prstGeom prst="roundRect">
            <a:avLst>
              <a:gd name="adj" fmla="val 1667"/>
            </a:avLst>
          </a:prstGeom>
          <a:solidFill>
            <a:srgbClr val="EEF8EE"/>
          </a:solidFill>
          <a:ln/>
          <a:effectLst>
            <a:outerShdw sx="100000" sy="100000" kx="0" ky="0" algn="bl" rotWithShape="0" blurRad="76200" dist="25400" dir="5400000">
              <a:srgbClr val="1A3A5C">
                <a:alpha val="12000"/>
              </a:srgbClr>
            </a:outerShdw>
          </a:effectLst>
        </p:spPr>
      </p:sp>
      <p:sp>
        <p:nvSpPr>
          <p:cNvPr id="6" name="Text 4"/>
          <p:cNvSpPr/>
          <p:nvPr/>
        </p:nvSpPr>
        <p:spPr>
          <a:xfrm>
            <a:off x="6525616" y="1545336"/>
            <a:ext cx="4916272" cy="329184"/>
          </a:xfrm>
          <a:prstGeom prst="rect">
            <a:avLst/>
          </a:prstGeom>
          <a:noFill/>
          <a:ln/>
        </p:spPr>
        <p:txBody>
          <a:bodyPr wrap="square" lIns="0" tIns="0" rIns="0" bIns="0" rtlCol="0" anchor="ctr"/>
          <a:lstStyle/>
          <a:p>
            <a:pPr indent="0" marL="0">
              <a:buNone/>
            </a:pPr>
            <a:r>
              <a:rPr lang="en-US" sz="1450" b="1" dirty="0">
                <a:solidFill>
                  <a:srgbClr val="1B6B3A"/>
                </a:solidFill>
                <a:latin typeface="Calibri" pitchFamily="34" charset="0"/>
                <a:ea typeface="Calibri" pitchFamily="34" charset="-122"/>
                <a:cs typeface="Calibri" pitchFamily="34" charset="-120"/>
              </a:rPr>
              <a:t>R1 — our running example</a:t>
            </a:r>
            <a:endParaRPr lang="en-US" sz="1450" dirty="0"/>
          </a:p>
        </p:txBody>
      </p:sp>
      <p:sp>
        <p:nvSpPr>
          <p:cNvPr id="7" name="Text 5"/>
          <p:cNvSpPr/>
          <p:nvPr/>
        </p:nvSpPr>
        <p:spPr>
          <a:xfrm>
            <a:off x="6525616" y="1929384"/>
            <a:ext cx="4916272" cy="4315968"/>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R1 is the textbook's canonical warehouse manipulator: a fixed-base arm that picks parts off a conveyor and places them in bins.</a:t>
            </a:r>
            <a:endParaRPr lang="en-US" sz="1350" dirty="0"/>
          </a:p>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Every configuration-space and control idea today gets grounded in R1 first, before we generalize.</a:t>
            </a:r>
            <a:endParaRPr lang="en-US" sz="1350" dirty="0"/>
          </a:p>
        </p:txBody>
      </p:sp>
      <p:sp>
        <p:nvSpPr>
          <p:cNvPr id="8" name="Text 6"/>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9" name="Text 7"/>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26.2 Robot Hardware</a:t>
            </a:r>
            <a:endParaRPr lang="en-US" sz="900" dirty="0"/>
          </a:p>
        </p:txBody>
      </p:sp>
      <p:sp>
        <p:nvSpPr>
          <p:cNvPr id="10" name="Text 8"/>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26.2 ROBOT HARDWARE — TYPES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Mobile Robots: Wheels, Legs, Rotors</a:t>
            </a:r>
            <a:endParaRPr lang="en-US" sz="2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94560"/>
                <a:gridCol w="2651760"/>
                <a:gridCol w="6248095"/>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Type</a:t>
                      </a:r>
                      <a:endParaRPr lang="en-US" sz="13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Moves via</a:t>
                      </a:r>
                      <a:endParaRPr lang="en-US" sz="13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Real-world example</a:t>
                      </a:r>
                      <a:endParaRPr lang="en-US" sz="13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Wheeled indoor robot</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wheels on flat floors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iRobot Roomba vacuum, hotel towel-delivery robots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Autonomous car / rover</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wheels outdoors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Waymo robotaxis; NASA's Curiosity rover on Mars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Quadcopter drone (UAV)</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rotors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Skydio R1 — an autonomous personal photographer drone</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Autonomous underwater vehicle (AUV)</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propellers, ballast</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Ocean-floor mapping and pipeline inspection AUVs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Legged robot</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articulated legs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Boston Dynamics' Spot — traverses stairs and rubble no wheel can</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349240"/>
            <a:ext cx="11094415" cy="777240"/>
          </a:xfrm>
          <a:prstGeom prst="roundRect">
            <a:avLst>
              <a:gd name="adj" fmla="val 9412"/>
            </a:avLst>
          </a:prstGeom>
          <a:solidFill>
            <a:srgbClr val="EEF2FF"/>
          </a:solidFill>
          <a:ln w="12700">
            <a:solidFill>
              <a:srgbClr val="4A6FA5"/>
            </a:solidFill>
            <a:prstDash val="solid"/>
          </a:ln>
        </p:spPr>
      </p:sp>
      <p:sp>
        <p:nvSpPr>
          <p:cNvPr id="6" name="Text 3"/>
          <p:cNvSpPr/>
          <p:nvPr/>
        </p:nvSpPr>
        <p:spPr>
          <a:xfrm>
            <a:off x="749808" y="5458968"/>
            <a:ext cx="10692079" cy="274320"/>
          </a:xfrm>
          <a:prstGeom prst="rect">
            <a:avLst/>
          </a:prstGeom>
          <a:noFill/>
          <a:ln/>
        </p:spPr>
        <p:txBody>
          <a:bodyPr wrap="square" lIns="0" tIns="0" rIns="0" bIns="0" rtlCol="0" anchor="ctr"/>
          <a:lstStyle/>
          <a:p>
            <a:pPr indent="0" marL="0">
              <a:buNone/>
            </a:pPr>
            <a:r>
              <a:rPr lang="en-US" sz="1250" b="1" spc="50" kern="0" dirty="0">
                <a:solidFill>
                  <a:srgbClr val="4A6FA5"/>
                </a:solidFill>
                <a:latin typeface="Calibri" pitchFamily="34" charset="0"/>
                <a:ea typeface="Calibri" pitchFamily="34" charset="-122"/>
                <a:cs typeface="Calibri" pitchFamily="34" charset="-120"/>
              </a:rPr>
              <a:t>TRADE-OFF</a:t>
            </a:r>
            <a:endParaRPr lang="en-US" sz="1250" dirty="0"/>
          </a:p>
        </p:txBody>
      </p:sp>
      <p:sp>
        <p:nvSpPr>
          <p:cNvPr id="7" name="Text 4"/>
          <p:cNvSpPr/>
          <p:nvPr/>
        </p:nvSpPr>
        <p:spPr>
          <a:xfrm>
            <a:off x="749808" y="5769864"/>
            <a:ext cx="10692079" cy="26517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Wheels are simple and efficient on flat ground; legs handle rough terrain but controlling them well is a much harder motion-planning and control problem — we'll see exactly why in Section 26.5.</a:t>
            </a:r>
            <a:endParaRPr lang="en-US" sz="1300" dirty="0"/>
          </a:p>
        </p:txBody>
      </p:sp>
      <p:sp>
        <p:nvSpPr>
          <p:cNvPr id="8" name="Text 5"/>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9" name="Text 6"/>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26.2 Robot Hardware</a:t>
            </a:r>
            <a:endParaRPr lang="en-US" sz="900" dirty="0"/>
          </a:p>
        </p:txBody>
      </p:sp>
      <p:sp>
        <p:nvSpPr>
          <p:cNvPr id="10" name="Text 7"/>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26.2 ROBOT HARDWARE — TYPES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Beyond Arms and Wheels</a:t>
            </a:r>
            <a:endParaRPr lang="en-US" sz="2700" dirty="0"/>
          </a:p>
        </p:txBody>
      </p:sp>
      <p:sp>
        <p:nvSpPr>
          <p:cNvPr id="4" name="Text 2"/>
          <p:cNvSpPr/>
          <p:nvPr/>
        </p:nvSpPr>
        <p:spPr>
          <a:xfrm>
            <a:off x="548640" y="1417320"/>
            <a:ext cx="11094415" cy="4937760"/>
          </a:xfrm>
          <a:prstGeom prst="rect">
            <a:avLst/>
          </a:prstGeom>
          <a:noFill/>
          <a:ln/>
        </p:spPr>
        <p:txBody>
          <a:bodyPr wrap="square" lIns="0" tIns="0" rIns="0" bIns="0" rtlCol="0" anchor="t"/>
          <a:lstStyle/>
          <a:p>
            <a:pPr marL="228600" indent="-228600">
              <a:spcAft>
                <a:spcPts val="1000"/>
              </a:spcAft>
              <a:buSzPct val="100000"/>
              <a:buChar char="●"/>
            </a:pPr>
            <a:r>
              <a:rPr lang="en-US" sz="1650" b="1" dirty="0">
                <a:solidFill>
                  <a:srgbClr val="1F2A37"/>
                </a:solidFill>
                <a:latin typeface="Calibri" pitchFamily="34" charset="0"/>
                <a:ea typeface="Calibri" pitchFamily="34" charset="-122"/>
                <a:cs typeface="Calibri" pitchFamily="34" charset="-120"/>
              </a:rPr>
              <a:t>Prostheses &amp; exoskeletons — intelligently respond to muscle signals; can restore mobility or grant superhuman strength.</a:t>
            </a:r>
            <a:endParaRPr lang="en-US" sz="1650" dirty="0"/>
          </a:p>
          <a:p>
            <a:pPr marL="228600" indent="-228600">
              <a:spcAft>
                <a:spcPts val="1000"/>
              </a:spcAft>
              <a:buSzPct val="100000"/>
              <a:buChar char="●"/>
            </a:pPr>
            <a:r>
              <a:rPr lang="en-US" sz="1650" b="1" dirty="0">
                <a:solidFill>
                  <a:srgbClr val="1F2A37"/>
                </a:solidFill>
                <a:latin typeface="Calibri" pitchFamily="34" charset="0"/>
                <a:ea typeface="Calibri" pitchFamily="34" charset="-122"/>
                <a:cs typeface="Calibri" pitchFamily="34" charset="-120"/>
              </a:rPr>
              <a:t>Robots with wings — soft, flapping-wing designs for delicate or confined-space flight.</a:t>
            </a:r>
            <a:endParaRPr lang="en-US" sz="1650" dirty="0"/>
          </a:p>
          <a:p>
            <a:pPr marL="228600" indent="-228600">
              <a:spcAft>
                <a:spcPts val="1000"/>
              </a:spcAft>
              <a:buSzPct val="100000"/>
              <a:buChar char="●"/>
            </a:pPr>
            <a:r>
              <a:rPr lang="en-US" sz="1650" b="1" dirty="0">
                <a:solidFill>
                  <a:srgbClr val="1F2A37"/>
                </a:solidFill>
                <a:latin typeface="Calibri" pitchFamily="34" charset="0"/>
                <a:ea typeface="Calibri" pitchFamily="34" charset="-122"/>
                <a:cs typeface="Calibri" pitchFamily="34" charset="-120"/>
              </a:rPr>
              <a:t>Swarms — many simple robots that achieve complex behavior collectively (think of ant colonies, or warehouse robot fleets).</a:t>
            </a:r>
            <a:endParaRPr lang="en-US" sz="1650" dirty="0"/>
          </a:p>
          <a:p>
            <a:pPr marL="228600" indent="-228600">
              <a:spcAft>
                <a:spcPts val="1000"/>
              </a:spcAft>
              <a:buSzPct val="100000"/>
              <a:buChar char="●"/>
            </a:pPr>
            <a:r>
              <a:rPr lang="en-US" sz="1650" b="1" dirty="0">
                <a:solidFill>
                  <a:srgbClr val="1F2A37"/>
                </a:solidFill>
                <a:latin typeface="Calibri" pitchFamily="34" charset="0"/>
                <a:ea typeface="Calibri" pitchFamily="34" charset="-122"/>
                <a:cs typeface="Calibri" pitchFamily="34" charset="-120"/>
              </a:rPr>
              <a:t>Intelligent environments — the “robot” is the entire room: smart-home sensors and actuators embedded in walls and floors rather than one mobile body.</a:t>
            </a:r>
            <a:endParaRPr lang="en-US" sz="1650" dirty="0"/>
          </a:p>
        </p:txBody>
      </p:sp>
      <p:sp>
        <p:nvSpPr>
          <p:cNvPr id="5" name="Shape 3"/>
          <p:cNvSpPr/>
          <p:nvPr/>
        </p:nvSpPr>
        <p:spPr>
          <a:xfrm>
            <a:off x="548640" y="5212080"/>
            <a:ext cx="11094415" cy="914400"/>
          </a:xfrm>
          <a:prstGeom prst="roundRect">
            <a:avLst>
              <a:gd name="adj" fmla="val 8000"/>
            </a:avLst>
          </a:prstGeom>
          <a:solidFill>
            <a:srgbClr val="FFF8E6"/>
          </a:solidFill>
          <a:ln w="12700">
            <a:solidFill>
              <a:srgbClr val="C8840A"/>
            </a:solidFill>
            <a:prstDash val="solid"/>
          </a:ln>
        </p:spPr>
      </p:sp>
      <p:sp>
        <p:nvSpPr>
          <p:cNvPr id="6" name="Text 4"/>
          <p:cNvSpPr/>
          <p:nvPr/>
        </p:nvSpPr>
        <p:spPr>
          <a:xfrm>
            <a:off x="749808" y="5321808"/>
            <a:ext cx="10692079" cy="274320"/>
          </a:xfrm>
          <a:prstGeom prst="rect">
            <a:avLst/>
          </a:prstGeom>
          <a:noFill/>
          <a:ln/>
        </p:spPr>
        <p:txBody>
          <a:bodyPr wrap="square" lIns="0" tIns="0" rIns="0" bIns="0" rtlCol="0" anchor="ctr"/>
          <a:lstStyle/>
          <a:p>
            <a:pPr indent="0" marL="0">
              <a:buNone/>
            </a:pPr>
            <a:r>
              <a:rPr lang="en-US" sz="1250" b="1" spc="50" kern="0" dirty="0">
                <a:solidFill>
                  <a:srgbClr val="C8840A"/>
                </a:solidFill>
                <a:latin typeface="Calibri" pitchFamily="34" charset="0"/>
                <a:ea typeface="Calibri" pitchFamily="34" charset="-122"/>
                <a:cs typeface="Calibri" pitchFamily="34" charset="-120"/>
              </a:rPr>
              <a:t>THE ANTHROPOMORPHIC TRAP</a:t>
            </a:r>
            <a:endParaRPr lang="en-US" sz="1250" dirty="0"/>
          </a:p>
        </p:txBody>
      </p:sp>
      <p:sp>
        <p:nvSpPr>
          <p:cNvPr id="7" name="Text 5"/>
          <p:cNvSpPr/>
          <p:nvPr/>
        </p:nvSpPr>
        <p:spPr>
          <a:xfrm>
            <a:off x="749808" y="5632704"/>
            <a:ext cx="10692079" cy="40233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Fiction (The Terminator, The Jetsons) trained us to picture a robot as a humanoid with two arms and legs. Real robots come in whatever shape best fits the task — most don't look human at all.</a:t>
            </a:r>
            <a:endParaRPr lang="en-US" sz="1300" dirty="0"/>
          </a:p>
        </p:txBody>
      </p:sp>
      <p:sp>
        <p:nvSpPr>
          <p:cNvPr id="8" name="Text 6"/>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9" name="Text 7"/>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26.2 Robot Hardware</a:t>
            </a:r>
            <a:endParaRPr lang="en-US" sz="900" dirty="0"/>
          </a:p>
        </p:txBody>
      </p:sp>
      <p:sp>
        <p:nvSpPr>
          <p:cNvPr id="10" name="Text 8"/>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26.2 ROBOT HARDWARE — SENSING</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Passive vs. Active Sensing</a:t>
            </a:r>
            <a:endParaRPr lang="en-US" sz="2700" dirty="0"/>
          </a:p>
        </p:txBody>
      </p:sp>
      <p:sp>
        <p:nvSpPr>
          <p:cNvPr id="4" name="Shape 2"/>
          <p:cNvSpPr/>
          <p:nvPr/>
        </p:nvSpPr>
        <p:spPr>
          <a:xfrm>
            <a:off x="5090008" y="1508760"/>
            <a:ext cx="2011680" cy="502920"/>
          </a:xfrm>
          <a:prstGeom prst="rect">
            <a:avLst/>
          </a:prstGeom>
          <a:solidFill>
            <a:srgbClr val="1A3A5C"/>
          </a:solidFill>
          <a:ln w="15875">
            <a:solidFill>
              <a:srgbClr val="1A3A5C"/>
            </a:solidFill>
            <a:prstDash val="solid"/>
          </a:ln>
        </p:spPr>
      </p:sp>
      <p:sp>
        <p:nvSpPr>
          <p:cNvPr id="5" name="Text 3"/>
          <p:cNvSpPr/>
          <p:nvPr/>
        </p:nvSpPr>
        <p:spPr>
          <a:xfrm>
            <a:off x="5090008" y="1508760"/>
            <a:ext cx="2011680" cy="50292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Robot Sensors</a:t>
            </a:r>
            <a:endParaRPr lang="en-US" sz="1300" dirty="0"/>
          </a:p>
        </p:txBody>
      </p:sp>
      <p:sp>
        <p:nvSpPr>
          <p:cNvPr id="6" name="Shape 4"/>
          <p:cNvSpPr/>
          <p:nvPr/>
        </p:nvSpPr>
        <p:spPr>
          <a:xfrm flipH="1">
            <a:off x="2323746" y="2011680"/>
            <a:ext cx="3772101" cy="548640"/>
          </a:xfrm>
          <a:prstGeom prst="line">
            <a:avLst/>
          </a:prstGeom>
          <a:noFill/>
          <a:ln w="15875">
            <a:solidFill>
              <a:srgbClr val="D7DEE8"/>
            </a:solidFill>
            <a:prstDash val="solid"/>
            <a:headEnd type="none"/>
            <a:tailEnd type="triangle"/>
          </a:ln>
        </p:spPr>
      </p:sp>
      <p:sp>
        <p:nvSpPr>
          <p:cNvPr id="7" name="Shape 5"/>
          <p:cNvSpPr/>
          <p:nvPr/>
        </p:nvSpPr>
        <p:spPr>
          <a:xfrm>
            <a:off x="1340766" y="2560320"/>
            <a:ext cx="1965960" cy="868680"/>
          </a:xfrm>
          <a:prstGeom prst="roundRect">
            <a:avLst>
              <a:gd name="adj" fmla="val 6316"/>
            </a:avLst>
          </a:prstGeom>
          <a:solidFill>
            <a:srgbClr val="EEF2FF"/>
          </a:solidFill>
          <a:ln w="15875">
            <a:solidFill>
              <a:srgbClr val="4A6FA5"/>
            </a:solidFill>
            <a:prstDash val="solid"/>
          </a:ln>
        </p:spPr>
      </p:sp>
      <p:sp>
        <p:nvSpPr>
          <p:cNvPr id="8" name="Text 6"/>
          <p:cNvSpPr/>
          <p:nvPr/>
        </p:nvSpPr>
        <p:spPr>
          <a:xfrm>
            <a:off x="1432206" y="2633472"/>
            <a:ext cx="1783080" cy="274320"/>
          </a:xfrm>
          <a:prstGeom prst="rect">
            <a:avLst/>
          </a:prstGeom>
          <a:noFill/>
          <a:ln/>
        </p:spPr>
        <p:txBody>
          <a:bodyPr wrap="square" lIns="0" tIns="0" rIns="0" bIns="0" rtlCol="0" anchor="t"/>
          <a:lstStyle/>
          <a:p>
            <a:pPr algn="l" indent="0" marL="0">
              <a:buNone/>
            </a:pPr>
            <a:r>
              <a:rPr lang="en-US" sz="1200" b="1" dirty="0">
                <a:solidFill>
                  <a:srgbClr val="1F2A37"/>
                </a:solidFill>
                <a:latin typeface="Calibri" pitchFamily="34" charset="0"/>
                <a:ea typeface="Calibri" pitchFamily="34" charset="-122"/>
                <a:cs typeface="Calibri" pitchFamily="34" charset="-120"/>
              </a:rPr>
              <a:t>Passive</a:t>
            </a:r>
            <a:endParaRPr lang="en-US" sz="1200" dirty="0"/>
          </a:p>
        </p:txBody>
      </p:sp>
      <p:sp>
        <p:nvSpPr>
          <p:cNvPr id="9" name="Text 7"/>
          <p:cNvSpPr/>
          <p:nvPr/>
        </p:nvSpPr>
        <p:spPr>
          <a:xfrm>
            <a:off x="1432206" y="2926080"/>
            <a:ext cx="1783080" cy="457200"/>
          </a:xfrm>
          <a:prstGeom prst="rect">
            <a:avLst/>
          </a:prstGeom>
          <a:noFill/>
          <a:ln/>
        </p:spPr>
        <p:txBody>
          <a:bodyPr wrap="square" lIns="0" tIns="0" rIns="0" bIns="0" rtlCol="0" anchor="t"/>
          <a:lstStyle/>
          <a:p>
            <a:pPr algn="l" indent="0" marL="0">
              <a:buNone/>
            </a:pPr>
            <a:r>
              <a:rPr lang="en-US" sz="980" dirty="0">
                <a:solidFill>
                  <a:srgbClr val="51606F"/>
                </a:solidFill>
                <a:latin typeface="Calibri" pitchFamily="34" charset="0"/>
                <a:ea typeface="Calibri" pitchFamily="34" charset="-122"/>
                <a:cs typeface="Calibri" pitchFamily="34" charset="-120"/>
              </a:rPr>
              <a:t>cameras (true observers)</a:t>
            </a:r>
            <a:endParaRPr lang="en-US" sz="980" dirty="0"/>
          </a:p>
        </p:txBody>
      </p:sp>
      <p:sp>
        <p:nvSpPr>
          <p:cNvPr id="10" name="Shape 8"/>
          <p:cNvSpPr/>
          <p:nvPr/>
        </p:nvSpPr>
        <p:spPr>
          <a:xfrm flipH="1">
            <a:off x="5763015" y="2011680"/>
            <a:ext cx="332832" cy="548640"/>
          </a:xfrm>
          <a:prstGeom prst="line">
            <a:avLst/>
          </a:prstGeom>
          <a:noFill/>
          <a:ln w="15875">
            <a:solidFill>
              <a:srgbClr val="D7DEE8"/>
            </a:solidFill>
            <a:prstDash val="solid"/>
            <a:headEnd type="none"/>
            <a:tailEnd type="triangle"/>
          </a:ln>
        </p:spPr>
      </p:sp>
      <p:sp>
        <p:nvSpPr>
          <p:cNvPr id="11" name="Shape 9"/>
          <p:cNvSpPr/>
          <p:nvPr/>
        </p:nvSpPr>
        <p:spPr>
          <a:xfrm>
            <a:off x="4780035" y="2560320"/>
            <a:ext cx="1965960" cy="868680"/>
          </a:xfrm>
          <a:prstGeom prst="roundRect">
            <a:avLst>
              <a:gd name="adj" fmla="val 6316"/>
            </a:avLst>
          </a:prstGeom>
          <a:solidFill>
            <a:srgbClr val="FFF8E6"/>
          </a:solidFill>
          <a:ln w="15875">
            <a:solidFill>
              <a:srgbClr val="C8840A"/>
            </a:solidFill>
            <a:prstDash val="solid"/>
          </a:ln>
        </p:spPr>
      </p:sp>
      <p:sp>
        <p:nvSpPr>
          <p:cNvPr id="12" name="Text 10"/>
          <p:cNvSpPr/>
          <p:nvPr/>
        </p:nvSpPr>
        <p:spPr>
          <a:xfrm>
            <a:off x="4871475" y="2633472"/>
            <a:ext cx="1783080" cy="274320"/>
          </a:xfrm>
          <a:prstGeom prst="rect">
            <a:avLst/>
          </a:prstGeom>
          <a:noFill/>
          <a:ln/>
        </p:spPr>
        <p:txBody>
          <a:bodyPr wrap="square" lIns="0" tIns="0" rIns="0" bIns="0" rtlCol="0" anchor="t"/>
          <a:lstStyle/>
          <a:p>
            <a:pPr algn="l" indent="0" marL="0">
              <a:buNone/>
            </a:pPr>
            <a:r>
              <a:rPr lang="en-US" sz="1200" b="1" dirty="0">
                <a:solidFill>
                  <a:srgbClr val="1F2A37"/>
                </a:solidFill>
                <a:latin typeface="Calibri" pitchFamily="34" charset="0"/>
                <a:ea typeface="Calibri" pitchFamily="34" charset="-122"/>
                <a:cs typeface="Calibri" pitchFamily="34" charset="-120"/>
              </a:rPr>
              <a:t>Active — Range</a:t>
            </a:r>
            <a:endParaRPr lang="en-US" sz="1200" dirty="0"/>
          </a:p>
        </p:txBody>
      </p:sp>
      <p:sp>
        <p:nvSpPr>
          <p:cNvPr id="13" name="Text 11"/>
          <p:cNvSpPr/>
          <p:nvPr/>
        </p:nvSpPr>
        <p:spPr>
          <a:xfrm>
            <a:off x="4871475" y="2926080"/>
            <a:ext cx="1783080" cy="457200"/>
          </a:xfrm>
          <a:prstGeom prst="rect">
            <a:avLst/>
          </a:prstGeom>
          <a:noFill/>
          <a:ln/>
        </p:spPr>
        <p:txBody>
          <a:bodyPr wrap="square" lIns="0" tIns="0" rIns="0" bIns="0" rtlCol="0" anchor="t"/>
          <a:lstStyle/>
          <a:p>
            <a:pPr algn="l" indent="0" marL="0">
              <a:buNone/>
            </a:pPr>
            <a:r>
              <a:rPr lang="en-US" sz="980" dirty="0">
                <a:solidFill>
                  <a:srgbClr val="51606F"/>
                </a:solidFill>
                <a:latin typeface="Calibri" pitchFamily="34" charset="0"/>
                <a:ea typeface="Calibri" pitchFamily="34" charset="-122"/>
                <a:cs typeface="Calibri" pitchFamily="34" charset="-120"/>
              </a:rPr>
              <a:t>sonar · lidar · radar · time-of-flight</a:t>
            </a:r>
            <a:endParaRPr lang="en-US" sz="980" dirty="0"/>
          </a:p>
        </p:txBody>
      </p:sp>
      <p:sp>
        <p:nvSpPr>
          <p:cNvPr id="14" name="Shape 12"/>
          <p:cNvSpPr/>
          <p:nvPr/>
        </p:nvSpPr>
        <p:spPr>
          <a:xfrm>
            <a:off x="6095848" y="2011680"/>
            <a:ext cx="2440771" cy="548640"/>
          </a:xfrm>
          <a:prstGeom prst="line">
            <a:avLst/>
          </a:prstGeom>
          <a:noFill/>
          <a:ln w="15875">
            <a:solidFill>
              <a:srgbClr val="D7DEE8"/>
            </a:solidFill>
            <a:prstDash val="solid"/>
            <a:headEnd type="none"/>
            <a:tailEnd type="triangle"/>
          </a:ln>
        </p:spPr>
      </p:sp>
      <p:sp>
        <p:nvSpPr>
          <p:cNvPr id="15" name="Shape 13"/>
          <p:cNvSpPr/>
          <p:nvPr/>
        </p:nvSpPr>
        <p:spPr>
          <a:xfrm>
            <a:off x="7553639" y="2560320"/>
            <a:ext cx="1965960" cy="868680"/>
          </a:xfrm>
          <a:prstGeom prst="roundRect">
            <a:avLst>
              <a:gd name="adj" fmla="val 6316"/>
            </a:avLst>
          </a:prstGeom>
          <a:solidFill>
            <a:srgbClr val="EEF8EE"/>
          </a:solidFill>
          <a:ln w="15875">
            <a:solidFill>
              <a:srgbClr val="1B6B3A"/>
            </a:solidFill>
            <a:prstDash val="solid"/>
          </a:ln>
        </p:spPr>
      </p:sp>
      <p:sp>
        <p:nvSpPr>
          <p:cNvPr id="16" name="Text 14"/>
          <p:cNvSpPr/>
          <p:nvPr/>
        </p:nvSpPr>
        <p:spPr>
          <a:xfrm>
            <a:off x="7645079" y="2633472"/>
            <a:ext cx="1783080" cy="274320"/>
          </a:xfrm>
          <a:prstGeom prst="rect">
            <a:avLst/>
          </a:prstGeom>
          <a:noFill/>
          <a:ln/>
        </p:spPr>
        <p:txBody>
          <a:bodyPr wrap="square" lIns="0" tIns="0" rIns="0" bIns="0" rtlCol="0" anchor="t"/>
          <a:lstStyle/>
          <a:p>
            <a:pPr algn="l" indent="0" marL="0">
              <a:buNone/>
            </a:pPr>
            <a:r>
              <a:rPr lang="en-US" sz="1200" b="1" dirty="0">
                <a:solidFill>
                  <a:srgbClr val="1F2A37"/>
                </a:solidFill>
                <a:latin typeface="Calibri" pitchFamily="34" charset="0"/>
                <a:ea typeface="Calibri" pitchFamily="34" charset="-122"/>
                <a:cs typeface="Calibri" pitchFamily="34" charset="-120"/>
              </a:rPr>
              <a:t>Location</a:t>
            </a:r>
            <a:endParaRPr lang="en-US" sz="1200" dirty="0"/>
          </a:p>
        </p:txBody>
      </p:sp>
      <p:sp>
        <p:nvSpPr>
          <p:cNvPr id="17" name="Text 15"/>
          <p:cNvSpPr/>
          <p:nvPr/>
        </p:nvSpPr>
        <p:spPr>
          <a:xfrm>
            <a:off x="7645079" y="2926080"/>
            <a:ext cx="1783080" cy="457200"/>
          </a:xfrm>
          <a:prstGeom prst="rect">
            <a:avLst/>
          </a:prstGeom>
          <a:noFill/>
          <a:ln/>
        </p:spPr>
        <p:txBody>
          <a:bodyPr wrap="square" lIns="0" tIns="0" rIns="0" bIns="0" rtlCol="0" anchor="t"/>
          <a:lstStyle/>
          <a:p>
            <a:pPr algn="l" indent="0" marL="0">
              <a:buNone/>
            </a:pPr>
            <a:r>
              <a:rPr lang="en-US" sz="980" dirty="0">
                <a:solidFill>
                  <a:srgbClr val="51606F"/>
                </a:solidFill>
                <a:latin typeface="Calibri" pitchFamily="34" charset="0"/>
                <a:ea typeface="Calibri" pitchFamily="34" charset="-122"/>
                <a:cs typeface="Calibri" pitchFamily="34" charset="-120"/>
              </a:rPr>
              <a:t>GPS · beacons · Wi-Fi</a:t>
            </a:r>
            <a:endParaRPr lang="en-US" sz="980" dirty="0"/>
          </a:p>
        </p:txBody>
      </p:sp>
      <p:sp>
        <p:nvSpPr>
          <p:cNvPr id="18" name="Shape 16"/>
          <p:cNvSpPr/>
          <p:nvPr/>
        </p:nvSpPr>
        <p:spPr>
          <a:xfrm>
            <a:off x="6095848" y="2011680"/>
            <a:ext cx="4881543" cy="548640"/>
          </a:xfrm>
          <a:prstGeom prst="line">
            <a:avLst/>
          </a:prstGeom>
          <a:noFill/>
          <a:ln w="15875">
            <a:solidFill>
              <a:srgbClr val="D7DEE8"/>
            </a:solidFill>
            <a:prstDash val="solid"/>
            <a:headEnd type="none"/>
            <a:tailEnd type="triangle"/>
          </a:ln>
        </p:spPr>
      </p:sp>
      <p:sp>
        <p:nvSpPr>
          <p:cNvPr id="19" name="Shape 17"/>
          <p:cNvSpPr/>
          <p:nvPr/>
        </p:nvSpPr>
        <p:spPr>
          <a:xfrm>
            <a:off x="9994410" y="2560320"/>
            <a:ext cx="1965960" cy="868680"/>
          </a:xfrm>
          <a:prstGeom prst="roundRect">
            <a:avLst>
              <a:gd name="adj" fmla="val 6316"/>
            </a:avLst>
          </a:prstGeom>
          <a:solidFill>
            <a:srgbClr val="FFF0EE"/>
          </a:solidFill>
          <a:ln w="15875">
            <a:solidFill>
              <a:srgbClr val="B5311A"/>
            </a:solidFill>
            <a:prstDash val="solid"/>
          </a:ln>
        </p:spPr>
      </p:sp>
      <p:sp>
        <p:nvSpPr>
          <p:cNvPr id="20" name="Text 18"/>
          <p:cNvSpPr/>
          <p:nvPr/>
        </p:nvSpPr>
        <p:spPr>
          <a:xfrm>
            <a:off x="10085850" y="2633472"/>
            <a:ext cx="1783080" cy="274320"/>
          </a:xfrm>
          <a:prstGeom prst="rect">
            <a:avLst/>
          </a:prstGeom>
          <a:noFill/>
          <a:ln/>
        </p:spPr>
        <p:txBody>
          <a:bodyPr wrap="square" lIns="0" tIns="0" rIns="0" bIns="0" rtlCol="0" anchor="t"/>
          <a:lstStyle/>
          <a:p>
            <a:pPr algn="l" indent="0" marL="0">
              <a:buNone/>
            </a:pPr>
            <a:r>
              <a:rPr lang="en-US" sz="1200" b="1" dirty="0">
                <a:solidFill>
                  <a:srgbClr val="1F2A37"/>
                </a:solidFill>
                <a:latin typeface="Calibri" pitchFamily="34" charset="0"/>
                <a:ea typeface="Calibri" pitchFamily="34" charset="-122"/>
                <a:cs typeface="Calibri" pitchFamily="34" charset="-120"/>
              </a:rPr>
              <a:t>Proprioceptive</a:t>
            </a:r>
            <a:endParaRPr lang="en-US" sz="1200" dirty="0"/>
          </a:p>
        </p:txBody>
      </p:sp>
      <p:sp>
        <p:nvSpPr>
          <p:cNvPr id="21" name="Text 19"/>
          <p:cNvSpPr/>
          <p:nvPr/>
        </p:nvSpPr>
        <p:spPr>
          <a:xfrm>
            <a:off x="10085850" y="2926080"/>
            <a:ext cx="1783080" cy="457200"/>
          </a:xfrm>
          <a:prstGeom prst="rect">
            <a:avLst/>
          </a:prstGeom>
          <a:noFill/>
          <a:ln/>
        </p:spPr>
        <p:txBody>
          <a:bodyPr wrap="square" lIns="0" tIns="0" rIns="0" bIns="0" rtlCol="0" anchor="t"/>
          <a:lstStyle/>
          <a:p>
            <a:pPr algn="l" indent="0" marL="0">
              <a:buNone/>
            </a:pPr>
            <a:r>
              <a:rPr lang="en-US" sz="980" dirty="0">
                <a:solidFill>
                  <a:srgbClr val="51606F"/>
                </a:solidFill>
                <a:latin typeface="Calibri" pitchFamily="34" charset="0"/>
                <a:ea typeface="Calibri" pitchFamily="34" charset="-122"/>
                <a:cs typeface="Calibri" pitchFamily="34" charset="-120"/>
              </a:rPr>
              <a:t>shaft decoders · IMU · force/torque</a:t>
            </a:r>
            <a:endParaRPr lang="en-US" sz="980" dirty="0"/>
          </a:p>
        </p:txBody>
      </p:sp>
      <p:sp>
        <p:nvSpPr>
          <p:cNvPr id="22" name="Shape 20"/>
          <p:cNvSpPr/>
          <p:nvPr/>
        </p:nvSpPr>
        <p:spPr>
          <a:xfrm>
            <a:off x="548640" y="3931920"/>
            <a:ext cx="5364328" cy="1737360"/>
          </a:xfrm>
          <a:prstGeom prst="roundRect">
            <a:avLst>
              <a:gd name="adj" fmla="val 4211"/>
            </a:avLst>
          </a:prstGeom>
          <a:solidFill>
            <a:srgbClr val="EEF2FF"/>
          </a:solidFill>
          <a:ln w="12700">
            <a:solidFill>
              <a:srgbClr val="4A6FA5"/>
            </a:solidFill>
            <a:prstDash val="solid"/>
          </a:ln>
        </p:spPr>
      </p:sp>
      <p:sp>
        <p:nvSpPr>
          <p:cNvPr id="23" name="Text 21"/>
          <p:cNvSpPr/>
          <p:nvPr/>
        </p:nvSpPr>
        <p:spPr>
          <a:xfrm>
            <a:off x="749808" y="4041648"/>
            <a:ext cx="4961992" cy="274320"/>
          </a:xfrm>
          <a:prstGeom prst="rect">
            <a:avLst/>
          </a:prstGeom>
          <a:noFill/>
          <a:ln/>
        </p:spPr>
        <p:txBody>
          <a:bodyPr wrap="square" lIns="0" tIns="0" rIns="0" bIns="0" rtlCol="0" anchor="ctr"/>
          <a:lstStyle/>
          <a:p>
            <a:pPr indent="0" marL="0">
              <a:buNone/>
            </a:pPr>
            <a:r>
              <a:rPr lang="en-US" sz="1250" b="1" spc="50" kern="0" dirty="0">
                <a:solidFill>
                  <a:srgbClr val="4A6FA5"/>
                </a:solidFill>
                <a:latin typeface="Calibri" pitchFamily="34" charset="0"/>
                <a:ea typeface="Calibri" pitchFamily="34" charset="-122"/>
                <a:cs typeface="Calibri" pitchFamily="34" charset="-120"/>
              </a:rPr>
              <a:t>PASSIVE SENSORS</a:t>
            </a:r>
            <a:endParaRPr lang="en-US" sz="1250" dirty="0"/>
          </a:p>
        </p:txBody>
      </p:sp>
      <p:sp>
        <p:nvSpPr>
          <p:cNvPr id="24" name="Text 22"/>
          <p:cNvSpPr/>
          <p:nvPr/>
        </p:nvSpPr>
        <p:spPr>
          <a:xfrm>
            <a:off x="749808" y="4352544"/>
            <a:ext cx="4961992" cy="122529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True observers — they only capture energy generated by other sources in the environment. A camera is the classic example: it just captures ambient light.</a:t>
            </a:r>
            <a:endParaRPr lang="en-US" sz="1300" dirty="0"/>
          </a:p>
        </p:txBody>
      </p:sp>
      <p:sp>
        <p:nvSpPr>
          <p:cNvPr id="25" name="Shape 23"/>
          <p:cNvSpPr/>
          <p:nvPr/>
        </p:nvSpPr>
        <p:spPr>
          <a:xfrm>
            <a:off x="6278728" y="3931920"/>
            <a:ext cx="5364328" cy="1737360"/>
          </a:xfrm>
          <a:prstGeom prst="roundRect">
            <a:avLst>
              <a:gd name="adj" fmla="val 4211"/>
            </a:avLst>
          </a:prstGeom>
          <a:solidFill>
            <a:srgbClr val="FFF8E6"/>
          </a:solidFill>
          <a:ln w="12700">
            <a:solidFill>
              <a:srgbClr val="C8840A"/>
            </a:solidFill>
            <a:prstDash val="solid"/>
          </a:ln>
        </p:spPr>
      </p:sp>
      <p:sp>
        <p:nvSpPr>
          <p:cNvPr id="26" name="Text 24"/>
          <p:cNvSpPr/>
          <p:nvPr/>
        </p:nvSpPr>
        <p:spPr>
          <a:xfrm>
            <a:off x="6479896" y="4041648"/>
            <a:ext cx="4961992" cy="274320"/>
          </a:xfrm>
          <a:prstGeom prst="rect">
            <a:avLst/>
          </a:prstGeom>
          <a:noFill/>
          <a:ln/>
        </p:spPr>
        <p:txBody>
          <a:bodyPr wrap="square" lIns="0" tIns="0" rIns="0" bIns="0" rtlCol="0" anchor="ctr"/>
          <a:lstStyle/>
          <a:p>
            <a:pPr indent="0" marL="0">
              <a:buNone/>
            </a:pPr>
            <a:r>
              <a:rPr lang="en-US" sz="1250" b="1" spc="50" kern="0" dirty="0">
                <a:solidFill>
                  <a:srgbClr val="C8840A"/>
                </a:solidFill>
                <a:latin typeface="Calibri" pitchFamily="34" charset="0"/>
                <a:ea typeface="Calibri" pitchFamily="34" charset="-122"/>
                <a:cs typeface="Calibri" pitchFamily="34" charset="-120"/>
              </a:rPr>
              <a:t>ACTIVE SENSORS</a:t>
            </a:r>
            <a:endParaRPr lang="en-US" sz="1250" dirty="0"/>
          </a:p>
        </p:txBody>
      </p:sp>
      <p:sp>
        <p:nvSpPr>
          <p:cNvPr id="27" name="Text 25"/>
          <p:cNvSpPr/>
          <p:nvPr/>
        </p:nvSpPr>
        <p:spPr>
          <a:xfrm>
            <a:off x="6479896" y="4352544"/>
            <a:ext cx="4961992" cy="122529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Send energy into the environment and rely on it reflecting back. Sonar, lidar, radar. More informative — but costs power, and risks interference from other active sensors nearby.</a:t>
            </a:r>
            <a:endParaRPr lang="en-US" sz="1300" dirty="0"/>
          </a:p>
        </p:txBody>
      </p:sp>
      <p:sp>
        <p:nvSpPr>
          <p:cNvPr id="28" name="Text 26"/>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29" name="Text 27"/>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26.2 Robot Hardware</a:t>
            </a:r>
            <a:endParaRPr lang="en-US" sz="900" dirty="0"/>
          </a:p>
        </p:txBody>
      </p:sp>
      <p:sp>
        <p:nvSpPr>
          <p:cNvPr id="30" name="Text 28"/>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26.2 ROBOT HARDWARE — SENSING</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Range Finders: Measuring Distance</a:t>
            </a:r>
            <a:endParaRPr lang="en-US" sz="27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28800"/>
                <a:gridCol w="4480560"/>
                <a:gridCol w="4785055"/>
              </a:tblGrid>
              <a:tr h="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Sensor</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How it works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Where it shines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r>
              <a:tr h="0">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Sonar</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active — emits directional sound, times the echo</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Underwater vehicles; early indoor robots</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Stereo vision</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passive — parallax between two camera views</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Cheap, but not reliably accurate on the ground</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r>
              <a:tr h="0">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Structured light (Kinect)</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camera + projected grid pattern; can use IR light</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Low-cost indoor 3D shape sensing</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Time-of-flight camera</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active — times a light pulse's round trip, up to 60 fps</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Fast, dense range images at short range</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r>
              <a:tr h="0">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Scanning lidar</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active laser, swept by mirrors — accurate to ~1 cm at 100 m</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Autonomous cars — the current gold standard</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Radar</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active — measures up to kilometers, sees through fog</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Air vehicles; all-weather backup on cars</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r>
              <a:tr h="0">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Tactile (whiskers, bump panels, e-skin)</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physical contact</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Very close range, when everything else has failed</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6" name="Text 3"/>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26.2 Robot Hardware</a:t>
            </a:r>
            <a:endParaRPr lang="en-US" sz="900" dirty="0"/>
          </a:p>
        </p:txBody>
      </p:sp>
      <p:sp>
        <p:nvSpPr>
          <p:cNvPr id="7" name="Text 4"/>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26.2 ROBOT HARDWARE — SENSING</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Location Sensors: Where Am I?</a:t>
            </a:r>
            <a:endParaRPr lang="en-US" sz="2700" dirty="0"/>
          </a:p>
        </p:txBody>
      </p:sp>
      <p:sp>
        <p:nvSpPr>
          <p:cNvPr id="4" name="Shape 2"/>
          <p:cNvSpPr/>
          <p:nvPr/>
        </p:nvSpPr>
        <p:spPr>
          <a:xfrm>
            <a:off x="548640" y="1417320"/>
            <a:ext cx="5364328" cy="2286000"/>
          </a:xfrm>
          <a:prstGeom prst="roundRect">
            <a:avLst>
              <a:gd name="adj" fmla="val 3600"/>
            </a:avLst>
          </a:prstGeom>
          <a:solidFill>
            <a:srgbClr val="EEF2FF"/>
          </a:solidFill>
          <a:ln/>
          <a:effectLst>
            <a:outerShdw sx="100000" sy="100000" kx="0" ky="0" algn="bl" rotWithShape="0" blurRad="76200" dist="25400" dir="5400000">
              <a:srgbClr val="1A3A5C">
                <a:alpha val="12000"/>
              </a:srgbClr>
            </a:outerShdw>
          </a:effectLst>
        </p:spPr>
      </p:sp>
      <p:sp>
        <p:nvSpPr>
          <p:cNvPr id="5" name="Text 3"/>
          <p:cNvSpPr/>
          <p:nvPr/>
        </p:nvSpPr>
        <p:spPr>
          <a:xfrm>
            <a:off x="749808" y="1545336"/>
            <a:ext cx="4961992" cy="329184"/>
          </a:xfrm>
          <a:prstGeom prst="rect">
            <a:avLst/>
          </a:prstGeom>
          <a:noFill/>
          <a:ln/>
        </p:spPr>
        <p:txBody>
          <a:bodyPr wrap="square" lIns="0" tIns="0" rIns="0" bIns="0" rtlCol="0" anchor="ctr"/>
          <a:lstStyle/>
          <a:p>
            <a:pPr indent="0" marL="0">
              <a:buNone/>
            </a:pPr>
            <a:r>
              <a:rPr lang="en-US" sz="1450" b="1" dirty="0">
                <a:solidFill>
                  <a:srgbClr val="4A6FA5"/>
                </a:solidFill>
                <a:latin typeface="Calibri" pitchFamily="34" charset="0"/>
                <a:ea typeface="Calibri" pitchFamily="34" charset="-122"/>
                <a:cs typeface="Calibri" pitchFamily="34" charset="-120"/>
              </a:rPr>
              <a:t>Outdoors: GPS</a:t>
            </a:r>
            <a:endParaRPr lang="en-US" sz="1450" dirty="0"/>
          </a:p>
        </p:txBody>
      </p:sp>
      <p:sp>
        <p:nvSpPr>
          <p:cNvPr id="6" name="Text 4"/>
          <p:cNvSpPr/>
          <p:nvPr/>
        </p:nvSpPr>
        <p:spPr>
          <a:xfrm>
            <a:off x="749808" y="1929384"/>
            <a:ext cx="4961992" cy="1664208"/>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31 GPS satellites + 24 GLONASS satellites emit pulsed timing signals.</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Triangulating phase shifts gives location accurate to a few meters.</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Differential GPS adds a fixed ground receiver — millimeter accuracy under ideal conditions.</a:t>
            </a:r>
            <a:endParaRPr lang="en-US" sz="1250" dirty="0"/>
          </a:p>
        </p:txBody>
      </p:sp>
      <p:sp>
        <p:nvSpPr>
          <p:cNvPr id="7" name="Shape 5"/>
          <p:cNvSpPr/>
          <p:nvPr/>
        </p:nvSpPr>
        <p:spPr>
          <a:xfrm>
            <a:off x="6278728" y="1417320"/>
            <a:ext cx="5364328" cy="2286000"/>
          </a:xfrm>
          <a:prstGeom prst="roundRect">
            <a:avLst>
              <a:gd name="adj" fmla="val 3600"/>
            </a:avLst>
          </a:prstGeom>
          <a:solidFill>
            <a:srgbClr val="FFF8E6"/>
          </a:solidFill>
          <a:ln/>
          <a:effectLst>
            <a:outerShdw sx="100000" sy="100000" kx="0" ky="0" algn="bl" rotWithShape="0" blurRad="76200" dist="25400" dir="5400000">
              <a:srgbClr val="1A3A5C">
                <a:alpha val="12000"/>
              </a:srgbClr>
            </a:outerShdw>
          </a:effectLst>
        </p:spPr>
      </p:sp>
      <p:sp>
        <p:nvSpPr>
          <p:cNvPr id="8" name="Text 6"/>
          <p:cNvSpPr/>
          <p:nvPr/>
        </p:nvSpPr>
        <p:spPr>
          <a:xfrm>
            <a:off x="6479896" y="1545336"/>
            <a:ext cx="4961992" cy="329184"/>
          </a:xfrm>
          <a:prstGeom prst="rect">
            <a:avLst/>
          </a:prstGeom>
          <a:noFill/>
          <a:ln/>
        </p:spPr>
        <p:txBody>
          <a:bodyPr wrap="square" lIns="0" tIns="0" rIns="0" bIns="0" rtlCol="0" anchor="ctr"/>
          <a:lstStyle/>
          <a:p>
            <a:pPr indent="0" marL="0">
              <a:buNone/>
            </a:pPr>
            <a:r>
              <a:rPr lang="en-US" sz="1450" b="1" dirty="0">
                <a:solidFill>
                  <a:srgbClr val="C8840A"/>
                </a:solidFill>
                <a:latin typeface="Calibri" pitchFamily="34" charset="0"/>
                <a:ea typeface="Calibri" pitchFamily="34" charset="-122"/>
                <a:cs typeface="Calibri" pitchFamily="34" charset="-120"/>
              </a:rPr>
              <a:t>Where GPS fails</a:t>
            </a:r>
            <a:endParaRPr lang="en-US" sz="1450" dirty="0"/>
          </a:p>
        </p:txBody>
      </p:sp>
      <p:sp>
        <p:nvSpPr>
          <p:cNvPr id="9" name="Text 7"/>
          <p:cNvSpPr/>
          <p:nvPr/>
        </p:nvSpPr>
        <p:spPr>
          <a:xfrm>
            <a:off x="6479896" y="1929384"/>
            <a:ext cx="4961992" cy="1664208"/>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Indoors and underwater, satellite signals don't reach.</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Indoors: fixed beacons at known locations, or Wi-Fi signal-strength fingerprinting.</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Underwater: active sonar beacons give relative distance instead.</a:t>
            </a:r>
            <a:endParaRPr lang="en-US" sz="1250" dirty="0"/>
          </a:p>
        </p:txBody>
      </p:sp>
      <p:sp>
        <p:nvSpPr>
          <p:cNvPr id="10" name="Shape 8"/>
          <p:cNvSpPr/>
          <p:nvPr/>
        </p:nvSpPr>
        <p:spPr>
          <a:xfrm>
            <a:off x="548640" y="4023360"/>
            <a:ext cx="11094415" cy="1737360"/>
          </a:xfrm>
          <a:prstGeom prst="roundRect">
            <a:avLst>
              <a:gd name="adj" fmla="val 4211"/>
            </a:avLst>
          </a:prstGeom>
          <a:solidFill>
            <a:srgbClr val="EEF8EE"/>
          </a:solidFill>
          <a:ln w="12700">
            <a:solidFill>
              <a:srgbClr val="1B6B3A"/>
            </a:solidFill>
            <a:prstDash val="solid"/>
          </a:ln>
        </p:spPr>
      </p:sp>
      <p:sp>
        <p:nvSpPr>
          <p:cNvPr id="11" name="Text 9"/>
          <p:cNvSpPr/>
          <p:nvPr/>
        </p:nvSpPr>
        <p:spPr>
          <a:xfrm>
            <a:off x="749808" y="4133088"/>
            <a:ext cx="10692079" cy="274320"/>
          </a:xfrm>
          <a:prstGeom prst="rect">
            <a:avLst/>
          </a:prstGeom>
          <a:noFill/>
          <a:ln/>
        </p:spPr>
        <p:txBody>
          <a:bodyPr wrap="square" lIns="0" tIns="0" rIns="0" bIns="0" rtlCol="0" anchor="ctr"/>
          <a:lstStyle/>
          <a:p>
            <a:pPr indent="0" marL="0">
              <a:buNone/>
            </a:pPr>
            <a:r>
              <a:rPr lang="en-US" sz="1250" b="1" spc="50" kern="0" dirty="0">
                <a:solidFill>
                  <a:srgbClr val="1B6B3A"/>
                </a:solidFill>
                <a:latin typeface="Calibri" pitchFamily="34" charset="0"/>
                <a:ea typeface="Calibri" pitchFamily="34" charset="-122"/>
                <a:cs typeface="Calibri" pitchFamily="34" charset="-120"/>
              </a:rPr>
              <a:t>NORTHGATE HOSPITAL — WREN'S PROBLEM</a:t>
            </a:r>
            <a:endParaRPr lang="en-US" sz="1250" dirty="0"/>
          </a:p>
        </p:txBody>
      </p:sp>
      <p:sp>
        <p:nvSpPr>
          <p:cNvPr id="12" name="Text 10"/>
          <p:cNvSpPr/>
          <p:nvPr/>
        </p:nvSpPr>
        <p:spPr>
          <a:xfrm>
            <a:off x="749808" y="4443984"/>
            <a:ext cx="10692079" cy="122529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Wren delivers supplies through indoor hallways where GPS is useless. Instead, Nurse Priya's team placed Wi-Fi beacons at known hallway junctions, and Wren fuses those readings with the localization techniques we'll build in Section 26.4 — this is exactly the 'GPS fails indoors' problem in practice.</a:t>
            </a:r>
            <a:endParaRPr lang="en-US" sz="1300" dirty="0"/>
          </a:p>
        </p:txBody>
      </p:sp>
      <p:sp>
        <p:nvSpPr>
          <p:cNvPr id="13" name="Text 11"/>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4" name="Text 12"/>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26.2 Robot Hardware</a:t>
            </a:r>
            <a:endParaRPr lang="en-US" sz="900" dirty="0"/>
          </a:p>
        </p:txBody>
      </p:sp>
      <p:sp>
        <p:nvSpPr>
          <p:cNvPr id="15" name="Text 13"/>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26.2 ROBOT HARDWARE — SENSING</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Proprioceptive Sensors: Sensing Yourself</a:t>
            </a:r>
            <a:endParaRPr lang="en-US" sz="2700" dirty="0"/>
          </a:p>
        </p:txBody>
      </p:sp>
      <p:sp>
        <p:nvSpPr>
          <p:cNvPr id="4" name="Text 2"/>
          <p:cNvSpPr/>
          <p:nvPr/>
        </p:nvSpPr>
        <p:spPr>
          <a:xfrm>
            <a:off x="548640" y="1417320"/>
            <a:ext cx="11094415" cy="4937760"/>
          </a:xfrm>
          <a:prstGeom prst="rect">
            <a:avLst/>
          </a:prstGeom>
          <a:noFill/>
          <a:ln/>
        </p:spPr>
        <p:txBody>
          <a:bodyPr wrap="square" lIns="0" tIns="0" rIns="0" bIns="0" rtlCol="0" anchor="t"/>
          <a:lstStyle/>
          <a:p>
            <a:pPr marL="228600" indent="-228600">
              <a:spcAft>
                <a:spcPts val="1000"/>
              </a:spcAft>
              <a:buSzPct val="100000"/>
              <a:buChar char="●"/>
            </a:pPr>
            <a:r>
              <a:rPr lang="en-US" sz="1500" b="1" dirty="0">
                <a:solidFill>
                  <a:srgbClr val="1F2A37"/>
                </a:solidFill>
                <a:latin typeface="Calibri" pitchFamily="34" charset="0"/>
                <a:ea typeface="Calibri" pitchFamily="34" charset="-122"/>
                <a:cs typeface="Calibri" pitchFamily="34" charset="-120"/>
              </a:rPr>
              <a:t>Proprioceptive sensors report the robot's own motion and internal state — not the outside world.</a:t>
            </a:r>
            <a:endParaRPr lang="en-US" sz="1500" dirty="0"/>
          </a:p>
          <a:p>
            <a:pPr lvl="1" marL="4572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Shaft decoders — measure a motor shaft's angular position; on wheels, this gives odometry (distance traveled).</a:t>
            </a:r>
            <a:endParaRPr lang="en-US" sz="1500" dirty="0"/>
          </a:p>
          <a:p>
            <a:pPr lvl="1" marL="4572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Odometry drifts: wheels slip and skid, so it's accurate only over short distances.</a:t>
            </a:r>
            <a:endParaRPr lang="en-US" sz="1500" dirty="0"/>
          </a:p>
          <a:p>
            <a:pPr lvl="1" marL="4572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Inertial sensors (gyroscopes) — resist changes in velocity, reducing drift between fixes.</a:t>
            </a:r>
            <a:endParaRPr lang="en-US" sz="1500" dirty="0"/>
          </a:p>
          <a:p>
            <a:pPr lvl="1" marL="4572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Force &amp; torque sensors — critical when handling fragile or unknown objects; can sample hundreds of times per second.</a:t>
            </a:r>
            <a:endParaRPr lang="en-US" sz="1500" dirty="0"/>
          </a:p>
        </p:txBody>
      </p:sp>
      <p:sp>
        <p:nvSpPr>
          <p:cNvPr id="5" name="Shape 3"/>
          <p:cNvSpPr/>
          <p:nvPr/>
        </p:nvSpPr>
        <p:spPr>
          <a:xfrm>
            <a:off x="548640" y="5166360"/>
            <a:ext cx="11094415" cy="960120"/>
          </a:xfrm>
          <a:prstGeom prst="roundRect">
            <a:avLst>
              <a:gd name="adj" fmla="val 7619"/>
            </a:avLst>
          </a:prstGeom>
          <a:solidFill>
            <a:srgbClr val="FFF0EE"/>
          </a:solidFill>
          <a:ln w="12700">
            <a:solidFill>
              <a:srgbClr val="B5311A"/>
            </a:solidFill>
            <a:prstDash val="solid"/>
          </a:ln>
        </p:spPr>
      </p:sp>
      <p:sp>
        <p:nvSpPr>
          <p:cNvPr id="6" name="Text 4"/>
          <p:cNvSpPr/>
          <p:nvPr/>
        </p:nvSpPr>
        <p:spPr>
          <a:xfrm>
            <a:off x="749808" y="5276088"/>
            <a:ext cx="10692079" cy="274320"/>
          </a:xfrm>
          <a:prstGeom prst="rect">
            <a:avLst/>
          </a:prstGeom>
          <a:noFill/>
          <a:ln/>
        </p:spPr>
        <p:txBody>
          <a:bodyPr wrap="square" lIns="0" tIns="0" rIns="0" bIns="0" rtlCol="0" anchor="ctr"/>
          <a:lstStyle/>
          <a:p>
            <a:pPr indent="0" marL="0">
              <a:buNone/>
            </a:pPr>
            <a:r>
              <a:rPr lang="en-US" sz="1250" b="1" spc="50" kern="0" dirty="0">
                <a:solidFill>
                  <a:srgbClr val="B5311A"/>
                </a:solidFill>
                <a:latin typeface="Calibri" pitchFamily="34" charset="0"/>
                <a:ea typeface="Calibri" pitchFamily="34" charset="-122"/>
                <a:cs typeface="Calibri" pitchFamily="34" charset="-120"/>
              </a:rPr>
              <a:t>WHY THIS MATTERS</a:t>
            </a:r>
            <a:endParaRPr lang="en-US" sz="1250" dirty="0"/>
          </a:p>
        </p:txBody>
      </p:sp>
      <p:sp>
        <p:nvSpPr>
          <p:cNvPr id="7" name="Text 5"/>
          <p:cNvSpPr/>
          <p:nvPr/>
        </p:nvSpPr>
        <p:spPr>
          <a:xfrm>
            <a:off x="749808" y="5586984"/>
            <a:ext cx="10692079" cy="44805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Picture a one-ton manipulator screwing in a light bulb: without force sensing, it's trivially easy to apply too much torque and shatter the bulb. Force/torque feedback is what lets a robot feel how hard it's gripping or turning.</a:t>
            </a:r>
            <a:endParaRPr lang="en-US" sz="1300" dirty="0"/>
          </a:p>
        </p:txBody>
      </p:sp>
      <p:sp>
        <p:nvSpPr>
          <p:cNvPr id="8" name="Text 6"/>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9" name="Text 7"/>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26.2 Robot Hardware</a:t>
            </a:r>
            <a:endParaRPr lang="en-US" sz="900" dirty="0"/>
          </a:p>
        </p:txBody>
      </p:sp>
      <p:sp>
        <p:nvSpPr>
          <p:cNvPr id="10" name="Text 8"/>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26.2 ROBOT HARDWARE — PRODUCING MOTION</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Actuators and Joints</a:t>
            </a:r>
            <a:endParaRPr lang="en-US" sz="2700" dirty="0"/>
          </a:p>
        </p:txBody>
      </p:sp>
      <p:sp>
        <p:nvSpPr>
          <p:cNvPr id="4" name="Shape 2"/>
          <p:cNvSpPr/>
          <p:nvPr/>
        </p:nvSpPr>
        <p:spPr>
          <a:xfrm>
            <a:off x="548640" y="1417320"/>
            <a:ext cx="5364328" cy="2377440"/>
          </a:xfrm>
          <a:prstGeom prst="roundRect">
            <a:avLst>
              <a:gd name="adj" fmla="val 3462"/>
            </a:avLst>
          </a:prstGeom>
          <a:solidFill>
            <a:srgbClr val="EEF2FF"/>
          </a:solidFill>
          <a:ln/>
          <a:effectLst>
            <a:outerShdw sx="100000" sy="100000" kx="0" ky="0" algn="bl" rotWithShape="0" blurRad="76200" dist="25400" dir="5400000">
              <a:srgbClr val="1A3A5C">
                <a:alpha val="12000"/>
              </a:srgbClr>
            </a:outerShdw>
          </a:effectLst>
        </p:spPr>
      </p:sp>
      <p:sp>
        <p:nvSpPr>
          <p:cNvPr id="5" name="Text 3"/>
          <p:cNvSpPr/>
          <p:nvPr/>
        </p:nvSpPr>
        <p:spPr>
          <a:xfrm>
            <a:off x="749808" y="1545336"/>
            <a:ext cx="4961992" cy="329184"/>
          </a:xfrm>
          <a:prstGeom prst="rect">
            <a:avLst/>
          </a:prstGeom>
          <a:noFill/>
          <a:ln/>
        </p:spPr>
        <p:txBody>
          <a:bodyPr wrap="square" lIns="0" tIns="0" rIns="0" bIns="0" rtlCol="0" anchor="ctr"/>
          <a:lstStyle/>
          <a:p>
            <a:pPr indent="0" marL="0">
              <a:buNone/>
            </a:pPr>
            <a:r>
              <a:rPr lang="en-US" sz="1450" b="1" dirty="0">
                <a:solidFill>
                  <a:srgbClr val="4A6FA5"/>
                </a:solidFill>
                <a:latin typeface="Calibri" pitchFamily="34" charset="0"/>
                <a:ea typeface="Calibri" pitchFamily="34" charset="-122"/>
                <a:cs typeface="Calibri" pitchFamily="34" charset="-120"/>
              </a:rPr>
              <a:t>Actuator types</a:t>
            </a:r>
            <a:endParaRPr lang="en-US" sz="1450" dirty="0"/>
          </a:p>
        </p:txBody>
      </p:sp>
      <p:sp>
        <p:nvSpPr>
          <p:cNvPr id="6" name="Text 4"/>
          <p:cNvSpPr/>
          <p:nvPr/>
        </p:nvSpPr>
        <p:spPr>
          <a:xfrm>
            <a:off x="749808" y="1929384"/>
            <a:ext cx="4961992" cy="1755648"/>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Electric — spins a motor via electricity; most common for rotational joints.</a:t>
            </a:r>
            <a:endParaRPr lang="en-US" sz="1300" dirty="0"/>
          </a:p>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Hydraulic — pressurized fluid (oil/water) for high-force motion.</a:t>
            </a:r>
            <a:endParaRPr lang="en-US" sz="1300" dirty="0"/>
          </a:p>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Pneumatic — compressed air; fast but less precise.</a:t>
            </a:r>
            <a:endParaRPr lang="en-US" sz="1300" dirty="0"/>
          </a:p>
        </p:txBody>
      </p:sp>
      <p:sp>
        <p:nvSpPr>
          <p:cNvPr id="7" name="Shape 5"/>
          <p:cNvSpPr/>
          <p:nvPr/>
        </p:nvSpPr>
        <p:spPr>
          <a:xfrm>
            <a:off x="6278728" y="1417320"/>
            <a:ext cx="5364328" cy="2377440"/>
          </a:xfrm>
          <a:prstGeom prst="roundRect">
            <a:avLst>
              <a:gd name="adj" fmla="val 3462"/>
            </a:avLst>
          </a:prstGeom>
          <a:solidFill>
            <a:srgbClr val="FFF8E6"/>
          </a:solidFill>
          <a:ln/>
          <a:effectLst>
            <a:outerShdw sx="100000" sy="100000" kx="0" ky="0" algn="bl" rotWithShape="0" blurRad="76200" dist="25400" dir="5400000">
              <a:srgbClr val="1A3A5C">
                <a:alpha val="12000"/>
              </a:srgbClr>
            </a:outerShdw>
          </a:effectLst>
        </p:spPr>
      </p:sp>
      <p:sp>
        <p:nvSpPr>
          <p:cNvPr id="8" name="Text 6"/>
          <p:cNvSpPr/>
          <p:nvPr/>
        </p:nvSpPr>
        <p:spPr>
          <a:xfrm>
            <a:off x="6479896" y="1545336"/>
            <a:ext cx="4961992" cy="329184"/>
          </a:xfrm>
          <a:prstGeom prst="rect">
            <a:avLst/>
          </a:prstGeom>
          <a:noFill/>
          <a:ln/>
        </p:spPr>
        <p:txBody>
          <a:bodyPr wrap="square" lIns="0" tIns="0" rIns="0" bIns="0" rtlCol="0" anchor="ctr"/>
          <a:lstStyle/>
          <a:p>
            <a:pPr indent="0" marL="0">
              <a:buNone/>
            </a:pPr>
            <a:r>
              <a:rPr lang="en-US" sz="1450" b="1" dirty="0">
                <a:solidFill>
                  <a:srgbClr val="C8840A"/>
                </a:solidFill>
                <a:latin typeface="Calibri" pitchFamily="34" charset="0"/>
                <a:ea typeface="Calibri" pitchFamily="34" charset="-122"/>
                <a:cs typeface="Calibri" pitchFamily="34" charset="-120"/>
              </a:rPr>
              <a:t>Joint types</a:t>
            </a:r>
            <a:endParaRPr lang="en-US" sz="1450" dirty="0"/>
          </a:p>
        </p:txBody>
      </p:sp>
      <p:sp>
        <p:nvSpPr>
          <p:cNvPr id="9" name="Text 7"/>
          <p:cNvSpPr/>
          <p:nvPr/>
        </p:nvSpPr>
        <p:spPr>
          <a:xfrm>
            <a:off x="6479896" y="1929384"/>
            <a:ext cx="4961992" cy="1755648"/>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Revolute joint — one link rotates relative to the other (single axis).</a:t>
            </a:r>
            <a:endParaRPr lang="en-US" sz="1300" dirty="0"/>
          </a:p>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Prismatic joint — one link slides along the other (single axis).</a:t>
            </a:r>
            <a:endParaRPr lang="en-US" sz="1300" dirty="0"/>
          </a:p>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Spherical / cylindrical / planar — multi-axis joints for richer motion.</a:t>
            </a:r>
            <a:endParaRPr lang="en-US" sz="1300" dirty="0"/>
          </a:p>
        </p:txBody>
      </p:sp>
      <p:sp>
        <p:nvSpPr>
          <p:cNvPr id="10" name="Shape 8"/>
          <p:cNvSpPr/>
          <p:nvPr/>
        </p:nvSpPr>
        <p:spPr>
          <a:xfrm>
            <a:off x="548640" y="4069080"/>
            <a:ext cx="11094415" cy="2148840"/>
          </a:xfrm>
          <a:prstGeom prst="rect">
            <a:avLst/>
          </a:prstGeom>
          <a:solidFill>
            <a:srgbClr val="F4F7FB"/>
          </a:solidFill>
          <a:ln w="15875">
            <a:solidFill>
              <a:srgbClr val="D7DEE8"/>
            </a:solidFill>
            <a:prstDash val="solid"/>
          </a:ln>
        </p:spPr>
      </p:sp>
      <p:sp>
        <p:nvSpPr>
          <p:cNvPr id="11" name="Shape 9"/>
          <p:cNvSpPr/>
          <p:nvPr/>
        </p:nvSpPr>
        <p:spPr>
          <a:xfrm>
            <a:off x="3093644" y="5804154"/>
            <a:ext cx="457200" cy="182880"/>
          </a:xfrm>
          <a:prstGeom prst="rect">
            <a:avLst/>
          </a:prstGeom>
          <a:solidFill>
            <a:srgbClr val="1A3A5C"/>
          </a:solidFill>
          <a:ln w="15875">
            <a:solidFill>
              <a:srgbClr val="1A3A5C"/>
            </a:solidFill>
            <a:prstDash val="solid"/>
          </a:ln>
        </p:spPr>
      </p:sp>
      <p:sp>
        <p:nvSpPr>
          <p:cNvPr id="12" name="Text 10"/>
          <p:cNvSpPr/>
          <p:nvPr/>
        </p:nvSpPr>
        <p:spPr>
          <a:xfrm>
            <a:off x="3093644" y="5804154"/>
            <a:ext cx="457200" cy="182880"/>
          </a:xfrm>
          <a:prstGeom prst="rect">
            <a:avLst/>
          </a:prstGeom>
          <a:noFill/>
          <a:ln/>
        </p:spPr>
        <p:txBody>
          <a:bodyPr wrap="square" lIns="25400" tIns="25400" rIns="25400" bIns="2540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base</a:t>
            </a:r>
            <a:endParaRPr lang="en-US" sz="800" dirty="0"/>
          </a:p>
        </p:txBody>
      </p:sp>
      <p:sp>
        <p:nvSpPr>
          <p:cNvPr id="13" name="Shape 11"/>
          <p:cNvSpPr/>
          <p:nvPr/>
        </p:nvSpPr>
        <p:spPr>
          <a:xfrm flipV="1">
            <a:off x="3322244" y="5036058"/>
            <a:ext cx="3106436" cy="859536"/>
          </a:xfrm>
          <a:prstGeom prst="line">
            <a:avLst/>
          </a:prstGeom>
          <a:noFill/>
          <a:ln w="50800">
            <a:solidFill>
              <a:srgbClr val="4A6FA5"/>
            </a:solidFill>
            <a:prstDash val="solid"/>
            <a:headEnd type="none"/>
            <a:tailEnd type="triangle"/>
          </a:ln>
        </p:spPr>
      </p:sp>
      <p:sp>
        <p:nvSpPr>
          <p:cNvPr id="14" name="Shape 12"/>
          <p:cNvSpPr/>
          <p:nvPr/>
        </p:nvSpPr>
        <p:spPr>
          <a:xfrm flipV="1">
            <a:off x="6428680" y="4928616"/>
            <a:ext cx="3328325" cy="107442"/>
          </a:xfrm>
          <a:prstGeom prst="line">
            <a:avLst/>
          </a:prstGeom>
          <a:noFill/>
          <a:ln w="50800">
            <a:solidFill>
              <a:srgbClr val="C8840A"/>
            </a:solidFill>
            <a:prstDash val="solid"/>
            <a:headEnd type="none"/>
            <a:tailEnd type="triangle"/>
          </a:ln>
        </p:spPr>
      </p:sp>
      <p:sp>
        <p:nvSpPr>
          <p:cNvPr id="15" name="Shape 13"/>
          <p:cNvSpPr/>
          <p:nvPr/>
        </p:nvSpPr>
        <p:spPr>
          <a:xfrm>
            <a:off x="3258236" y="5831586"/>
            <a:ext cx="128016" cy="128016"/>
          </a:xfrm>
          <a:prstGeom prst="ellipse">
            <a:avLst/>
          </a:prstGeom>
          <a:solidFill>
            <a:srgbClr val="1A3A5C"/>
          </a:solidFill>
          <a:ln/>
        </p:spPr>
      </p:sp>
      <p:sp>
        <p:nvSpPr>
          <p:cNvPr id="16" name="Shape 14"/>
          <p:cNvSpPr/>
          <p:nvPr/>
        </p:nvSpPr>
        <p:spPr>
          <a:xfrm>
            <a:off x="6364672" y="4972050"/>
            <a:ext cx="128016" cy="128016"/>
          </a:xfrm>
          <a:prstGeom prst="ellipse">
            <a:avLst/>
          </a:prstGeom>
          <a:solidFill>
            <a:srgbClr val="1A3A5C"/>
          </a:solidFill>
          <a:ln/>
        </p:spPr>
      </p:sp>
      <p:sp>
        <p:nvSpPr>
          <p:cNvPr id="17" name="Shape 15"/>
          <p:cNvSpPr/>
          <p:nvPr/>
        </p:nvSpPr>
        <p:spPr>
          <a:xfrm>
            <a:off x="9702141" y="4873752"/>
            <a:ext cx="109728" cy="109728"/>
          </a:xfrm>
          <a:prstGeom prst="ellipse">
            <a:avLst/>
          </a:prstGeom>
          <a:solidFill>
            <a:srgbClr val="E8960C"/>
          </a:solidFill>
          <a:ln/>
        </p:spPr>
      </p:sp>
      <p:sp>
        <p:nvSpPr>
          <p:cNvPr id="18" name="Text 16"/>
          <p:cNvSpPr/>
          <p:nvPr/>
        </p:nvSpPr>
        <p:spPr>
          <a:xfrm>
            <a:off x="2865044" y="5968746"/>
            <a:ext cx="1097280" cy="274320"/>
          </a:xfrm>
          <a:prstGeom prst="rect">
            <a:avLst/>
          </a:prstGeom>
          <a:noFill/>
          <a:ln/>
        </p:spPr>
        <p:txBody>
          <a:bodyPr wrap="square" lIns="0" tIns="0" rIns="0" bIns="0" rtlCol="0" anchor="t"/>
          <a:lstStyle/>
          <a:p>
            <a:pPr algn="l" indent="0" marL="0">
              <a:buNone/>
            </a:pPr>
            <a:r>
              <a:rPr lang="en-US" sz="1000" b="1" dirty="0">
                <a:solidFill>
                  <a:srgbClr val="4A6FA5"/>
                </a:solidFill>
                <a:latin typeface="Calibri" pitchFamily="34" charset="0"/>
                <a:ea typeface="Calibri" pitchFamily="34" charset="-122"/>
                <a:cs typeface="Calibri" pitchFamily="34" charset="-120"/>
              </a:rPr>
              <a:t>θshoulder</a:t>
            </a:r>
            <a:endParaRPr lang="en-US" sz="1000" dirty="0"/>
          </a:p>
        </p:txBody>
      </p:sp>
      <p:sp>
        <p:nvSpPr>
          <p:cNvPr id="19" name="Text 17"/>
          <p:cNvSpPr/>
          <p:nvPr/>
        </p:nvSpPr>
        <p:spPr>
          <a:xfrm>
            <a:off x="6474400" y="4743450"/>
            <a:ext cx="1005840" cy="274320"/>
          </a:xfrm>
          <a:prstGeom prst="rect">
            <a:avLst/>
          </a:prstGeom>
          <a:noFill/>
          <a:ln/>
        </p:spPr>
        <p:txBody>
          <a:bodyPr wrap="square" lIns="0" tIns="0" rIns="0" bIns="0" rtlCol="0" anchor="t"/>
          <a:lstStyle/>
          <a:p>
            <a:pPr algn="l" indent="0" marL="0">
              <a:buNone/>
            </a:pPr>
            <a:r>
              <a:rPr lang="en-US" sz="1000" b="1" dirty="0">
                <a:solidFill>
                  <a:srgbClr val="E8960C"/>
                </a:solidFill>
                <a:latin typeface="Calibri" pitchFamily="34" charset="0"/>
                <a:ea typeface="Calibri" pitchFamily="34" charset="-122"/>
                <a:cs typeface="Calibri" pitchFamily="34" charset="-120"/>
              </a:rPr>
              <a:t>θelbow</a:t>
            </a:r>
            <a:endParaRPr lang="en-US" sz="1000" dirty="0"/>
          </a:p>
        </p:txBody>
      </p:sp>
      <p:sp>
        <p:nvSpPr>
          <p:cNvPr id="20" name="Text 18"/>
          <p:cNvSpPr/>
          <p:nvPr/>
        </p:nvSpPr>
        <p:spPr>
          <a:xfrm>
            <a:off x="9848445" y="4818888"/>
            <a:ext cx="1188720" cy="274320"/>
          </a:xfrm>
          <a:prstGeom prst="rect">
            <a:avLst/>
          </a:prstGeom>
          <a:noFill/>
          <a:ln/>
        </p:spPr>
        <p:txBody>
          <a:bodyPr wrap="square" lIns="0" tIns="0" rIns="0" bIns="0" rtlCol="0" anchor="t"/>
          <a:lstStyle/>
          <a:p>
            <a:pPr algn="l" indent="0" marL="0">
              <a:buNone/>
            </a:pPr>
            <a:r>
              <a:rPr lang="en-US" sz="950" i="1" dirty="0">
                <a:solidFill>
                  <a:srgbClr val="51606F"/>
                </a:solidFill>
                <a:latin typeface="Calibri" pitchFamily="34" charset="0"/>
                <a:ea typeface="Calibri" pitchFamily="34" charset="-122"/>
                <a:cs typeface="Calibri" pitchFamily="34" charset="-120"/>
              </a:rPr>
              <a:t>end effector</a:t>
            </a:r>
            <a:endParaRPr lang="en-US" sz="950" dirty="0"/>
          </a:p>
        </p:txBody>
      </p:sp>
      <p:sp>
        <p:nvSpPr>
          <p:cNvPr id="21" name="Text 19"/>
          <p:cNvSpPr/>
          <p:nvPr/>
        </p:nvSpPr>
        <p:spPr>
          <a:xfrm>
            <a:off x="685800" y="4160520"/>
            <a:ext cx="10820095" cy="274320"/>
          </a:xfrm>
          <a:prstGeom prst="rect">
            <a:avLst/>
          </a:prstGeom>
          <a:noFill/>
          <a:ln/>
        </p:spPr>
        <p:txBody>
          <a:bodyPr wrap="square" lIns="0" tIns="0" rIns="0" bIns="0" rtlCol="0" anchor="t"/>
          <a:lstStyle/>
          <a:p>
            <a:pPr algn="l" indent="0" marL="0">
              <a:buNone/>
            </a:pPr>
            <a:r>
              <a:rPr lang="en-US" sz="1150" b="1" dirty="0">
                <a:solidFill>
                  <a:srgbClr val="1A3A5C"/>
                </a:solidFill>
                <a:latin typeface="Calibri" pitchFamily="34" charset="0"/>
                <a:ea typeface="Calibri" pitchFamily="34" charset="-122"/>
                <a:cs typeface="Calibri" pitchFamily="34" charset="-120"/>
              </a:rPr>
              <a:t>C-space = (θshoulder, θelbow)  →  2 degrees of freedom</a:t>
            </a:r>
            <a:endParaRPr lang="en-US" sz="1150" dirty="0"/>
          </a:p>
        </p:txBody>
      </p:sp>
      <p:sp>
        <p:nvSpPr>
          <p:cNvPr id="22" name="Text 20"/>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23" name="Text 21"/>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26.2 Robot Hardware</a:t>
            </a:r>
            <a:endParaRPr lang="en-US" sz="900" dirty="0"/>
          </a:p>
        </p:txBody>
      </p:sp>
      <p:sp>
        <p:nvSpPr>
          <p:cNvPr id="24" name="Text 22"/>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26.2 ROBOT HARDWARE — PRODUCING MOTION</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Grippers: The Simplicity–Flexibility Trade-off</a:t>
            </a:r>
            <a:endParaRPr lang="en-US" sz="27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77440"/>
                <a:gridCol w="1554480"/>
                <a:gridCol w="7162495"/>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Gripper</a:t>
                      </a:r>
                      <a:endParaRPr lang="en-US" sz="13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Actuators</a:t>
                      </a:r>
                      <a:endParaRPr lang="en-US" sz="13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Trade-off</a:t>
                      </a:r>
                      <a:endParaRPr lang="en-US" sz="13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Parallel jaw</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Loved and hated for its simplicity — two fingers, one motor, grasps a huge range of objects imperfectly</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Three-fingered</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2–3</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A modest step up in dexterity while staying simple to control</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Humanoid hand (e.g., Shadow Dexterous Hand)</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Enables in-hand manipulation (e.g., re-orienting a phone) — but learning to control it is far harder</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297680"/>
            <a:ext cx="11094415" cy="1828800"/>
          </a:xfrm>
          <a:prstGeom prst="roundRect">
            <a:avLst>
              <a:gd name="adj" fmla="val 4000"/>
            </a:avLst>
          </a:prstGeom>
          <a:solidFill>
            <a:srgbClr val="FFF8E6"/>
          </a:solidFill>
          <a:ln w="12700">
            <a:solidFill>
              <a:srgbClr val="C8840A"/>
            </a:solidFill>
            <a:prstDash val="solid"/>
          </a:ln>
        </p:spPr>
      </p:sp>
      <p:sp>
        <p:nvSpPr>
          <p:cNvPr id="6" name="Text 3"/>
          <p:cNvSpPr/>
          <p:nvPr/>
        </p:nvSpPr>
        <p:spPr>
          <a:xfrm>
            <a:off x="749808" y="4407408"/>
            <a:ext cx="10692079" cy="274320"/>
          </a:xfrm>
          <a:prstGeom prst="rect">
            <a:avLst/>
          </a:prstGeom>
          <a:noFill/>
          <a:ln/>
        </p:spPr>
        <p:txBody>
          <a:bodyPr wrap="square" lIns="0" tIns="0" rIns="0" bIns="0" rtlCol="0" anchor="ctr"/>
          <a:lstStyle/>
          <a:p>
            <a:pPr indent="0" marL="0">
              <a:buNone/>
            </a:pPr>
            <a:r>
              <a:rPr lang="en-US" sz="1250" b="1" spc="50" kern="0" dirty="0">
                <a:solidFill>
                  <a:srgbClr val="C8840A"/>
                </a:solidFill>
                <a:latin typeface="Calibri" pitchFamily="34" charset="0"/>
                <a:ea typeface="Calibri" pitchFamily="34" charset="-122"/>
                <a:cs typeface="Calibri" pitchFamily="34" charset="-120"/>
              </a:rPr>
              <a:t>REAL-WORLD ANCHOR</a:t>
            </a:r>
            <a:endParaRPr lang="en-US" sz="1250" dirty="0"/>
          </a:p>
        </p:txBody>
      </p:sp>
      <p:sp>
        <p:nvSpPr>
          <p:cNvPr id="7" name="Text 4"/>
          <p:cNvSpPr/>
          <p:nvPr/>
        </p:nvSpPr>
        <p:spPr>
          <a:xfrm>
            <a:off x="749808" y="4718304"/>
            <a:ext cx="10692079" cy="131673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This exact trade-off shows up across industry: a Kinova wheelchair arm typically ships with a simple 2-finger gripper for reliability near people, while OpenAI's 2018 dexterous-hand project (Section 26.7) used a 24-actuator Shadow Hand specifically to study how much harder high-DOF manipulation is to learn.</a:t>
            </a:r>
            <a:endParaRPr lang="en-US" sz="1300" dirty="0"/>
          </a:p>
        </p:txBody>
      </p:sp>
      <p:sp>
        <p:nvSpPr>
          <p:cNvPr id="8" name="Text 5"/>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9" name="Text 6"/>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26.2 Robot Hardware</a:t>
            </a:r>
            <a:endParaRPr lang="en-US" sz="900" dirty="0"/>
          </a:p>
        </p:txBody>
      </p:sp>
      <p:sp>
        <p:nvSpPr>
          <p:cNvPr id="10" name="Text 7"/>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26.2 ROBOT HARDWARE — WRAP-UP</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Meet Wren: Northgate Hospital's Delivery Robot</a:t>
            </a:r>
            <a:endParaRPr lang="en-US" sz="2700" dirty="0"/>
          </a:p>
        </p:txBody>
      </p:sp>
      <p:sp>
        <p:nvSpPr>
          <p:cNvPr id="4" name="Shape 2"/>
          <p:cNvSpPr/>
          <p:nvPr/>
        </p:nvSpPr>
        <p:spPr>
          <a:xfrm>
            <a:off x="548640" y="1417320"/>
            <a:ext cx="11094415" cy="4206240"/>
          </a:xfrm>
          <a:prstGeom prst="roundRect">
            <a:avLst>
              <a:gd name="adj" fmla="val 1957"/>
            </a:avLst>
          </a:prstGeom>
          <a:solidFill>
            <a:srgbClr val="EEF8EE"/>
          </a:solidFill>
          <a:ln/>
          <a:effectLst>
            <a:outerShdw sx="100000" sy="100000" kx="0" ky="0" algn="bl" rotWithShape="0" blurRad="76200" dist="25400" dir="5400000">
              <a:srgbClr val="1A3A5C">
                <a:alpha val="12000"/>
              </a:srgbClr>
            </a:outerShdw>
          </a:effectLst>
        </p:spPr>
      </p:sp>
      <p:sp>
        <p:nvSpPr>
          <p:cNvPr id="5" name="Text 3"/>
          <p:cNvSpPr/>
          <p:nvPr/>
        </p:nvSpPr>
        <p:spPr>
          <a:xfrm>
            <a:off x="749808" y="1545336"/>
            <a:ext cx="10692079" cy="329184"/>
          </a:xfrm>
          <a:prstGeom prst="rect">
            <a:avLst/>
          </a:prstGeom>
          <a:noFill/>
          <a:ln/>
        </p:spPr>
        <p:txBody>
          <a:bodyPr wrap="square" lIns="0" tIns="0" rIns="0" bIns="0" rtlCol="0" anchor="ctr"/>
          <a:lstStyle/>
          <a:p>
            <a:pPr indent="0" marL="0">
              <a:buNone/>
            </a:pPr>
            <a:r>
              <a:rPr lang="en-US" sz="1450" b="1" dirty="0">
                <a:solidFill>
                  <a:srgbClr val="1B6B3A"/>
                </a:solidFill>
                <a:latin typeface="Calibri" pitchFamily="34" charset="0"/>
                <a:ea typeface="Calibri" pitchFamily="34" charset="-122"/>
                <a:cs typeface="Calibri" pitchFamily="34" charset="-120"/>
              </a:rPr>
              <a:t>Wren's hardware loadout</a:t>
            </a:r>
            <a:endParaRPr lang="en-US" sz="1450" dirty="0"/>
          </a:p>
        </p:txBody>
      </p:sp>
      <p:sp>
        <p:nvSpPr>
          <p:cNvPr id="6" name="Text 4"/>
          <p:cNvSpPr/>
          <p:nvPr/>
        </p:nvSpPr>
        <p:spPr>
          <a:xfrm>
            <a:off x="749808" y="1929384"/>
            <a:ext cx="10692079" cy="358444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37"/>
                </a:solidFill>
                <a:latin typeface="Calibri" pitchFamily="34" charset="0"/>
                <a:ea typeface="Calibri" pitchFamily="34" charset="-122"/>
                <a:cs typeface="Calibri" pitchFamily="34" charset="-120"/>
              </a:rPr>
              <a:t>Body: a wheeled mobile robot, indoor-only, delivering medication trays and supplies between the pharmacy and patient floors.</a:t>
            </a:r>
            <a:endParaRPr lang="en-US" sz="1400" dirty="0"/>
          </a:p>
          <a:p>
            <a:pPr marL="177800" indent="-177800">
              <a:spcAft>
                <a:spcPts val="500"/>
              </a:spcAft>
              <a:buSzPct val="100000"/>
              <a:buChar char="●"/>
            </a:pPr>
            <a:r>
              <a:rPr lang="en-US" sz="1400" dirty="0">
                <a:solidFill>
                  <a:srgbClr val="1F2A37"/>
                </a:solidFill>
                <a:latin typeface="Calibri" pitchFamily="34" charset="0"/>
                <a:ea typeface="Calibri" pitchFamily="34" charset="-122"/>
                <a:cs typeface="Calibri" pitchFamily="34" charset="-120"/>
              </a:rPr>
              <a:t>Sensing: scanning lidar + an RGB camera for perception; Wi-Fi beacon fingerprinting for location (no GPS indoors); wheel shaft decoders for odometry; bump-panel tactile sensors as a last-resort safety layer.</a:t>
            </a:r>
            <a:endParaRPr lang="en-US" sz="1400" dirty="0"/>
          </a:p>
          <a:p>
            <a:pPr marL="177800" indent="-177800">
              <a:spcAft>
                <a:spcPts val="500"/>
              </a:spcAft>
              <a:buSzPct val="100000"/>
              <a:buChar char="●"/>
            </a:pPr>
            <a:r>
              <a:rPr lang="en-US" sz="1400" dirty="0">
                <a:solidFill>
                  <a:srgbClr val="1F2A37"/>
                </a:solidFill>
                <a:latin typeface="Calibri" pitchFamily="34" charset="0"/>
                <a:ea typeface="Calibri" pitchFamily="34" charset="-122"/>
                <a:cs typeface="Calibri" pitchFamily="34" charset="-120"/>
              </a:rPr>
              <a:t>Actuation: electric motors driving differential-drive wheels; a small parallel-jaw gripper for opening supply-cabinet doors.</a:t>
            </a:r>
            <a:endParaRPr lang="en-US" sz="1400" dirty="0"/>
          </a:p>
          <a:p>
            <a:pPr marL="177800" indent="-177800">
              <a:spcAft>
                <a:spcPts val="500"/>
              </a:spcAft>
              <a:buSzPct val="100000"/>
              <a:buChar char="●"/>
            </a:pPr>
            <a:r>
              <a:rPr lang="en-US" sz="1400" b="1" dirty="0">
                <a:solidFill>
                  <a:srgbClr val="1A3A5C"/>
                </a:solidFill>
                <a:latin typeface="Calibri" pitchFamily="34" charset="0"/>
                <a:ea typeface="Calibri" pitchFamily="34" charset="-122"/>
                <a:cs typeface="Calibri" pitchFamily="34" charset="-120"/>
              </a:rPr>
              <a:t>Wren's job today: deliver a medication tray from the pharmacy to Maria Santos's room, coordinating with Nurse Priya Mehta in the hallway along the way.</a:t>
            </a:r>
            <a:endParaRPr lang="en-US" sz="1400" dirty="0"/>
          </a:p>
        </p:txBody>
      </p:sp>
      <p:sp>
        <p:nvSpPr>
          <p:cNvPr id="7" name="Text 5"/>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8" name="Text 6"/>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26.2 Robot Hardware</a:t>
            </a:r>
            <a:endParaRPr lang="en-US" sz="900" dirty="0"/>
          </a:p>
        </p:txBody>
      </p:sp>
      <p:sp>
        <p:nvSpPr>
          <p:cNvPr id="9" name="Text 7"/>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3A5C"/>
          </a:solidFill>
          <a:ln/>
        </p:spPr>
      </p:sp>
      <p:sp>
        <p:nvSpPr>
          <p:cNvPr id="3" name="Shape 1"/>
          <p:cNvSpPr/>
          <p:nvPr/>
        </p:nvSpPr>
        <p:spPr>
          <a:xfrm>
            <a:off x="9692640" y="2377440"/>
            <a:ext cx="5120640" cy="5120640"/>
          </a:xfrm>
          <a:prstGeom prst="ellipse">
            <a:avLst/>
          </a:prstGeom>
          <a:solidFill>
            <a:srgbClr val="132B45"/>
          </a:solidFill>
          <a:ln/>
        </p:spPr>
      </p:sp>
      <p:sp>
        <p:nvSpPr>
          <p:cNvPr id="4" name="Text 2"/>
          <p:cNvSpPr/>
          <p:nvPr/>
        </p:nvSpPr>
        <p:spPr>
          <a:xfrm>
            <a:off x="822960" y="1463040"/>
            <a:ext cx="3657600" cy="1554480"/>
          </a:xfrm>
          <a:prstGeom prst="rect">
            <a:avLst/>
          </a:prstGeom>
          <a:noFill/>
          <a:ln/>
        </p:spPr>
        <p:txBody>
          <a:bodyPr wrap="square" lIns="0" tIns="0" rIns="0" bIns="0" rtlCol="0" anchor="ctr"/>
          <a:lstStyle/>
          <a:p>
            <a:pPr indent="0" marL="0">
              <a:buNone/>
            </a:pPr>
            <a:r>
              <a:rPr lang="en-US" sz="8400" b="1" dirty="0">
                <a:solidFill>
                  <a:srgbClr val="E8960C"/>
                </a:solidFill>
                <a:latin typeface="Calibri" pitchFamily="34" charset="0"/>
                <a:ea typeface="Calibri" pitchFamily="34" charset="-122"/>
                <a:cs typeface="Calibri" pitchFamily="34" charset="-120"/>
              </a:rPr>
              <a:t>26.3</a:t>
            </a:r>
            <a:endParaRPr lang="en-US" sz="8400" dirty="0"/>
          </a:p>
        </p:txBody>
      </p:sp>
      <p:sp>
        <p:nvSpPr>
          <p:cNvPr id="5" name="Text 3"/>
          <p:cNvSpPr/>
          <p:nvPr/>
        </p:nvSpPr>
        <p:spPr>
          <a:xfrm>
            <a:off x="822960" y="2971800"/>
            <a:ext cx="9875520" cy="105156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What Kind of Problem Is Robotics Solving?</a:t>
            </a:r>
            <a:endParaRPr lang="en-US" sz="3800" dirty="0"/>
          </a:p>
        </p:txBody>
      </p:sp>
      <p:sp>
        <p:nvSpPr>
          <p:cNvPr id="6" name="Text 4"/>
          <p:cNvSpPr/>
          <p:nvPr/>
        </p:nvSpPr>
        <p:spPr>
          <a:xfrm>
            <a:off x="822960" y="3977640"/>
            <a:ext cx="8778240" cy="82296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Before writing any code, pick the right computational framework.</a:t>
            </a:r>
            <a:endParaRPr lang="en-US" sz="1600" dirty="0"/>
          </a:p>
        </p:txBody>
      </p:sp>
      <p:sp>
        <p:nvSpPr>
          <p:cNvPr id="7" name="Shape 5"/>
          <p:cNvSpPr/>
          <p:nvPr/>
        </p:nvSpPr>
        <p:spPr>
          <a:xfrm>
            <a:off x="868680" y="4956048"/>
            <a:ext cx="82296" cy="82296"/>
          </a:xfrm>
          <a:prstGeom prst="ellipse">
            <a:avLst/>
          </a:prstGeom>
          <a:solidFill>
            <a:srgbClr val="E8960C"/>
          </a:solidFill>
          <a:ln/>
        </p:spPr>
      </p:sp>
      <p:sp>
        <p:nvSpPr>
          <p:cNvPr id="8" name="Text 6"/>
          <p:cNvSpPr/>
          <p:nvPr/>
        </p:nvSpPr>
        <p:spPr>
          <a:xfrm>
            <a:off x="1097280" y="4837176"/>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MDP, POMDP, or game — which fits?</a:t>
            </a:r>
            <a:endParaRPr lang="en-US" sz="1350" dirty="0"/>
          </a:p>
        </p:txBody>
      </p:sp>
      <p:sp>
        <p:nvSpPr>
          <p:cNvPr id="9" name="Shape 7"/>
          <p:cNvSpPr/>
          <p:nvPr/>
        </p:nvSpPr>
        <p:spPr>
          <a:xfrm>
            <a:off x="868680" y="5285232"/>
            <a:ext cx="82296" cy="82296"/>
          </a:xfrm>
          <a:prstGeom prst="ellipse">
            <a:avLst/>
          </a:prstGeom>
          <a:solidFill>
            <a:srgbClr val="E8960C"/>
          </a:solidFill>
          <a:ln/>
        </p:spPr>
      </p:sp>
      <p:sp>
        <p:nvSpPr>
          <p:cNvPr id="10" name="Text 8"/>
          <p:cNvSpPr/>
          <p:nvPr/>
        </p:nvSpPr>
        <p:spPr>
          <a:xfrm>
            <a:off x="1097280" y="5166360"/>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The reward function usually belongs to a human, not the robot</a:t>
            </a:r>
            <a:endParaRPr lang="en-US" sz="1350" dirty="0"/>
          </a:p>
        </p:txBody>
      </p:sp>
      <p:sp>
        <p:nvSpPr>
          <p:cNvPr id="11" name="Shape 9"/>
          <p:cNvSpPr/>
          <p:nvPr/>
        </p:nvSpPr>
        <p:spPr>
          <a:xfrm>
            <a:off x="868680" y="5614416"/>
            <a:ext cx="82296" cy="82296"/>
          </a:xfrm>
          <a:prstGeom prst="ellipse">
            <a:avLst/>
          </a:prstGeom>
          <a:solidFill>
            <a:srgbClr val="E8960C"/>
          </a:solidFill>
          <a:ln/>
        </p:spPr>
      </p:sp>
      <p:sp>
        <p:nvSpPr>
          <p:cNvPr id="12" name="Text 10"/>
          <p:cNvSpPr/>
          <p:nvPr/>
        </p:nvSpPr>
        <p:spPr>
          <a:xfrm>
            <a:off x="1097280" y="5495544"/>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The task/motion/control hierarchy that makes the problem tractable</a:t>
            </a:r>
            <a:endParaRPr lang="en-US" sz="1350" dirty="0"/>
          </a:p>
        </p:txBody>
      </p:sp>
      <p:sp>
        <p:nvSpPr>
          <p:cNvPr id="13" name="Text 11"/>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4" name="Text 12"/>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What Kind of Problem Is Robotics Solving?</a:t>
            </a:r>
            <a:endParaRPr lang="en-US" sz="900" dirty="0"/>
          </a:p>
        </p:txBody>
      </p:sp>
      <p:sp>
        <p:nvSpPr>
          <p:cNvPr id="15" name="Text 13"/>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26.3 FRAMING THE PROBLEM</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Choosing a Computational Framework</a:t>
            </a:r>
            <a:endParaRPr lang="en-US" sz="2700" dirty="0"/>
          </a:p>
        </p:txBody>
      </p:sp>
      <p:sp>
        <p:nvSpPr>
          <p:cNvPr id="4" name="Shape 2"/>
          <p:cNvSpPr/>
          <p:nvPr/>
        </p:nvSpPr>
        <p:spPr>
          <a:xfrm>
            <a:off x="548640" y="1508760"/>
            <a:ext cx="2567864" cy="1530706"/>
          </a:xfrm>
          <a:prstGeom prst="roundRect">
            <a:avLst>
              <a:gd name="adj" fmla="val 3584"/>
            </a:avLst>
          </a:prstGeom>
          <a:solidFill>
            <a:srgbClr val="F4F7FB"/>
          </a:solidFill>
          <a:ln w="15875">
            <a:solidFill>
              <a:srgbClr val="51606F"/>
            </a:solidFill>
            <a:prstDash val="solid"/>
          </a:ln>
        </p:spPr>
      </p:sp>
      <p:sp>
        <p:nvSpPr>
          <p:cNvPr id="5" name="Text 3"/>
          <p:cNvSpPr/>
          <p:nvPr/>
        </p:nvSpPr>
        <p:spPr>
          <a:xfrm>
            <a:off x="640080" y="1600200"/>
            <a:ext cx="2384984" cy="457200"/>
          </a:xfrm>
          <a:prstGeom prst="rect">
            <a:avLst/>
          </a:prstGeom>
          <a:noFill/>
          <a:ln/>
        </p:spPr>
        <p:txBody>
          <a:bodyPr wrap="square" lIns="0" tIns="0" rIns="0" bIns="0" rtlCol="0" anchor="t"/>
          <a:lstStyle/>
          <a:p>
            <a:pPr algn="ctr" indent="0" marL="0">
              <a:buNone/>
            </a:pPr>
            <a:r>
              <a:rPr lang="en-US" sz="1400" b="1" dirty="0">
                <a:solidFill>
                  <a:srgbClr val="1A3A5C"/>
                </a:solidFill>
                <a:latin typeface="Calibri" pitchFamily="34" charset="0"/>
                <a:ea typeface="Calibri" pitchFamily="34" charset="-122"/>
                <a:cs typeface="Calibri" pitchFamily="34" charset="-120"/>
              </a:rPr>
              <a:t>Deterministic</a:t>
            </a:r>
            <a:endParaRPr lang="en-US" sz="1400" dirty="0"/>
          </a:p>
          <a:p>
            <a:pPr algn="ctr" indent="0" marL="0">
              <a:buNone/>
            </a:pPr>
            <a:r>
              <a:rPr lang="en-US" sz="1400" b="1" dirty="0">
                <a:solidFill>
                  <a:srgbClr val="1A3A5C"/>
                </a:solidFill>
                <a:latin typeface="Calibri" pitchFamily="34" charset="0"/>
                <a:ea typeface="Calibri" pitchFamily="34" charset="-122"/>
                <a:cs typeface="Calibri" pitchFamily="34" charset="-120"/>
              </a:rPr>
              <a:t>Search</a:t>
            </a:r>
            <a:endParaRPr lang="en-US" sz="1400" dirty="0"/>
          </a:p>
        </p:txBody>
      </p:sp>
      <p:sp>
        <p:nvSpPr>
          <p:cNvPr id="6" name="Text 4"/>
          <p:cNvSpPr/>
          <p:nvPr/>
        </p:nvSpPr>
        <p:spPr>
          <a:xfrm>
            <a:off x="640080" y="2984602"/>
            <a:ext cx="2384984" cy="888797"/>
          </a:xfrm>
          <a:prstGeom prst="rect">
            <a:avLst/>
          </a:prstGeom>
          <a:noFill/>
          <a:ln/>
        </p:spPr>
        <p:txBody>
          <a:bodyPr wrap="square" lIns="0" tIns="0" rIns="0" bIns="0" rtlCol="0" anchor="t"/>
          <a:lstStyle/>
          <a:p>
            <a:pPr algn="ctr" indent="0" marL="0">
              <a:buNone/>
            </a:pPr>
            <a:r>
              <a:rPr lang="en-US" sz="1050" dirty="0">
                <a:solidFill>
                  <a:srgbClr val="51606F"/>
                </a:solidFill>
                <a:latin typeface="Calibri" pitchFamily="34" charset="0"/>
                <a:ea typeface="Calibri" pitchFamily="34" charset="-122"/>
                <a:cs typeface="Calibri" pitchFamily="34" charset="-120"/>
              </a:rPr>
              <a:t>fully known,</a:t>
            </a:r>
            <a:endParaRPr lang="en-US" sz="1050" dirty="0"/>
          </a:p>
          <a:p>
            <a:pPr algn="ctr" indent="0" marL="0">
              <a:buNone/>
            </a:pPr>
            <a:r>
              <a:rPr lang="en-US" sz="1050" dirty="0">
                <a:solidFill>
                  <a:srgbClr val="51606F"/>
                </a:solidFill>
                <a:latin typeface="Calibri" pitchFamily="34" charset="0"/>
                <a:ea typeface="Calibri" pitchFamily="34" charset="-122"/>
                <a:cs typeface="Calibri" pitchFamily="34" charset="-120"/>
              </a:rPr>
              <a:t>no randomness</a:t>
            </a:r>
            <a:endParaRPr lang="en-US" sz="1050" dirty="0"/>
          </a:p>
        </p:txBody>
      </p:sp>
      <p:sp>
        <p:nvSpPr>
          <p:cNvPr id="7" name="Shape 5"/>
          <p:cNvSpPr/>
          <p:nvPr/>
        </p:nvSpPr>
        <p:spPr>
          <a:xfrm>
            <a:off x="3116504" y="2274113"/>
            <a:ext cx="274320" cy="914"/>
          </a:xfrm>
          <a:prstGeom prst="line">
            <a:avLst/>
          </a:prstGeom>
          <a:noFill/>
          <a:ln w="25400">
            <a:solidFill>
              <a:srgbClr val="4A6FA5"/>
            </a:solidFill>
            <a:prstDash val="solid"/>
            <a:headEnd type="none"/>
            <a:tailEnd type="triangle"/>
          </a:ln>
        </p:spPr>
      </p:sp>
      <p:sp>
        <p:nvSpPr>
          <p:cNvPr id="8" name="Shape 6"/>
          <p:cNvSpPr/>
          <p:nvPr/>
        </p:nvSpPr>
        <p:spPr>
          <a:xfrm>
            <a:off x="3390824" y="1508760"/>
            <a:ext cx="2567864" cy="1530706"/>
          </a:xfrm>
          <a:prstGeom prst="roundRect">
            <a:avLst>
              <a:gd name="adj" fmla="val 3584"/>
            </a:avLst>
          </a:prstGeom>
          <a:solidFill>
            <a:srgbClr val="EEF2FF"/>
          </a:solidFill>
          <a:ln w="15875">
            <a:solidFill>
              <a:srgbClr val="4A6FA5"/>
            </a:solidFill>
            <a:prstDash val="solid"/>
          </a:ln>
        </p:spPr>
      </p:sp>
      <p:sp>
        <p:nvSpPr>
          <p:cNvPr id="9" name="Text 7"/>
          <p:cNvSpPr/>
          <p:nvPr/>
        </p:nvSpPr>
        <p:spPr>
          <a:xfrm>
            <a:off x="3482264" y="1600200"/>
            <a:ext cx="2384984" cy="457200"/>
          </a:xfrm>
          <a:prstGeom prst="rect">
            <a:avLst/>
          </a:prstGeom>
          <a:noFill/>
          <a:ln/>
        </p:spPr>
        <p:txBody>
          <a:bodyPr wrap="square" lIns="0" tIns="0" rIns="0" bIns="0" rtlCol="0" anchor="t"/>
          <a:lstStyle/>
          <a:p>
            <a:pPr algn="ctr" indent="0" marL="0">
              <a:buNone/>
            </a:pPr>
            <a:r>
              <a:rPr lang="en-US" sz="1400" b="1" dirty="0">
                <a:solidFill>
                  <a:srgbClr val="1A3A5C"/>
                </a:solidFill>
                <a:latin typeface="Calibri" pitchFamily="34" charset="0"/>
                <a:ea typeface="Calibri" pitchFamily="34" charset="-122"/>
                <a:cs typeface="Calibri" pitchFamily="34" charset="-120"/>
              </a:rPr>
              <a:t>MDP</a:t>
            </a:r>
            <a:endParaRPr lang="en-US" sz="1400" dirty="0"/>
          </a:p>
        </p:txBody>
      </p:sp>
      <p:sp>
        <p:nvSpPr>
          <p:cNvPr id="10" name="Text 8"/>
          <p:cNvSpPr/>
          <p:nvPr/>
        </p:nvSpPr>
        <p:spPr>
          <a:xfrm>
            <a:off x="3482264" y="2984602"/>
            <a:ext cx="2384984" cy="888797"/>
          </a:xfrm>
          <a:prstGeom prst="rect">
            <a:avLst/>
          </a:prstGeom>
          <a:noFill/>
          <a:ln/>
        </p:spPr>
        <p:txBody>
          <a:bodyPr wrap="square" lIns="0" tIns="0" rIns="0" bIns="0" rtlCol="0" anchor="t"/>
          <a:lstStyle/>
          <a:p>
            <a:pPr algn="ctr" indent="0" marL="0">
              <a:buNone/>
            </a:pPr>
            <a:r>
              <a:rPr lang="en-US" sz="1050" dirty="0">
                <a:solidFill>
                  <a:srgbClr val="51606F"/>
                </a:solidFill>
                <a:latin typeface="Calibri" pitchFamily="34" charset="0"/>
                <a:ea typeface="Calibri" pitchFamily="34" charset="-122"/>
                <a:cs typeface="Calibri" pitchFamily="34" charset="-120"/>
              </a:rPr>
              <a:t>stochastic,</a:t>
            </a:r>
            <a:endParaRPr lang="en-US" sz="1050" dirty="0"/>
          </a:p>
          <a:p>
            <a:pPr algn="ctr" indent="0" marL="0">
              <a:buNone/>
            </a:pPr>
            <a:r>
              <a:rPr lang="en-US" sz="1050" dirty="0">
                <a:solidFill>
                  <a:srgbClr val="51606F"/>
                </a:solidFill>
                <a:latin typeface="Calibri" pitchFamily="34" charset="0"/>
                <a:ea typeface="Calibri" pitchFamily="34" charset="-122"/>
                <a:cs typeface="Calibri" pitchFamily="34" charset="-120"/>
              </a:rPr>
              <a:t>fully observable</a:t>
            </a:r>
            <a:endParaRPr lang="en-US" sz="1050" dirty="0"/>
          </a:p>
        </p:txBody>
      </p:sp>
      <p:sp>
        <p:nvSpPr>
          <p:cNvPr id="11" name="Shape 9"/>
          <p:cNvSpPr/>
          <p:nvPr/>
        </p:nvSpPr>
        <p:spPr>
          <a:xfrm>
            <a:off x="5958688" y="2274113"/>
            <a:ext cx="274320" cy="914"/>
          </a:xfrm>
          <a:prstGeom prst="line">
            <a:avLst/>
          </a:prstGeom>
          <a:noFill/>
          <a:ln w="25400">
            <a:solidFill>
              <a:srgbClr val="4A6FA5"/>
            </a:solidFill>
            <a:prstDash val="solid"/>
            <a:headEnd type="none"/>
            <a:tailEnd type="triangle"/>
          </a:ln>
        </p:spPr>
      </p:sp>
      <p:sp>
        <p:nvSpPr>
          <p:cNvPr id="12" name="Shape 10"/>
          <p:cNvSpPr/>
          <p:nvPr/>
        </p:nvSpPr>
        <p:spPr>
          <a:xfrm>
            <a:off x="6233008" y="1508760"/>
            <a:ext cx="2567864" cy="1530706"/>
          </a:xfrm>
          <a:prstGeom prst="roundRect">
            <a:avLst>
              <a:gd name="adj" fmla="val 3584"/>
            </a:avLst>
          </a:prstGeom>
          <a:solidFill>
            <a:srgbClr val="FFF8E6"/>
          </a:solidFill>
          <a:ln w="15875">
            <a:solidFill>
              <a:srgbClr val="C8840A"/>
            </a:solidFill>
            <a:prstDash val="solid"/>
          </a:ln>
        </p:spPr>
      </p:sp>
      <p:sp>
        <p:nvSpPr>
          <p:cNvPr id="13" name="Text 11"/>
          <p:cNvSpPr/>
          <p:nvPr/>
        </p:nvSpPr>
        <p:spPr>
          <a:xfrm>
            <a:off x="6324448" y="1600200"/>
            <a:ext cx="2384984" cy="457200"/>
          </a:xfrm>
          <a:prstGeom prst="rect">
            <a:avLst/>
          </a:prstGeom>
          <a:noFill/>
          <a:ln/>
        </p:spPr>
        <p:txBody>
          <a:bodyPr wrap="square" lIns="0" tIns="0" rIns="0" bIns="0" rtlCol="0" anchor="t"/>
          <a:lstStyle/>
          <a:p>
            <a:pPr algn="ctr" indent="0" marL="0">
              <a:buNone/>
            </a:pPr>
            <a:r>
              <a:rPr lang="en-US" sz="1400" b="1" dirty="0">
                <a:solidFill>
                  <a:srgbClr val="1A3A5C"/>
                </a:solidFill>
                <a:latin typeface="Calibri" pitchFamily="34" charset="0"/>
                <a:ea typeface="Calibri" pitchFamily="34" charset="-122"/>
                <a:cs typeface="Calibri" pitchFamily="34" charset="-120"/>
              </a:rPr>
              <a:t>POMDP</a:t>
            </a:r>
            <a:endParaRPr lang="en-US" sz="1400" dirty="0"/>
          </a:p>
        </p:txBody>
      </p:sp>
      <p:sp>
        <p:nvSpPr>
          <p:cNvPr id="14" name="Text 12"/>
          <p:cNvSpPr/>
          <p:nvPr/>
        </p:nvSpPr>
        <p:spPr>
          <a:xfrm>
            <a:off x="6324448" y="2984602"/>
            <a:ext cx="2384984" cy="888797"/>
          </a:xfrm>
          <a:prstGeom prst="rect">
            <a:avLst/>
          </a:prstGeom>
          <a:noFill/>
          <a:ln/>
        </p:spPr>
        <p:txBody>
          <a:bodyPr wrap="square" lIns="0" tIns="0" rIns="0" bIns="0" rtlCol="0" anchor="t"/>
          <a:lstStyle/>
          <a:p>
            <a:pPr algn="ctr" indent="0" marL="0">
              <a:buNone/>
            </a:pPr>
            <a:r>
              <a:rPr lang="en-US" sz="1050" dirty="0">
                <a:solidFill>
                  <a:srgbClr val="51606F"/>
                </a:solidFill>
                <a:latin typeface="Calibri" pitchFamily="34" charset="0"/>
                <a:ea typeface="Calibri" pitchFamily="34" charset="-122"/>
                <a:cs typeface="Calibri" pitchFamily="34" charset="-120"/>
              </a:rPr>
              <a:t>stochastic,</a:t>
            </a:r>
            <a:endParaRPr lang="en-US" sz="1050" dirty="0"/>
          </a:p>
          <a:p>
            <a:pPr algn="ctr" indent="0" marL="0">
              <a:buNone/>
            </a:pPr>
            <a:r>
              <a:rPr lang="en-US" sz="1050" dirty="0">
                <a:solidFill>
                  <a:srgbClr val="51606F"/>
                </a:solidFill>
                <a:latin typeface="Calibri" pitchFamily="34" charset="0"/>
                <a:ea typeface="Calibri" pitchFamily="34" charset="-122"/>
                <a:cs typeface="Calibri" pitchFamily="34" charset="-120"/>
              </a:rPr>
              <a:t>partially observable</a:t>
            </a:r>
            <a:endParaRPr lang="en-US" sz="1050" dirty="0"/>
          </a:p>
        </p:txBody>
      </p:sp>
      <p:sp>
        <p:nvSpPr>
          <p:cNvPr id="15" name="Shape 13"/>
          <p:cNvSpPr/>
          <p:nvPr/>
        </p:nvSpPr>
        <p:spPr>
          <a:xfrm>
            <a:off x="8800871" y="2274113"/>
            <a:ext cx="274320" cy="914"/>
          </a:xfrm>
          <a:prstGeom prst="line">
            <a:avLst/>
          </a:prstGeom>
          <a:noFill/>
          <a:ln w="25400">
            <a:solidFill>
              <a:srgbClr val="4A6FA5"/>
            </a:solidFill>
            <a:prstDash val="solid"/>
            <a:headEnd type="none"/>
            <a:tailEnd type="triangle"/>
          </a:ln>
        </p:spPr>
      </p:sp>
      <p:sp>
        <p:nvSpPr>
          <p:cNvPr id="16" name="Shape 14"/>
          <p:cNvSpPr/>
          <p:nvPr/>
        </p:nvSpPr>
        <p:spPr>
          <a:xfrm>
            <a:off x="9075191" y="1508760"/>
            <a:ext cx="2567864" cy="1530706"/>
          </a:xfrm>
          <a:prstGeom prst="roundRect">
            <a:avLst>
              <a:gd name="adj" fmla="val 3584"/>
            </a:avLst>
          </a:prstGeom>
          <a:solidFill>
            <a:srgbClr val="EEF8EE"/>
          </a:solidFill>
          <a:ln w="15875">
            <a:solidFill>
              <a:srgbClr val="1B6B3A"/>
            </a:solidFill>
            <a:prstDash val="solid"/>
          </a:ln>
        </p:spPr>
      </p:sp>
      <p:sp>
        <p:nvSpPr>
          <p:cNvPr id="17" name="Text 15"/>
          <p:cNvSpPr/>
          <p:nvPr/>
        </p:nvSpPr>
        <p:spPr>
          <a:xfrm>
            <a:off x="9166631" y="1600200"/>
            <a:ext cx="2384984" cy="457200"/>
          </a:xfrm>
          <a:prstGeom prst="rect">
            <a:avLst/>
          </a:prstGeom>
          <a:noFill/>
          <a:ln/>
        </p:spPr>
        <p:txBody>
          <a:bodyPr wrap="square" lIns="0" tIns="0" rIns="0" bIns="0" rtlCol="0" anchor="t"/>
          <a:lstStyle/>
          <a:p>
            <a:pPr algn="ctr" indent="0" marL="0">
              <a:buNone/>
            </a:pPr>
            <a:r>
              <a:rPr lang="en-US" sz="1400" b="1" dirty="0">
                <a:solidFill>
                  <a:srgbClr val="1A3A5C"/>
                </a:solidFill>
                <a:latin typeface="Calibri" pitchFamily="34" charset="0"/>
                <a:ea typeface="Calibri" pitchFamily="34" charset="-122"/>
                <a:cs typeface="Calibri" pitchFamily="34" charset="-120"/>
              </a:rPr>
              <a:t>Game</a:t>
            </a:r>
            <a:endParaRPr lang="en-US" sz="1400" dirty="0"/>
          </a:p>
        </p:txBody>
      </p:sp>
      <p:sp>
        <p:nvSpPr>
          <p:cNvPr id="18" name="Text 16"/>
          <p:cNvSpPr/>
          <p:nvPr/>
        </p:nvSpPr>
        <p:spPr>
          <a:xfrm>
            <a:off x="9166631" y="2984602"/>
            <a:ext cx="2384984" cy="888797"/>
          </a:xfrm>
          <a:prstGeom prst="rect">
            <a:avLst/>
          </a:prstGeom>
          <a:noFill/>
          <a:ln/>
        </p:spPr>
        <p:txBody>
          <a:bodyPr wrap="square" lIns="0" tIns="0" rIns="0" bIns="0" rtlCol="0" anchor="t"/>
          <a:lstStyle/>
          <a:p>
            <a:pPr algn="ctr" indent="0" marL="0">
              <a:buNone/>
            </a:pPr>
            <a:r>
              <a:rPr lang="en-US" sz="1050" dirty="0">
                <a:solidFill>
                  <a:srgbClr val="51606F"/>
                </a:solidFill>
                <a:latin typeface="Calibri" pitchFamily="34" charset="0"/>
                <a:ea typeface="Calibri" pitchFamily="34" charset="-122"/>
                <a:cs typeface="Calibri" pitchFamily="34" charset="-120"/>
              </a:rPr>
              <a:t>other agents</a:t>
            </a:r>
            <a:endParaRPr lang="en-US" sz="1050" dirty="0"/>
          </a:p>
          <a:p>
            <a:pPr algn="ctr" indent="0" marL="0">
              <a:buNone/>
            </a:pPr>
            <a:r>
              <a:rPr lang="en-US" sz="1050" dirty="0">
                <a:solidFill>
                  <a:srgbClr val="51606F"/>
                </a:solidFill>
                <a:latin typeface="Calibri" pitchFamily="34" charset="0"/>
                <a:ea typeface="Calibri" pitchFamily="34" charset="-122"/>
                <a:cs typeface="Calibri" pitchFamily="34" charset="-120"/>
              </a:rPr>
              <a:t>acting too</a:t>
            </a:r>
            <a:endParaRPr lang="en-US" sz="1050" dirty="0"/>
          </a:p>
        </p:txBody>
      </p:sp>
      <p:sp>
        <p:nvSpPr>
          <p:cNvPr id="19" name="Text 17"/>
          <p:cNvSpPr/>
          <p:nvPr/>
        </p:nvSpPr>
        <p:spPr>
          <a:xfrm>
            <a:off x="548640" y="3931920"/>
            <a:ext cx="11094415" cy="274320"/>
          </a:xfrm>
          <a:prstGeom prst="rect">
            <a:avLst/>
          </a:prstGeom>
          <a:noFill/>
          <a:ln/>
        </p:spPr>
        <p:txBody>
          <a:bodyPr wrap="square" lIns="0" tIns="0" rIns="0" bIns="0" rtlCol="0" anchor="t"/>
          <a:lstStyle/>
          <a:p>
            <a:pPr algn="ctr" indent="0" marL="0">
              <a:buNone/>
            </a:pPr>
            <a:r>
              <a:rPr lang="en-US" sz="1100" i="1" dirty="0">
                <a:solidFill>
                  <a:srgbClr val="51606F"/>
                </a:solidFill>
                <a:latin typeface="Calibri" pitchFamily="34" charset="0"/>
                <a:ea typeface="Calibri" pitchFamily="34" charset="-122"/>
                <a:cs typeface="Calibri" pitchFamily="34" charset="-120"/>
              </a:rPr>
              <a:t>Robotics problems sit anywhere along this ladder, depending on what the robot knows</a:t>
            </a:r>
            <a:endParaRPr lang="en-US" sz="1100" dirty="0"/>
          </a:p>
        </p:txBody>
      </p:sp>
      <p:sp>
        <p:nvSpPr>
          <p:cNvPr id="20" name="Text 18"/>
          <p:cNvSpPr/>
          <p:nvPr/>
        </p:nvSpPr>
        <p:spPr>
          <a:xfrm>
            <a:off x="548640" y="4251960"/>
            <a:ext cx="11094415" cy="18288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Robots act in isolation and know their environment → formulate as an MDP.</a:t>
            </a:r>
            <a:endParaRPr lang="en-US" sz="1500" dirty="0"/>
          </a:p>
          <a:p>
            <a:pPr marL="2286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Robots are missing information about the state → formulate as a POMDP.</a:t>
            </a:r>
            <a:endParaRPr lang="en-US" sz="1500" dirty="0"/>
          </a:p>
          <a:p>
            <a:pPr marL="2286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Robots act around other agents (people, other robots) → formulate as a game (Ch. 17).</a:t>
            </a:r>
            <a:endParaRPr lang="en-US" sz="1500" dirty="0"/>
          </a:p>
        </p:txBody>
      </p:sp>
      <p:sp>
        <p:nvSpPr>
          <p:cNvPr id="21" name="Text 19"/>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22" name="Text 20"/>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26.3 Framing the Problem</a:t>
            </a:r>
            <a:endParaRPr lang="en-US" sz="900" dirty="0"/>
          </a:p>
        </p:txBody>
      </p:sp>
      <p:sp>
        <p:nvSpPr>
          <p:cNvPr id="23" name="Text 21"/>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26.3 FRAMING THE PROBLEM</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Cooperative or Competitive? It Depends on the Moment</a:t>
            </a:r>
            <a:endParaRPr lang="en-US" sz="2700" dirty="0"/>
          </a:p>
        </p:txBody>
      </p:sp>
      <p:sp>
        <p:nvSpPr>
          <p:cNvPr id="4" name="Shape 2"/>
          <p:cNvSpPr/>
          <p:nvPr/>
        </p:nvSpPr>
        <p:spPr>
          <a:xfrm>
            <a:off x="548640" y="1417320"/>
            <a:ext cx="5364328" cy="2103120"/>
          </a:xfrm>
          <a:prstGeom prst="roundRect">
            <a:avLst>
              <a:gd name="adj" fmla="val 3478"/>
            </a:avLst>
          </a:prstGeom>
          <a:solidFill>
            <a:srgbClr val="EEF8EE"/>
          </a:solidFill>
          <a:ln w="12700">
            <a:solidFill>
              <a:srgbClr val="1B6B3A"/>
            </a:solidFill>
            <a:prstDash val="solid"/>
          </a:ln>
        </p:spPr>
      </p:sp>
      <p:sp>
        <p:nvSpPr>
          <p:cNvPr id="5" name="Text 3"/>
          <p:cNvSpPr/>
          <p:nvPr/>
        </p:nvSpPr>
        <p:spPr>
          <a:xfrm>
            <a:off x="749808" y="1527048"/>
            <a:ext cx="4961992" cy="274320"/>
          </a:xfrm>
          <a:prstGeom prst="rect">
            <a:avLst/>
          </a:prstGeom>
          <a:noFill/>
          <a:ln/>
        </p:spPr>
        <p:txBody>
          <a:bodyPr wrap="square" lIns="0" tIns="0" rIns="0" bIns="0" rtlCol="0" anchor="ctr"/>
          <a:lstStyle/>
          <a:p>
            <a:pPr indent="0" marL="0">
              <a:buNone/>
            </a:pPr>
            <a:r>
              <a:rPr lang="en-US" sz="1250" b="1" spc="50" kern="0" dirty="0">
                <a:solidFill>
                  <a:srgbClr val="1B6B3A"/>
                </a:solidFill>
                <a:latin typeface="Calibri" pitchFamily="34" charset="0"/>
                <a:ea typeface="Calibri" pitchFamily="34" charset="-122"/>
                <a:cs typeface="Calibri" pitchFamily="34" charset="-120"/>
              </a:rPr>
              <a:t>COOPERATIVE MOMENT</a:t>
            </a:r>
            <a:endParaRPr lang="en-US" sz="1250" dirty="0"/>
          </a:p>
        </p:txBody>
      </p:sp>
      <p:sp>
        <p:nvSpPr>
          <p:cNvPr id="6" name="Text 4"/>
          <p:cNvSpPr/>
          <p:nvPr/>
        </p:nvSpPr>
        <p:spPr>
          <a:xfrm>
            <a:off x="749808" y="1837944"/>
            <a:ext cx="4961992" cy="159105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In a narrow hospital corridor, Wren and Nurse Priya both want to avoid a collision — their goals align, so this is genuinely cooperative.</a:t>
            </a:r>
            <a:endParaRPr lang="en-US" sz="1300" dirty="0"/>
          </a:p>
        </p:txBody>
      </p:sp>
      <p:sp>
        <p:nvSpPr>
          <p:cNvPr id="7" name="Shape 5"/>
          <p:cNvSpPr/>
          <p:nvPr/>
        </p:nvSpPr>
        <p:spPr>
          <a:xfrm>
            <a:off x="6278728" y="1417320"/>
            <a:ext cx="5364328" cy="2103120"/>
          </a:xfrm>
          <a:prstGeom prst="roundRect">
            <a:avLst>
              <a:gd name="adj" fmla="val 3478"/>
            </a:avLst>
          </a:prstGeom>
          <a:solidFill>
            <a:srgbClr val="FFF0EE"/>
          </a:solidFill>
          <a:ln w="12700">
            <a:solidFill>
              <a:srgbClr val="B5311A"/>
            </a:solidFill>
            <a:prstDash val="solid"/>
          </a:ln>
        </p:spPr>
      </p:sp>
      <p:sp>
        <p:nvSpPr>
          <p:cNvPr id="8" name="Text 6"/>
          <p:cNvSpPr/>
          <p:nvPr/>
        </p:nvSpPr>
        <p:spPr>
          <a:xfrm>
            <a:off x="6479896" y="1527048"/>
            <a:ext cx="4961992" cy="274320"/>
          </a:xfrm>
          <a:prstGeom prst="rect">
            <a:avLst/>
          </a:prstGeom>
          <a:noFill/>
          <a:ln/>
        </p:spPr>
        <p:txBody>
          <a:bodyPr wrap="square" lIns="0" tIns="0" rIns="0" bIns="0" rtlCol="0" anchor="ctr"/>
          <a:lstStyle/>
          <a:p>
            <a:pPr indent="0" marL="0">
              <a:buNone/>
            </a:pPr>
            <a:r>
              <a:rPr lang="en-US" sz="1250" b="1" spc="50" kern="0" dirty="0">
                <a:solidFill>
                  <a:srgbClr val="B5311A"/>
                </a:solidFill>
                <a:latin typeface="Calibri" pitchFamily="34" charset="0"/>
                <a:ea typeface="Calibri" pitchFamily="34" charset="-122"/>
                <a:cs typeface="Calibri" pitchFamily="34" charset="-120"/>
              </a:rPr>
              <a:t>COMPETITIVE MOMENT</a:t>
            </a:r>
            <a:endParaRPr lang="en-US" sz="1250" dirty="0"/>
          </a:p>
        </p:txBody>
      </p:sp>
      <p:sp>
        <p:nvSpPr>
          <p:cNvPr id="9" name="Text 7"/>
          <p:cNvSpPr/>
          <p:nvPr/>
        </p:nvSpPr>
        <p:spPr>
          <a:xfrm>
            <a:off x="6479896" y="1837944"/>
            <a:ext cx="4961992" cy="159105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But both also want to get through quickly. A robot that is always maximally polite and always yields can get stuck forever in a crowded hallway and never reach Maria Santos's room.</a:t>
            </a:r>
            <a:endParaRPr lang="en-US" sz="1300" dirty="0"/>
          </a:p>
        </p:txBody>
      </p:sp>
      <p:sp>
        <p:nvSpPr>
          <p:cNvPr id="10" name="Shape 8"/>
          <p:cNvSpPr/>
          <p:nvPr/>
        </p:nvSpPr>
        <p:spPr>
          <a:xfrm>
            <a:off x="548640" y="4160520"/>
            <a:ext cx="11094415" cy="1645920"/>
          </a:xfrm>
          <a:prstGeom prst="roundRect">
            <a:avLst>
              <a:gd name="adj" fmla="val 4444"/>
            </a:avLst>
          </a:prstGeom>
          <a:solidFill>
            <a:srgbClr val="FFF8E6"/>
          </a:solidFill>
          <a:ln w="12700">
            <a:solidFill>
              <a:srgbClr val="C8840A"/>
            </a:solidFill>
            <a:prstDash val="solid"/>
          </a:ln>
        </p:spPr>
      </p:sp>
      <p:sp>
        <p:nvSpPr>
          <p:cNvPr id="11" name="Text 9"/>
          <p:cNvSpPr/>
          <p:nvPr/>
        </p:nvSpPr>
        <p:spPr>
          <a:xfrm>
            <a:off x="749808" y="4270248"/>
            <a:ext cx="10692079" cy="274320"/>
          </a:xfrm>
          <a:prstGeom prst="rect">
            <a:avLst/>
          </a:prstGeom>
          <a:noFill/>
          <a:ln/>
        </p:spPr>
        <p:txBody>
          <a:bodyPr wrap="square" lIns="0" tIns="0" rIns="0" bIns="0" rtlCol="0" anchor="ctr"/>
          <a:lstStyle/>
          <a:p>
            <a:pPr indent="0" marL="0">
              <a:buNone/>
            </a:pPr>
            <a:r>
              <a:rPr lang="en-US" sz="1250" b="1" spc="50" kern="0" dirty="0">
                <a:solidFill>
                  <a:srgbClr val="C8840A"/>
                </a:solidFill>
                <a:latin typeface="Calibri" pitchFamily="34" charset="0"/>
                <a:ea typeface="Calibri" pitchFamily="34" charset="-122"/>
                <a:cs typeface="Calibri" pitchFamily="34" charset="-120"/>
              </a:rPr>
              <a:t>REAL-WORLD ANCHOR</a:t>
            </a:r>
            <a:endParaRPr lang="en-US" sz="1250" dirty="0"/>
          </a:p>
        </p:txBody>
      </p:sp>
      <p:sp>
        <p:nvSpPr>
          <p:cNvPr id="12" name="Text 10"/>
          <p:cNvSpPr/>
          <p:nvPr/>
        </p:nvSpPr>
        <p:spPr>
          <a:xfrm>
            <a:off x="749808" y="4581144"/>
            <a:ext cx="10692079" cy="113385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This is exactly why early “always-yield” hospital and airport robots frustrated staff — over-polite robots would freeze in busy hallways. Modern designs (and Waymo's highway merges) intentionally model a small competitive component so the robot asserts itself just enough to make progress.</a:t>
            </a:r>
            <a:endParaRPr lang="en-US" sz="1300" dirty="0"/>
          </a:p>
        </p:txBody>
      </p:sp>
      <p:sp>
        <p:nvSpPr>
          <p:cNvPr id="13" name="Text 11"/>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4" name="Text 12"/>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26.3 Framing the Problem</a:t>
            </a:r>
            <a:endParaRPr lang="en-US" sz="900" dirty="0"/>
          </a:p>
        </p:txBody>
      </p:sp>
      <p:sp>
        <p:nvSpPr>
          <p:cNvPr id="15" name="Text 13"/>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26.3 FRAMING THE PROBLEM</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Whose Reward Function Is It, Anyway?</a:t>
            </a:r>
            <a:endParaRPr lang="en-US" sz="2700" dirty="0"/>
          </a:p>
        </p:txBody>
      </p:sp>
      <p:sp>
        <p:nvSpPr>
          <p:cNvPr id="4" name="Text 2"/>
          <p:cNvSpPr/>
          <p:nvPr/>
        </p:nvSpPr>
        <p:spPr>
          <a:xfrm>
            <a:off x="548640" y="1417320"/>
            <a:ext cx="11094415" cy="4937760"/>
          </a:xfrm>
          <a:prstGeom prst="rect">
            <a:avLst/>
          </a:prstGeom>
          <a:noFill/>
          <a:ln/>
        </p:spPr>
        <p:txBody>
          <a:bodyPr wrap="square" lIns="0" tIns="0" rIns="0" bIns="0" rtlCol="0" anchor="t"/>
          <a:lstStyle/>
          <a:p>
            <a:pPr marL="228600" indent="-228600">
              <a:spcAft>
                <a:spcPts val="1000"/>
              </a:spcAft>
              <a:buSzPct val="100000"/>
              <a:buChar char="●"/>
            </a:pPr>
            <a:r>
              <a:rPr lang="en-US" sz="1600" b="1" dirty="0">
                <a:solidFill>
                  <a:srgbClr val="1F2A37"/>
                </a:solidFill>
                <a:latin typeface="Calibri" pitchFamily="34" charset="0"/>
                <a:ea typeface="Calibri" pitchFamily="34" charset="-122"/>
                <a:cs typeface="Calibri" pitchFamily="34" charset="-120"/>
              </a:rPr>
              <a:t>A robot is usually acting in service of a human — delivering a meal to a hospital patient is for the patient's benefit, not the robot's.</a:t>
            </a:r>
            <a:endParaRPr lang="en-US" sz="1600" dirty="0"/>
          </a:p>
          <a:p>
            <a:pPr marL="228600" indent="-228600">
              <a:spcAft>
                <a:spcPts val="1000"/>
              </a:spcAft>
              <a:buSzPct val="100000"/>
              <a:buChar char="●"/>
            </a:pPr>
            <a:r>
              <a:rPr lang="en-US" sz="1600" dirty="0">
                <a:solidFill>
                  <a:srgbClr val="1F2A37"/>
                </a:solidFill>
                <a:latin typeface="Calibri" pitchFamily="34" charset="0"/>
                <a:ea typeface="Calibri" pitchFamily="34" charset="-122"/>
                <a:cs typeface="Calibri" pitchFamily="34" charset="-120"/>
              </a:rPr>
              <a:t>The true reward function lives with the end user, not the robot designer.</a:t>
            </a:r>
            <a:endParaRPr lang="en-US" sz="1600" dirty="0"/>
          </a:p>
          <a:p>
            <a:pPr marL="228600" indent="-228600">
              <a:spcAft>
                <a:spcPts val="1000"/>
              </a:spcAft>
              <a:buSzPct val="100000"/>
              <a:buChar char="●"/>
            </a:pPr>
            <a:r>
              <a:rPr lang="en-US" sz="1600" dirty="0">
                <a:solidFill>
                  <a:srgbClr val="1F2A37"/>
                </a:solidFill>
                <a:latin typeface="Calibri" pitchFamily="34" charset="0"/>
                <a:ea typeface="Calibri" pitchFamily="34" charset="-122"/>
                <a:cs typeface="Calibri" pitchFamily="34" charset="-120"/>
              </a:rPr>
              <a:t>In practice: an engineer specifies a proxy reward and hopes it approximates what the user actually wants — or the robot has to decipher the user's desires directly.</a:t>
            </a:r>
            <a:endParaRPr lang="en-US" sz="1600" dirty="0"/>
          </a:p>
        </p:txBody>
      </p:sp>
      <p:sp>
        <p:nvSpPr>
          <p:cNvPr id="5" name="Shape 3"/>
          <p:cNvSpPr/>
          <p:nvPr/>
        </p:nvSpPr>
        <p:spPr>
          <a:xfrm>
            <a:off x="548640" y="4023360"/>
            <a:ext cx="11094415" cy="1965960"/>
          </a:xfrm>
          <a:prstGeom prst="roundRect">
            <a:avLst>
              <a:gd name="adj" fmla="val 3721"/>
            </a:avLst>
          </a:prstGeom>
          <a:solidFill>
            <a:srgbClr val="F4F7FB"/>
          </a:solidFill>
          <a:ln w="12700">
            <a:solidFill>
              <a:srgbClr val="1A3A5C"/>
            </a:solidFill>
            <a:prstDash val="solid"/>
          </a:ln>
        </p:spPr>
      </p:sp>
      <p:sp>
        <p:nvSpPr>
          <p:cNvPr id="6" name="Text 4"/>
          <p:cNvSpPr/>
          <p:nvPr/>
        </p:nvSpPr>
        <p:spPr>
          <a:xfrm>
            <a:off x="749808" y="4133088"/>
            <a:ext cx="10692079" cy="274320"/>
          </a:xfrm>
          <a:prstGeom prst="rect">
            <a:avLst/>
          </a:prstGeom>
          <a:noFill/>
          <a:ln/>
        </p:spPr>
        <p:txBody>
          <a:bodyPr wrap="square" lIns="0" tIns="0" rIns="0" bIns="0" rtlCol="0" anchor="ctr"/>
          <a:lstStyle/>
          <a:p>
            <a:pPr indent="0" marL="0">
              <a:buNone/>
            </a:pPr>
            <a:r>
              <a:rPr lang="en-US" sz="1250" b="1" spc="50" kern="0" dirty="0">
                <a:solidFill>
                  <a:srgbClr val="1A3A5C"/>
                </a:solidFill>
                <a:latin typeface="Calibri" pitchFamily="34" charset="0"/>
                <a:ea typeface="Calibri" pitchFamily="34" charset="-122"/>
                <a:cs typeface="Calibri" pitchFamily="34" charset="-120"/>
              </a:rPr>
              <a:t>NORTHGATE HOSPITAL EXAMPLE</a:t>
            </a:r>
            <a:endParaRPr lang="en-US" sz="1250" dirty="0"/>
          </a:p>
        </p:txBody>
      </p:sp>
      <p:sp>
        <p:nvSpPr>
          <p:cNvPr id="7" name="Text 5"/>
          <p:cNvSpPr/>
          <p:nvPr/>
        </p:nvSpPr>
        <p:spPr>
          <a:xfrm>
            <a:off x="749808" y="4443984"/>
            <a:ext cx="10692079" cy="145389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Wren's designer might code the proxy reward “minimize delivery time.” But Maria Santos's actual reward function includes “don't startle me,” “don't block Nurse Priya mid-procedure,” and “don't drop the tray.” A robot that only optimizes the coded proxy can satisfy the letter of its reward while completely missing the point — this exact gap motivates Section 26.8's discussion of learning what humans want.</a:t>
            </a:r>
            <a:endParaRPr lang="en-US" sz="1300" dirty="0"/>
          </a:p>
        </p:txBody>
      </p:sp>
      <p:sp>
        <p:nvSpPr>
          <p:cNvPr id="8" name="Text 6"/>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9" name="Text 7"/>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26.3 Framing the Problem</a:t>
            </a:r>
            <a:endParaRPr lang="en-US" sz="900" dirty="0"/>
          </a:p>
        </p:txBody>
      </p:sp>
      <p:sp>
        <p:nvSpPr>
          <p:cNvPr id="10" name="Text 8"/>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26.3 FRAMING THE PROBLEM</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Bridging the Gap: A Three-Level Hierarchy</a:t>
            </a:r>
            <a:endParaRPr lang="en-US" sz="2700" dirty="0"/>
          </a:p>
        </p:txBody>
      </p:sp>
      <p:sp>
        <p:nvSpPr>
          <p:cNvPr id="4" name="Shape 2"/>
          <p:cNvSpPr/>
          <p:nvPr/>
        </p:nvSpPr>
        <p:spPr>
          <a:xfrm>
            <a:off x="548640" y="1417320"/>
            <a:ext cx="11094415" cy="914400"/>
          </a:xfrm>
          <a:prstGeom prst="roundRect">
            <a:avLst>
              <a:gd name="adj" fmla="val 6000"/>
            </a:avLst>
          </a:prstGeom>
          <a:solidFill>
            <a:srgbClr val="EEF2FF"/>
          </a:solidFill>
          <a:ln w="15875">
            <a:solidFill>
              <a:srgbClr val="4A6FA5"/>
            </a:solidFill>
            <a:prstDash val="solid"/>
          </a:ln>
        </p:spPr>
      </p:sp>
      <p:sp>
        <p:nvSpPr>
          <p:cNvPr id="5" name="Text 3"/>
          <p:cNvSpPr/>
          <p:nvPr/>
        </p:nvSpPr>
        <p:spPr>
          <a:xfrm>
            <a:off x="777240" y="1508760"/>
            <a:ext cx="2743200" cy="731520"/>
          </a:xfrm>
          <a:prstGeom prst="rect">
            <a:avLst/>
          </a:prstGeom>
          <a:noFill/>
          <a:ln/>
        </p:spPr>
        <p:txBody>
          <a:bodyPr wrap="square" lIns="0" tIns="0" rIns="0" bIns="0" rtlCol="0" anchor="ctr"/>
          <a:lstStyle/>
          <a:p>
            <a:pPr algn="l" indent="0" marL="0">
              <a:buNone/>
            </a:pPr>
            <a:r>
              <a:rPr lang="en-US" sz="1500" b="1" dirty="0">
                <a:solidFill>
                  <a:srgbClr val="1A3A5C"/>
                </a:solidFill>
                <a:latin typeface="Calibri" pitchFamily="34" charset="0"/>
                <a:ea typeface="Calibri" pitchFamily="34" charset="-122"/>
                <a:cs typeface="Calibri" pitchFamily="34" charset="-120"/>
              </a:rPr>
              <a:t>Task Planning</a:t>
            </a:r>
            <a:endParaRPr lang="en-US" sz="1500" dirty="0"/>
          </a:p>
        </p:txBody>
      </p:sp>
      <p:sp>
        <p:nvSpPr>
          <p:cNvPr id="6" name="Text 4"/>
          <p:cNvSpPr/>
          <p:nvPr/>
        </p:nvSpPr>
        <p:spPr>
          <a:xfrm>
            <a:off x="3566160" y="1508760"/>
            <a:ext cx="7848295"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high-level actions / subgoals — “go to elevator, press button”</a:t>
            </a:r>
            <a:endParaRPr lang="en-US" sz="1200" dirty="0"/>
          </a:p>
        </p:txBody>
      </p:sp>
      <p:sp>
        <p:nvSpPr>
          <p:cNvPr id="7" name="Shape 5"/>
          <p:cNvSpPr/>
          <p:nvPr/>
        </p:nvSpPr>
        <p:spPr>
          <a:xfrm>
            <a:off x="6095848" y="2331720"/>
            <a:ext cx="914" cy="137160"/>
          </a:xfrm>
          <a:prstGeom prst="line">
            <a:avLst/>
          </a:prstGeom>
          <a:noFill/>
          <a:ln w="25400">
            <a:solidFill>
              <a:srgbClr val="4A6FA5"/>
            </a:solidFill>
            <a:prstDash val="solid"/>
            <a:headEnd type="none"/>
            <a:tailEnd type="triangle"/>
          </a:ln>
        </p:spPr>
      </p:sp>
      <p:sp>
        <p:nvSpPr>
          <p:cNvPr id="8" name="Shape 6"/>
          <p:cNvSpPr/>
          <p:nvPr/>
        </p:nvSpPr>
        <p:spPr>
          <a:xfrm>
            <a:off x="548640" y="2468880"/>
            <a:ext cx="11094415" cy="914400"/>
          </a:xfrm>
          <a:prstGeom prst="roundRect">
            <a:avLst>
              <a:gd name="adj" fmla="val 6000"/>
            </a:avLst>
          </a:prstGeom>
          <a:solidFill>
            <a:srgbClr val="FFF8E6"/>
          </a:solidFill>
          <a:ln w="15875">
            <a:solidFill>
              <a:srgbClr val="C8840A"/>
            </a:solidFill>
            <a:prstDash val="solid"/>
          </a:ln>
        </p:spPr>
      </p:sp>
      <p:sp>
        <p:nvSpPr>
          <p:cNvPr id="9" name="Text 7"/>
          <p:cNvSpPr/>
          <p:nvPr/>
        </p:nvSpPr>
        <p:spPr>
          <a:xfrm>
            <a:off x="777240" y="2560320"/>
            <a:ext cx="2743200" cy="731520"/>
          </a:xfrm>
          <a:prstGeom prst="rect">
            <a:avLst/>
          </a:prstGeom>
          <a:noFill/>
          <a:ln/>
        </p:spPr>
        <p:txBody>
          <a:bodyPr wrap="square" lIns="0" tIns="0" rIns="0" bIns="0" rtlCol="0" anchor="ctr"/>
          <a:lstStyle/>
          <a:p>
            <a:pPr algn="l" indent="0" marL="0">
              <a:buNone/>
            </a:pPr>
            <a:r>
              <a:rPr lang="en-US" sz="1500" b="1" dirty="0">
                <a:solidFill>
                  <a:srgbClr val="1A3A5C"/>
                </a:solidFill>
                <a:latin typeface="Calibri" pitchFamily="34" charset="0"/>
                <a:ea typeface="Calibri" pitchFamily="34" charset="-122"/>
                <a:cs typeface="Calibri" pitchFamily="34" charset="-120"/>
              </a:rPr>
              <a:t>Motion Planning</a:t>
            </a:r>
            <a:endParaRPr lang="en-US" sz="1500" dirty="0"/>
          </a:p>
        </p:txBody>
      </p:sp>
      <p:sp>
        <p:nvSpPr>
          <p:cNvPr id="10" name="Text 8"/>
          <p:cNvSpPr/>
          <p:nvPr/>
        </p:nvSpPr>
        <p:spPr>
          <a:xfrm>
            <a:off x="3566160" y="2560320"/>
            <a:ext cx="7848295"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a collision-free path from configuration to configuration</a:t>
            </a:r>
            <a:endParaRPr lang="en-US" sz="1200" dirty="0"/>
          </a:p>
        </p:txBody>
      </p:sp>
      <p:sp>
        <p:nvSpPr>
          <p:cNvPr id="11" name="Shape 9"/>
          <p:cNvSpPr/>
          <p:nvPr/>
        </p:nvSpPr>
        <p:spPr>
          <a:xfrm>
            <a:off x="6095848" y="3383280"/>
            <a:ext cx="914" cy="137160"/>
          </a:xfrm>
          <a:prstGeom prst="line">
            <a:avLst/>
          </a:prstGeom>
          <a:noFill/>
          <a:ln w="25400">
            <a:solidFill>
              <a:srgbClr val="4A6FA5"/>
            </a:solidFill>
            <a:prstDash val="solid"/>
            <a:headEnd type="none"/>
            <a:tailEnd type="triangle"/>
          </a:ln>
        </p:spPr>
      </p:sp>
      <p:sp>
        <p:nvSpPr>
          <p:cNvPr id="12" name="Shape 10"/>
          <p:cNvSpPr/>
          <p:nvPr/>
        </p:nvSpPr>
        <p:spPr>
          <a:xfrm>
            <a:off x="548640" y="3520440"/>
            <a:ext cx="11094415" cy="914400"/>
          </a:xfrm>
          <a:prstGeom prst="roundRect">
            <a:avLst>
              <a:gd name="adj" fmla="val 6000"/>
            </a:avLst>
          </a:prstGeom>
          <a:solidFill>
            <a:srgbClr val="EEF8EE"/>
          </a:solidFill>
          <a:ln w="15875">
            <a:solidFill>
              <a:srgbClr val="1B6B3A"/>
            </a:solidFill>
            <a:prstDash val="solid"/>
          </a:ln>
        </p:spPr>
      </p:sp>
      <p:sp>
        <p:nvSpPr>
          <p:cNvPr id="13" name="Text 11"/>
          <p:cNvSpPr/>
          <p:nvPr/>
        </p:nvSpPr>
        <p:spPr>
          <a:xfrm>
            <a:off x="777240" y="3611880"/>
            <a:ext cx="2743200" cy="731520"/>
          </a:xfrm>
          <a:prstGeom prst="rect">
            <a:avLst/>
          </a:prstGeom>
          <a:noFill/>
          <a:ln/>
        </p:spPr>
        <p:txBody>
          <a:bodyPr wrap="square" lIns="0" tIns="0" rIns="0" bIns="0" rtlCol="0" anchor="ctr"/>
          <a:lstStyle/>
          <a:p>
            <a:pPr algn="l" indent="0" marL="0">
              <a:buNone/>
            </a:pPr>
            <a:r>
              <a:rPr lang="en-US" sz="1500" b="1" dirty="0">
                <a:solidFill>
                  <a:srgbClr val="1A3A5C"/>
                </a:solidFill>
                <a:latin typeface="Calibri" pitchFamily="34" charset="0"/>
                <a:ea typeface="Calibri" pitchFamily="34" charset="-122"/>
                <a:cs typeface="Calibri" pitchFamily="34" charset="-120"/>
              </a:rPr>
              <a:t>Control</a:t>
            </a:r>
            <a:endParaRPr lang="en-US" sz="1500" dirty="0"/>
          </a:p>
        </p:txBody>
      </p:sp>
      <p:sp>
        <p:nvSpPr>
          <p:cNvPr id="14" name="Text 12"/>
          <p:cNvSpPr/>
          <p:nvPr/>
        </p:nvSpPr>
        <p:spPr>
          <a:xfrm>
            <a:off x="3566160" y="3611880"/>
            <a:ext cx="7848295"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torques/currents that track the plan on real hardware</a:t>
            </a:r>
            <a:endParaRPr lang="en-US" sz="1200" dirty="0"/>
          </a:p>
        </p:txBody>
      </p:sp>
      <p:sp>
        <p:nvSpPr>
          <p:cNvPr id="15" name="Shape 13"/>
          <p:cNvSpPr/>
          <p:nvPr/>
        </p:nvSpPr>
        <p:spPr>
          <a:xfrm>
            <a:off x="548640" y="5074920"/>
            <a:ext cx="11094415" cy="777240"/>
          </a:xfrm>
          <a:prstGeom prst="roundRect">
            <a:avLst>
              <a:gd name="adj" fmla="val 9412"/>
            </a:avLst>
          </a:prstGeom>
          <a:solidFill>
            <a:srgbClr val="FFF8E6"/>
          </a:solidFill>
          <a:ln w="12700">
            <a:solidFill>
              <a:srgbClr val="C8840A"/>
            </a:solidFill>
            <a:prstDash val="solid"/>
          </a:ln>
        </p:spPr>
      </p:sp>
      <p:sp>
        <p:nvSpPr>
          <p:cNvPr id="16" name="Text 14"/>
          <p:cNvSpPr/>
          <p:nvPr/>
        </p:nvSpPr>
        <p:spPr>
          <a:xfrm>
            <a:off x="749808" y="5184648"/>
            <a:ext cx="10692079" cy="274320"/>
          </a:xfrm>
          <a:prstGeom prst="rect">
            <a:avLst/>
          </a:prstGeom>
          <a:noFill/>
          <a:ln/>
        </p:spPr>
        <p:txBody>
          <a:bodyPr wrap="square" lIns="0" tIns="0" rIns="0" bIns="0" rtlCol="0" anchor="ctr"/>
          <a:lstStyle/>
          <a:p>
            <a:pPr indent="0" marL="0">
              <a:buNone/>
            </a:pPr>
            <a:r>
              <a:rPr lang="en-US" sz="1250" b="1" spc="50" kern="0" dirty="0">
                <a:solidFill>
                  <a:srgbClr val="C8840A"/>
                </a:solidFill>
                <a:latin typeface="Calibri" pitchFamily="34" charset="0"/>
                <a:ea typeface="Calibri" pitchFamily="34" charset="-122"/>
                <a:cs typeface="Calibri" pitchFamily="34" charset="-120"/>
              </a:rPr>
              <a:t>IN PARALLEL</a:t>
            </a:r>
            <a:endParaRPr lang="en-US" sz="1250" dirty="0"/>
          </a:p>
        </p:txBody>
      </p:sp>
      <p:sp>
        <p:nvSpPr>
          <p:cNvPr id="17" name="Text 15"/>
          <p:cNvSpPr/>
          <p:nvPr/>
        </p:nvSpPr>
        <p:spPr>
          <a:xfrm>
            <a:off x="749808" y="5495544"/>
            <a:ext cx="10692079" cy="26517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Preference learning estimates what the end user wants; people prediction forecasts what other agents in the environment will do. Both feed into every level above.</a:t>
            </a:r>
            <a:endParaRPr lang="en-US" sz="1300" dirty="0"/>
          </a:p>
        </p:txBody>
      </p:sp>
      <p:sp>
        <p:nvSpPr>
          <p:cNvPr id="18" name="Text 16"/>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9" name="Text 17"/>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26.3 Framing the Problem</a:t>
            </a:r>
            <a:endParaRPr lang="en-US" sz="900" dirty="0"/>
          </a:p>
        </p:txBody>
      </p:sp>
      <p:sp>
        <p:nvSpPr>
          <p:cNvPr id="20" name="Text 18"/>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26.3 FRAMING THE PROBLEM</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The Cost of Decoupling</a:t>
            </a:r>
            <a:endParaRPr lang="en-US" sz="2700" dirty="0"/>
          </a:p>
        </p:txBody>
      </p:sp>
      <p:sp>
        <p:nvSpPr>
          <p:cNvPr id="4" name="Text 2"/>
          <p:cNvSpPr/>
          <p:nvPr/>
        </p:nvSpPr>
        <p:spPr>
          <a:xfrm>
            <a:off x="548640" y="1417320"/>
            <a:ext cx="11094415" cy="4937760"/>
          </a:xfrm>
          <a:prstGeom prst="rect">
            <a:avLst/>
          </a:prstGeom>
          <a:noFill/>
          <a:ln/>
        </p:spPr>
        <p:txBody>
          <a:bodyPr wrap="square" lIns="0" tIns="0" rIns="0" bIns="0" rtlCol="0" anchor="t"/>
          <a:lstStyle/>
          <a:p>
            <a:pPr marL="228600" indent="-228600">
              <a:spcAft>
                <a:spcPts val="1000"/>
              </a:spcAft>
              <a:buSzPct val="100000"/>
              <a:buChar char="●"/>
            </a:pPr>
            <a:r>
              <a:rPr lang="en-US" sz="1500" b="1" dirty="0">
                <a:solidFill>
                  <a:srgbClr val="1F2A37"/>
                </a:solidFill>
                <a:latin typeface="Calibri" pitchFamily="34" charset="0"/>
                <a:ea typeface="Calibri" pitchFamily="34" charset="-122"/>
                <a:cs typeface="Calibri" pitchFamily="34" charset="-120"/>
              </a:rPr>
              <a:t>Splitting the problem into layers reduces complexity — but each split gives up an opportunity for the pieces to help each other.</a:t>
            </a:r>
            <a:endParaRPr lang="en-US" sz="1500" dirty="0"/>
          </a:p>
          <a:p>
            <a:pPr lvl="1" marL="4572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Action can improve perception, and determine what perception is even useful to gather.</a:t>
            </a:r>
            <a:endParaRPr lang="en-US" sz="1500" dirty="0"/>
          </a:p>
          <a:p>
            <a:pPr lvl="1" marL="4572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A motion-level decision might look great in isolation but be terrible once you account for how it will actually be tracked by the controller.</a:t>
            </a:r>
            <a:endParaRPr lang="en-US" sz="1500" dirty="0"/>
          </a:p>
          <a:p>
            <a:pPr lvl="1" marL="4572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A task-level plan can turn out to be uninstantiable once motion planning tries to execute it.</a:t>
            </a:r>
            <a:endParaRPr lang="en-US" sz="1500" dirty="0"/>
          </a:p>
          <a:p>
            <a:pPr marL="228600" indent="-228600">
              <a:spcAft>
                <a:spcPts val="1000"/>
              </a:spcAft>
              <a:buSzPct val="100000"/>
              <a:buChar char="●"/>
            </a:pPr>
            <a:r>
              <a:rPr lang="en-US" sz="1500" b="1" dirty="0">
                <a:solidFill>
                  <a:srgbClr val="1B6B3A"/>
                </a:solidFill>
                <a:latin typeface="Calibri" pitchFamily="34" charset="0"/>
                <a:ea typeface="Calibri" pitchFamily="34" charset="-122"/>
                <a:cs typeface="Calibri" pitchFamily="34" charset="-120"/>
              </a:rPr>
              <a:t>The trend in modern robotics: reintegrate. Motion planning + control together; task + motion planning together; perception + prediction + action, closing the loop.</a:t>
            </a:r>
            <a:endParaRPr lang="en-US" sz="1500" dirty="0"/>
          </a:p>
        </p:txBody>
      </p:sp>
      <p:sp>
        <p:nvSpPr>
          <p:cNvPr id="5" name="Text 3"/>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6" name="Text 4"/>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26.3 Framing the Problem</a:t>
            </a:r>
            <a:endParaRPr lang="en-US" sz="900" dirty="0"/>
          </a:p>
        </p:txBody>
      </p:sp>
      <p:sp>
        <p:nvSpPr>
          <p:cNvPr id="7" name="Text 5"/>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3A5C"/>
          </a:solidFill>
          <a:ln/>
        </p:spPr>
      </p:sp>
      <p:sp>
        <p:nvSpPr>
          <p:cNvPr id="3" name="Shape 1"/>
          <p:cNvSpPr/>
          <p:nvPr/>
        </p:nvSpPr>
        <p:spPr>
          <a:xfrm>
            <a:off x="9692640" y="2377440"/>
            <a:ext cx="5120640" cy="5120640"/>
          </a:xfrm>
          <a:prstGeom prst="ellipse">
            <a:avLst/>
          </a:prstGeom>
          <a:solidFill>
            <a:srgbClr val="132B45"/>
          </a:solidFill>
          <a:ln/>
        </p:spPr>
      </p:sp>
      <p:sp>
        <p:nvSpPr>
          <p:cNvPr id="4" name="Text 2"/>
          <p:cNvSpPr/>
          <p:nvPr/>
        </p:nvSpPr>
        <p:spPr>
          <a:xfrm>
            <a:off x="822960" y="1463040"/>
            <a:ext cx="3657600" cy="1554480"/>
          </a:xfrm>
          <a:prstGeom prst="rect">
            <a:avLst/>
          </a:prstGeom>
          <a:noFill/>
          <a:ln/>
        </p:spPr>
        <p:txBody>
          <a:bodyPr wrap="square" lIns="0" tIns="0" rIns="0" bIns="0" rtlCol="0" anchor="ctr"/>
          <a:lstStyle/>
          <a:p>
            <a:pPr indent="0" marL="0">
              <a:buNone/>
            </a:pPr>
            <a:r>
              <a:rPr lang="en-US" sz="8400" b="1" dirty="0">
                <a:solidFill>
                  <a:srgbClr val="E8960C"/>
                </a:solidFill>
                <a:latin typeface="Calibri" pitchFamily="34" charset="0"/>
                <a:ea typeface="Calibri" pitchFamily="34" charset="-122"/>
                <a:cs typeface="Calibri" pitchFamily="34" charset="-120"/>
              </a:rPr>
              <a:t>26.4</a:t>
            </a:r>
            <a:endParaRPr lang="en-US" sz="8400" dirty="0"/>
          </a:p>
        </p:txBody>
      </p:sp>
      <p:sp>
        <p:nvSpPr>
          <p:cNvPr id="5" name="Text 3"/>
          <p:cNvSpPr/>
          <p:nvPr/>
        </p:nvSpPr>
        <p:spPr>
          <a:xfrm>
            <a:off x="822960" y="2971800"/>
            <a:ext cx="9875520" cy="105156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Robotic Perception</a:t>
            </a:r>
            <a:endParaRPr lang="en-US" sz="3800" dirty="0"/>
          </a:p>
        </p:txBody>
      </p:sp>
      <p:sp>
        <p:nvSpPr>
          <p:cNvPr id="6" name="Text 4"/>
          <p:cNvSpPr/>
          <p:nvPr/>
        </p:nvSpPr>
        <p:spPr>
          <a:xfrm>
            <a:off x="822960" y="3977640"/>
            <a:ext cx="8778240" cy="82296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Mapping noisy sensor streams into a usable internal picture of the world.</a:t>
            </a:r>
            <a:endParaRPr lang="en-US" sz="1600" dirty="0"/>
          </a:p>
        </p:txBody>
      </p:sp>
      <p:sp>
        <p:nvSpPr>
          <p:cNvPr id="7" name="Shape 5"/>
          <p:cNvSpPr/>
          <p:nvPr/>
        </p:nvSpPr>
        <p:spPr>
          <a:xfrm>
            <a:off x="868680" y="4956048"/>
            <a:ext cx="82296" cy="82296"/>
          </a:xfrm>
          <a:prstGeom prst="ellipse">
            <a:avLst/>
          </a:prstGeom>
          <a:solidFill>
            <a:srgbClr val="E8960C"/>
          </a:solidFill>
          <a:ln/>
        </p:spPr>
      </p:sp>
      <p:sp>
        <p:nvSpPr>
          <p:cNvPr id="8" name="Text 6"/>
          <p:cNvSpPr/>
          <p:nvPr/>
        </p:nvSpPr>
        <p:spPr>
          <a:xfrm>
            <a:off x="1097280" y="4837176"/>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Perception as recursive Bayesian filtering (a continuous-state Chapter 14)</a:t>
            </a:r>
            <a:endParaRPr lang="en-US" sz="1350" dirty="0"/>
          </a:p>
        </p:txBody>
      </p:sp>
      <p:sp>
        <p:nvSpPr>
          <p:cNvPr id="9" name="Shape 7"/>
          <p:cNvSpPr/>
          <p:nvPr/>
        </p:nvSpPr>
        <p:spPr>
          <a:xfrm>
            <a:off x="868680" y="5285232"/>
            <a:ext cx="82296" cy="82296"/>
          </a:xfrm>
          <a:prstGeom prst="ellipse">
            <a:avLst/>
          </a:prstGeom>
          <a:solidFill>
            <a:srgbClr val="E8960C"/>
          </a:solidFill>
          <a:ln/>
        </p:spPr>
      </p:sp>
      <p:sp>
        <p:nvSpPr>
          <p:cNvPr id="10" name="Text 8"/>
          <p:cNvSpPr/>
          <p:nvPr/>
        </p:nvSpPr>
        <p:spPr>
          <a:xfrm>
            <a:off x="1097280" y="5166360"/>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Localization: from pose estimation to Monte Carlo localization and Kalman filters</a:t>
            </a:r>
            <a:endParaRPr lang="en-US" sz="1350" dirty="0"/>
          </a:p>
        </p:txBody>
      </p:sp>
      <p:sp>
        <p:nvSpPr>
          <p:cNvPr id="11" name="Shape 9"/>
          <p:cNvSpPr/>
          <p:nvPr/>
        </p:nvSpPr>
        <p:spPr>
          <a:xfrm>
            <a:off x="868680" y="5614416"/>
            <a:ext cx="82296" cy="82296"/>
          </a:xfrm>
          <a:prstGeom prst="ellipse">
            <a:avLst/>
          </a:prstGeom>
          <a:solidFill>
            <a:srgbClr val="E8960C"/>
          </a:solidFill>
          <a:ln/>
        </p:spPr>
      </p:sp>
      <p:sp>
        <p:nvSpPr>
          <p:cNvPr id="12" name="Text 10"/>
          <p:cNvSpPr/>
          <p:nvPr/>
        </p:nvSpPr>
        <p:spPr>
          <a:xfrm>
            <a:off x="1097280" y="5495544"/>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SLAM — solving localization and mapping at the same time</a:t>
            </a:r>
            <a:endParaRPr lang="en-US" sz="1350" dirty="0"/>
          </a:p>
        </p:txBody>
      </p:sp>
      <p:sp>
        <p:nvSpPr>
          <p:cNvPr id="13" name="Shape 11"/>
          <p:cNvSpPr/>
          <p:nvPr/>
        </p:nvSpPr>
        <p:spPr>
          <a:xfrm>
            <a:off x="868680" y="5943600"/>
            <a:ext cx="82296" cy="82296"/>
          </a:xfrm>
          <a:prstGeom prst="ellipse">
            <a:avLst/>
          </a:prstGeom>
          <a:solidFill>
            <a:srgbClr val="E8960C"/>
          </a:solidFill>
          <a:ln/>
        </p:spPr>
      </p:sp>
      <p:sp>
        <p:nvSpPr>
          <p:cNvPr id="14" name="Text 12"/>
          <p:cNvSpPr/>
          <p:nvPr/>
        </p:nvSpPr>
        <p:spPr>
          <a:xfrm>
            <a:off x="1097280" y="5824728"/>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Learned and adaptive perception</a:t>
            </a:r>
            <a:endParaRPr lang="en-US" sz="1350" dirty="0"/>
          </a:p>
        </p:txBody>
      </p:sp>
      <p:sp>
        <p:nvSpPr>
          <p:cNvPr id="15" name="Text 13"/>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6" name="Text 14"/>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Robotic Perception</a:t>
            </a:r>
            <a:endParaRPr lang="en-US" sz="900" dirty="0"/>
          </a:p>
        </p:txBody>
      </p:sp>
      <p:sp>
        <p:nvSpPr>
          <p:cNvPr id="17" name="Text 15"/>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26.4 ROBOTIC PERCEPTION</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Perception as Temporal Inference</a:t>
            </a:r>
            <a:endParaRPr lang="en-US" sz="2700" dirty="0"/>
          </a:p>
        </p:txBody>
      </p:sp>
      <p:sp>
        <p:nvSpPr>
          <p:cNvPr id="4" name="Shape 2"/>
          <p:cNvSpPr/>
          <p:nvPr/>
        </p:nvSpPr>
        <p:spPr>
          <a:xfrm>
            <a:off x="822960" y="2007108"/>
            <a:ext cx="914400" cy="548640"/>
          </a:xfrm>
          <a:prstGeom prst="roundRect">
            <a:avLst>
              <a:gd name="adj" fmla="val 10000"/>
            </a:avLst>
          </a:prstGeom>
          <a:solidFill>
            <a:srgbClr val="EEF2FF"/>
          </a:solidFill>
          <a:ln w="15875">
            <a:solidFill>
              <a:srgbClr val="4A6FA5"/>
            </a:solidFill>
            <a:prstDash val="solid"/>
          </a:ln>
        </p:spPr>
      </p:sp>
      <p:sp>
        <p:nvSpPr>
          <p:cNvPr id="5" name="Text 3"/>
          <p:cNvSpPr/>
          <p:nvPr/>
        </p:nvSpPr>
        <p:spPr>
          <a:xfrm>
            <a:off x="822960" y="2007108"/>
            <a:ext cx="914400" cy="548640"/>
          </a:xfrm>
          <a:prstGeom prst="rect">
            <a:avLst/>
          </a:prstGeom>
          <a:noFill/>
          <a:ln/>
        </p:spPr>
        <p:txBody>
          <a:bodyPr wrap="square" lIns="25400" tIns="25400" rIns="25400" bIns="25400" rtlCol="0" anchor="ctr"/>
          <a:lstStyle/>
          <a:p>
            <a:pPr algn="ctr" indent="0" marL="0">
              <a:buNone/>
            </a:pPr>
            <a:r>
              <a:rPr lang="en-US" sz="1500" b="1" dirty="0">
                <a:solidFill>
                  <a:srgbClr val="1A3A5C"/>
                </a:solidFill>
                <a:latin typeface="Calibri" pitchFamily="34" charset="0"/>
                <a:ea typeface="Calibri" pitchFamily="34" charset="-122"/>
                <a:cs typeface="Calibri" pitchFamily="34" charset="-120"/>
              </a:rPr>
              <a:t>X1</a:t>
            </a:r>
            <a:endParaRPr lang="en-US" sz="1500" dirty="0"/>
          </a:p>
        </p:txBody>
      </p:sp>
      <p:sp>
        <p:nvSpPr>
          <p:cNvPr id="6" name="Shape 4"/>
          <p:cNvSpPr/>
          <p:nvPr/>
        </p:nvSpPr>
        <p:spPr>
          <a:xfrm>
            <a:off x="822960" y="3058668"/>
            <a:ext cx="914400" cy="502920"/>
          </a:xfrm>
          <a:prstGeom prst="roundRect">
            <a:avLst>
              <a:gd name="adj" fmla="val 10909"/>
            </a:avLst>
          </a:prstGeom>
          <a:solidFill>
            <a:srgbClr val="FFF8E6"/>
          </a:solidFill>
          <a:ln w="15875">
            <a:solidFill>
              <a:srgbClr val="C8840A"/>
            </a:solidFill>
            <a:prstDash val="solid"/>
          </a:ln>
        </p:spPr>
      </p:sp>
      <p:sp>
        <p:nvSpPr>
          <p:cNvPr id="7" name="Text 5"/>
          <p:cNvSpPr/>
          <p:nvPr/>
        </p:nvSpPr>
        <p:spPr>
          <a:xfrm>
            <a:off x="822960" y="3058668"/>
            <a:ext cx="914400" cy="502920"/>
          </a:xfrm>
          <a:prstGeom prst="rect">
            <a:avLst/>
          </a:prstGeom>
          <a:noFill/>
          <a:ln/>
        </p:spPr>
        <p:txBody>
          <a:bodyPr wrap="square" lIns="25400" tIns="25400" rIns="25400" bIns="25400" rtlCol="0" anchor="ctr"/>
          <a:lstStyle/>
          <a:p>
            <a:pPr algn="ctr" indent="0" marL="0">
              <a:buNone/>
            </a:pPr>
            <a:r>
              <a:rPr lang="en-US" sz="1400" b="1" dirty="0">
                <a:solidFill>
                  <a:srgbClr val="C8840A"/>
                </a:solidFill>
                <a:latin typeface="Calibri" pitchFamily="34" charset="0"/>
                <a:ea typeface="Calibri" pitchFamily="34" charset="-122"/>
                <a:cs typeface="Calibri" pitchFamily="34" charset="-120"/>
              </a:rPr>
              <a:t>Z1</a:t>
            </a:r>
            <a:endParaRPr lang="en-US" sz="1400" dirty="0"/>
          </a:p>
        </p:txBody>
      </p:sp>
      <p:sp>
        <p:nvSpPr>
          <p:cNvPr id="8" name="Shape 6"/>
          <p:cNvSpPr/>
          <p:nvPr/>
        </p:nvSpPr>
        <p:spPr>
          <a:xfrm>
            <a:off x="1280160" y="2007108"/>
            <a:ext cx="914" cy="1051560"/>
          </a:xfrm>
          <a:prstGeom prst="line">
            <a:avLst/>
          </a:prstGeom>
          <a:noFill/>
          <a:ln w="15875">
            <a:solidFill>
              <a:srgbClr val="51606F"/>
            </a:solidFill>
            <a:prstDash val="solid"/>
            <a:headEnd type="none"/>
            <a:tailEnd type="triangle"/>
          </a:ln>
        </p:spPr>
      </p:sp>
      <p:sp>
        <p:nvSpPr>
          <p:cNvPr id="9" name="Shape 7"/>
          <p:cNvSpPr/>
          <p:nvPr/>
        </p:nvSpPr>
        <p:spPr>
          <a:xfrm>
            <a:off x="1737360" y="2638044"/>
            <a:ext cx="3718408" cy="914"/>
          </a:xfrm>
          <a:prstGeom prst="line">
            <a:avLst/>
          </a:prstGeom>
          <a:noFill/>
          <a:ln w="25400">
            <a:solidFill>
              <a:srgbClr val="1A3A5C"/>
            </a:solidFill>
            <a:prstDash val="solid"/>
            <a:headEnd type="none"/>
            <a:tailEnd type="triangle"/>
          </a:ln>
        </p:spPr>
      </p:sp>
      <p:sp>
        <p:nvSpPr>
          <p:cNvPr id="10" name="Text 8"/>
          <p:cNvSpPr/>
          <p:nvPr/>
        </p:nvSpPr>
        <p:spPr>
          <a:xfrm>
            <a:off x="1792224" y="1944014"/>
            <a:ext cx="3626968" cy="228600"/>
          </a:xfrm>
          <a:prstGeom prst="rect">
            <a:avLst/>
          </a:prstGeom>
          <a:noFill/>
          <a:ln/>
        </p:spPr>
        <p:txBody>
          <a:bodyPr wrap="square" lIns="0" tIns="0" rIns="0" bIns="0" rtlCol="0" anchor="t"/>
          <a:lstStyle/>
          <a:p>
            <a:pPr algn="ctr" indent="0" marL="0">
              <a:buNone/>
            </a:pPr>
            <a:r>
              <a:rPr lang="en-US" sz="1200" b="1" dirty="0">
                <a:solidFill>
                  <a:srgbClr val="1B6B3A"/>
                </a:solidFill>
                <a:latin typeface="Calibri" pitchFamily="34" charset="0"/>
                <a:ea typeface="Calibri" pitchFamily="34" charset="-122"/>
                <a:cs typeface="Calibri" pitchFamily="34" charset="-120"/>
              </a:rPr>
              <a:t>A1</a:t>
            </a:r>
            <a:endParaRPr lang="en-US" sz="1200" dirty="0"/>
          </a:p>
        </p:txBody>
      </p:sp>
      <p:sp>
        <p:nvSpPr>
          <p:cNvPr id="11" name="Shape 9"/>
          <p:cNvSpPr/>
          <p:nvPr/>
        </p:nvSpPr>
        <p:spPr>
          <a:xfrm>
            <a:off x="5455768" y="2007108"/>
            <a:ext cx="914400" cy="548640"/>
          </a:xfrm>
          <a:prstGeom prst="roundRect">
            <a:avLst>
              <a:gd name="adj" fmla="val 10000"/>
            </a:avLst>
          </a:prstGeom>
          <a:solidFill>
            <a:srgbClr val="EEF2FF"/>
          </a:solidFill>
          <a:ln w="15875">
            <a:solidFill>
              <a:srgbClr val="4A6FA5"/>
            </a:solidFill>
            <a:prstDash val="solid"/>
          </a:ln>
        </p:spPr>
      </p:sp>
      <p:sp>
        <p:nvSpPr>
          <p:cNvPr id="12" name="Text 10"/>
          <p:cNvSpPr/>
          <p:nvPr/>
        </p:nvSpPr>
        <p:spPr>
          <a:xfrm>
            <a:off x="5455768" y="2007108"/>
            <a:ext cx="914400" cy="548640"/>
          </a:xfrm>
          <a:prstGeom prst="rect">
            <a:avLst/>
          </a:prstGeom>
          <a:noFill/>
          <a:ln/>
        </p:spPr>
        <p:txBody>
          <a:bodyPr wrap="square" lIns="25400" tIns="25400" rIns="25400" bIns="25400" rtlCol="0" anchor="ctr"/>
          <a:lstStyle/>
          <a:p>
            <a:pPr algn="ctr" indent="0" marL="0">
              <a:buNone/>
            </a:pPr>
            <a:r>
              <a:rPr lang="en-US" sz="1500" b="1" dirty="0">
                <a:solidFill>
                  <a:srgbClr val="1A3A5C"/>
                </a:solidFill>
                <a:latin typeface="Calibri" pitchFamily="34" charset="0"/>
                <a:ea typeface="Calibri" pitchFamily="34" charset="-122"/>
                <a:cs typeface="Calibri" pitchFamily="34" charset="-120"/>
              </a:rPr>
              <a:t>X2</a:t>
            </a:r>
            <a:endParaRPr lang="en-US" sz="1500" dirty="0"/>
          </a:p>
        </p:txBody>
      </p:sp>
      <p:sp>
        <p:nvSpPr>
          <p:cNvPr id="13" name="Shape 11"/>
          <p:cNvSpPr/>
          <p:nvPr/>
        </p:nvSpPr>
        <p:spPr>
          <a:xfrm>
            <a:off x="5455768" y="3058668"/>
            <a:ext cx="914400" cy="502920"/>
          </a:xfrm>
          <a:prstGeom prst="roundRect">
            <a:avLst>
              <a:gd name="adj" fmla="val 10909"/>
            </a:avLst>
          </a:prstGeom>
          <a:solidFill>
            <a:srgbClr val="FFF8E6"/>
          </a:solidFill>
          <a:ln w="15875">
            <a:solidFill>
              <a:srgbClr val="C8840A"/>
            </a:solidFill>
            <a:prstDash val="solid"/>
          </a:ln>
        </p:spPr>
      </p:sp>
      <p:sp>
        <p:nvSpPr>
          <p:cNvPr id="14" name="Text 12"/>
          <p:cNvSpPr/>
          <p:nvPr/>
        </p:nvSpPr>
        <p:spPr>
          <a:xfrm>
            <a:off x="5455768" y="3058668"/>
            <a:ext cx="914400" cy="502920"/>
          </a:xfrm>
          <a:prstGeom prst="rect">
            <a:avLst/>
          </a:prstGeom>
          <a:noFill/>
          <a:ln/>
        </p:spPr>
        <p:txBody>
          <a:bodyPr wrap="square" lIns="25400" tIns="25400" rIns="25400" bIns="25400" rtlCol="0" anchor="ctr"/>
          <a:lstStyle/>
          <a:p>
            <a:pPr algn="ctr" indent="0" marL="0">
              <a:buNone/>
            </a:pPr>
            <a:r>
              <a:rPr lang="en-US" sz="1400" b="1" dirty="0">
                <a:solidFill>
                  <a:srgbClr val="C8840A"/>
                </a:solidFill>
                <a:latin typeface="Calibri" pitchFamily="34" charset="0"/>
                <a:ea typeface="Calibri" pitchFamily="34" charset="-122"/>
                <a:cs typeface="Calibri" pitchFamily="34" charset="-120"/>
              </a:rPr>
              <a:t>Z2</a:t>
            </a:r>
            <a:endParaRPr lang="en-US" sz="1400" dirty="0"/>
          </a:p>
        </p:txBody>
      </p:sp>
      <p:sp>
        <p:nvSpPr>
          <p:cNvPr id="15" name="Shape 13"/>
          <p:cNvSpPr/>
          <p:nvPr/>
        </p:nvSpPr>
        <p:spPr>
          <a:xfrm>
            <a:off x="5912968" y="2007108"/>
            <a:ext cx="914" cy="1051560"/>
          </a:xfrm>
          <a:prstGeom prst="line">
            <a:avLst/>
          </a:prstGeom>
          <a:noFill/>
          <a:ln w="15875">
            <a:solidFill>
              <a:srgbClr val="51606F"/>
            </a:solidFill>
            <a:prstDash val="solid"/>
            <a:headEnd type="none"/>
            <a:tailEnd type="triangle"/>
          </a:ln>
        </p:spPr>
      </p:sp>
      <p:sp>
        <p:nvSpPr>
          <p:cNvPr id="16" name="Shape 14"/>
          <p:cNvSpPr/>
          <p:nvPr/>
        </p:nvSpPr>
        <p:spPr>
          <a:xfrm>
            <a:off x="6370168" y="2638044"/>
            <a:ext cx="3718408" cy="914"/>
          </a:xfrm>
          <a:prstGeom prst="line">
            <a:avLst/>
          </a:prstGeom>
          <a:noFill/>
          <a:ln w="25400">
            <a:solidFill>
              <a:srgbClr val="1A3A5C"/>
            </a:solidFill>
            <a:prstDash val="solid"/>
            <a:headEnd type="none"/>
            <a:tailEnd type="triangle"/>
          </a:ln>
        </p:spPr>
      </p:sp>
      <p:sp>
        <p:nvSpPr>
          <p:cNvPr id="17" name="Text 15"/>
          <p:cNvSpPr/>
          <p:nvPr/>
        </p:nvSpPr>
        <p:spPr>
          <a:xfrm>
            <a:off x="6425032" y="1944014"/>
            <a:ext cx="3626968" cy="228600"/>
          </a:xfrm>
          <a:prstGeom prst="rect">
            <a:avLst/>
          </a:prstGeom>
          <a:noFill/>
          <a:ln/>
        </p:spPr>
        <p:txBody>
          <a:bodyPr wrap="square" lIns="0" tIns="0" rIns="0" bIns="0" rtlCol="0" anchor="t"/>
          <a:lstStyle/>
          <a:p>
            <a:pPr algn="ctr" indent="0" marL="0">
              <a:buNone/>
            </a:pPr>
            <a:r>
              <a:rPr lang="en-US" sz="1200" b="1" dirty="0">
                <a:solidFill>
                  <a:srgbClr val="1B6B3A"/>
                </a:solidFill>
                <a:latin typeface="Calibri" pitchFamily="34" charset="0"/>
                <a:ea typeface="Calibri" pitchFamily="34" charset="-122"/>
                <a:cs typeface="Calibri" pitchFamily="34" charset="-120"/>
              </a:rPr>
              <a:t>A2</a:t>
            </a:r>
            <a:endParaRPr lang="en-US" sz="1200" dirty="0"/>
          </a:p>
        </p:txBody>
      </p:sp>
      <p:sp>
        <p:nvSpPr>
          <p:cNvPr id="18" name="Shape 16"/>
          <p:cNvSpPr/>
          <p:nvPr/>
        </p:nvSpPr>
        <p:spPr>
          <a:xfrm>
            <a:off x="10088575" y="2007108"/>
            <a:ext cx="914400" cy="548640"/>
          </a:xfrm>
          <a:prstGeom prst="roundRect">
            <a:avLst>
              <a:gd name="adj" fmla="val 10000"/>
            </a:avLst>
          </a:prstGeom>
          <a:solidFill>
            <a:srgbClr val="EEF2FF"/>
          </a:solidFill>
          <a:ln w="15875">
            <a:solidFill>
              <a:srgbClr val="4A6FA5"/>
            </a:solidFill>
            <a:prstDash val="solid"/>
          </a:ln>
        </p:spPr>
      </p:sp>
      <p:sp>
        <p:nvSpPr>
          <p:cNvPr id="19" name="Text 17"/>
          <p:cNvSpPr/>
          <p:nvPr/>
        </p:nvSpPr>
        <p:spPr>
          <a:xfrm>
            <a:off x="10088575" y="2007108"/>
            <a:ext cx="914400" cy="548640"/>
          </a:xfrm>
          <a:prstGeom prst="rect">
            <a:avLst/>
          </a:prstGeom>
          <a:noFill/>
          <a:ln/>
        </p:spPr>
        <p:txBody>
          <a:bodyPr wrap="square" lIns="25400" tIns="25400" rIns="25400" bIns="25400" rtlCol="0" anchor="ctr"/>
          <a:lstStyle/>
          <a:p>
            <a:pPr algn="ctr" indent="0" marL="0">
              <a:buNone/>
            </a:pPr>
            <a:r>
              <a:rPr lang="en-US" sz="1500" b="1" dirty="0">
                <a:solidFill>
                  <a:srgbClr val="1A3A5C"/>
                </a:solidFill>
                <a:latin typeface="Calibri" pitchFamily="34" charset="0"/>
                <a:ea typeface="Calibri" pitchFamily="34" charset="-122"/>
                <a:cs typeface="Calibri" pitchFamily="34" charset="-120"/>
              </a:rPr>
              <a:t>X3</a:t>
            </a:r>
            <a:endParaRPr lang="en-US" sz="1500" dirty="0"/>
          </a:p>
        </p:txBody>
      </p:sp>
      <p:sp>
        <p:nvSpPr>
          <p:cNvPr id="20" name="Shape 18"/>
          <p:cNvSpPr/>
          <p:nvPr/>
        </p:nvSpPr>
        <p:spPr>
          <a:xfrm>
            <a:off x="10088575" y="3058668"/>
            <a:ext cx="914400" cy="502920"/>
          </a:xfrm>
          <a:prstGeom prst="roundRect">
            <a:avLst>
              <a:gd name="adj" fmla="val 10909"/>
            </a:avLst>
          </a:prstGeom>
          <a:solidFill>
            <a:srgbClr val="FFF8E6"/>
          </a:solidFill>
          <a:ln w="15875">
            <a:solidFill>
              <a:srgbClr val="C8840A"/>
            </a:solidFill>
            <a:prstDash val="solid"/>
          </a:ln>
        </p:spPr>
      </p:sp>
      <p:sp>
        <p:nvSpPr>
          <p:cNvPr id="21" name="Text 19"/>
          <p:cNvSpPr/>
          <p:nvPr/>
        </p:nvSpPr>
        <p:spPr>
          <a:xfrm>
            <a:off x="10088575" y="3058668"/>
            <a:ext cx="914400" cy="502920"/>
          </a:xfrm>
          <a:prstGeom prst="rect">
            <a:avLst/>
          </a:prstGeom>
          <a:noFill/>
          <a:ln/>
        </p:spPr>
        <p:txBody>
          <a:bodyPr wrap="square" lIns="25400" tIns="25400" rIns="25400" bIns="25400" rtlCol="0" anchor="ctr"/>
          <a:lstStyle/>
          <a:p>
            <a:pPr algn="ctr" indent="0" marL="0">
              <a:buNone/>
            </a:pPr>
            <a:r>
              <a:rPr lang="en-US" sz="1400" b="1" dirty="0">
                <a:solidFill>
                  <a:srgbClr val="C8840A"/>
                </a:solidFill>
                <a:latin typeface="Calibri" pitchFamily="34" charset="0"/>
                <a:ea typeface="Calibri" pitchFamily="34" charset="-122"/>
                <a:cs typeface="Calibri" pitchFamily="34" charset="-120"/>
              </a:rPr>
              <a:t>Z3</a:t>
            </a:r>
            <a:endParaRPr lang="en-US" sz="1400" dirty="0"/>
          </a:p>
        </p:txBody>
      </p:sp>
      <p:sp>
        <p:nvSpPr>
          <p:cNvPr id="22" name="Shape 20"/>
          <p:cNvSpPr/>
          <p:nvPr/>
        </p:nvSpPr>
        <p:spPr>
          <a:xfrm>
            <a:off x="10545775" y="2007108"/>
            <a:ext cx="914" cy="1051560"/>
          </a:xfrm>
          <a:prstGeom prst="line">
            <a:avLst/>
          </a:prstGeom>
          <a:noFill/>
          <a:ln w="15875">
            <a:solidFill>
              <a:srgbClr val="51606F"/>
            </a:solidFill>
            <a:prstDash val="solid"/>
            <a:headEnd type="none"/>
            <a:tailEnd type="triangle"/>
          </a:ln>
        </p:spPr>
      </p:sp>
      <p:sp>
        <p:nvSpPr>
          <p:cNvPr id="23" name="Text 21"/>
          <p:cNvSpPr/>
          <p:nvPr/>
        </p:nvSpPr>
        <p:spPr>
          <a:xfrm>
            <a:off x="548640" y="1691640"/>
            <a:ext cx="11094415" cy="182880"/>
          </a:xfrm>
          <a:prstGeom prst="rect">
            <a:avLst/>
          </a:prstGeom>
          <a:noFill/>
          <a:ln/>
        </p:spPr>
        <p:txBody>
          <a:bodyPr wrap="square" lIns="0" tIns="0" rIns="0" bIns="0" rtlCol="0" anchor="t"/>
          <a:lstStyle/>
          <a:p>
            <a:pPr algn="l" indent="0" marL="0">
              <a:buNone/>
            </a:pPr>
            <a:r>
              <a:rPr lang="en-US" sz="1050" i="1" dirty="0">
                <a:solidFill>
                  <a:srgbClr val="51606F"/>
                </a:solidFill>
                <a:latin typeface="Calibri" pitchFamily="34" charset="0"/>
                <a:ea typeface="Calibri" pitchFamily="34" charset="-122"/>
                <a:cs typeface="Calibri" pitchFamily="34" charset="-120"/>
              </a:rPr>
              <a:t>state → observation, and action drives the transition to the next state</a:t>
            </a:r>
            <a:endParaRPr lang="en-US" sz="1050" dirty="0"/>
          </a:p>
        </p:txBody>
      </p:sp>
      <p:sp>
        <p:nvSpPr>
          <p:cNvPr id="24" name="Text 22"/>
          <p:cNvSpPr/>
          <p:nvPr/>
        </p:nvSpPr>
        <p:spPr>
          <a:xfrm>
            <a:off x="548640" y="4069080"/>
            <a:ext cx="11094415" cy="2011680"/>
          </a:xfrm>
          <a:prstGeom prst="rect">
            <a:avLst/>
          </a:prstGeom>
          <a:noFill/>
          <a:ln/>
        </p:spPr>
        <p:txBody>
          <a:bodyPr wrap="square" lIns="0" tIns="0" rIns="0" bIns="0" rtlCol="0" anchor="t"/>
          <a:lstStyle/>
          <a:p>
            <a:pPr marL="228600" indent="-228600">
              <a:spcAft>
                <a:spcPts val="1000"/>
              </a:spcAft>
              <a:buSzPct val="100000"/>
              <a:buChar char="●"/>
            </a:pPr>
            <a:r>
              <a:rPr lang="en-US" sz="1500" b="1" dirty="0">
                <a:solidFill>
                  <a:srgbClr val="1F2A37"/>
                </a:solidFill>
                <a:latin typeface="Calibri" pitchFamily="34" charset="0"/>
                <a:ea typeface="Calibri" pitchFamily="34" charset="-122"/>
                <a:cs typeface="Calibri" pitchFamily="34" charset="-120"/>
              </a:rPr>
              <a:t>This is exactly the filtering problem from Section 14.2 — but continuous, and conditioned on the robot's own actions.</a:t>
            </a:r>
            <a:endParaRPr lang="en-US" sz="1500" dirty="0"/>
          </a:p>
          <a:p>
            <a:pPr lvl="1" marL="4572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Xt = state of the environment (including the robot) at time t</a:t>
            </a:r>
            <a:endParaRPr lang="en-US" sz="1500" dirty="0"/>
          </a:p>
          <a:p>
            <a:pPr lvl="1" marL="4572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Zt = the observation received at time t</a:t>
            </a:r>
            <a:endParaRPr lang="en-US" sz="1500" dirty="0"/>
          </a:p>
          <a:p>
            <a:pPr lvl="1" marL="4572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At = the action taken right after observing Zt</a:t>
            </a:r>
            <a:endParaRPr lang="en-US" sz="1500" dirty="0"/>
          </a:p>
        </p:txBody>
      </p:sp>
      <p:sp>
        <p:nvSpPr>
          <p:cNvPr id="25" name="Text 23"/>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26" name="Text 24"/>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26.4 Robotic Perception</a:t>
            </a:r>
            <a:endParaRPr lang="en-US" sz="900" dirty="0"/>
          </a:p>
        </p:txBody>
      </p:sp>
      <p:sp>
        <p:nvSpPr>
          <p:cNvPr id="27" name="Text 25"/>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26.4 ROBOTIC PERCEPTION</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The Recursive Filtering Equation</a:t>
            </a:r>
            <a:endParaRPr lang="en-US" sz="2700" dirty="0"/>
          </a:p>
        </p:txBody>
      </p:sp>
      <p:sp>
        <p:nvSpPr>
          <p:cNvPr id="4" name="Shape 2"/>
          <p:cNvSpPr/>
          <p:nvPr/>
        </p:nvSpPr>
        <p:spPr>
          <a:xfrm>
            <a:off x="548640" y="1417320"/>
            <a:ext cx="11094415" cy="822960"/>
          </a:xfrm>
          <a:prstGeom prst="roundRect">
            <a:avLst>
              <a:gd name="adj" fmla="val 7778"/>
            </a:avLst>
          </a:prstGeom>
          <a:solidFill>
            <a:srgbClr val="EEF2FF"/>
          </a:solidFill>
          <a:ln w="9525">
            <a:solidFill>
              <a:srgbClr val="4A6FA5"/>
            </a:solidFill>
            <a:prstDash val="solid"/>
          </a:ln>
        </p:spPr>
      </p:sp>
      <p:sp>
        <p:nvSpPr>
          <p:cNvPr id="5" name="Text 3"/>
          <p:cNvSpPr/>
          <p:nvPr/>
        </p:nvSpPr>
        <p:spPr>
          <a:xfrm>
            <a:off x="713232" y="1463040"/>
            <a:ext cx="1554480" cy="237744"/>
          </a:xfrm>
          <a:prstGeom prst="rect">
            <a:avLst/>
          </a:prstGeom>
          <a:noFill/>
          <a:ln/>
        </p:spPr>
        <p:txBody>
          <a:bodyPr wrap="square" lIns="0" tIns="0" rIns="0" bIns="0" rtlCol="0" anchor="ctr"/>
          <a:lstStyle/>
          <a:p>
            <a:pPr indent="0" marL="0">
              <a:buNone/>
            </a:pPr>
            <a:r>
              <a:rPr lang="en-US" sz="1050" b="1" spc="50" kern="0" dirty="0">
                <a:solidFill>
                  <a:srgbClr val="4A6FA5"/>
                </a:solidFill>
                <a:latin typeface="Calibri" pitchFamily="34" charset="0"/>
                <a:ea typeface="Calibri" pitchFamily="34" charset="-122"/>
                <a:cs typeface="Calibri" pitchFamily="34" charset="-120"/>
              </a:rPr>
              <a:t>GENERAL</a:t>
            </a:r>
            <a:endParaRPr lang="en-US" sz="1050" dirty="0"/>
          </a:p>
        </p:txBody>
      </p:sp>
      <p:sp>
        <p:nvSpPr>
          <p:cNvPr id="6" name="Text 4"/>
          <p:cNvSpPr/>
          <p:nvPr/>
        </p:nvSpPr>
        <p:spPr>
          <a:xfrm>
            <a:off x="713232" y="1691640"/>
            <a:ext cx="10765231"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P(Xt+1 | z1:t+1, a1:t) = α · P(zt+1 | Xt+1) · ∫ P(Xt+1 | xt, at) P(xt | z1:t, a1:t−1) dxt</a:t>
            </a:r>
            <a:endParaRPr lang="en-US" sz="1300" dirty="0"/>
          </a:p>
        </p:txBody>
      </p:sp>
      <p:sp>
        <p:nvSpPr>
          <p:cNvPr id="7" name="Shape 5"/>
          <p:cNvSpPr/>
          <p:nvPr/>
        </p:nvSpPr>
        <p:spPr>
          <a:xfrm>
            <a:off x="548640" y="2368296"/>
            <a:ext cx="11094415" cy="822960"/>
          </a:xfrm>
          <a:prstGeom prst="roundRect">
            <a:avLst>
              <a:gd name="adj" fmla="val 7778"/>
            </a:avLst>
          </a:prstGeom>
          <a:solidFill>
            <a:srgbClr val="FFF8E6"/>
          </a:solidFill>
          <a:ln w="9525">
            <a:solidFill>
              <a:srgbClr val="C8840A"/>
            </a:solidFill>
            <a:prstDash val="solid"/>
          </a:ln>
        </p:spPr>
      </p:sp>
      <p:sp>
        <p:nvSpPr>
          <p:cNvPr id="8" name="Text 6"/>
          <p:cNvSpPr/>
          <p:nvPr/>
        </p:nvSpPr>
        <p:spPr>
          <a:xfrm>
            <a:off x="713232" y="2414016"/>
            <a:ext cx="1554480" cy="237744"/>
          </a:xfrm>
          <a:prstGeom prst="rect">
            <a:avLst/>
          </a:prstGeom>
          <a:noFill/>
          <a:ln/>
        </p:spPr>
        <p:txBody>
          <a:bodyPr wrap="square" lIns="0" tIns="0" rIns="0" bIns="0" rtlCol="0" anchor="ctr"/>
          <a:lstStyle/>
          <a:p>
            <a:pPr indent="0" marL="0">
              <a:buNone/>
            </a:pPr>
            <a:r>
              <a:rPr lang="en-US" sz="1050" b="1" spc="50" kern="0" dirty="0">
                <a:solidFill>
                  <a:srgbClr val="C8840A"/>
                </a:solidFill>
                <a:latin typeface="Calibri" pitchFamily="34" charset="0"/>
                <a:ea typeface="Calibri" pitchFamily="34" charset="-122"/>
                <a:cs typeface="Calibri" pitchFamily="34" charset="-120"/>
              </a:rPr>
              <a:t>SUBSTITUTE</a:t>
            </a:r>
            <a:endParaRPr lang="en-US" sz="1050" dirty="0"/>
          </a:p>
        </p:txBody>
      </p:sp>
      <p:sp>
        <p:nvSpPr>
          <p:cNvPr id="9" name="Text 7"/>
          <p:cNvSpPr/>
          <p:nvPr/>
        </p:nvSpPr>
        <p:spPr>
          <a:xfrm>
            <a:off x="713232" y="2642616"/>
            <a:ext cx="10765231"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The integral folds the previous belief P(xt | z1:t, a1:t−1) forward through the motion model P(Xt+1 | xt, at), then the sensor model P(zt+1 | Xt+1) re-weights it against the new observation.</a:t>
            </a:r>
            <a:endParaRPr lang="en-US" sz="1300" dirty="0"/>
          </a:p>
        </p:txBody>
      </p:sp>
      <p:sp>
        <p:nvSpPr>
          <p:cNvPr id="10" name="Shape 8"/>
          <p:cNvSpPr/>
          <p:nvPr/>
        </p:nvSpPr>
        <p:spPr>
          <a:xfrm>
            <a:off x="548640" y="3319272"/>
            <a:ext cx="11094415" cy="822960"/>
          </a:xfrm>
          <a:prstGeom prst="roundRect">
            <a:avLst>
              <a:gd name="adj" fmla="val 7778"/>
            </a:avLst>
          </a:prstGeom>
          <a:solidFill>
            <a:srgbClr val="EEF8EE"/>
          </a:solidFill>
          <a:ln w="9525">
            <a:solidFill>
              <a:srgbClr val="1B6B3A"/>
            </a:solidFill>
            <a:prstDash val="solid"/>
          </a:ln>
        </p:spPr>
      </p:sp>
      <p:sp>
        <p:nvSpPr>
          <p:cNvPr id="11" name="Text 9"/>
          <p:cNvSpPr/>
          <p:nvPr/>
        </p:nvSpPr>
        <p:spPr>
          <a:xfrm>
            <a:off x="713232" y="3364992"/>
            <a:ext cx="1554480" cy="237744"/>
          </a:xfrm>
          <a:prstGeom prst="rect">
            <a:avLst/>
          </a:prstGeom>
          <a:noFill/>
          <a:ln/>
        </p:spPr>
        <p:txBody>
          <a:bodyPr wrap="square" lIns="0" tIns="0" rIns="0" bIns="0" rtlCol="0" anchor="ctr"/>
          <a:lstStyle/>
          <a:p>
            <a:pPr indent="0" marL="0">
              <a:buNone/>
            </a:pPr>
            <a:r>
              <a:rPr lang="en-US" sz="1050" b="1" spc="50" kern="0" dirty="0">
                <a:solidFill>
                  <a:srgbClr val="1B6B3A"/>
                </a:solidFill>
                <a:latin typeface="Calibri" pitchFamily="34" charset="0"/>
                <a:ea typeface="Calibri" pitchFamily="34" charset="-122"/>
                <a:cs typeface="Calibri" pitchFamily="34" charset="-120"/>
              </a:rPr>
              <a:t>RESULT</a:t>
            </a:r>
            <a:endParaRPr lang="en-US" sz="1050" dirty="0"/>
          </a:p>
        </p:txBody>
      </p:sp>
      <p:sp>
        <p:nvSpPr>
          <p:cNvPr id="12" name="Text 10"/>
          <p:cNvSpPr/>
          <p:nvPr/>
        </p:nvSpPr>
        <p:spPr>
          <a:xfrm>
            <a:off x="713232" y="3593592"/>
            <a:ext cx="10765231"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A recursive update: yesterday's belief + today's action + today's observation → today's belief. Sum becomes an integral because the state is continuous.</a:t>
            </a:r>
            <a:endParaRPr lang="en-US" sz="1300" dirty="0"/>
          </a:p>
        </p:txBody>
      </p:sp>
      <p:sp>
        <p:nvSpPr>
          <p:cNvPr id="13" name="Text 11"/>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4" name="Text 12"/>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26.4 Robotic Perception</a:t>
            </a:r>
            <a:endParaRPr lang="en-US" sz="900" dirty="0"/>
          </a:p>
        </p:txBody>
      </p:sp>
      <p:sp>
        <p:nvSpPr>
          <p:cNvPr id="15" name="Text 13"/>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26.4.1 LOCALIZATION AND MAPPING</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Defining the Robot's Pose</a:t>
            </a:r>
            <a:endParaRPr lang="en-US" sz="2700" dirty="0"/>
          </a:p>
        </p:txBody>
      </p:sp>
      <p:sp>
        <p:nvSpPr>
          <p:cNvPr id="4" name="Shape 2"/>
          <p:cNvSpPr/>
          <p:nvPr/>
        </p:nvSpPr>
        <p:spPr>
          <a:xfrm>
            <a:off x="548640" y="1417320"/>
            <a:ext cx="5341468" cy="2286000"/>
          </a:xfrm>
          <a:prstGeom prst="roundRect">
            <a:avLst>
              <a:gd name="adj" fmla="val 3600"/>
            </a:avLst>
          </a:prstGeom>
          <a:solidFill>
            <a:srgbClr val="EEF2FF"/>
          </a:solidFill>
          <a:ln/>
          <a:effectLst>
            <a:outerShdw sx="100000" sy="100000" kx="0" ky="0" algn="bl" rotWithShape="0" blurRad="76200" dist="25400" dir="5400000">
              <a:srgbClr val="1A3A5C">
                <a:alpha val="12000"/>
              </a:srgbClr>
            </a:outerShdw>
          </a:effectLst>
        </p:spPr>
      </p:sp>
      <p:sp>
        <p:nvSpPr>
          <p:cNvPr id="5" name="Text 3"/>
          <p:cNvSpPr/>
          <p:nvPr/>
        </p:nvSpPr>
        <p:spPr>
          <a:xfrm>
            <a:off x="749808" y="1545336"/>
            <a:ext cx="4939132" cy="329184"/>
          </a:xfrm>
          <a:prstGeom prst="rect">
            <a:avLst/>
          </a:prstGeom>
          <a:noFill/>
          <a:ln/>
        </p:spPr>
        <p:txBody>
          <a:bodyPr wrap="square" lIns="0" tIns="0" rIns="0" bIns="0" rtlCol="0" anchor="ctr"/>
          <a:lstStyle/>
          <a:p>
            <a:pPr indent="0" marL="0">
              <a:buNone/>
            </a:pPr>
            <a:r>
              <a:rPr lang="en-US" sz="1450" b="1" dirty="0">
                <a:solidFill>
                  <a:srgbClr val="4A6FA5"/>
                </a:solidFill>
                <a:latin typeface="Calibri" pitchFamily="34" charset="0"/>
                <a:ea typeface="Calibri" pitchFamily="34" charset="-122"/>
                <a:cs typeface="Calibri" pitchFamily="34" charset="-120"/>
              </a:rPr>
              <a:t>The state vector</a:t>
            </a:r>
            <a:endParaRPr lang="en-US" sz="1450" dirty="0"/>
          </a:p>
        </p:txBody>
      </p:sp>
      <p:sp>
        <p:nvSpPr>
          <p:cNvPr id="6" name="Text 4"/>
          <p:cNvSpPr/>
          <p:nvPr/>
        </p:nvSpPr>
        <p:spPr>
          <a:xfrm>
            <a:off x="749808" y="1929384"/>
            <a:ext cx="4939132" cy="1664208"/>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Xt = (xt, yt, θt)ᵀ — two Cartesian coordinates plus a heading angle.</a:t>
            </a:r>
            <a:endParaRPr lang="en-US" sz="1300" dirty="0"/>
          </a:p>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Kinematic action = an instantaneous (vt, ωt): translational and rotational velocity.</a:t>
            </a:r>
            <a:endParaRPr lang="en-US" sz="1300" dirty="0"/>
          </a:p>
        </p:txBody>
      </p:sp>
      <p:sp>
        <p:nvSpPr>
          <p:cNvPr id="7" name="Shape 5"/>
          <p:cNvSpPr/>
          <p:nvPr/>
        </p:nvSpPr>
        <p:spPr>
          <a:xfrm>
            <a:off x="6301588" y="1417320"/>
            <a:ext cx="5341468" cy="2286000"/>
          </a:xfrm>
          <a:prstGeom prst="roundRect">
            <a:avLst>
              <a:gd name="adj" fmla="val 3600"/>
            </a:avLst>
          </a:prstGeom>
          <a:solidFill>
            <a:srgbClr val="FFF8E6"/>
          </a:solidFill>
          <a:ln/>
          <a:effectLst>
            <a:outerShdw sx="100000" sy="100000" kx="0" ky="0" algn="bl" rotWithShape="0" blurRad="76200" dist="25400" dir="5400000">
              <a:srgbClr val="1A3A5C">
                <a:alpha val="12000"/>
              </a:srgbClr>
            </a:outerShdw>
          </a:effectLst>
        </p:spPr>
      </p:sp>
      <p:sp>
        <p:nvSpPr>
          <p:cNvPr id="8" name="Text 6"/>
          <p:cNvSpPr/>
          <p:nvPr/>
        </p:nvSpPr>
        <p:spPr>
          <a:xfrm>
            <a:off x="6502756" y="1545336"/>
            <a:ext cx="4939132" cy="329184"/>
          </a:xfrm>
          <a:prstGeom prst="rect">
            <a:avLst/>
          </a:prstGeom>
          <a:noFill/>
          <a:ln/>
        </p:spPr>
        <p:txBody>
          <a:bodyPr wrap="square" lIns="0" tIns="0" rIns="0" bIns="0" rtlCol="0" anchor="ctr"/>
          <a:lstStyle/>
          <a:p>
            <a:pPr indent="0" marL="0">
              <a:buNone/>
            </a:pPr>
            <a:r>
              <a:rPr lang="en-US" sz="1450" b="1" dirty="0">
                <a:solidFill>
                  <a:srgbClr val="C8840A"/>
                </a:solidFill>
                <a:latin typeface="Calibri" pitchFamily="34" charset="0"/>
                <a:ea typeface="Calibri" pitchFamily="34" charset="-122"/>
                <a:cs typeface="Calibri" pitchFamily="34" charset="-120"/>
              </a:rPr>
              <a:t>Deterministic motion model</a:t>
            </a:r>
            <a:endParaRPr lang="en-US" sz="1450" dirty="0"/>
          </a:p>
        </p:txBody>
      </p:sp>
      <p:sp>
        <p:nvSpPr>
          <p:cNvPr id="9" name="Text 7"/>
          <p:cNvSpPr/>
          <p:nvPr/>
        </p:nvSpPr>
        <p:spPr>
          <a:xfrm>
            <a:off x="6502756" y="1929384"/>
            <a:ext cx="4939132" cy="1664208"/>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X̂t+1 = Xt + (vtΔt·cos θt, vtΔt·sin θt, ωtΔt)</a:t>
            </a:r>
            <a:endParaRPr lang="en-US" sz="1300" dirty="0"/>
          </a:p>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In reality, this prediction is noisy — modeled as Gaussian: P(Xt+1|Xt,vt,ωt) = N(X̂t+1, Σx)</a:t>
            </a:r>
            <a:endParaRPr lang="en-US" sz="1300" dirty="0"/>
          </a:p>
        </p:txBody>
      </p:sp>
      <p:sp>
        <p:nvSpPr>
          <p:cNvPr id="10" name="Shape 8"/>
          <p:cNvSpPr/>
          <p:nvPr/>
        </p:nvSpPr>
        <p:spPr>
          <a:xfrm>
            <a:off x="548640" y="4434840"/>
            <a:ext cx="11094415" cy="1325880"/>
          </a:xfrm>
          <a:prstGeom prst="roundRect">
            <a:avLst>
              <a:gd name="adj" fmla="val 5517"/>
            </a:avLst>
          </a:prstGeom>
          <a:solidFill>
            <a:srgbClr val="EEF8EE"/>
          </a:solidFill>
          <a:ln w="12700">
            <a:solidFill>
              <a:srgbClr val="1B6B3A"/>
            </a:solidFill>
            <a:prstDash val="solid"/>
          </a:ln>
        </p:spPr>
      </p:sp>
      <p:sp>
        <p:nvSpPr>
          <p:cNvPr id="11" name="Text 9"/>
          <p:cNvSpPr/>
          <p:nvPr/>
        </p:nvSpPr>
        <p:spPr>
          <a:xfrm>
            <a:off x="749808" y="4544568"/>
            <a:ext cx="10692079" cy="274320"/>
          </a:xfrm>
          <a:prstGeom prst="rect">
            <a:avLst/>
          </a:prstGeom>
          <a:noFill/>
          <a:ln/>
        </p:spPr>
        <p:txBody>
          <a:bodyPr wrap="square" lIns="0" tIns="0" rIns="0" bIns="0" rtlCol="0" anchor="ctr"/>
          <a:lstStyle/>
          <a:p>
            <a:pPr indent="0" marL="0">
              <a:buNone/>
            </a:pPr>
            <a:r>
              <a:rPr lang="en-US" sz="1250" b="1" spc="50" kern="0" dirty="0">
                <a:solidFill>
                  <a:srgbClr val="1B6B3A"/>
                </a:solidFill>
                <a:latin typeface="Calibri" pitchFamily="34" charset="0"/>
                <a:ea typeface="Calibri" pitchFamily="34" charset="-122"/>
                <a:cs typeface="Calibri" pitchFamily="34" charset="-120"/>
              </a:rPr>
              <a:t>R1 GROUNDING</a:t>
            </a:r>
            <a:endParaRPr lang="en-US" sz="1250" dirty="0"/>
          </a:p>
        </p:txBody>
      </p:sp>
      <p:sp>
        <p:nvSpPr>
          <p:cNvPr id="12" name="Text 10"/>
          <p:cNvSpPr/>
          <p:nvPr/>
        </p:nvSpPr>
        <p:spPr>
          <a:xfrm>
            <a:off x="749808" y="4855464"/>
            <a:ext cx="10692079" cy="81381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For our warehouse arm R1's mobile base, moving forward at velocity v for a tenth of a second while turning slightly changes x, y, and θ by exactly this formula. The Gaussian wrapped around it says: R1's wheels will drift a little, and we quantify exactly how much.</a:t>
            </a:r>
            <a:endParaRPr lang="en-US" sz="1300" dirty="0"/>
          </a:p>
        </p:txBody>
      </p:sp>
      <p:sp>
        <p:nvSpPr>
          <p:cNvPr id="13" name="Text 11"/>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4" name="Text 12"/>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26.4 Robotic Perception</a:t>
            </a:r>
            <a:endParaRPr lang="en-US" sz="900" dirty="0"/>
          </a:p>
        </p:txBody>
      </p:sp>
      <p:sp>
        <p:nvSpPr>
          <p:cNvPr id="15" name="Text 13"/>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26.4.1 LOCALIZATION AND MAPPING</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Two Sensor Models: Landmarks vs. Range Scans</a:t>
            </a:r>
            <a:endParaRPr lang="en-US" sz="2700" dirty="0"/>
          </a:p>
        </p:txBody>
      </p:sp>
      <p:sp>
        <p:nvSpPr>
          <p:cNvPr id="4" name="Shape 2"/>
          <p:cNvSpPr/>
          <p:nvPr/>
        </p:nvSpPr>
        <p:spPr>
          <a:xfrm>
            <a:off x="548640" y="1417320"/>
            <a:ext cx="5341468" cy="3200400"/>
          </a:xfrm>
          <a:prstGeom prst="roundRect">
            <a:avLst>
              <a:gd name="adj" fmla="val 2571"/>
            </a:avLst>
          </a:prstGeom>
          <a:solidFill>
            <a:srgbClr val="EEF2FF"/>
          </a:solidFill>
          <a:ln/>
          <a:effectLst>
            <a:outerShdw sx="100000" sy="100000" kx="0" ky="0" algn="bl" rotWithShape="0" blurRad="76200" dist="25400" dir="5400000">
              <a:srgbClr val="1A3A5C">
                <a:alpha val="12000"/>
              </a:srgbClr>
            </a:outerShdw>
          </a:effectLst>
        </p:spPr>
      </p:sp>
      <p:sp>
        <p:nvSpPr>
          <p:cNvPr id="5" name="Text 3"/>
          <p:cNvSpPr/>
          <p:nvPr/>
        </p:nvSpPr>
        <p:spPr>
          <a:xfrm>
            <a:off x="749808" y="1545336"/>
            <a:ext cx="4939132" cy="329184"/>
          </a:xfrm>
          <a:prstGeom prst="rect">
            <a:avLst/>
          </a:prstGeom>
          <a:noFill/>
          <a:ln/>
        </p:spPr>
        <p:txBody>
          <a:bodyPr wrap="square" lIns="0" tIns="0" rIns="0" bIns="0" rtlCol="0" anchor="ctr"/>
          <a:lstStyle/>
          <a:p>
            <a:pPr indent="0" marL="0">
              <a:buNone/>
            </a:pPr>
            <a:r>
              <a:rPr lang="en-US" sz="1450" b="1" dirty="0">
                <a:solidFill>
                  <a:srgbClr val="4A6FA5"/>
                </a:solidFill>
                <a:latin typeface="Calibri" pitchFamily="34" charset="0"/>
                <a:ea typeface="Calibri" pitchFamily="34" charset="-122"/>
                <a:cs typeface="Calibri" pitchFamily="34" charset="-120"/>
              </a:rPr>
              <a:t>Landmark model</a:t>
            </a:r>
            <a:endParaRPr lang="en-US" sz="1450" dirty="0"/>
          </a:p>
        </p:txBody>
      </p:sp>
      <p:sp>
        <p:nvSpPr>
          <p:cNvPr id="6" name="Text 4"/>
          <p:cNvSpPr/>
          <p:nvPr/>
        </p:nvSpPr>
        <p:spPr>
          <a:xfrm>
            <a:off x="749808" y="1929384"/>
            <a:ext cx="4939132" cy="2578608"/>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Sense a known, identifiable feature at (xi, yi); predict its range and bearing by simple geometry: ẑt = h(xt).</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Add Gaussian noise: P(zt|xt) = N(ẑt, Σz).</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Advantage: instant localization if a landmark is visible.</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Weakness: you must first correctly identify which landmark you're seeing (the data-association problem).</a:t>
            </a:r>
            <a:endParaRPr lang="en-US" sz="1250" dirty="0"/>
          </a:p>
        </p:txBody>
      </p:sp>
      <p:sp>
        <p:nvSpPr>
          <p:cNvPr id="7" name="Shape 5"/>
          <p:cNvSpPr/>
          <p:nvPr/>
        </p:nvSpPr>
        <p:spPr>
          <a:xfrm>
            <a:off x="6301588" y="1417320"/>
            <a:ext cx="5341468" cy="3200400"/>
          </a:xfrm>
          <a:prstGeom prst="roundRect">
            <a:avLst>
              <a:gd name="adj" fmla="val 2571"/>
            </a:avLst>
          </a:prstGeom>
          <a:solidFill>
            <a:srgbClr val="FFF8E6"/>
          </a:solidFill>
          <a:ln/>
          <a:effectLst>
            <a:outerShdw sx="100000" sy="100000" kx="0" ky="0" algn="bl" rotWithShape="0" blurRad="76200" dist="25400" dir="5400000">
              <a:srgbClr val="1A3A5C">
                <a:alpha val="12000"/>
              </a:srgbClr>
            </a:outerShdw>
          </a:effectLst>
        </p:spPr>
      </p:sp>
      <p:sp>
        <p:nvSpPr>
          <p:cNvPr id="8" name="Text 6"/>
          <p:cNvSpPr/>
          <p:nvPr/>
        </p:nvSpPr>
        <p:spPr>
          <a:xfrm>
            <a:off x="6502756" y="1545336"/>
            <a:ext cx="4939132" cy="329184"/>
          </a:xfrm>
          <a:prstGeom prst="rect">
            <a:avLst/>
          </a:prstGeom>
          <a:noFill/>
          <a:ln/>
        </p:spPr>
        <p:txBody>
          <a:bodyPr wrap="square" lIns="0" tIns="0" rIns="0" bIns="0" rtlCol="0" anchor="ctr"/>
          <a:lstStyle/>
          <a:p>
            <a:pPr indent="0" marL="0">
              <a:buNone/>
            </a:pPr>
            <a:r>
              <a:rPr lang="en-US" sz="1450" b="1" dirty="0">
                <a:solidFill>
                  <a:srgbClr val="C8840A"/>
                </a:solidFill>
                <a:latin typeface="Calibri" pitchFamily="34" charset="0"/>
                <a:ea typeface="Calibri" pitchFamily="34" charset="-122"/>
                <a:cs typeface="Calibri" pitchFamily="34" charset="-120"/>
              </a:rPr>
              <a:t>Range-scan (beam) model</a:t>
            </a:r>
            <a:endParaRPr lang="en-US" sz="1450" dirty="0"/>
          </a:p>
        </p:txBody>
      </p:sp>
      <p:sp>
        <p:nvSpPr>
          <p:cNvPr id="9" name="Text 7"/>
          <p:cNvSpPr/>
          <p:nvPr/>
        </p:nvSpPr>
        <p:spPr>
          <a:xfrm>
            <a:off x="6502756" y="1929384"/>
            <a:ext cx="4939132" cy="2578608"/>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A sensor array reports M range values along fixed bearings — no landmark identification needed.</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P(zt|xt) = α·∏ e^(−(zj−ẑj)²/2σ²) — assumes independent, identically distributed beam noise.</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Works even facing a featureless wall — but is less immediately informative than a clear landmark sighting.</a:t>
            </a:r>
            <a:endParaRPr lang="en-US" sz="1250" dirty="0"/>
          </a:p>
        </p:txBody>
      </p:sp>
      <p:sp>
        <p:nvSpPr>
          <p:cNvPr id="10" name="Shape 8"/>
          <p:cNvSpPr/>
          <p:nvPr/>
        </p:nvSpPr>
        <p:spPr>
          <a:xfrm>
            <a:off x="548640" y="5303520"/>
            <a:ext cx="11094415" cy="868680"/>
          </a:xfrm>
          <a:prstGeom prst="roundRect">
            <a:avLst>
              <a:gd name="adj" fmla="val 8421"/>
            </a:avLst>
          </a:prstGeom>
          <a:solidFill>
            <a:srgbClr val="EEF2FF"/>
          </a:solidFill>
          <a:ln w="12700">
            <a:solidFill>
              <a:srgbClr val="4A6FA5"/>
            </a:solidFill>
            <a:prstDash val="solid"/>
          </a:ln>
        </p:spPr>
      </p:sp>
      <p:sp>
        <p:nvSpPr>
          <p:cNvPr id="11" name="Text 9"/>
          <p:cNvSpPr/>
          <p:nvPr/>
        </p:nvSpPr>
        <p:spPr>
          <a:xfrm>
            <a:off x="749808" y="5413248"/>
            <a:ext cx="10692079" cy="274320"/>
          </a:xfrm>
          <a:prstGeom prst="rect">
            <a:avLst/>
          </a:prstGeom>
          <a:noFill/>
          <a:ln/>
        </p:spPr>
        <p:txBody>
          <a:bodyPr wrap="square" lIns="0" tIns="0" rIns="0" bIns="0" rtlCol="0" anchor="ctr"/>
          <a:lstStyle/>
          <a:p>
            <a:pPr indent="0" marL="0">
              <a:buNone/>
            </a:pPr>
            <a:r>
              <a:rPr lang="en-US" sz="1250" b="1" spc="50" kern="0" dirty="0">
                <a:solidFill>
                  <a:srgbClr val="4A6FA5"/>
                </a:solidFill>
                <a:latin typeface="Calibri" pitchFamily="34" charset="0"/>
                <a:ea typeface="Calibri" pitchFamily="34" charset="-122"/>
                <a:cs typeface="Calibri" pitchFamily="34" charset="-120"/>
              </a:rPr>
              <a:t>WHICH DOES WREN USE?</a:t>
            </a:r>
            <a:endParaRPr lang="en-US" sz="1250" dirty="0"/>
          </a:p>
        </p:txBody>
      </p:sp>
      <p:sp>
        <p:nvSpPr>
          <p:cNvPr id="12" name="Text 10"/>
          <p:cNvSpPr/>
          <p:nvPr/>
        </p:nvSpPr>
        <p:spPr>
          <a:xfrm>
            <a:off x="749808" y="5724144"/>
            <a:ext cx="10692079" cy="35661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Wren's lidar naturally produces range-scan data — a full sweep of distances with no need to first recognize a specific hallway landmark.</a:t>
            </a:r>
            <a:endParaRPr lang="en-US" sz="1300" dirty="0"/>
          </a:p>
        </p:txBody>
      </p:sp>
      <p:sp>
        <p:nvSpPr>
          <p:cNvPr id="13" name="Text 11"/>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4" name="Text 12"/>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26.4 Robotic Perception</a:t>
            </a:r>
            <a:endParaRPr lang="en-US" sz="900" dirty="0"/>
          </a:p>
        </p:txBody>
      </p:sp>
      <p:sp>
        <p:nvSpPr>
          <p:cNvPr id="15" name="Text 13"/>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26.4.1 LOCALIZATION AND MAPPING</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Monte Carlo Localization (MCL)</a:t>
            </a:r>
            <a:endParaRPr lang="en-US" sz="2700" dirty="0"/>
          </a:p>
        </p:txBody>
      </p:sp>
      <p:sp>
        <p:nvSpPr>
          <p:cNvPr id="4" name="Shape 2"/>
          <p:cNvSpPr/>
          <p:nvPr/>
        </p:nvSpPr>
        <p:spPr>
          <a:xfrm>
            <a:off x="548640" y="1417320"/>
            <a:ext cx="3484778" cy="2651760"/>
          </a:xfrm>
          <a:prstGeom prst="rect">
            <a:avLst/>
          </a:prstGeom>
          <a:solidFill>
            <a:srgbClr val="F4F7FB"/>
          </a:solidFill>
          <a:ln w="15875">
            <a:solidFill>
              <a:srgbClr val="D7DEE8"/>
            </a:solidFill>
            <a:prstDash val="solid"/>
          </a:ln>
        </p:spPr>
      </p:sp>
      <p:sp>
        <p:nvSpPr>
          <p:cNvPr id="5" name="Text 3"/>
          <p:cNvSpPr/>
          <p:nvPr/>
        </p:nvSpPr>
        <p:spPr>
          <a:xfrm>
            <a:off x="621792" y="1463040"/>
            <a:ext cx="3338474" cy="228600"/>
          </a:xfrm>
          <a:prstGeom prst="rect">
            <a:avLst/>
          </a:prstGeom>
          <a:noFill/>
          <a:ln/>
        </p:spPr>
        <p:txBody>
          <a:bodyPr wrap="square" lIns="0" tIns="0" rIns="0" bIns="0" rtlCol="0" anchor="t"/>
          <a:lstStyle/>
          <a:p>
            <a:pPr algn="l" indent="0" marL="0">
              <a:buNone/>
            </a:pPr>
            <a:r>
              <a:rPr lang="en-US" sz="1050" b="1" dirty="0">
                <a:solidFill>
                  <a:srgbClr val="1A3A5C"/>
                </a:solidFill>
                <a:latin typeface="Calibri" pitchFamily="34" charset="0"/>
                <a:ea typeface="Calibri" pitchFamily="34" charset="-122"/>
                <a:cs typeface="Calibri" pitchFamily="34" charset="-120"/>
              </a:rPr>
              <a:t>1. Global uncertainty</a:t>
            </a:r>
            <a:endParaRPr lang="en-US" sz="1050" dirty="0"/>
          </a:p>
        </p:txBody>
      </p:sp>
      <p:sp>
        <p:nvSpPr>
          <p:cNvPr id="6" name="Shape 4"/>
          <p:cNvSpPr/>
          <p:nvPr/>
        </p:nvSpPr>
        <p:spPr>
          <a:xfrm>
            <a:off x="2169164" y="3644311"/>
            <a:ext cx="41148" cy="41148"/>
          </a:xfrm>
          <a:prstGeom prst="ellipse">
            <a:avLst/>
          </a:prstGeom>
          <a:solidFill>
            <a:srgbClr val="4A6FA5"/>
          </a:solidFill>
          <a:ln/>
        </p:spPr>
      </p:sp>
      <p:sp>
        <p:nvSpPr>
          <p:cNvPr id="7" name="Shape 5"/>
          <p:cNvSpPr/>
          <p:nvPr/>
        </p:nvSpPr>
        <p:spPr>
          <a:xfrm>
            <a:off x="1725630" y="3252401"/>
            <a:ext cx="41148" cy="41148"/>
          </a:xfrm>
          <a:prstGeom prst="ellipse">
            <a:avLst/>
          </a:prstGeom>
          <a:solidFill>
            <a:srgbClr val="4A6FA5"/>
          </a:solidFill>
          <a:ln/>
        </p:spPr>
      </p:sp>
      <p:sp>
        <p:nvSpPr>
          <p:cNvPr id="8" name="Shape 6"/>
          <p:cNvSpPr/>
          <p:nvPr/>
        </p:nvSpPr>
        <p:spPr>
          <a:xfrm>
            <a:off x="2853574" y="3678232"/>
            <a:ext cx="41148" cy="41148"/>
          </a:xfrm>
          <a:prstGeom prst="ellipse">
            <a:avLst/>
          </a:prstGeom>
          <a:solidFill>
            <a:srgbClr val="4A6FA5"/>
          </a:solidFill>
          <a:ln/>
        </p:spPr>
      </p:sp>
      <p:sp>
        <p:nvSpPr>
          <p:cNvPr id="9" name="Shape 7"/>
          <p:cNvSpPr/>
          <p:nvPr/>
        </p:nvSpPr>
        <p:spPr>
          <a:xfrm>
            <a:off x="1296728" y="3458224"/>
            <a:ext cx="41148" cy="41148"/>
          </a:xfrm>
          <a:prstGeom prst="ellipse">
            <a:avLst/>
          </a:prstGeom>
          <a:solidFill>
            <a:srgbClr val="4A6FA5"/>
          </a:solidFill>
          <a:ln/>
        </p:spPr>
      </p:sp>
      <p:sp>
        <p:nvSpPr>
          <p:cNvPr id="10" name="Shape 8"/>
          <p:cNvSpPr/>
          <p:nvPr/>
        </p:nvSpPr>
        <p:spPr>
          <a:xfrm>
            <a:off x="2729460" y="3327946"/>
            <a:ext cx="41148" cy="41148"/>
          </a:xfrm>
          <a:prstGeom prst="ellipse">
            <a:avLst/>
          </a:prstGeom>
          <a:solidFill>
            <a:srgbClr val="4A6FA5"/>
          </a:solidFill>
          <a:ln/>
        </p:spPr>
      </p:sp>
      <p:sp>
        <p:nvSpPr>
          <p:cNvPr id="11" name="Shape 9"/>
          <p:cNvSpPr/>
          <p:nvPr/>
        </p:nvSpPr>
        <p:spPr>
          <a:xfrm>
            <a:off x="3093630" y="2187088"/>
            <a:ext cx="41148" cy="41148"/>
          </a:xfrm>
          <a:prstGeom prst="ellipse">
            <a:avLst/>
          </a:prstGeom>
          <a:solidFill>
            <a:srgbClr val="4A6FA5"/>
          </a:solidFill>
          <a:ln/>
        </p:spPr>
      </p:sp>
      <p:sp>
        <p:nvSpPr>
          <p:cNvPr id="12" name="Shape 10"/>
          <p:cNvSpPr/>
          <p:nvPr/>
        </p:nvSpPr>
        <p:spPr>
          <a:xfrm>
            <a:off x="769104" y="3808081"/>
            <a:ext cx="41148" cy="41148"/>
          </a:xfrm>
          <a:prstGeom prst="ellipse">
            <a:avLst/>
          </a:prstGeom>
          <a:solidFill>
            <a:srgbClr val="4A6FA5"/>
          </a:solidFill>
          <a:ln/>
        </p:spPr>
      </p:sp>
      <p:sp>
        <p:nvSpPr>
          <p:cNvPr id="13" name="Shape 11"/>
          <p:cNvSpPr/>
          <p:nvPr/>
        </p:nvSpPr>
        <p:spPr>
          <a:xfrm>
            <a:off x="2017332" y="3418000"/>
            <a:ext cx="41148" cy="41148"/>
          </a:xfrm>
          <a:prstGeom prst="ellipse">
            <a:avLst/>
          </a:prstGeom>
          <a:solidFill>
            <a:srgbClr val="4A6FA5"/>
          </a:solidFill>
          <a:ln/>
        </p:spPr>
      </p:sp>
      <p:sp>
        <p:nvSpPr>
          <p:cNvPr id="14" name="Shape 12"/>
          <p:cNvSpPr/>
          <p:nvPr/>
        </p:nvSpPr>
        <p:spPr>
          <a:xfrm>
            <a:off x="1013810" y="2483692"/>
            <a:ext cx="41148" cy="41148"/>
          </a:xfrm>
          <a:prstGeom prst="ellipse">
            <a:avLst/>
          </a:prstGeom>
          <a:solidFill>
            <a:srgbClr val="4A6FA5"/>
          </a:solidFill>
          <a:ln/>
        </p:spPr>
      </p:sp>
      <p:sp>
        <p:nvSpPr>
          <p:cNvPr id="15" name="Shape 13"/>
          <p:cNvSpPr/>
          <p:nvPr/>
        </p:nvSpPr>
        <p:spPr>
          <a:xfrm>
            <a:off x="2903771" y="3221024"/>
            <a:ext cx="41148" cy="41148"/>
          </a:xfrm>
          <a:prstGeom prst="ellipse">
            <a:avLst/>
          </a:prstGeom>
          <a:solidFill>
            <a:srgbClr val="4A6FA5"/>
          </a:solidFill>
          <a:ln/>
        </p:spPr>
      </p:sp>
      <p:sp>
        <p:nvSpPr>
          <p:cNvPr id="16" name="Shape 14"/>
          <p:cNvSpPr/>
          <p:nvPr/>
        </p:nvSpPr>
        <p:spPr>
          <a:xfrm>
            <a:off x="2245318" y="3779313"/>
            <a:ext cx="41148" cy="41148"/>
          </a:xfrm>
          <a:prstGeom prst="ellipse">
            <a:avLst/>
          </a:prstGeom>
          <a:solidFill>
            <a:srgbClr val="4A6FA5"/>
          </a:solidFill>
          <a:ln/>
        </p:spPr>
      </p:sp>
      <p:sp>
        <p:nvSpPr>
          <p:cNvPr id="17" name="Shape 15"/>
          <p:cNvSpPr/>
          <p:nvPr/>
        </p:nvSpPr>
        <p:spPr>
          <a:xfrm>
            <a:off x="2415865" y="1974234"/>
            <a:ext cx="41148" cy="41148"/>
          </a:xfrm>
          <a:prstGeom prst="ellipse">
            <a:avLst/>
          </a:prstGeom>
          <a:solidFill>
            <a:srgbClr val="4A6FA5"/>
          </a:solidFill>
          <a:ln/>
        </p:spPr>
      </p:sp>
      <p:sp>
        <p:nvSpPr>
          <p:cNvPr id="18" name="Shape 16"/>
          <p:cNvSpPr/>
          <p:nvPr/>
        </p:nvSpPr>
        <p:spPr>
          <a:xfrm>
            <a:off x="1601047" y="2841253"/>
            <a:ext cx="41148" cy="41148"/>
          </a:xfrm>
          <a:prstGeom prst="ellipse">
            <a:avLst/>
          </a:prstGeom>
          <a:solidFill>
            <a:srgbClr val="4A6FA5"/>
          </a:solidFill>
          <a:ln/>
        </p:spPr>
      </p:sp>
      <p:sp>
        <p:nvSpPr>
          <p:cNvPr id="19" name="Shape 17"/>
          <p:cNvSpPr/>
          <p:nvPr/>
        </p:nvSpPr>
        <p:spPr>
          <a:xfrm>
            <a:off x="1812131" y="3187219"/>
            <a:ext cx="41148" cy="41148"/>
          </a:xfrm>
          <a:prstGeom prst="ellipse">
            <a:avLst/>
          </a:prstGeom>
          <a:solidFill>
            <a:srgbClr val="4A6FA5"/>
          </a:solidFill>
          <a:ln/>
        </p:spPr>
      </p:sp>
      <p:sp>
        <p:nvSpPr>
          <p:cNvPr id="20" name="Shape 18"/>
          <p:cNvSpPr/>
          <p:nvPr/>
        </p:nvSpPr>
        <p:spPr>
          <a:xfrm>
            <a:off x="1942312" y="3717633"/>
            <a:ext cx="41148" cy="41148"/>
          </a:xfrm>
          <a:prstGeom prst="ellipse">
            <a:avLst/>
          </a:prstGeom>
          <a:solidFill>
            <a:srgbClr val="4A6FA5"/>
          </a:solidFill>
          <a:ln/>
        </p:spPr>
      </p:sp>
      <p:sp>
        <p:nvSpPr>
          <p:cNvPr id="21" name="Shape 19"/>
          <p:cNvSpPr/>
          <p:nvPr/>
        </p:nvSpPr>
        <p:spPr>
          <a:xfrm>
            <a:off x="881897" y="1866058"/>
            <a:ext cx="41148" cy="41148"/>
          </a:xfrm>
          <a:prstGeom prst="ellipse">
            <a:avLst/>
          </a:prstGeom>
          <a:solidFill>
            <a:srgbClr val="4A6FA5"/>
          </a:solidFill>
          <a:ln/>
        </p:spPr>
      </p:sp>
      <p:sp>
        <p:nvSpPr>
          <p:cNvPr id="22" name="Shape 20"/>
          <p:cNvSpPr/>
          <p:nvPr/>
        </p:nvSpPr>
        <p:spPr>
          <a:xfrm>
            <a:off x="3789569" y="1842719"/>
            <a:ext cx="41148" cy="41148"/>
          </a:xfrm>
          <a:prstGeom prst="ellipse">
            <a:avLst/>
          </a:prstGeom>
          <a:solidFill>
            <a:srgbClr val="4A6FA5"/>
          </a:solidFill>
          <a:ln/>
        </p:spPr>
      </p:sp>
      <p:sp>
        <p:nvSpPr>
          <p:cNvPr id="23" name="Shape 21"/>
          <p:cNvSpPr/>
          <p:nvPr/>
        </p:nvSpPr>
        <p:spPr>
          <a:xfrm>
            <a:off x="3565861" y="2373591"/>
            <a:ext cx="41148" cy="41148"/>
          </a:xfrm>
          <a:prstGeom prst="ellipse">
            <a:avLst/>
          </a:prstGeom>
          <a:solidFill>
            <a:srgbClr val="4A6FA5"/>
          </a:solidFill>
          <a:ln/>
        </p:spPr>
      </p:sp>
      <p:sp>
        <p:nvSpPr>
          <p:cNvPr id="24" name="Shape 22"/>
          <p:cNvSpPr/>
          <p:nvPr/>
        </p:nvSpPr>
        <p:spPr>
          <a:xfrm>
            <a:off x="2576393" y="3745457"/>
            <a:ext cx="41148" cy="41148"/>
          </a:xfrm>
          <a:prstGeom prst="ellipse">
            <a:avLst/>
          </a:prstGeom>
          <a:solidFill>
            <a:srgbClr val="4A6FA5"/>
          </a:solidFill>
          <a:ln/>
        </p:spPr>
      </p:sp>
      <p:sp>
        <p:nvSpPr>
          <p:cNvPr id="25" name="Shape 23"/>
          <p:cNvSpPr/>
          <p:nvPr/>
        </p:nvSpPr>
        <p:spPr>
          <a:xfrm>
            <a:off x="860693" y="2382059"/>
            <a:ext cx="41148" cy="41148"/>
          </a:xfrm>
          <a:prstGeom prst="ellipse">
            <a:avLst/>
          </a:prstGeom>
          <a:solidFill>
            <a:srgbClr val="4A6FA5"/>
          </a:solidFill>
          <a:ln/>
        </p:spPr>
      </p:sp>
      <p:sp>
        <p:nvSpPr>
          <p:cNvPr id="26" name="Shape 24"/>
          <p:cNvSpPr/>
          <p:nvPr/>
        </p:nvSpPr>
        <p:spPr>
          <a:xfrm>
            <a:off x="3711786" y="2155318"/>
            <a:ext cx="41148" cy="41148"/>
          </a:xfrm>
          <a:prstGeom prst="ellipse">
            <a:avLst/>
          </a:prstGeom>
          <a:solidFill>
            <a:srgbClr val="4A6FA5"/>
          </a:solidFill>
          <a:ln/>
        </p:spPr>
      </p:sp>
      <p:sp>
        <p:nvSpPr>
          <p:cNvPr id="27" name="Shape 25"/>
          <p:cNvSpPr/>
          <p:nvPr/>
        </p:nvSpPr>
        <p:spPr>
          <a:xfrm>
            <a:off x="3560807" y="2587610"/>
            <a:ext cx="41148" cy="41148"/>
          </a:xfrm>
          <a:prstGeom prst="ellipse">
            <a:avLst/>
          </a:prstGeom>
          <a:solidFill>
            <a:srgbClr val="4A6FA5"/>
          </a:solidFill>
          <a:ln/>
        </p:spPr>
      </p:sp>
      <p:sp>
        <p:nvSpPr>
          <p:cNvPr id="28" name="Shape 26"/>
          <p:cNvSpPr/>
          <p:nvPr/>
        </p:nvSpPr>
        <p:spPr>
          <a:xfrm>
            <a:off x="1031899" y="3360565"/>
            <a:ext cx="41148" cy="41148"/>
          </a:xfrm>
          <a:prstGeom prst="ellipse">
            <a:avLst/>
          </a:prstGeom>
          <a:solidFill>
            <a:srgbClr val="4A6FA5"/>
          </a:solidFill>
          <a:ln/>
        </p:spPr>
      </p:sp>
      <p:sp>
        <p:nvSpPr>
          <p:cNvPr id="29" name="Shape 27"/>
          <p:cNvSpPr/>
          <p:nvPr/>
        </p:nvSpPr>
        <p:spPr>
          <a:xfrm>
            <a:off x="3171630" y="3248361"/>
            <a:ext cx="41148" cy="41148"/>
          </a:xfrm>
          <a:prstGeom prst="ellipse">
            <a:avLst/>
          </a:prstGeom>
          <a:solidFill>
            <a:srgbClr val="4A6FA5"/>
          </a:solidFill>
          <a:ln/>
        </p:spPr>
      </p:sp>
      <p:sp>
        <p:nvSpPr>
          <p:cNvPr id="30" name="Shape 28"/>
          <p:cNvSpPr/>
          <p:nvPr/>
        </p:nvSpPr>
        <p:spPr>
          <a:xfrm>
            <a:off x="3853830" y="3455857"/>
            <a:ext cx="41148" cy="41148"/>
          </a:xfrm>
          <a:prstGeom prst="ellipse">
            <a:avLst/>
          </a:prstGeom>
          <a:solidFill>
            <a:srgbClr val="4A6FA5"/>
          </a:solidFill>
          <a:ln/>
        </p:spPr>
      </p:sp>
      <p:sp>
        <p:nvSpPr>
          <p:cNvPr id="31" name="Shape 29"/>
          <p:cNvSpPr/>
          <p:nvPr/>
        </p:nvSpPr>
        <p:spPr>
          <a:xfrm>
            <a:off x="1229487" y="2367421"/>
            <a:ext cx="41148" cy="41148"/>
          </a:xfrm>
          <a:prstGeom prst="ellipse">
            <a:avLst/>
          </a:prstGeom>
          <a:solidFill>
            <a:srgbClr val="4A6FA5"/>
          </a:solidFill>
          <a:ln/>
        </p:spPr>
      </p:sp>
      <p:sp>
        <p:nvSpPr>
          <p:cNvPr id="32" name="Shape 30"/>
          <p:cNvSpPr/>
          <p:nvPr/>
        </p:nvSpPr>
        <p:spPr>
          <a:xfrm>
            <a:off x="1824094" y="3029050"/>
            <a:ext cx="41148" cy="41148"/>
          </a:xfrm>
          <a:prstGeom prst="ellipse">
            <a:avLst/>
          </a:prstGeom>
          <a:solidFill>
            <a:srgbClr val="4A6FA5"/>
          </a:solidFill>
          <a:ln/>
        </p:spPr>
      </p:sp>
      <p:sp>
        <p:nvSpPr>
          <p:cNvPr id="33" name="Shape 31"/>
          <p:cNvSpPr/>
          <p:nvPr/>
        </p:nvSpPr>
        <p:spPr>
          <a:xfrm>
            <a:off x="2819794" y="3166166"/>
            <a:ext cx="41148" cy="41148"/>
          </a:xfrm>
          <a:prstGeom prst="ellipse">
            <a:avLst/>
          </a:prstGeom>
          <a:solidFill>
            <a:srgbClr val="4A6FA5"/>
          </a:solidFill>
          <a:ln/>
        </p:spPr>
      </p:sp>
      <p:sp>
        <p:nvSpPr>
          <p:cNvPr id="34" name="Shape 32"/>
          <p:cNvSpPr/>
          <p:nvPr/>
        </p:nvSpPr>
        <p:spPr>
          <a:xfrm>
            <a:off x="1135759" y="2736536"/>
            <a:ext cx="41148" cy="41148"/>
          </a:xfrm>
          <a:prstGeom prst="ellipse">
            <a:avLst/>
          </a:prstGeom>
          <a:solidFill>
            <a:srgbClr val="4A6FA5"/>
          </a:solidFill>
          <a:ln/>
        </p:spPr>
      </p:sp>
      <p:sp>
        <p:nvSpPr>
          <p:cNvPr id="35" name="Shape 33"/>
          <p:cNvSpPr/>
          <p:nvPr/>
        </p:nvSpPr>
        <p:spPr>
          <a:xfrm>
            <a:off x="830905" y="2529438"/>
            <a:ext cx="41148" cy="41148"/>
          </a:xfrm>
          <a:prstGeom prst="ellipse">
            <a:avLst/>
          </a:prstGeom>
          <a:solidFill>
            <a:srgbClr val="4A6FA5"/>
          </a:solidFill>
          <a:ln/>
        </p:spPr>
      </p:sp>
      <p:sp>
        <p:nvSpPr>
          <p:cNvPr id="36" name="Shape 34"/>
          <p:cNvSpPr/>
          <p:nvPr/>
        </p:nvSpPr>
        <p:spPr>
          <a:xfrm>
            <a:off x="1783267" y="3269628"/>
            <a:ext cx="41148" cy="41148"/>
          </a:xfrm>
          <a:prstGeom prst="ellipse">
            <a:avLst/>
          </a:prstGeom>
          <a:solidFill>
            <a:srgbClr val="4A6FA5"/>
          </a:solidFill>
          <a:ln/>
        </p:spPr>
      </p:sp>
      <p:sp>
        <p:nvSpPr>
          <p:cNvPr id="37" name="Shape 35"/>
          <p:cNvSpPr/>
          <p:nvPr/>
        </p:nvSpPr>
        <p:spPr>
          <a:xfrm>
            <a:off x="2361628" y="2346404"/>
            <a:ext cx="41148" cy="41148"/>
          </a:xfrm>
          <a:prstGeom prst="ellipse">
            <a:avLst/>
          </a:prstGeom>
          <a:solidFill>
            <a:srgbClr val="4A6FA5"/>
          </a:solidFill>
          <a:ln/>
        </p:spPr>
      </p:sp>
      <p:sp>
        <p:nvSpPr>
          <p:cNvPr id="38" name="Shape 36"/>
          <p:cNvSpPr/>
          <p:nvPr/>
        </p:nvSpPr>
        <p:spPr>
          <a:xfrm>
            <a:off x="1448432" y="2798022"/>
            <a:ext cx="41148" cy="41148"/>
          </a:xfrm>
          <a:prstGeom prst="ellipse">
            <a:avLst/>
          </a:prstGeom>
          <a:solidFill>
            <a:srgbClr val="4A6FA5"/>
          </a:solidFill>
          <a:ln/>
        </p:spPr>
      </p:sp>
      <p:sp>
        <p:nvSpPr>
          <p:cNvPr id="39" name="Shape 37"/>
          <p:cNvSpPr/>
          <p:nvPr/>
        </p:nvSpPr>
        <p:spPr>
          <a:xfrm>
            <a:off x="3591796" y="2730559"/>
            <a:ext cx="41148" cy="41148"/>
          </a:xfrm>
          <a:prstGeom prst="ellipse">
            <a:avLst/>
          </a:prstGeom>
          <a:solidFill>
            <a:srgbClr val="4A6FA5"/>
          </a:solidFill>
          <a:ln/>
        </p:spPr>
      </p:sp>
      <p:sp>
        <p:nvSpPr>
          <p:cNvPr id="40" name="Shape 38"/>
          <p:cNvSpPr/>
          <p:nvPr/>
        </p:nvSpPr>
        <p:spPr>
          <a:xfrm>
            <a:off x="2512555" y="2506720"/>
            <a:ext cx="41148" cy="41148"/>
          </a:xfrm>
          <a:prstGeom prst="ellipse">
            <a:avLst/>
          </a:prstGeom>
          <a:solidFill>
            <a:srgbClr val="4A6FA5"/>
          </a:solidFill>
          <a:ln/>
        </p:spPr>
      </p:sp>
      <p:sp>
        <p:nvSpPr>
          <p:cNvPr id="41" name="Shape 39"/>
          <p:cNvSpPr/>
          <p:nvPr/>
        </p:nvSpPr>
        <p:spPr>
          <a:xfrm>
            <a:off x="1788390" y="2767356"/>
            <a:ext cx="41148" cy="41148"/>
          </a:xfrm>
          <a:prstGeom prst="ellipse">
            <a:avLst/>
          </a:prstGeom>
          <a:solidFill>
            <a:srgbClr val="4A6FA5"/>
          </a:solidFill>
          <a:ln/>
        </p:spPr>
      </p:sp>
      <p:sp>
        <p:nvSpPr>
          <p:cNvPr id="42" name="Shape 40"/>
          <p:cNvSpPr/>
          <p:nvPr/>
        </p:nvSpPr>
        <p:spPr>
          <a:xfrm>
            <a:off x="1038755" y="2886630"/>
            <a:ext cx="41148" cy="41148"/>
          </a:xfrm>
          <a:prstGeom prst="ellipse">
            <a:avLst/>
          </a:prstGeom>
          <a:solidFill>
            <a:srgbClr val="4A6FA5"/>
          </a:solidFill>
          <a:ln/>
        </p:spPr>
      </p:sp>
      <p:sp>
        <p:nvSpPr>
          <p:cNvPr id="43" name="Shape 41"/>
          <p:cNvSpPr/>
          <p:nvPr/>
        </p:nvSpPr>
        <p:spPr>
          <a:xfrm>
            <a:off x="1104853" y="3635151"/>
            <a:ext cx="41148" cy="41148"/>
          </a:xfrm>
          <a:prstGeom prst="ellipse">
            <a:avLst/>
          </a:prstGeom>
          <a:solidFill>
            <a:srgbClr val="4A6FA5"/>
          </a:solidFill>
          <a:ln/>
        </p:spPr>
      </p:sp>
      <p:sp>
        <p:nvSpPr>
          <p:cNvPr id="44" name="Shape 42"/>
          <p:cNvSpPr/>
          <p:nvPr/>
        </p:nvSpPr>
        <p:spPr>
          <a:xfrm>
            <a:off x="3478006" y="3676064"/>
            <a:ext cx="41148" cy="41148"/>
          </a:xfrm>
          <a:prstGeom prst="ellipse">
            <a:avLst/>
          </a:prstGeom>
          <a:solidFill>
            <a:srgbClr val="4A6FA5"/>
          </a:solidFill>
          <a:ln/>
        </p:spPr>
      </p:sp>
      <p:sp>
        <p:nvSpPr>
          <p:cNvPr id="45" name="Shape 43"/>
          <p:cNvSpPr/>
          <p:nvPr/>
        </p:nvSpPr>
        <p:spPr>
          <a:xfrm>
            <a:off x="3850976" y="2751914"/>
            <a:ext cx="41148" cy="41148"/>
          </a:xfrm>
          <a:prstGeom prst="ellipse">
            <a:avLst/>
          </a:prstGeom>
          <a:solidFill>
            <a:srgbClr val="4A6FA5"/>
          </a:solidFill>
          <a:ln/>
        </p:spPr>
      </p:sp>
      <p:sp>
        <p:nvSpPr>
          <p:cNvPr id="46" name="Shape 44"/>
          <p:cNvSpPr/>
          <p:nvPr/>
        </p:nvSpPr>
        <p:spPr>
          <a:xfrm>
            <a:off x="829402" y="3429096"/>
            <a:ext cx="41148" cy="41148"/>
          </a:xfrm>
          <a:prstGeom prst="ellipse">
            <a:avLst/>
          </a:prstGeom>
          <a:solidFill>
            <a:srgbClr val="4A6FA5"/>
          </a:solidFill>
          <a:ln/>
        </p:spPr>
      </p:sp>
      <p:sp>
        <p:nvSpPr>
          <p:cNvPr id="47" name="Shape 45"/>
          <p:cNvSpPr/>
          <p:nvPr/>
        </p:nvSpPr>
        <p:spPr>
          <a:xfrm>
            <a:off x="1318978" y="3801299"/>
            <a:ext cx="41148" cy="41148"/>
          </a:xfrm>
          <a:prstGeom prst="ellipse">
            <a:avLst/>
          </a:prstGeom>
          <a:solidFill>
            <a:srgbClr val="4A6FA5"/>
          </a:solidFill>
          <a:ln/>
        </p:spPr>
      </p:sp>
      <p:sp>
        <p:nvSpPr>
          <p:cNvPr id="48" name="Shape 46"/>
          <p:cNvSpPr/>
          <p:nvPr/>
        </p:nvSpPr>
        <p:spPr>
          <a:xfrm>
            <a:off x="1486434" y="2091629"/>
            <a:ext cx="41148" cy="41148"/>
          </a:xfrm>
          <a:prstGeom prst="ellipse">
            <a:avLst/>
          </a:prstGeom>
          <a:solidFill>
            <a:srgbClr val="4A6FA5"/>
          </a:solidFill>
          <a:ln/>
        </p:spPr>
      </p:sp>
      <p:sp>
        <p:nvSpPr>
          <p:cNvPr id="49" name="Shape 47"/>
          <p:cNvSpPr/>
          <p:nvPr/>
        </p:nvSpPr>
        <p:spPr>
          <a:xfrm>
            <a:off x="3566709" y="2296246"/>
            <a:ext cx="41148" cy="41148"/>
          </a:xfrm>
          <a:prstGeom prst="ellipse">
            <a:avLst/>
          </a:prstGeom>
          <a:solidFill>
            <a:srgbClr val="4A6FA5"/>
          </a:solidFill>
          <a:ln/>
        </p:spPr>
      </p:sp>
      <p:sp>
        <p:nvSpPr>
          <p:cNvPr id="50" name="Shape 48"/>
          <p:cNvSpPr/>
          <p:nvPr/>
        </p:nvSpPr>
        <p:spPr>
          <a:xfrm>
            <a:off x="1593364" y="2922788"/>
            <a:ext cx="41148" cy="41148"/>
          </a:xfrm>
          <a:prstGeom prst="ellipse">
            <a:avLst/>
          </a:prstGeom>
          <a:solidFill>
            <a:srgbClr val="4A6FA5"/>
          </a:solidFill>
          <a:ln/>
        </p:spPr>
      </p:sp>
      <p:sp>
        <p:nvSpPr>
          <p:cNvPr id="51" name="Shape 49"/>
          <p:cNvSpPr/>
          <p:nvPr/>
        </p:nvSpPr>
        <p:spPr>
          <a:xfrm>
            <a:off x="4353458" y="1417320"/>
            <a:ext cx="3484778" cy="2651760"/>
          </a:xfrm>
          <a:prstGeom prst="rect">
            <a:avLst/>
          </a:prstGeom>
          <a:solidFill>
            <a:srgbClr val="F4F7FB"/>
          </a:solidFill>
          <a:ln w="15875">
            <a:solidFill>
              <a:srgbClr val="D7DEE8"/>
            </a:solidFill>
            <a:prstDash val="solid"/>
          </a:ln>
        </p:spPr>
      </p:sp>
      <p:sp>
        <p:nvSpPr>
          <p:cNvPr id="52" name="Text 50"/>
          <p:cNvSpPr/>
          <p:nvPr/>
        </p:nvSpPr>
        <p:spPr>
          <a:xfrm>
            <a:off x="4426610" y="1463040"/>
            <a:ext cx="3338474" cy="228600"/>
          </a:xfrm>
          <a:prstGeom prst="rect">
            <a:avLst/>
          </a:prstGeom>
          <a:noFill/>
          <a:ln/>
        </p:spPr>
        <p:txBody>
          <a:bodyPr wrap="square" lIns="0" tIns="0" rIns="0" bIns="0" rtlCol="0" anchor="t"/>
          <a:lstStyle/>
          <a:p>
            <a:pPr algn="l" indent="0" marL="0">
              <a:buNone/>
            </a:pPr>
            <a:r>
              <a:rPr lang="en-US" sz="1050" b="1" dirty="0">
                <a:solidFill>
                  <a:srgbClr val="1A3A5C"/>
                </a:solidFill>
                <a:latin typeface="Calibri" pitchFamily="34" charset="0"/>
                <a:ea typeface="Calibri" pitchFamily="34" charset="-122"/>
                <a:cs typeface="Calibri" pitchFamily="34" charset="-120"/>
              </a:rPr>
              <a:t>2. Corridor narrows it</a:t>
            </a:r>
            <a:endParaRPr lang="en-US" sz="1050" dirty="0"/>
          </a:p>
        </p:txBody>
      </p:sp>
      <p:sp>
        <p:nvSpPr>
          <p:cNvPr id="53" name="Shape 51"/>
          <p:cNvSpPr/>
          <p:nvPr/>
        </p:nvSpPr>
        <p:spPr>
          <a:xfrm>
            <a:off x="5530608" y="2501057"/>
            <a:ext cx="41148" cy="41148"/>
          </a:xfrm>
          <a:prstGeom prst="ellipse">
            <a:avLst/>
          </a:prstGeom>
          <a:solidFill>
            <a:srgbClr val="4A6FA5"/>
          </a:solidFill>
          <a:ln/>
        </p:spPr>
      </p:sp>
      <p:sp>
        <p:nvSpPr>
          <p:cNvPr id="54" name="Shape 52"/>
          <p:cNvSpPr/>
          <p:nvPr/>
        </p:nvSpPr>
        <p:spPr>
          <a:xfrm>
            <a:off x="6786398" y="3001702"/>
            <a:ext cx="41148" cy="41148"/>
          </a:xfrm>
          <a:prstGeom prst="ellipse">
            <a:avLst/>
          </a:prstGeom>
          <a:solidFill>
            <a:srgbClr val="4A6FA5"/>
          </a:solidFill>
          <a:ln/>
        </p:spPr>
      </p:sp>
      <p:sp>
        <p:nvSpPr>
          <p:cNvPr id="55" name="Shape 53"/>
          <p:cNvSpPr/>
          <p:nvPr/>
        </p:nvSpPr>
        <p:spPr>
          <a:xfrm>
            <a:off x="5606191" y="3103382"/>
            <a:ext cx="41148" cy="41148"/>
          </a:xfrm>
          <a:prstGeom prst="ellipse">
            <a:avLst/>
          </a:prstGeom>
          <a:solidFill>
            <a:srgbClr val="4A6FA5"/>
          </a:solidFill>
          <a:ln/>
        </p:spPr>
      </p:sp>
      <p:sp>
        <p:nvSpPr>
          <p:cNvPr id="56" name="Shape 54"/>
          <p:cNvSpPr/>
          <p:nvPr/>
        </p:nvSpPr>
        <p:spPr>
          <a:xfrm>
            <a:off x="5515706" y="3011604"/>
            <a:ext cx="41148" cy="41148"/>
          </a:xfrm>
          <a:prstGeom prst="ellipse">
            <a:avLst/>
          </a:prstGeom>
          <a:solidFill>
            <a:srgbClr val="4A6FA5"/>
          </a:solidFill>
          <a:ln/>
        </p:spPr>
      </p:sp>
      <p:sp>
        <p:nvSpPr>
          <p:cNvPr id="57" name="Shape 55"/>
          <p:cNvSpPr/>
          <p:nvPr/>
        </p:nvSpPr>
        <p:spPr>
          <a:xfrm>
            <a:off x="5389788" y="2917740"/>
            <a:ext cx="41148" cy="41148"/>
          </a:xfrm>
          <a:prstGeom prst="ellipse">
            <a:avLst/>
          </a:prstGeom>
          <a:solidFill>
            <a:srgbClr val="4A6FA5"/>
          </a:solidFill>
          <a:ln/>
        </p:spPr>
      </p:sp>
      <p:sp>
        <p:nvSpPr>
          <p:cNvPr id="58" name="Shape 56"/>
          <p:cNvSpPr/>
          <p:nvPr/>
        </p:nvSpPr>
        <p:spPr>
          <a:xfrm>
            <a:off x="6837738" y="2915433"/>
            <a:ext cx="41148" cy="41148"/>
          </a:xfrm>
          <a:prstGeom prst="ellipse">
            <a:avLst/>
          </a:prstGeom>
          <a:solidFill>
            <a:srgbClr val="4A6FA5"/>
          </a:solidFill>
          <a:ln/>
        </p:spPr>
      </p:sp>
      <p:sp>
        <p:nvSpPr>
          <p:cNvPr id="59" name="Shape 57"/>
          <p:cNvSpPr/>
          <p:nvPr/>
        </p:nvSpPr>
        <p:spPr>
          <a:xfrm>
            <a:off x="5407718" y="3251093"/>
            <a:ext cx="41148" cy="41148"/>
          </a:xfrm>
          <a:prstGeom prst="ellipse">
            <a:avLst/>
          </a:prstGeom>
          <a:solidFill>
            <a:srgbClr val="4A6FA5"/>
          </a:solidFill>
          <a:ln/>
        </p:spPr>
      </p:sp>
      <p:sp>
        <p:nvSpPr>
          <p:cNvPr id="60" name="Shape 58"/>
          <p:cNvSpPr/>
          <p:nvPr/>
        </p:nvSpPr>
        <p:spPr>
          <a:xfrm>
            <a:off x="6592947" y="3187273"/>
            <a:ext cx="41148" cy="41148"/>
          </a:xfrm>
          <a:prstGeom prst="ellipse">
            <a:avLst/>
          </a:prstGeom>
          <a:solidFill>
            <a:srgbClr val="4A6FA5"/>
          </a:solidFill>
          <a:ln/>
        </p:spPr>
      </p:sp>
      <p:sp>
        <p:nvSpPr>
          <p:cNvPr id="61" name="Shape 59"/>
          <p:cNvSpPr/>
          <p:nvPr/>
        </p:nvSpPr>
        <p:spPr>
          <a:xfrm>
            <a:off x="6930511" y="2834660"/>
            <a:ext cx="41148" cy="41148"/>
          </a:xfrm>
          <a:prstGeom prst="ellipse">
            <a:avLst/>
          </a:prstGeom>
          <a:solidFill>
            <a:srgbClr val="4A6FA5"/>
          </a:solidFill>
          <a:ln/>
        </p:spPr>
      </p:sp>
      <p:sp>
        <p:nvSpPr>
          <p:cNvPr id="62" name="Shape 60"/>
          <p:cNvSpPr/>
          <p:nvPr/>
        </p:nvSpPr>
        <p:spPr>
          <a:xfrm>
            <a:off x="6855089" y="3037355"/>
            <a:ext cx="41148" cy="41148"/>
          </a:xfrm>
          <a:prstGeom prst="ellipse">
            <a:avLst/>
          </a:prstGeom>
          <a:solidFill>
            <a:srgbClr val="4A6FA5"/>
          </a:solidFill>
          <a:ln/>
        </p:spPr>
      </p:sp>
      <p:sp>
        <p:nvSpPr>
          <p:cNvPr id="63" name="Shape 61"/>
          <p:cNvSpPr/>
          <p:nvPr/>
        </p:nvSpPr>
        <p:spPr>
          <a:xfrm>
            <a:off x="6902512" y="3269569"/>
            <a:ext cx="41148" cy="41148"/>
          </a:xfrm>
          <a:prstGeom prst="ellipse">
            <a:avLst/>
          </a:prstGeom>
          <a:solidFill>
            <a:srgbClr val="4A6FA5"/>
          </a:solidFill>
          <a:ln/>
        </p:spPr>
      </p:sp>
      <p:sp>
        <p:nvSpPr>
          <p:cNvPr id="64" name="Shape 62"/>
          <p:cNvSpPr/>
          <p:nvPr/>
        </p:nvSpPr>
        <p:spPr>
          <a:xfrm>
            <a:off x="5335492" y="2410777"/>
            <a:ext cx="41148" cy="41148"/>
          </a:xfrm>
          <a:prstGeom prst="ellipse">
            <a:avLst/>
          </a:prstGeom>
          <a:solidFill>
            <a:srgbClr val="4A6FA5"/>
          </a:solidFill>
          <a:ln/>
        </p:spPr>
      </p:sp>
      <p:sp>
        <p:nvSpPr>
          <p:cNvPr id="65" name="Shape 63"/>
          <p:cNvSpPr/>
          <p:nvPr/>
        </p:nvSpPr>
        <p:spPr>
          <a:xfrm>
            <a:off x="5611074" y="2146066"/>
            <a:ext cx="41148" cy="41148"/>
          </a:xfrm>
          <a:prstGeom prst="ellipse">
            <a:avLst/>
          </a:prstGeom>
          <a:solidFill>
            <a:srgbClr val="4A6FA5"/>
          </a:solidFill>
          <a:ln/>
        </p:spPr>
      </p:sp>
      <p:sp>
        <p:nvSpPr>
          <p:cNvPr id="66" name="Shape 64"/>
          <p:cNvSpPr/>
          <p:nvPr/>
        </p:nvSpPr>
        <p:spPr>
          <a:xfrm>
            <a:off x="6671240" y="2781441"/>
            <a:ext cx="41148" cy="41148"/>
          </a:xfrm>
          <a:prstGeom prst="ellipse">
            <a:avLst/>
          </a:prstGeom>
          <a:solidFill>
            <a:srgbClr val="4A6FA5"/>
          </a:solidFill>
          <a:ln/>
        </p:spPr>
      </p:sp>
      <p:sp>
        <p:nvSpPr>
          <p:cNvPr id="67" name="Shape 65"/>
          <p:cNvSpPr/>
          <p:nvPr/>
        </p:nvSpPr>
        <p:spPr>
          <a:xfrm>
            <a:off x="6653048" y="2366080"/>
            <a:ext cx="41148" cy="41148"/>
          </a:xfrm>
          <a:prstGeom prst="ellipse">
            <a:avLst/>
          </a:prstGeom>
          <a:solidFill>
            <a:srgbClr val="4A6FA5"/>
          </a:solidFill>
          <a:ln/>
        </p:spPr>
      </p:sp>
      <p:sp>
        <p:nvSpPr>
          <p:cNvPr id="68" name="Shape 66"/>
          <p:cNvSpPr/>
          <p:nvPr/>
        </p:nvSpPr>
        <p:spPr>
          <a:xfrm>
            <a:off x="5414115" y="2237967"/>
            <a:ext cx="41148" cy="41148"/>
          </a:xfrm>
          <a:prstGeom prst="ellipse">
            <a:avLst/>
          </a:prstGeom>
          <a:solidFill>
            <a:srgbClr val="4A6FA5"/>
          </a:solidFill>
          <a:ln/>
        </p:spPr>
      </p:sp>
      <p:sp>
        <p:nvSpPr>
          <p:cNvPr id="69" name="Shape 67"/>
          <p:cNvSpPr/>
          <p:nvPr/>
        </p:nvSpPr>
        <p:spPr>
          <a:xfrm>
            <a:off x="6721628" y="3266940"/>
            <a:ext cx="41148" cy="41148"/>
          </a:xfrm>
          <a:prstGeom prst="ellipse">
            <a:avLst/>
          </a:prstGeom>
          <a:solidFill>
            <a:srgbClr val="4A6FA5"/>
          </a:solidFill>
          <a:ln/>
        </p:spPr>
      </p:sp>
      <p:sp>
        <p:nvSpPr>
          <p:cNvPr id="70" name="Shape 68"/>
          <p:cNvSpPr/>
          <p:nvPr/>
        </p:nvSpPr>
        <p:spPr>
          <a:xfrm>
            <a:off x="5397776" y="3184813"/>
            <a:ext cx="41148" cy="41148"/>
          </a:xfrm>
          <a:prstGeom prst="ellipse">
            <a:avLst/>
          </a:prstGeom>
          <a:solidFill>
            <a:srgbClr val="4A6FA5"/>
          </a:solidFill>
          <a:ln/>
        </p:spPr>
      </p:sp>
      <p:sp>
        <p:nvSpPr>
          <p:cNvPr id="71" name="Shape 69"/>
          <p:cNvSpPr/>
          <p:nvPr/>
        </p:nvSpPr>
        <p:spPr>
          <a:xfrm>
            <a:off x="6868216" y="2157784"/>
            <a:ext cx="41148" cy="41148"/>
          </a:xfrm>
          <a:prstGeom prst="ellipse">
            <a:avLst/>
          </a:prstGeom>
          <a:solidFill>
            <a:srgbClr val="4A6FA5"/>
          </a:solidFill>
          <a:ln/>
        </p:spPr>
      </p:sp>
      <p:sp>
        <p:nvSpPr>
          <p:cNvPr id="72" name="Shape 70"/>
          <p:cNvSpPr/>
          <p:nvPr/>
        </p:nvSpPr>
        <p:spPr>
          <a:xfrm>
            <a:off x="5404111" y="3223652"/>
            <a:ext cx="41148" cy="41148"/>
          </a:xfrm>
          <a:prstGeom prst="ellipse">
            <a:avLst/>
          </a:prstGeom>
          <a:solidFill>
            <a:srgbClr val="4A6FA5"/>
          </a:solidFill>
          <a:ln/>
        </p:spPr>
      </p:sp>
      <p:sp>
        <p:nvSpPr>
          <p:cNvPr id="73" name="Shape 71"/>
          <p:cNvSpPr/>
          <p:nvPr/>
        </p:nvSpPr>
        <p:spPr>
          <a:xfrm>
            <a:off x="5355038" y="3112012"/>
            <a:ext cx="41148" cy="41148"/>
          </a:xfrm>
          <a:prstGeom prst="ellipse">
            <a:avLst/>
          </a:prstGeom>
          <a:solidFill>
            <a:srgbClr val="4A6FA5"/>
          </a:solidFill>
          <a:ln/>
        </p:spPr>
      </p:sp>
      <p:sp>
        <p:nvSpPr>
          <p:cNvPr id="74" name="Shape 72"/>
          <p:cNvSpPr/>
          <p:nvPr/>
        </p:nvSpPr>
        <p:spPr>
          <a:xfrm>
            <a:off x="6869110" y="3584431"/>
            <a:ext cx="41148" cy="41148"/>
          </a:xfrm>
          <a:prstGeom prst="ellipse">
            <a:avLst/>
          </a:prstGeom>
          <a:solidFill>
            <a:srgbClr val="4A6FA5"/>
          </a:solidFill>
          <a:ln/>
        </p:spPr>
      </p:sp>
      <p:sp>
        <p:nvSpPr>
          <p:cNvPr id="75" name="Shape 73"/>
          <p:cNvSpPr/>
          <p:nvPr/>
        </p:nvSpPr>
        <p:spPr>
          <a:xfrm>
            <a:off x="5547389" y="3109493"/>
            <a:ext cx="41148" cy="41148"/>
          </a:xfrm>
          <a:prstGeom prst="ellipse">
            <a:avLst/>
          </a:prstGeom>
          <a:solidFill>
            <a:srgbClr val="4A6FA5"/>
          </a:solidFill>
          <a:ln/>
        </p:spPr>
      </p:sp>
      <p:sp>
        <p:nvSpPr>
          <p:cNvPr id="76" name="Shape 74"/>
          <p:cNvSpPr/>
          <p:nvPr/>
        </p:nvSpPr>
        <p:spPr>
          <a:xfrm>
            <a:off x="5551687" y="3565510"/>
            <a:ext cx="41148" cy="41148"/>
          </a:xfrm>
          <a:prstGeom prst="ellipse">
            <a:avLst/>
          </a:prstGeom>
          <a:solidFill>
            <a:srgbClr val="4A6FA5"/>
          </a:solidFill>
          <a:ln/>
        </p:spPr>
      </p:sp>
      <p:sp>
        <p:nvSpPr>
          <p:cNvPr id="77" name="Shape 75"/>
          <p:cNvSpPr/>
          <p:nvPr/>
        </p:nvSpPr>
        <p:spPr>
          <a:xfrm>
            <a:off x="6756484" y="2883906"/>
            <a:ext cx="41148" cy="41148"/>
          </a:xfrm>
          <a:prstGeom prst="ellipse">
            <a:avLst/>
          </a:prstGeom>
          <a:solidFill>
            <a:srgbClr val="4A6FA5"/>
          </a:solidFill>
          <a:ln/>
        </p:spPr>
      </p:sp>
      <p:sp>
        <p:nvSpPr>
          <p:cNvPr id="78" name="Shape 76"/>
          <p:cNvSpPr/>
          <p:nvPr/>
        </p:nvSpPr>
        <p:spPr>
          <a:xfrm>
            <a:off x="6805793" y="2617879"/>
            <a:ext cx="41148" cy="41148"/>
          </a:xfrm>
          <a:prstGeom prst="ellipse">
            <a:avLst/>
          </a:prstGeom>
          <a:solidFill>
            <a:srgbClr val="4A6FA5"/>
          </a:solidFill>
          <a:ln/>
        </p:spPr>
      </p:sp>
      <p:sp>
        <p:nvSpPr>
          <p:cNvPr id="79" name="Shape 77"/>
          <p:cNvSpPr/>
          <p:nvPr/>
        </p:nvSpPr>
        <p:spPr>
          <a:xfrm>
            <a:off x="5223608" y="2303088"/>
            <a:ext cx="41148" cy="41148"/>
          </a:xfrm>
          <a:prstGeom prst="ellipse">
            <a:avLst/>
          </a:prstGeom>
          <a:solidFill>
            <a:srgbClr val="4A6FA5"/>
          </a:solidFill>
          <a:ln/>
        </p:spPr>
      </p:sp>
      <p:sp>
        <p:nvSpPr>
          <p:cNvPr id="80" name="Shape 78"/>
          <p:cNvSpPr/>
          <p:nvPr/>
        </p:nvSpPr>
        <p:spPr>
          <a:xfrm>
            <a:off x="5357973" y="2984564"/>
            <a:ext cx="41148" cy="41148"/>
          </a:xfrm>
          <a:prstGeom prst="ellipse">
            <a:avLst/>
          </a:prstGeom>
          <a:solidFill>
            <a:srgbClr val="4A6FA5"/>
          </a:solidFill>
          <a:ln/>
        </p:spPr>
      </p:sp>
      <p:sp>
        <p:nvSpPr>
          <p:cNvPr id="81" name="Shape 79"/>
          <p:cNvSpPr/>
          <p:nvPr/>
        </p:nvSpPr>
        <p:spPr>
          <a:xfrm>
            <a:off x="6640602" y="3215540"/>
            <a:ext cx="41148" cy="41148"/>
          </a:xfrm>
          <a:prstGeom prst="ellipse">
            <a:avLst/>
          </a:prstGeom>
          <a:solidFill>
            <a:srgbClr val="4A6FA5"/>
          </a:solidFill>
          <a:ln/>
        </p:spPr>
      </p:sp>
      <p:sp>
        <p:nvSpPr>
          <p:cNvPr id="82" name="Shape 80"/>
          <p:cNvSpPr/>
          <p:nvPr/>
        </p:nvSpPr>
        <p:spPr>
          <a:xfrm>
            <a:off x="5522670" y="3175823"/>
            <a:ext cx="41148" cy="41148"/>
          </a:xfrm>
          <a:prstGeom prst="ellipse">
            <a:avLst/>
          </a:prstGeom>
          <a:solidFill>
            <a:srgbClr val="4A6FA5"/>
          </a:solidFill>
          <a:ln/>
        </p:spPr>
      </p:sp>
      <p:sp>
        <p:nvSpPr>
          <p:cNvPr id="83" name="Shape 81"/>
          <p:cNvSpPr/>
          <p:nvPr/>
        </p:nvSpPr>
        <p:spPr>
          <a:xfrm>
            <a:off x="5622745" y="3317211"/>
            <a:ext cx="41148" cy="41148"/>
          </a:xfrm>
          <a:prstGeom prst="ellipse">
            <a:avLst/>
          </a:prstGeom>
          <a:solidFill>
            <a:srgbClr val="4A6FA5"/>
          </a:solidFill>
          <a:ln/>
        </p:spPr>
      </p:sp>
      <p:sp>
        <p:nvSpPr>
          <p:cNvPr id="84" name="Shape 82"/>
          <p:cNvSpPr/>
          <p:nvPr/>
        </p:nvSpPr>
        <p:spPr>
          <a:xfrm>
            <a:off x="6649199" y="2270923"/>
            <a:ext cx="41148" cy="41148"/>
          </a:xfrm>
          <a:prstGeom prst="ellipse">
            <a:avLst/>
          </a:prstGeom>
          <a:solidFill>
            <a:srgbClr val="4A6FA5"/>
          </a:solidFill>
          <a:ln/>
        </p:spPr>
      </p:sp>
      <p:sp>
        <p:nvSpPr>
          <p:cNvPr id="85" name="Shape 83"/>
          <p:cNvSpPr/>
          <p:nvPr/>
        </p:nvSpPr>
        <p:spPr>
          <a:xfrm>
            <a:off x="5445728" y="3260886"/>
            <a:ext cx="41148" cy="41148"/>
          </a:xfrm>
          <a:prstGeom prst="ellipse">
            <a:avLst/>
          </a:prstGeom>
          <a:solidFill>
            <a:srgbClr val="4A6FA5"/>
          </a:solidFill>
          <a:ln/>
        </p:spPr>
      </p:sp>
      <p:sp>
        <p:nvSpPr>
          <p:cNvPr id="86" name="Shape 84"/>
          <p:cNvSpPr/>
          <p:nvPr/>
        </p:nvSpPr>
        <p:spPr>
          <a:xfrm>
            <a:off x="5466206" y="3029596"/>
            <a:ext cx="41148" cy="41148"/>
          </a:xfrm>
          <a:prstGeom prst="ellipse">
            <a:avLst/>
          </a:prstGeom>
          <a:solidFill>
            <a:srgbClr val="4A6FA5"/>
          </a:solidFill>
          <a:ln/>
        </p:spPr>
      </p:sp>
      <p:sp>
        <p:nvSpPr>
          <p:cNvPr id="87" name="Shape 85"/>
          <p:cNvSpPr/>
          <p:nvPr/>
        </p:nvSpPr>
        <p:spPr>
          <a:xfrm>
            <a:off x="5666081" y="2291138"/>
            <a:ext cx="41148" cy="41148"/>
          </a:xfrm>
          <a:prstGeom prst="ellipse">
            <a:avLst/>
          </a:prstGeom>
          <a:solidFill>
            <a:srgbClr val="4A6FA5"/>
          </a:solidFill>
          <a:ln/>
        </p:spPr>
      </p:sp>
      <p:sp>
        <p:nvSpPr>
          <p:cNvPr id="88" name="Shape 86"/>
          <p:cNvSpPr/>
          <p:nvPr/>
        </p:nvSpPr>
        <p:spPr>
          <a:xfrm>
            <a:off x="5285345" y="2280794"/>
            <a:ext cx="41148" cy="41148"/>
          </a:xfrm>
          <a:prstGeom prst="ellipse">
            <a:avLst/>
          </a:prstGeom>
          <a:solidFill>
            <a:srgbClr val="4A6FA5"/>
          </a:solidFill>
          <a:ln/>
        </p:spPr>
      </p:sp>
      <p:sp>
        <p:nvSpPr>
          <p:cNvPr id="89" name="Shape 87"/>
          <p:cNvSpPr/>
          <p:nvPr/>
        </p:nvSpPr>
        <p:spPr>
          <a:xfrm>
            <a:off x="5605982" y="3232049"/>
            <a:ext cx="41148" cy="41148"/>
          </a:xfrm>
          <a:prstGeom prst="ellipse">
            <a:avLst/>
          </a:prstGeom>
          <a:solidFill>
            <a:srgbClr val="4A6FA5"/>
          </a:solidFill>
          <a:ln/>
        </p:spPr>
      </p:sp>
      <p:sp>
        <p:nvSpPr>
          <p:cNvPr id="90" name="Shape 88"/>
          <p:cNvSpPr/>
          <p:nvPr/>
        </p:nvSpPr>
        <p:spPr>
          <a:xfrm>
            <a:off x="6862643" y="2785583"/>
            <a:ext cx="41148" cy="41148"/>
          </a:xfrm>
          <a:prstGeom prst="ellipse">
            <a:avLst/>
          </a:prstGeom>
          <a:solidFill>
            <a:srgbClr val="4A6FA5"/>
          </a:solidFill>
          <a:ln/>
        </p:spPr>
      </p:sp>
      <p:sp>
        <p:nvSpPr>
          <p:cNvPr id="91" name="Shape 89"/>
          <p:cNvSpPr/>
          <p:nvPr/>
        </p:nvSpPr>
        <p:spPr>
          <a:xfrm>
            <a:off x="6577135" y="3179700"/>
            <a:ext cx="41148" cy="41148"/>
          </a:xfrm>
          <a:prstGeom prst="ellipse">
            <a:avLst/>
          </a:prstGeom>
          <a:solidFill>
            <a:srgbClr val="4A6FA5"/>
          </a:solidFill>
          <a:ln/>
        </p:spPr>
      </p:sp>
      <p:sp>
        <p:nvSpPr>
          <p:cNvPr id="92" name="Shape 90"/>
          <p:cNvSpPr/>
          <p:nvPr/>
        </p:nvSpPr>
        <p:spPr>
          <a:xfrm>
            <a:off x="6529964" y="2475860"/>
            <a:ext cx="41148" cy="41148"/>
          </a:xfrm>
          <a:prstGeom prst="ellipse">
            <a:avLst/>
          </a:prstGeom>
          <a:solidFill>
            <a:srgbClr val="4A6FA5"/>
          </a:solidFill>
          <a:ln/>
        </p:spPr>
      </p:sp>
      <p:sp>
        <p:nvSpPr>
          <p:cNvPr id="93" name="Shape 91"/>
          <p:cNvSpPr/>
          <p:nvPr/>
        </p:nvSpPr>
        <p:spPr>
          <a:xfrm>
            <a:off x="6507424" y="3291389"/>
            <a:ext cx="41148" cy="41148"/>
          </a:xfrm>
          <a:prstGeom prst="ellipse">
            <a:avLst/>
          </a:prstGeom>
          <a:solidFill>
            <a:srgbClr val="4A6FA5"/>
          </a:solidFill>
          <a:ln/>
        </p:spPr>
      </p:sp>
      <p:sp>
        <p:nvSpPr>
          <p:cNvPr id="94" name="Shape 92"/>
          <p:cNvSpPr/>
          <p:nvPr/>
        </p:nvSpPr>
        <p:spPr>
          <a:xfrm>
            <a:off x="5543167" y="3051174"/>
            <a:ext cx="41148" cy="41148"/>
          </a:xfrm>
          <a:prstGeom prst="ellipse">
            <a:avLst/>
          </a:prstGeom>
          <a:solidFill>
            <a:srgbClr val="4A6FA5"/>
          </a:solidFill>
          <a:ln/>
        </p:spPr>
      </p:sp>
      <p:sp>
        <p:nvSpPr>
          <p:cNvPr id="95" name="Shape 93"/>
          <p:cNvSpPr/>
          <p:nvPr/>
        </p:nvSpPr>
        <p:spPr>
          <a:xfrm>
            <a:off x="6582313" y="3175830"/>
            <a:ext cx="41148" cy="41148"/>
          </a:xfrm>
          <a:prstGeom prst="ellipse">
            <a:avLst/>
          </a:prstGeom>
          <a:solidFill>
            <a:srgbClr val="4A6FA5"/>
          </a:solidFill>
          <a:ln/>
        </p:spPr>
      </p:sp>
      <p:sp>
        <p:nvSpPr>
          <p:cNvPr id="96" name="Shape 94"/>
          <p:cNvSpPr/>
          <p:nvPr/>
        </p:nvSpPr>
        <p:spPr>
          <a:xfrm>
            <a:off x="6706843" y="3087673"/>
            <a:ext cx="41148" cy="41148"/>
          </a:xfrm>
          <a:prstGeom prst="ellipse">
            <a:avLst/>
          </a:prstGeom>
          <a:solidFill>
            <a:srgbClr val="4A6FA5"/>
          </a:solidFill>
          <a:ln/>
        </p:spPr>
      </p:sp>
      <p:sp>
        <p:nvSpPr>
          <p:cNvPr id="97" name="Shape 95"/>
          <p:cNvSpPr/>
          <p:nvPr/>
        </p:nvSpPr>
        <p:spPr>
          <a:xfrm>
            <a:off x="5300694" y="3388140"/>
            <a:ext cx="41148" cy="41148"/>
          </a:xfrm>
          <a:prstGeom prst="ellipse">
            <a:avLst/>
          </a:prstGeom>
          <a:solidFill>
            <a:srgbClr val="4A6FA5"/>
          </a:solidFill>
          <a:ln/>
        </p:spPr>
      </p:sp>
      <p:sp>
        <p:nvSpPr>
          <p:cNvPr id="98" name="Shape 96"/>
          <p:cNvSpPr/>
          <p:nvPr/>
        </p:nvSpPr>
        <p:spPr>
          <a:xfrm>
            <a:off x="8158277" y="1417320"/>
            <a:ext cx="3484778" cy="2651760"/>
          </a:xfrm>
          <a:prstGeom prst="rect">
            <a:avLst/>
          </a:prstGeom>
          <a:solidFill>
            <a:srgbClr val="F4F7FB"/>
          </a:solidFill>
          <a:ln w="15875">
            <a:solidFill>
              <a:srgbClr val="D7DEE8"/>
            </a:solidFill>
            <a:prstDash val="solid"/>
          </a:ln>
        </p:spPr>
      </p:sp>
      <p:sp>
        <p:nvSpPr>
          <p:cNvPr id="99" name="Text 97"/>
          <p:cNvSpPr/>
          <p:nvPr/>
        </p:nvSpPr>
        <p:spPr>
          <a:xfrm>
            <a:off x="8231429" y="1463040"/>
            <a:ext cx="3338474" cy="228600"/>
          </a:xfrm>
          <a:prstGeom prst="rect">
            <a:avLst/>
          </a:prstGeom>
          <a:noFill/>
          <a:ln/>
        </p:spPr>
        <p:txBody>
          <a:bodyPr wrap="square" lIns="0" tIns="0" rIns="0" bIns="0" rtlCol="0" anchor="t"/>
          <a:lstStyle/>
          <a:p>
            <a:pPr algn="l" indent="0" marL="0">
              <a:buNone/>
            </a:pPr>
            <a:r>
              <a:rPr lang="en-US" sz="1050" b="1" dirty="0">
                <a:solidFill>
                  <a:srgbClr val="1A3A5C"/>
                </a:solidFill>
                <a:latin typeface="Calibri" pitchFamily="34" charset="0"/>
                <a:ea typeface="Calibri" pitchFamily="34" charset="-122"/>
                <a:cs typeface="Calibri" pitchFamily="34" charset="-120"/>
              </a:rPr>
              <a:t>3. Room ⇒ converged</a:t>
            </a:r>
            <a:endParaRPr lang="en-US" sz="1050" dirty="0"/>
          </a:p>
        </p:txBody>
      </p:sp>
      <p:sp>
        <p:nvSpPr>
          <p:cNvPr id="100" name="Shape 98"/>
          <p:cNvSpPr/>
          <p:nvPr/>
        </p:nvSpPr>
        <p:spPr>
          <a:xfrm>
            <a:off x="9865734" y="2796577"/>
            <a:ext cx="41148" cy="41148"/>
          </a:xfrm>
          <a:prstGeom prst="ellipse">
            <a:avLst/>
          </a:prstGeom>
          <a:solidFill>
            <a:srgbClr val="4A6FA5"/>
          </a:solidFill>
          <a:ln/>
        </p:spPr>
      </p:sp>
      <p:sp>
        <p:nvSpPr>
          <p:cNvPr id="101" name="Shape 99"/>
          <p:cNvSpPr/>
          <p:nvPr/>
        </p:nvSpPr>
        <p:spPr>
          <a:xfrm>
            <a:off x="9821657" y="2800764"/>
            <a:ext cx="41148" cy="41148"/>
          </a:xfrm>
          <a:prstGeom prst="ellipse">
            <a:avLst/>
          </a:prstGeom>
          <a:solidFill>
            <a:srgbClr val="4A6FA5"/>
          </a:solidFill>
          <a:ln/>
        </p:spPr>
      </p:sp>
      <p:sp>
        <p:nvSpPr>
          <p:cNvPr id="102" name="Shape 100"/>
          <p:cNvSpPr/>
          <p:nvPr/>
        </p:nvSpPr>
        <p:spPr>
          <a:xfrm>
            <a:off x="9950802" y="2809630"/>
            <a:ext cx="41148" cy="41148"/>
          </a:xfrm>
          <a:prstGeom prst="ellipse">
            <a:avLst/>
          </a:prstGeom>
          <a:solidFill>
            <a:srgbClr val="4A6FA5"/>
          </a:solidFill>
          <a:ln/>
        </p:spPr>
      </p:sp>
      <p:sp>
        <p:nvSpPr>
          <p:cNvPr id="103" name="Shape 101"/>
          <p:cNvSpPr/>
          <p:nvPr/>
        </p:nvSpPr>
        <p:spPr>
          <a:xfrm>
            <a:off x="9827812" y="2880618"/>
            <a:ext cx="41148" cy="41148"/>
          </a:xfrm>
          <a:prstGeom prst="ellipse">
            <a:avLst/>
          </a:prstGeom>
          <a:solidFill>
            <a:srgbClr val="4A6FA5"/>
          </a:solidFill>
          <a:ln/>
        </p:spPr>
      </p:sp>
      <p:sp>
        <p:nvSpPr>
          <p:cNvPr id="104" name="Shape 102"/>
          <p:cNvSpPr/>
          <p:nvPr/>
        </p:nvSpPr>
        <p:spPr>
          <a:xfrm>
            <a:off x="9898498" y="2806868"/>
            <a:ext cx="41148" cy="41148"/>
          </a:xfrm>
          <a:prstGeom prst="ellipse">
            <a:avLst/>
          </a:prstGeom>
          <a:solidFill>
            <a:srgbClr val="4A6FA5"/>
          </a:solidFill>
          <a:ln/>
        </p:spPr>
      </p:sp>
      <p:sp>
        <p:nvSpPr>
          <p:cNvPr id="105" name="Shape 103"/>
          <p:cNvSpPr/>
          <p:nvPr/>
        </p:nvSpPr>
        <p:spPr>
          <a:xfrm>
            <a:off x="9810807" y="2928057"/>
            <a:ext cx="41148" cy="41148"/>
          </a:xfrm>
          <a:prstGeom prst="ellipse">
            <a:avLst/>
          </a:prstGeom>
          <a:solidFill>
            <a:srgbClr val="4A6FA5"/>
          </a:solidFill>
          <a:ln/>
        </p:spPr>
      </p:sp>
      <p:sp>
        <p:nvSpPr>
          <p:cNvPr id="106" name="Shape 104"/>
          <p:cNvSpPr/>
          <p:nvPr/>
        </p:nvSpPr>
        <p:spPr>
          <a:xfrm>
            <a:off x="9892642" y="2799544"/>
            <a:ext cx="41148" cy="41148"/>
          </a:xfrm>
          <a:prstGeom prst="ellipse">
            <a:avLst/>
          </a:prstGeom>
          <a:solidFill>
            <a:srgbClr val="4A6FA5"/>
          </a:solidFill>
          <a:ln/>
        </p:spPr>
      </p:sp>
      <p:sp>
        <p:nvSpPr>
          <p:cNvPr id="107" name="Shape 105"/>
          <p:cNvSpPr/>
          <p:nvPr/>
        </p:nvSpPr>
        <p:spPr>
          <a:xfrm>
            <a:off x="9871878" y="2891126"/>
            <a:ext cx="41148" cy="41148"/>
          </a:xfrm>
          <a:prstGeom prst="ellipse">
            <a:avLst/>
          </a:prstGeom>
          <a:solidFill>
            <a:srgbClr val="4A6FA5"/>
          </a:solidFill>
          <a:ln/>
        </p:spPr>
      </p:sp>
      <p:sp>
        <p:nvSpPr>
          <p:cNvPr id="108" name="Shape 106"/>
          <p:cNvSpPr/>
          <p:nvPr/>
        </p:nvSpPr>
        <p:spPr>
          <a:xfrm>
            <a:off x="9829946" y="2895177"/>
            <a:ext cx="41148" cy="41148"/>
          </a:xfrm>
          <a:prstGeom prst="ellipse">
            <a:avLst/>
          </a:prstGeom>
          <a:solidFill>
            <a:srgbClr val="4A6FA5"/>
          </a:solidFill>
          <a:ln/>
        </p:spPr>
      </p:sp>
      <p:sp>
        <p:nvSpPr>
          <p:cNvPr id="109" name="Shape 107"/>
          <p:cNvSpPr/>
          <p:nvPr/>
        </p:nvSpPr>
        <p:spPr>
          <a:xfrm>
            <a:off x="9820422" y="2823656"/>
            <a:ext cx="41148" cy="41148"/>
          </a:xfrm>
          <a:prstGeom prst="ellipse">
            <a:avLst/>
          </a:prstGeom>
          <a:solidFill>
            <a:srgbClr val="4A6FA5"/>
          </a:solidFill>
          <a:ln/>
        </p:spPr>
      </p:sp>
      <p:sp>
        <p:nvSpPr>
          <p:cNvPr id="110" name="Shape 108"/>
          <p:cNvSpPr/>
          <p:nvPr/>
        </p:nvSpPr>
        <p:spPr>
          <a:xfrm>
            <a:off x="9886442" y="2915478"/>
            <a:ext cx="41148" cy="41148"/>
          </a:xfrm>
          <a:prstGeom prst="ellipse">
            <a:avLst/>
          </a:prstGeom>
          <a:solidFill>
            <a:srgbClr val="4A6FA5"/>
          </a:solidFill>
          <a:ln/>
        </p:spPr>
      </p:sp>
      <p:sp>
        <p:nvSpPr>
          <p:cNvPr id="111" name="Shape 109"/>
          <p:cNvSpPr/>
          <p:nvPr/>
        </p:nvSpPr>
        <p:spPr>
          <a:xfrm>
            <a:off x="9926177" y="2806654"/>
            <a:ext cx="41148" cy="41148"/>
          </a:xfrm>
          <a:prstGeom prst="ellipse">
            <a:avLst/>
          </a:prstGeom>
          <a:solidFill>
            <a:srgbClr val="4A6FA5"/>
          </a:solidFill>
          <a:ln/>
        </p:spPr>
      </p:sp>
      <p:sp>
        <p:nvSpPr>
          <p:cNvPr id="112" name="Shape 110"/>
          <p:cNvSpPr/>
          <p:nvPr/>
        </p:nvSpPr>
        <p:spPr>
          <a:xfrm>
            <a:off x="9885192" y="2882191"/>
            <a:ext cx="41148" cy="41148"/>
          </a:xfrm>
          <a:prstGeom prst="ellipse">
            <a:avLst/>
          </a:prstGeom>
          <a:solidFill>
            <a:srgbClr val="4A6FA5"/>
          </a:solidFill>
          <a:ln/>
        </p:spPr>
      </p:sp>
      <p:sp>
        <p:nvSpPr>
          <p:cNvPr id="113" name="Shape 111"/>
          <p:cNvSpPr/>
          <p:nvPr/>
        </p:nvSpPr>
        <p:spPr>
          <a:xfrm>
            <a:off x="9835606" y="2928176"/>
            <a:ext cx="41148" cy="41148"/>
          </a:xfrm>
          <a:prstGeom prst="ellipse">
            <a:avLst/>
          </a:prstGeom>
          <a:solidFill>
            <a:srgbClr val="4A6FA5"/>
          </a:solidFill>
          <a:ln/>
        </p:spPr>
      </p:sp>
      <p:sp>
        <p:nvSpPr>
          <p:cNvPr id="114" name="Shape 112"/>
          <p:cNvSpPr/>
          <p:nvPr/>
        </p:nvSpPr>
        <p:spPr>
          <a:xfrm>
            <a:off x="9906942" y="2838940"/>
            <a:ext cx="41148" cy="41148"/>
          </a:xfrm>
          <a:prstGeom prst="ellipse">
            <a:avLst/>
          </a:prstGeom>
          <a:solidFill>
            <a:srgbClr val="4A6FA5"/>
          </a:solidFill>
          <a:ln/>
        </p:spPr>
      </p:sp>
      <p:sp>
        <p:nvSpPr>
          <p:cNvPr id="115" name="Shape 113"/>
          <p:cNvSpPr/>
          <p:nvPr/>
        </p:nvSpPr>
        <p:spPr>
          <a:xfrm>
            <a:off x="9895802" y="2891387"/>
            <a:ext cx="41148" cy="41148"/>
          </a:xfrm>
          <a:prstGeom prst="ellipse">
            <a:avLst/>
          </a:prstGeom>
          <a:solidFill>
            <a:srgbClr val="4A6FA5"/>
          </a:solidFill>
          <a:ln/>
        </p:spPr>
      </p:sp>
      <p:sp>
        <p:nvSpPr>
          <p:cNvPr id="116" name="Shape 114"/>
          <p:cNvSpPr/>
          <p:nvPr/>
        </p:nvSpPr>
        <p:spPr>
          <a:xfrm>
            <a:off x="9892589" y="2833801"/>
            <a:ext cx="41148" cy="41148"/>
          </a:xfrm>
          <a:prstGeom prst="ellipse">
            <a:avLst/>
          </a:prstGeom>
          <a:solidFill>
            <a:srgbClr val="4A6FA5"/>
          </a:solidFill>
          <a:ln/>
        </p:spPr>
      </p:sp>
      <p:sp>
        <p:nvSpPr>
          <p:cNvPr id="117" name="Shape 115"/>
          <p:cNvSpPr/>
          <p:nvPr/>
        </p:nvSpPr>
        <p:spPr>
          <a:xfrm>
            <a:off x="9885201" y="2921768"/>
            <a:ext cx="41148" cy="41148"/>
          </a:xfrm>
          <a:prstGeom prst="ellipse">
            <a:avLst/>
          </a:prstGeom>
          <a:solidFill>
            <a:srgbClr val="4A6FA5"/>
          </a:solidFill>
          <a:ln/>
        </p:spPr>
      </p:sp>
      <p:sp>
        <p:nvSpPr>
          <p:cNvPr id="118" name="Shape 116"/>
          <p:cNvSpPr/>
          <p:nvPr/>
        </p:nvSpPr>
        <p:spPr>
          <a:xfrm>
            <a:off x="9878187" y="2865381"/>
            <a:ext cx="41148" cy="41148"/>
          </a:xfrm>
          <a:prstGeom prst="ellipse">
            <a:avLst/>
          </a:prstGeom>
          <a:solidFill>
            <a:srgbClr val="4A6FA5"/>
          </a:solidFill>
          <a:ln/>
        </p:spPr>
      </p:sp>
      <p:sp>
        <p:nvSpPr>
          <p:cNvPr id="119" name="Shape 117"/>
          <p:cNvSpPr/>
          <p:nvPr/>
        </p:nvSpPr>
        <p:spPr>
          <a:xfrm>
            <a:off x="9884766" y="2926120"/>
            <a:ext cx="41148" cy="41148"/>
          </a:xfrm>
          <a:prstGeom prst="ellipse">
            <a:avLst/>
          </a:prstGeom>
          <a:solidFill>
            <a:srgbClr val="4A6FA5"/>
          </a:solidFill>
          <a:ln/>
        </p:spPr>
      </p:sp>
      <p:sp>
        <p:nvSpPr>
          <p:cNvPr id="120" name="Shape 118"/>
          <p:cNvSpPr/>
          <p:nvPr/>
        </p:nvSpPr>
        <p:spPr>
          <a:xfrm>
            <a:off x="9904775" y="2908551"/>
            <a:ext cx="41148" cy="41148"/>
          </a:xfrm>
          <a:prstGeom prst="ellipse">
            <a:avLst/>
          </a:prstGeom>
          <a:solidFill>
            <a:srgbClr val="4A6FA5"/>
          </a:solidFill>
          <a:ln/>
        </p:spPr>
      </p:sp>
      <p:sp>
        <p:nvSpPr>
          <p:cNvPr id="121" name="Shape 119"/>
          <p:cNvSpPr/>
          <p:nvPr/>
        </p:nvSpPr>
        <p:spPr>
          <a:xfrm>
            <a:off x="9873474" y="2877246"/>
            <a:ext cx="41148" cy="41148"/>
          </a:xfrm>
          <a:prstGeom prst="ellipse">
            <a:avLst/>
          </a:prstGeom>
          <a:solidFill>
            <a:srgbClr val="4A6FA5"/>
          </a:solidFill>
          <a:ln/>
        </p:spPr>
      </p:sp>
      <p:sp>
        <p:nvSpPr>
          <p:cNvPr id="122" name="Shape 120"/>
          <p:cNvSpPr/>
          <p:nvPr/>
        </p:nvSpPr>
        <p:spPr>
          <a:xfrm>
            <a:off x="9948617" y="2892195"/>
            <a:ext cx="41148" cy="41148"/>
          </a:xfrm>
          <a:prstGeom prst="ellipse">
            <a:avLst/>
          </a:prstGeom>
          <a:solidFill>
            <a:srgbClr val="4A6FA5"/>
          </a:solidFill>
          <a:ln/>
        </p:spPr>
      </p:sp>
      <p:sp>
        <p:nvSpPr>
          <p:cNvPr id="123" name="Shape 121"/>
          <p:cNvSpPr/>
          <p:nvPr/>
        </p:nvSpPr>
        <p:spPr>
          <a:xfrm>
            <a:off x="9931367" y="2798068"/>
            <a:ext cx="41148" cy="41148"/>
          </a:xfrm>
          <a:prstGeom prst="ellipse">
            <a:avLst/>
          </a:prstGeom>
          <a:solidFill>
            <a:srgbClr val="4A6FA5"/>
          </a:solidFill>
          <a:ln/>
        </p:spPr>
      </p:sp>
      <p:sp>
        <p:nvSpPr>
          <p:cNvPr id="124" name="Shape 122"/>
          <p:cNvSpPr/>
          <p:nvPr/>
        </p:nvSpPr>
        <p:spPr>
          <a:xfrm>
            <a:off x="9889860" y="2832531"/>
            <a:ext cx="41148" cy="41148"/>
          </a:xfrm>
          <a:prstGeom prst="ellipse">
            <a:avLst/>
          </a:prstGeom>
          <a:solidFill>
            <a:srgbClr val="4A6FA5"/>
          </a:solidFill>
          <a:ln/>
        </p:spPr>
      </p:sp>
      <p:sp>
        <p:nvSpPr>
          <p:cNvPr id="125" name="Shape 123"/>
          <p:cNvSpPr/>
          <p:nvPr/>
        </p:nvSpPr>
        <p:spPr>
          <a:xfrm>
            <a:off x="9873107" y="2820536"/>
            <a:ext cx="41148" cy="41148"/>
          </a:xfrm>
          <a:prstGeom prst="ellipse">
            <a:avLst/>
          </a:prstGeom>
          <a:solidFill>
            <a:srgbClr val="4A6FA5"/>
          </a:solidFill>
          <a:ln/>
        </p:spPr>
      </p:sp>
      <p:sp>
        <p:nvSpPr>
          <p:cNvPr id="126" name="Shape 124"/>
          <p:cNvSpPr/>
          <p:nvPr/>
        </p:nvSpPr>
        <p:spPr>
          <a:xfrm>
            <a:off x="9928846" y="2884912"/>
            <a:ext cx="41148" cy="41148"/>
          </a:xfrm>
          <a:prstGeom prst="ellipse">
            <a:avLst/>
          </a:prstGeom>
          <a:solidFill>
            <a:srgbClr val="4A6FA5"/>
          </a:solidFill>
          <a:ln/>
        </p:spPr>
      </p:sp>
      <p:sp>
        <p:nvSpPr>
          <p:cNvPr id="127" name="Shape 125"/>
          <p:cNvSpPr/>
          <p:nvPr/>
        </p:nvSpPr>
        <p:spPr>
          <a:xfrm>
            <a:off x="9883607" y="2926297"/>
            <a:ext cx="41148" cy="41148"/>
          </a:xfrm>
          <a:prstGeom prst="ellipse">
            <a:avLst/>
          </a:prstGeom>
          <a:solidFill>
            <a:srgbClr val="4A6FA5"/>
          </a:solidFill>
          <a:ln/>
        </p:spPr>
      </p:sp>
      <p:sp>
        <p:nvSpPr>
          <p:cNvPr id="128" name="Shape 126"/>
          <p:cNvSpPr/>
          <p:nvPr/>
        </p:nvSpPr>
        <p:spPr>
          <a:xfrm>
            <a:off x="9884703" y="2882677"/>
            <a:ext cx="41148" cy="41148"/>
          </a:xfrm>
          <a:prstGeom prst="ellipse">
            <a:avLst/>
          </a:prstGeom>
          <a:solidFill>
            <a:srgbClr val="4A6FA5"/>
          </a:solidFill>
          <a:ln/>
        </p:spPr>
      </p:sp>
      <p:sp>
        <p:nvSpPr>
          <p:cNvPr id="129" name="Shape 127"/>
          <p:cNvSpPr/>
          <p:nvPr/>
        </p:nvSpPr>
        <p:spPr>
          <a:xfrm>
            <a:off x="9927251" y="2791632"/>
            <a:ext cx="41148" cy="41148"/>
          </a:xfrm>
          <a:prstGeom prst="ellipse">
            <a:avLst/>
          </a:prstGeom>
          <a:solidFill>
            <a:srgbClr val="4A6FA5"/>
          </a:solidFill>
          <a:ln/>
        </p:spPr>
      </p:sp>
      <p:sp>
        <p:nvSpPr>
          <p:cNvPr id="130" name="Shape 128"/>
          <p:cNvSpPr/>
          <p:nvPr/>
        </p:nvSpPr>
        <p:spPr>
          <a:xfrm>
            <a:off x="9934657" y="2824691"/>
            <a:ext cx="41148" cy="41148"/>
          </a:xfrm>
          <a:prstGeom prst="ellipse">
            <a:avLst/>
          </a:prstGeom>
          <a:solidFill>
            <a:srgbClr val="4A6FA5"/>
          </a:solidFill>
          <a:ln/>
        </p:spPr>
      </p:sp>
      <p:sp>
        <p:nvSpPr>
          <p:cNvPr id="131" name="Shape 129"/>
          <p:cNvSpPr/>
          <p:nvPr/>
        </p:nvSpPr>
        <p:spPr>
          <a:xfrm>
            <a:off x="9811090" y="2804241"/>
            <a:ext cx="41148" cy="41148"/>
          </a:xfrm>
          <a:prstGeom prst="ellipse">
            <a:avLst/>
          </a:prstGeom>
          <a:solidFill>
            <a:srgbClr val="4A6FA5"/>
          </a:solidFill>
          <a:ln/>
        </p:spPr>
      </p:sp>
      <p:sp>
        <p:nvSpPr>
          <p:cNvPr id="132" name="Shape 130"/>
          <p:cNvSpPr/>
          <p:nvPr/>
        </p:nvSpPr>
        <p:spPr>
          <a:xfrm>
            <a:off x="9810733" y="2878046"/>
            <a:ext cx="41148" cy="41148"/>
          </a:xfrm>
          <a:prstGeom prst="ellipse">
            <a:avLst/>
          </a:prstGeom>
          <a:solidFill>
            <a:srgbClr val="4A6FA5"/>
          </a:solidFill>
          <a:ln/>
        </p:spPr>
      </p:sp>
      <p:sp>
        <p:nvSpPr>
          <p:cNvPr id="133" name="Shape 131"/>
          <p:cNvSpPr/>
          <p:nvPr/>
        </p:nvSpPr>
        <p:spPr>
          <a:xfrm>
            <a:off x="9827953" y="2855140"/>
            <a:ext cx="41148" cy="41148"/>
          </a:xfrm>
          <a:prstGeom prst="ellipse">
            <a:avLst/>
          </a:prstGeom>
          <a:solidFill>
            <a:srgbClr val="4A6FA5"/>
          </a:solidFill>
          <a:ln/>
        </p:spPr>
      </p:sp>
      <p:sp>
        <p:nvSpPr>
          <p:cNvPr id="134" name="Shape 132"/>
          <p:cNvSpPr/>
          <p:nvPr/>
        </p:nvSpPr>
        <p:spPr>
          <a:xfrm>
            <a:off x="9934180" y="2799700"/>
            <a:ext cx="41148" cy="41148"/>
          </a:xfrm>
          <a:prstGeom prst="ellipse">
            <a:avLst/>
          </a:prstGeom>
          <a:solidFill>
            <a:srgbClr val="4A6FA5"/>
          </a:solidFill>
          <a:ln/>
        </p:spPr>
      </p:sp>
      <p:sp>
        <p:nvSpPr>
          <p:cNvPr id="135" name="Shape 133"/>
          <p:cNvSpPr/>
          <p:nvPr/>
        </p:nvSpPr>
        <p:spPr>
          <a:xfrm>
            <a:off x="9877753" y="2847847"/>
            <a:ext cx="41148" cy="41148"/>
          </a:xfrm>
          <a:prstGeom prst="ellipse">
            <a:avLst/>
          </a:prstGeom>
          <a:solidFill>
            <a:srgbClr val="4A6FA5"/>
          </a:solidFill>
          <a:ln/>
        </p:spPr>
      </p:sp>
      <p:sp>
        <p:nvSpPr>
          <p:cNvPr id="136" name="Shape 134"/>
          <p:cNvSpPr/>
          <p:nvPr/>
        </p:nvSpPr>
        <p:spPr>
          <a:xfrm>
            <a:off x="9885685" y="2880522"/>
            <a:ext cx="41148" cy="41148"/>
          </a:xfrm>
          <a:prstGeom prst="ellipse">
            <a:avLst/>
          </a:prstGeom>
          <a:solidFill>
            <a:srgbClr val="4A6FA5"/>
          </a:solidFill>
          <a:ln/>
        </p:spPr>
      </p:sp>
      <p:sp>
        <p:nvSpPr>
          <p:cNvPr id="137" name="Shape 135"/>
          <p:cNvSpPr/>
          <p:nvPr/>
        </p:nvSpPr>
        <p:spPr>
          <a:xfrm>
            <a:off x="9808566" y="2831951"/>
            <a:ext cx="41148" cy="41148"/>
          </a:xfrm>
          <a:prstGeom prst="ellipse">
            <a:avLst/>
          </a:prstGeom>
          <a:solidFill>
            <a:srgbClr val="4A6FA5"/>
          </a:solidFill>
          <a:ln/>
        </p:spPr>
      </p:sp>
      <p:sp>
        <p:nvSpPr>
          <p:cNvPr id="138" name="Shape 136"/>
          <p:cNvSpPr/>
          <p:nvPr/>
        </p:nvSpPr>
        <p:spPr>
          <a:xfrm>
            <a:off x="9842341" y="2785478"/>
            <a:ext cx="41148" cy="41148"/>
          </a:xfrm>
          <a:prstGeom prst="ellipse">
            <a:avLst/>
          </a:prstGeom>
          <a:solidFill>
            <a:srgbClr val="4A6FA5"/>
          </a:solidFill>
          <a:ln/>
        </p:spPr>
      </p:sp>
      <p:sp>
        <p:nvSpPr>
          <p:cNvPr id="139" name="Shape 137"/>
          <p:cNvSpPr/>
          <p:nvPr/>
        </p:nvSpPr>
        <p:spPr>
          <a:xfrm>
            <a:off x="9902319" y="2786112"/>
            <a:ext cx="41148" cy="41148"/>
          </a:xfrm>
          <a:prstGeom prst="ellipse">
            <a:avLst/>
          </a:prstGeom>
          <a:solidFill>
            <a:srgbClr val="4A6FA5"/>
          </a:solidFill>
          <a:ln/>
        </p:spPr>
      </p:sp>
      <p:sp>
        <p:nvSpPr>
          <p:cNvPr id="140" name="Shape 138"/>
          <p:cNvSpPr/>
          <p:nvPr/>
        </p:nvSpPr>
        <p:spPr>
          <a:xfrm>
            <a:off x="9814626" y="2834084"/>
            <a:ext cx="41148" cy="41148"/>
          </a:xfrm>
          <a:prstGeom prst="ellipse">
            <a:avLst/>
          </a:prstGeom>
          <a:solidFill>
            <a:srgbClr val="4A6FA5"/>
          </a:solidFill>
          <a:ln/>
        </p:spPr>
      </p:sp>
      <p:sp>
        <p:nvSpPr>
          <p:cNvPr id="141" name="Shape 139"/>
          <p:cNvSpPr/>
          <p:nvPr/>
        </p:nvSpPr>
        <p:spPr>
          <a:xfrm>
            <a:off x="9827465" y="2800124"/>
            <a:ext cx="41148" cy="41148"/>
          </a:xfrm>
          <a:prstGeom prst="ellipse">
            <a:avLst/>
          </a:prstGeom>
          <a:solidFill>
            <a:srgbClr val="4A6FA5"/>
          </a:solidFill>
          <a:ln/>
        </p:spPr>
      </p:sp>
      <p:sp>
        <p:nvSpPr>
          <p:cNvPr id="142" name="Shape 140"/>
          <p:cNvSpPr/>
          <p:nvPr/>
        </p:nvSpPr>
        <p:spPr>
          <a:xfrm>
            <a:off x="9817291" y="2917043"/>
            <a:ext cx="41148" cy="41148"/>
          </a:xfrm>
          <a:prstGeom prst="ellipse">
            <a:avLst/>
          </a:prstGeom>
          <a:solidFill>
            <a:srgbClr val="4A6FA5"/>
          </a:solidFill>
          <a:ln/>
        </p:spPr>
      </p:sp>
      <p:sp>
        <p:nvSpPr>
          <p:cNvPr id="143" name="Shape 141"/>
          <p:cNvSpPr/>
          <p:nvPr/>
        </p:nvSpPr>
        <p:spPr>
          <a:xfrm>
            <a:off x="9815822" y="2810458"/>
            <a:ext cx="41148" cy="41148"/>
          </a:xfrm>
          <a:prstGeom prst="ellipse">
            <a:avLst/>
          </a:prstGeom>
          <a:solidFill>
            <a:srgbClr val="4A6FA5"/>
          </a:solidFill>
          <a:ln/>
        </p:spPr>
      </p:sp>
      <p:sp>
        <p:nvSpPr>
          <p:cNvPr id="144" name="Shape 142"/>
          <p:cNvSpPr/>
          <p:nvPr/>
        </p:nvSpPr>
        <p:spPr>
          <a:xfrm>
            <a:off x="9951609" y="2886037"/>
            <a:ext cx="41148" cy="41148"/>
          </a:xfrm>
          <a:prstGeom prst="ellipse">
            <a:avLst/>
          </a:prstGeom>
          <a:solidFill>
            <a:srgbClr val="4A6FA5"/>
          </a:solidFill>
          <a:ln/>
        </p:spPr>
      </p:sp>
      <p:sp>
        <p:nvSpPr>
          <p:cNvPr id="145" name="Shape 143"/>
          <p:cNvSpPr/>
          <p:nvPr/>
        </p:nvSpPr>
        <p:spPr>
          <a:xfrm>
            <a:off x="9836658" y="2811780"/>
            <a:ext cx="128016" cy="128016"/>
          </a:xfrm>
          <a:prstGeom prst="ellipse">
            <a:avLst/>
          </a:prstGeom>
          <a:solidFill>
            <a:srgbClr val="E8960C"/>
          </a:solidFill>
          <a:ln/>
        </p:spPr>
      </p:sp>
      <p:sp>
        <p:nvSpPr>
          <p:cNvPr id="146" name="Text 144"/>
          <p:cNvSpPr/>
          <p:nvPr/>
        </p:nvSpPr>
        <p:spPr>
          <a:xfrm>
            <a:off x="548640" y="4343400"/>
            <a:ext cx="11094415" cy="1737360"/>
          </a:xfrm>
          <a:prstGeom prst="rect">
            <a:avLst/>
          </a:prstGeom>
          <a:noFill/>
          <a:ln/>
        </p:spPr>
        <p:txBody>
          <a:bodyPr wrap="square" lIns="0" tIns="0" rIns="0" bIns="0" rtlCol="0" anchor="t"/>
          <a:lstStyle/>
          <a:p>
            <a:pPr marL="228600" indent="-228600">
              <a:spcAft>
                <a:spcPts val="1000"/>
              </a:spcAft>
              <a:buSzPct val="100000"/>
              <a:buChar char="●"/>
            </a:pPr>
            <a:r>
              <a:rPr lang="en-US" sz="1400" b="1" dirty="0">
                <a:solidFill>
                  <a:srgbClr val="1F2A37"/>
                </a:solidFill>
                <a:latin typeface="Calibri" pitchFamily="34" charset="0"/>
                <a:ea typeface="Calibri" pitchFamily="34" charset="-122"/>
                <a:cs typeface="Calibri" pitchFamily="34" charset="-120"/>
              </a:rPr>
              <a:t>MCL = particle filtering (Section 14.4/14.5), specialized with a motion model and a range-scan sensor model.</a:t>
            </a:r>
            <a:endParaRPr lang="en-US" sz="1400" dirty="0"/>
          </a:p>
          <a:p>
            <a:pPr lvl="1" marL="457200" indent="-228600">
              <a:spcAft>
                <a:spcPts val="1000"/>
              </a:spcAft>
              <a:buSzPct val="100000"/>
              <a:buChar char="–"/>
            </a:pPr>
            <a:r>
              <a:rPr lang="en-US" sz="1400" dirty="0">
                <a:solidFill>
                  <a:srgbClr val="1F2A37"/>
                </a:solidFill>
                <a:latin typeface="Calibri" pitchFamily="34" charset="0"/>
                <a:ea typeface="Calibri" pitchFamily="34" charset="-122"/>
                <a:cs typeface="Calibri" pitchFamily="34" charset="-120"/>
              </a:rPr>
              <a:t>Each particle is a hypothesized pose; particles surviving weighting-and-resampling represent the posterior belief.</a:t>
            </a:r>
            <a:endParaRPr lang="en-US" sz="1400" dirty="0"/>
          </a:p>
          <a:p>
            <a:pPr lvl="1" marL="457200" indent="-228600">
              <a:spcAft>
                <a:spcPts val="1000"/>
              </a:spcAft>
              <a:buSzPct val="100000"/>
              <a:buChar char="–"/>
            </a:pPr>
            <a:r>
              <a:rPr lang="en-US" sz="1400" dirty="0">
                <a:solidFill>
                  <a:srgbClr val="1F2A37"/>
                </a:solidFill>
                <a:latin typeface="Calibri" pitchFamily="34" charset="0"/>
                <a:ea typeface="Calibri" pitchFamily="34" charset="-122"/>
                <a:cs typeface="Calibri" pitchFamily="34" charset="-120"/>
              </a:rPr>
              <a:t>No landmarks needed — pure geometry between hypothesized pose and observed scan does the work.</a:t>
            </a:r>
            <a:endParaRPr lang="en-US" sz="1400" dirty="0"/>
          </a:p>
        </p:txBody>
      </p:sp>
      <p:sp>
        <p:nvSpPr>
          <p:cNvPr id="147" name="Text 145"/>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48" name="Text 146"/>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26.4 Robotic Perception</a:t>
            </a:r>
            <a:endParaRPr lang="en-US" sz="900" dirty="0"/>
          </a:p>
        </p:txBody>
      </p:sp>
      <p:sp>
        <p:nvSpPr>
          <p:cNvPr id="149" name="Text 147"/>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26.4.1 LOCALIZATION AND MAPPING</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Kalman Filter Localization &amp; Linearization</a:t>
            </a:r>
            <a:endParaRPr lang="en-US" sz="2700" dirty="0"/>
          </a:p>
        </p:txBody>
      </p:sp>
      <p:sp>
        <p:nvSpPr>
          <p:cNvPr id="4" name="Shape 2"/>
          <p:cNvSpPr/>
          <p:nvPr/>
        </p:nvSpPr>
        <p:spPr>
          <a:xfrm>
            <a:off x="548640" y="1417320"/>
            <a:ext cx="5364328" cy="3108960"/>
          </a:xfrm>
          <a:prstGeom prst="roundRect">
            <a:avLst>
              <a:gd name="adj" fmla="val 2647"/>
            </a:avLst>
          </a:prstGeom>
          <a:solidFill>
            <a:srgbClr val="EEF2FF"/>
          </a:solidFill>
          <a:ln/>
          <a:effectLst>
            <a:outerShdw sx="100000" sy="100000" kx="0" ky="0" algn="bl" rotWithShape="0" blurRad="76200" dist="25400" dir="5400000">
              <a:srgbClr val="1A3A5C">
                <a:alpha val="12000"/>
              </a:srgbClr>
            </a:outerShdw>
          </a:effectLst>
        </p:spPr>
      </p:sp>
      <p:sp>
        <p:nvSpPr>
          <p:cNvPr id="5" name="Text 3"/>
          <p:cNvSpPr/>
          <p:nvPr/>
        </p:nvSpPr>
        <p:spPr>
          <a:xfrm>
            <a:off x="749808" y="1545336"/>
            <a:ext cx="4961992" cy="329184"/>
          </a:xfrm>
          <a:prstGeom prst="rect">
            <a:avLst/>
          </a:prstGeom>
          <a:noFill/>
          <a:ln/>
        </p:spPr>
        <p:txBody>
          <a:bodyPr wrap="square" lIns="0" tIns="0" rIns="0" bIns="0" rtlCol="0" anchor="ctr"/>
          <a:lstStyle/>
          <a:p>
            <a:pPr indent="0" marL="0">
              <a:buNone/>
            </a:pPr>
            <a:r>
              <a:rPr lang="en-US" sz="1450" b="1" dirty="0">
                <a:solidFill>
                  <a:srgbClr val="4A6FA5"/>
                </a:solidFill>
                <a:latin typeface="Calibri" pitchFamily="34" charset="0"/>
                <a:ea typeface="Calibri" pitchFamily="34" charset="-122"/>
                <a:cs typeface="Calibri" pitchFamily="34" charset="-120"/>
              </a:rPr>
              <a:t>The core idea</a:t>
            </a:r>
            <a:endParaRPr lang="en-US" sz="1450" dirty="0"/>
          </a:p>
        </p:txBody>
      </p:sp>
      <p:sp>
        <p:nvSpPr>
          <p:cNvPr id="6" name="Text 4"/>
          <p:cNvSpPr/>
          <p:nvPr/>
        </p:nvSpPr>
        <p:spPr>
          <a:xfrm>
            <a:off x="749808" y="1929384"/>
            <a:ext cx="4961992" cy="2487168"/>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Represent the belief as ONE Gaussian: mean μt, covariance Σt.</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Problem: Gaussians stay Gaussian only under linear motion/sensor models. Real f and h are nonlinear.</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Fix: linearize f and h locally with a first-degree Taylor expansion — tangent to the true function at μt.</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A Kalman filter using this trick is called an Extended Kalman Filter (EKF).</a:t>
            </a:r>
            <a:endParaRPr lang="en-US" sz="1250" dirty="0"/>
          </a:p>
        </p:txBody>
      </p:sp>
      <p:sp>
        <p:nvSpPr>
          <p:cNvPr id="7" name="Shape 5"/>
          <p:cNvSpPr/>
          <p:nvPr/>
        </p:nvSpPr>
        <p:spPr>
          <a:xfrm>
            <a:off x="6278728" y="1417320"/>
            <a:ext cx="5364328" cy="3108960"/>
          </a:xfrm>
          <a:prstGeom prst="rect">
            <a:avLst/>
          </a:prstGeom>
          <a:solidFill>
            <a:srgbClr val="F4F7FB"/>
          </a:solidFill>
          <a:ln w="15875">
            <a:solidFill>
              <a:srgbClr val="D7DEE8"/>
            </a:solidFill>
            <a:prstDash val="solid"/>
          </a:ln>
        </p:spPr>
      </p:sp>
      <p:sp>
        <p:nvSpPr>
          <p:cNvPr id="8" name="Shape 6"/>
          <p:cNvSpPr/>
          <p:nvPr/>
        </p:nvSpPr>
        <p:spPr>
          <a:xfrm>
            <a:off x="6571336" y="3028493"/>
            <a:ext cx="329184" cy="197510"/>
          </a:xfrm>
          <a:prstGeom prst="ellipse">
            <a:avLst/>
          </a:prstGeom>
          <a:solidFill>
            <a:srgbClr val="4A6FA5">
              <a:alpha val="30000"/>
            </a:srgbClr>
          </a:solidFill>
          <a:ln w="15875">
            <a:solidFill>
              <a:srgbClr val="4A6FA5"/>
            </a:solidFill>
            <a:prstDash val="solid"/>
          </a:ln>
        </p:spPr>
      </p:sp>
      <p:sp>
        <p:nvSpPr>
          <p:cNvPr id="9" name="Shape 7"/>
          <p:cNvSpPr/>
          <p:nvPr/>
        </p:nvSpPr>
        <p:spPr>
          <a:xfrm>
            <a:off x="6708496" y="3099816"/>
            <a:ext cx="54864" cy="54864"/>
          </a:xfrm>
          <a:prstGeom prst="ellipse">
            <a:avLst/>
          </a:prstGeom>
          <a:solidFill>
            <a:srgbClr val="1A3A5C"/>
          </a:solidFill>
          <a:ln/>
        </p:spPr>
      </p:sp>
      <p:sp>
        <p:nvSpPr>
          <p:cNvPr id="10" name="Shape 8"/>
          <p:cNvSpPr/>
          <p:nvPr/>
        </p:nvSpPr>
        <p:spPr>
          <a:xfrm>
            <a:off x="6851142" y="3127248"/>
            <a:ext cx="882053" cy="914"/>
          </a:xfrm>
          <a:prstGeom prst="line">
            <a:avLst/>
          </a:prstGeom>
          <a:noFill/>
          <a:ln w="12700">
            <a:solidFill>
              <a:srgbClr val="51606F"/>
            </a:solidFill>
            <a:prstDash val="solid"/>
            <a:headEnd type="none"/>
            <a:tailEnd type="triangle"/>
          </a:ln>
        </p:spPr>
      </p:sp>
      <p:sp>
        <p:nvSpPr>
          <p:cNvPr id="11" name="Shape 9"/>
          <p:cNvSpPr/>
          <p:nvPr/>
        </p:nvSpPr>
        <p:spPr>
          <a:xfrm>
            <a:off x="7537514" y="2940710"/>
            <a:ext cx="621792" cy="373075"/>
          </a:xfrm>
          <a:prstGeom prst="ellipse">
            <a:avLst/>
          </a:prstGeom>
          <a:solidFill>
            <a:srgbClr val="4A6FA5">
              <a:alpha val="30000"/>
            </a:srgbClr>
          </a:solidFill>
          <a:ln w="15875">
            <a:solidFill>
              <a:srgbClr val="4A6FA5"/>
            </a:solidFill>
            <a:prstDash val="solid"/>
          </a:ln>
        </p:spPr>
      </p:sp>
      <p:sp>
        <p:nvSpPr>
          <p:cNvPr id="12" name="Shape 10"/>
          <p:cNvSpPr/>
          <p:nvPr/>
        </p:nvSpPr>
        <p:spPr>
          <a:xfrm>
            <a:off x="7820978" y="3099816"/>
            <a:ext cx="54864" cy="54864"/>
          </a:xfrm>
          <a:prstGeom prst="ellipse">
            <a:avLst/>
          </a:prstGeom>
          <a:solidFill>
            <a:srgbClr val="1A3A5C"/>
          </a:solidFill>
          <a:ln/>
        </p:spPr>
      </p:sp>
      <p:sp>
        <p:nvSpPr>
          <p:cNvPr id="13" name="Shape 11"/>
          <p:cNvSpPr/>
          <p:nvPr/>
        </p:nvSpPr>
        <p:spPr>
          <a:xfrm>
            <a:off x="8066037" y="3127248"/>
            <a:ext cx="677228" cy="914"/>
          </a:xfrm>
          <a:prstGeom prst="line">
            <a:avLst/>
          </a:prstGeom>
          <a:noFill/>
          <a:ln w="12700">
            <a:solidFill>
              <a:srgbClr val="51606F"/>
            </a:solidFill>
            <a:prstDash val="solid"/>
            <a:headEnd type="none"/>
            <a:tailEnd type="triangle"/>
          </a:ln>
        </p:spPr>
      </p:sp>
      <p:sp>
        <p:nvSpPr>
          <p:cNvPr id="14" name="Shape 12"/>
          <p:cNvSpPr/>
          <p:nvPr/>
        </p:nvSpPr>
        <p:spPr>
          <a:xfrm>
            <a:off x="8503691" y="2852928"/>
            <a:ext cx="914400" cy="548640"/>
          </a:xfrm>
          <a:prstGeom prst="ellipse">
            <a:avLst/>
          </a:prstGeom>
          <a:solidFill>
            <a:srgbClr val="4A6FA5">
              <a:alpha val="30000"/>
            </a:srgbClr>
          </a:solidFill>
          <a:ln w="15875">
            <a:solidFill>
              <a:srgbClr val="4A6FA5"/>
            </a:solidFill>
            <a:prstDash val="solid"/>
          </a:ln>
        </p:spPr>
      </p:sp>
      <p:sp>
        <p:nvSpPr>
          <p:cNvPr id="15" name="Shape 13"/>
          <p:cNvSpPr/>
          <p:nvPr/>
        </p:nvSpPr>
        <p:spPr>
          <a:xfrm>
            <a:off x="8933459" y="3099816"/>
            <a:ext cx="54864" cy="54864"/>
          </a:xfrm>
          <a:prstGeom prst="ellipse">
            <a:avLst/>
          </a:prstGeom>
          <a:solidFill>
            <a:srgbClr val="1A3A5C"/>
          </a:solidFill>
          <a:ln/>
        </p:spPr>
      </p:sp>
      <p:sp>
        <p:nvSpPr>
          <p:cNvPr id="16" name="Shape 14"/>
          <p:cNvSpPr/>
          <p:nvPr/>
        </p:nvSpPr>
        <p:spPr>
          <a:xfrm>
            <a:off x="9280931" y="3127248"/>
            <a:ext cx="472402" cy="914"/>
          </a:xfrm>
          <a:prstGeom prst="line">
            <a:avLst/>
          </a:prstGeom>
          <a:noFill/>
          <a:ln w="12700">
            <a:solidFill>
              <a:srgbClr val="51606F"/>
            </a:solidFill>
            <a:prstDash val="solid"/>
            <a:headEnd type="none"/>
            <a:tailEnd type="triangle"/>
          </a:ln>
        </p:spPr>
      </p:sp>
      <p:sp>
        <p:nvSpPr>
          <p:cNvPr id="17" name="Shape 15"/>
          <p:cNvSpPr/>
          <p:nvPr/>
        </p:nvSpPr>
        <p:spPr>
          <a:xfrm>
            <a:off x="9817341" y="2973629"/>
            <a:ext cx="512064" cy="307238"/>
          </a:xfrm>
          <a:prstGeom prst="ellipse">
            <a:avLst/>
          </a:prstGeom>
          <a:solidFill>
            <a:srgbClr val="4A6FA5">
              <a:alpha val="30000"/>
            </a:srgbClr>
          </a:solidFill>
          <a:ln w="15875">
            <a:solidFill>
              <a:srgbClr val="4A6FA5"/>
            </a:solidFill>
            <a:prstDash val="solid"/>
          </a:ln>
        </p:spPr>
      </p:sp>
      <p:sp>
        <p:nvSpPr>
          <p:cNvPr id="18" name="Shape 16"/>
          <p:cNvSpPr/>
          <p:nvPr/>
        </p:nvSpPr>
        <p:spPr>
          <a:xfrm>
            <a:off x="10045941" y="3099816"/>
            <a:ext cx="54864" cy="54864"/>
          </a:xfrm>
          <a:prstGeom prst="ellipse">
            <a:avLst/>
          </a:prstGeom>
          <a:solidFill>
            <a:srgbClr val="1A3A5C"/>
          </a:solidFill>
          <a:ln/>
        </p:spPr>
      </p:sp>
      <p:sp>
        <p:nvSpPr>
          <p:cNvPr id="19" name="Shape 17"/>
          <p:cNvSpPr/>
          <p:nvPr/>
        </p:nvSpPr>
        <p:spPr>
          <a:xfrm>
            <a:off x="10252596" y="3127248"/>
            <a:ext cx="754037" cy="914"/>
          </a:xfrm>
          <a:prstGeom prst="line">
            <a:avLst/>
          </a:prstGeom>
          <a:noFill/>
          <a:ln w="12700">
            <a:solidFill>
              <a:srgbClr val="51606F"/>
            </a:solidFill>
            <a:prstDash val="solid"/>
            <a:headEnd type="none"/>
            <a:tailEnd type="triangle"/>
          </a:ln>
        </p:spPr>
      </p:sp>
      <p:sp>
        <p:nvSpPr>
          <p:cNvPr id="20" name="Shape 18"/>
          <p:cNvSpPr/>
          <p:nvPr/>
        </p:nvSpPr>
        <p:spPr>
          <a:xfrm>
            <a:off x="10801807" y="2896819"/>
            <a:ext cx="768096" cy="460858"/>
          </a:xfrm>
          <a:prstGeom prst="ellipse">
            <a:avLst/>
          </a:prstGeom>
          <a:solidFill>
            <a:srgbClr val="4A6FA5">
              <a:alpha val="30000"/>
            </a:srgbClr>
          </a:solidFill>
          <a:ln w="15875">
            <a:solidFill>
              <a:srgbClr val="4A6FA5"/>
            </a:solidFill>
            <a:prstDash val="solid"/>
          </a:ln>
        </p:spPr>
      </p:sp>
      <p:sp>
        <p:nvSpPr>
          <p:cNvPr id="21" name="Shape 19"/>
          <p:cNvSpPr/>
          <p:nvPr/>
        </p:nvSpPr>
        <p:spPr>
          <a:xfrm>
            <a:off x="11158423" y="3099816"/>
            <a:ext cx="54864" cy="54864"/>
          </a:xfrm>
          <a:prstGeom prst="ellipse">
            <a:avLst/>
          </a:prstGeom>
          <a:solidFill>
            <a:srgbClr val="1A3A5C"/>
          </a:solidFill>
          <a:ln/>
        </p:spPr>
      </p:sp>
      <p:sp>
        <p:nvSpPr>
          <p:cNvPr id="22" name="Shape 20"/>
          <p:cNvSpPr/>
          <p:nvPr/>
        </p:nvSpPr>
        <p:spPr>
          <a:xfrm>
            <a:off x="10013937" y="1979676"/>
            <a:ext cx="118872" cy="118872"/>
          </a:xfrm>
          <a:prstGeom prst="ellipse">
            <a:avLst/>
          </a:prstGeom>
          <a:solidFill>
            <a:srgbClr val="E8960C"/>
          </a:solidFill>
          <a:ln/>
        </p:spPr>
      </p:sp>
      <p:sp>
        <p:nvSpPr>
          <p:cNvPr id="23" name="Text 21"/>
          <p:cNvSpPr/>
          <p:nvPr/>
        </p:nvSpPr>
        <p:spPr>
          <a:xfrm>
            <a:off x="9524733" y="1572768"/>
            <a:ext cx="1463040" cy="182880"/>
          </a:xfrm>
          <a:prstGeom prst="rect">
            <a:avLst/>
          </a:prstGeom>
          <a:noFill/>
          <a:ln/>
        </p:spPr>
        <p:txBody>
          <a:bodyPr wrap="square" lIns="0" tIns="0" rIns="0" bIns="0" rtlCol="0" anchor="t"/>
          <a:lstStyle/>
          <a:p>
            <a:pPr algn="ctr" indent="0" marL="0">
              <a:buNone/>
            </a:pPr>
            <a:r>
              <a:rPr lang="en-US" sz="950" b="1" dirty="0">
                <a:solidFill>
                  <a:srgbClr val="E8960C"/>
                </a:solidFill>
                <a:latin typeface="Calibri" pitchFamily="34" charset="0"/>
                <a:ea typeface="Calibri" pitchFamily="34" charset="-122"/>
                <a:cs typeface="Calibri" pitchFamily="34" charset="-120"/>
              </a:rPr>
              <a:t>landmark sighted</a:t>
            </a:r>
            <a:endParaRPr lang="en-US" sz="950" dirty="0"/>
          </a:p>
        </p:txBody>
      </p:sp>
      <p:sp>
        <p:nvSpPr>
          <p:cNvPr id="24" name="Text 22"/>
          <p:cNvSpPr/>
          <p:nvPr/>
        </p:nvSpPr>
        <p:spPr>
          <a:xfrm>
            <a:off x="6415888" y="4306824"/>
            <a:ext cx="5090008" cy="182880"/>
          </a:xfrm>
          <a:prstGeom prst="rect">
            <a:avLst/>
          </a:prstGeom>
          <a:noFill/>
          <a:ln/>
        </p:spPr>
        <p:txBody>
          <a:bodyPr wrap="square" lIns="0" tIns="0" rIns="0" bIns="0" rtlCol="0" anchor="t"/>
          <a:lstStyle/>
          <a:p>
            <a:pPr algn="l" indent="0" marL="0">
              <a:buNone/>
            </a:pPr>
            <a:r>
              <a:rPr lang="en-US" sz="950" i="1" dirty="0">
                <a:solidFill>
                  <a:srgbClr val="51606F"/>
                </a:solidFill>
                <a:latin typeface="Calibri" pitchFamily="34" charset="0"/>
                <a:ea typeface="Calibri" pitchFamily="34" charset="-122"/>
                <a:cs typeface="Calibri" pitchFamily="34" charset="-120"/>
              </a:rPr>
              <a:t>uncertainty grows while moving blind, shrinks after a good observation</a:t>
            </a:r>
            <a:endParaRPr lang="en-US" sz="950" dirty="0"/>
          </a:p>
        </p:txBody>
      </p:sp>
      <p:sp>
        <p:nvSpPr>
          <p:cNvPr id="25" name="Text 23"/>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26" name="Text 24"/>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26.4 Robotic Perception</a:t>
            </a:r>
            <a:endParaRPr lang="en-US" sz="900" dirty="0"/>
          </a:p>
        </p:txBody>
      </p:sp>
      <p:sp>
        <p:nvSpPr>
          <p:cNvPr id="27" name="Text 25"/>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26.4.1 LOCALIZATION AND MAPPING</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SLAM: Simultaneous Localization and Mapping</a:t>
            </a:r>
            <a:endParaRPr lang="en-US" sz="2700" dirty="0"/>
          </a:p>
        </p:txBody>
      </p:sp>
      <p:sp>
        <p:nvSpPr>
          <p:cNvPr id="4" name="Shape 2"/>
          <p:cNvSpPr/>
          <p:nvPr/>
        </p:nvSpPr>
        <p:spPr>
          <a:xfrm>
            <a:off x="548640" y="1417320"/>
            <a:ext cx="11094415" cy="1234440"/>
          </a:xfrm>
          <a:prstGeom prst="roundRect">
            <a:avLst>
              <a:gd name="adj" fmla="val 5926"/>
            </a:avLst>
          </a:prstGeom>
          <a:solidFill>
            <a:srgbClr val="FFF0EE"/>
          </a:solidFill>
          <a:ln w="12700">
            <a:solidFill>
              <a:srgbClr val="B5311A"/>
            </a:solidFill>
            <a:prstDash val="solid"/>
          </a:ln>
        </p:spPr>
      </p:sp>
      <p:sp>
        <p:nvSpPr>
          <p:cNvPr id="5" name="Text 3"/>
          <p:cNvSpPr/>
          <p:nvPr/>
        </p:nvSpPr>
        <p:spPr>
          <a:xfrm>
            <a:off x="749808" y="1527048"/>
            <a:ext cx="10692079" cy="274320"/>
          </a:xfrm>
          <a:prstGeom prst="rect">
            <a:avLst/>
          </a:prstGeom>
          <a:noFill/>
          <a:ln/>
        </p:spPr>
        <p:txBody>
          <a:bodyPr wrap="square" lIns="0" tIns="0" rIns="0" bIns="0" rtlCol="0" anchor="ctr"/>
          <a:lstStyle/>
          <a:p>
            <a:pPr indent="0" marL="0">
              <a:buNone/>
            </a:pPr>
            <a:r>
              <a:rPr lang="en-US" sz="1250" b="1" spc="50" kern="0" dirty="0">
                <a:solidFill>
                  <a:srgbClr val="B5311A"/>
                </a:solidFill>
                <a:latin typeface="Calibri" pitchFamily="34" charset="0"/>
                <a:ea typeface="Calibri" pitchFamily="34" charset="-122"/>
                <a:cs typeface="Calibri" pitchFamily="34" charset="-120"/>
              </a:rPr>
              <a:t>THE CHICKEN-AND-EGG PROBLEM</a:t>
            </a:r>
            <a:endParaRPr lang="en-US" sz="1250" dirty="0"/>
          </a:p>
        </p:txBody>
      </p:sp>
      <p:sp>
        <p:nvSpPr>
          <p:cNvPr id="6" name="Text 4"/>
          <p:cNvSpPr/>
          <p:nvPr/>
        </p:nvSpPr>
        <p:spPr>
          <a:xfrm>
            <a:off x="749808" y="1837944"/>
            <a:ext cx="10692079" cy="722376"/>
          </a:xfrm>
          <a:prstGeom prst="rect">
            <a:avLst/>
          </a:prstGeom>
          <a:noFill/>
          <a:ln/>
        </p:spPr>
        <p:txBody>
          <a:bodyPr wrap="square" lIns="0" tIns="0" rIns="0" bIns="0" rtlCol="0" anchor="t"/>
          <a:lstStyle/>
          <a:p>
            <a:pPr indent="0" marL="0">
              <a:lnSpc>
                <a:spcPct val="118000"/>
              </a:lnSpc>
              <a:buNone/>
            </a:pPr>
            <a:r>
              <a:rPr lang="en-US" sz="1400" dirty="0">
                <a:solidFill>
                  <a:srgbClr val="1F2A37"/>
                </a:solidFill>
                <a:latin typeface="Calibri" pitchFamily="34" charset="0"/>
                <a:ea typeface="Calibri" pitchFamily="34" charset="-122"/>
                <a:cs typeface="Calibri" pitchFamily="34" charset="-120"/>
              </a:rPr>
              <a:t>What if no map exists yet? The robot must localize itself relative to a map it doesn't fully know, while simultaneously building that map — using a location estimate it doesn't fully trust.</a:t>
            </a:r>
            <a:endParaRPr lang="en-US" sz="1400" dirty="0"/>
          </a:p>
        </p:txBody>
      </p:sp>
      <p:sp>
        <p:nvSpPr>
          <p:cNvPr id="7" name="Text 5"/>
          <p:cNvSpPr/>
          <p:nvPr/>
        </p:nvSpPr>
        <p:spPr>
          <a:xfrm>
            <a:off x="548640" y="2880360"/>
            <a:ext cx="11094415" cy="219456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EKF-SLAM: augment the state vector with landmark locations too, then run the same EKF machinery.</a:t>
            </a:r>
            <a:endParaRPr lang="en-US" sz="1500" dirty="0"/>
          </a:p>
          <a:p>
            <a:pPr lvl="1" marL="4572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The EKF update scales quadratically — feasible for small maps (a few hundred landmarks), painful for large ones.</a:t>
            </a:r>
            <a:endParaRPr lang="en-US" sz="1500" dirty="0"/>
          </a:p>
          <a:p>
            <a:pPr lvl="1" marL="4572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Richer, larger maps: graph relaxation methods (recall Bayesian network inference, Ch. 13) or Expectation–Maximization (Ch. 20–21).</a:t>
            </a:r>
            <a:endParaRPr lang="en-US" sz="1500" dirty="0"/>
          </a:p>
        </p:txBody>
      </p:sp>
      <p:sp>
        <p:nvSpPr>
          <p:cNvPr id="8" name="Shape 6"/>
          <p:cNvSpPr/>
          <p:nvPr/>
        </p:nvSpPr>
        <p:spPr>
          <a:xfrm>
            <a:off x="548640" y="5120640"/>
            <a:ext cx="11094415" cy="960120"/>
          </a:xfrm>
          <a:prstGeom prst="roundRect">
            <a:avLst>
              <a:gd name="adj" fmla="val 7619"/>
            </a:avLst>
          </a:prstGeom>
          <a:solidFill>
            <a:srgbClr val="FFF8E6"/>
          </a:solidFill>
          <a:ln w="12700">
            <a:solidFill>
              <a:srgbClr val="C8840A"/>
            </a:solidFill>
            <a:prstDash val="solid"/>
          </a:ln>
        </p:spPr>
      </p:sp>
      <p:sp>
        <p:nvSpPr>
          <p:cNvPr id="9" name="Text 7"/>
          <p:cNvSpPr/>
          <p:nvPr/>
        </p:nvSpPr>
        <p:spPr>
          <a:xfrm>
            <a:off x="749808" y="5230368"/>
            <a:ext cx="10692079" cy="274320"/>
          </a:xfrm>
          <a:prstGeom prst="rect">
            <a:avLst/>
          </a:prstGeom>
          <a:noFill/>
          <a:ln/>
        </p:spPr>
        <p:txBody>
          <a:bodyPr wrap="square" lIns="0" tIns="0" rIns="0" bIns="0" rtlCol="0" anchor="ctr"/>
          <a:lstStyle/>
          <a:p>
            <a:pPr indent="0" marL="0">
              <a:buNone/>
            </a:pPr>
            <a:r>
              <a:rPr lang="en-US" sz="1250" b="1" spc="50" kern="0" dirty="0">
                <a:solidFill>
                  <a:srgbClr val="C8840A"/>
                </a:solidFill>
                <a:latin typeface="Calibri" pitchFamily="34" charset="0"/>
                <a:ea typeface="Calibri" pitchFamily="34" charset="-122"/>
                <a:cs typeface="Calibri" pitchFamily="34" charset="-120"/>
              </a:rPr>
              <a:t>REAL-WORLD ANCHOR</a:t>
            </a:r>
            <a:endParaRPr lang="en-US" sz="1250" dirty="0"/>
          </a:p>
        </p:txBody>
      </p:sp>
      <p:sp>
        <p:nvSpPr>
          <p:cNvPr id="10" name="Text 8"/>
          <p:cNvSpPr/>
          <p:nvPr/>
        </p:nvSpPr>
        <p:spPr>
          <a:xfrm>
            <a:off x="749808" y="5541264"/>
            <a:ext cx="10692079" cy="44805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This is the exact technique behind every robot vacuum's “smart mapping” feature — the first time it's placed in a new home, it is solving SLAM in real time, one lidar or bump sensor sweep at a time.</a:t>
            </a:r>
            <a:endParaRPr lang="en-US" sz="1300" dirty="0"/>
          </a:p>
        </p:txBody>
      </p:sp>
      <p:sp>
        <p:nvSpPr>
          <p:cNvPr id="11" name="Text 9"/>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2" name="Text 10"/>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26.4 Robotic Perception</a:t>
            </a:r>
            <a:endParaRPr lang="en-US" sz="900" dirty="0"/>
          </a:p>
        </p:txBody>
      </p:sp>
      <p:sp>
        <p:nvSpPr>
          <p:cNvPr id="13" name="Text 11"/>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26.4.2–26.4.3 BEYOND LOCALIZATION</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Other Perception &amp; Learned Perception</a:t>
            </a:r>
            <a:endParaRPr lang="en-US" sz="2700" dirty="0"/>
          </a:p>
        </p:txBody>
      </p:sp>
      <p:sp>
        <p:nvSpPr>
          <p:cNvPr id="4" name="Shape 2"/>
          <p:cNvSpPr/>
          <p:nvPr/>
        </p:nvSpPr>
        <p:spPr>
          <a:xfrm>
            <a:off x="548640" y="1417320"/>
            <a:ext cx="5364328" cy="4206240"/>
          </a:xfrm>
          <a:prstGeom prst="roundRect">
            <a:avLst>
              <a:gd name="adj" fmla="val 1957"/>
            </a:avLst>
          </a:prstGeom>
          <a:solidFill>
            <a:srgbClr val="EEF2FF"/>
          </a:solidFill>
          <a:ln/>
          <a:effectLst>
            <a:outerShdw sx="100000" sy="100000" kx="0" ky="0" algn="bl" rotWithShape="0" blurRad="76200" dist="25400" dir="5400000">
              <a:srgbClr val="1A3A5C">
                <a:alpha val="12000"/>
              </a:srgbClr>
            </a:outerShdw>
          </a:effectLst>
        </p:spPr>
      </p:sp>
      <p:sp>
        <p:nvSpPr>
          <p:cNvPr id="5" name="Text 3"/>
          <p:cNvSpPr/>
          <p:nvPr/>
        </p:nvSpPr>
        <p:spPr>
          <a:xfrm>
            <a:off x="749808" y="1545336"/>
            <a:ext cx="4961992" cy="329184"/>
          </a:xfrm>
          <a:prstGeom prst="rect">
            <a:avLst/>
          </a:prstGeom>
          <a:noFill/>
          <a:ln/>
        </p:spPr>
        <p:txBody>
          <a:bodyPr wrap="square" lIns="0" tIns="0" rIns="0" bIns="0" rtlCol="0" anchor="ctr"/>
          <a:lstStyle/>
          <a:p>
            <a:pPr indent="0" marL="0">
              <a:buNone/>
            </a:pPr>
            <a:r>
              <a:rPr lang="en-US" sz="1450" b="1" dirty="0">
                <a:solidFill>
                  <a:srgbClr val="4A6FA5"/>
                </a:solidFill>
                <a:latin typeface="Calibri" pitchFamily="34" charset="0"/>
                <a:ea typeface="Calibri" pitchFamily="34" charset="-122"/>
                <a:cs typeface="Calibri" pitchFamily="34" charset="-120"/>
              </a:rPr>
              <a:t>26.4.2 — Other quantities</a:t>
            </a:r>
            <a:endParaRPr lang="en-US" sz="1450" dirty="0"/>
          </a:p>
        </p:txBody>
      </p:sp>
      <p:sp>
        <p:nvSpPr>
          <p:cNvPr id="6" name="Text 4"/>
          <p:cNvSpPr/>
          <p:nvPr/>
        </p:nvSpPr>
        <p:spPr>
          <a:xfrm>
            <a:off x="749808" y="1929384"/>
            <a:ext cx="4961992" cy="3584448"/>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Not everything a robot senses is location: temperature, odor, sound.</a:t>
            </a:r>
            <a:endParaRPr lang="en-US" sz="1350" dirty="0"/>
          </a:p>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Estimated the same way — dynamic Bayes nets with a transition model and a sensor model.</a:t>
            </a:r>
            <a:endParaRPr lang="en-US" sz="1350" dirty="0"/>
          </a:p>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Alternative: skip the probability distributions entirely and program a reactive agent (preview of Section 26.9).</a:t>
            </a:r>
            <a:endParaRPr lang="en-US" sz="1350" dirty="0"/>
          </a:p>
        </p:txBody>
      </p:sp>
      <p:sp>
        <p:nvSpPr>
          <p:cNvPr id="7" name="Shape 5"/>
          <p:cNvSpPr/>
          <p:nvPr/>
        </p:nvSpPr>
        <p:spPr>
          <a:xfrm>
            <a:off x="6278728" y="1417320"/>
            <a:ext cx="5364328" cy="4206240"/>
          </a:xfrm>
          <a:prstGeom prst="roundRect">
            <a:avLst>
              <a:gd name="adj" fmla="val 1957"/>
            </a:avLst>
          </a:prstGeom>
          <a:solidFill>
            <a:srgbClr val="EEF8EE"/>
          </a:solidFill>
          <a:ln/>
          <a:effectLst>
            <a:outerShdw sx="100000" sy="100000" kx="0" ky="0" algn="bl" rotWithShape="0" blurRad="76200" dist="25400" dir="5400000">
              <a:srgbClr val="1A3A5C">
                <a:alpha val="12000"/>
              </a:srgbClr>
            </a:outerShdw>
          </a:effectLst>
        </p:spPr>
      </p:sp>
      <p:sp>
        <p:nvSpPr>
          <p:cNvPr id="8" name="Text 6"/>
          <p:cNvSpPr/>
          <p:nvPr/>
        </p:nvSpPr>
        <p:spPr>
          <a:xfrm>
            <a:off x="6479896" y="1545336"/>
            <a:ext cx="4961992" cy="329184"/>
          </a:xfrm>
          <a:prstGeom prst="rect">
            <a:avLst/>
          </a:prstGeom>
          <a:noFill/>
          <a:ln/>
        </p:spPr>
        <p:txBody>
          <a:bodyPr wrap="square" lIns="0" tIns="0" rIns="0" bIns="0" rtlCol="0" anchor="ctr"/>
          <a:lstStyle/>
          <a:p>
            <a:pPr indent="0" marL="0">
              <a:buNone/>
            </a:pPr>
            <a:r>
              <a:rPr lang="en-US" sz="1450" b="1" dirty="0">
                <a:solidFill>
                  <a:srgbClr val="1B6B3A"/>
                </a:solidFill>
                <a:latin typeface="Calibri" pitchFamily="34" charset="0"/>
                <a:ea typeface="Calibri" pitchFamily="34" charset="-122"/>
                <a:cs typeface="Calibri" pitchFamily="34" charset="-120"/>
              </a:rPr>
              <a:t>26.4.3 — Learning perception</a:t>
            </a:r>
            <a:endParaRPr lang="en-US" sz="1450" dirty="0"/>
          </a:p>
        </p:txBody>
      </p:sp>
      <p:sp>
        <p:nvSpPr>
          <p:cNvPr id="9" name="Text 7"/>
          <p:cNvSpPr/>
          <p:nvPr/>
        </p:nvSpPr>
        <p:spPr>
          <a:xfrm>
            <a:off x="6479896" y="1929384"/>
            <a:ext cx="4961992" cy="3584448"/>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Low-dimensional embedding: unsupervised learning (Ch. 19) compresses high-dimensional sensor streams into a compact, useful representation.</a:t>
            </a:r>
            <a:endParaRPr lang="en-US" sz="1300" dirty="0"/>
          </a:p>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Adaptive / self-supervised perception: the robot labels its own training data from a trusted short-range sensor, then generalizes to a longer-range one.</a:t>
            </a:r>
            <a:endParaRPr lang="en-US" sz="1300" dirty="0"/>
          </a:p>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Example (Fig. 26.10): a laser confirms 'flat ground right in front of me' as a positive label; that trains a vision classifier to recognize 'drivable surface' much farther ahead.</a:t>
            </a:r>
            <a:endParaRPr lang="en-US" sz="1300" dirty="0"/>
          </a:p>
        </p:txBody>
      </p:sp>
      <p:sp>
        <p:nvSpPr>
          <p:cNvPr id="10" name="Text 8"/>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1" name="Text 9"/>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26.4 Robotic Perception</a:t>
            </a:r>
            <a:endParaRPr lang="en-US" sz="900" dirty="0"/>
          </a:p>
        </p:txBody>
      </p:sp>
      <p:sp>
        <p:nvSpPr>
          <p:cNvPr id="12" name="Text 10"/>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26.4 WRAP-UP</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Wren Finds Its Way Down the Hallway</a:t>
            </a:r>
            <a:endParaRPr lang="en-US" sz="2700" dirty="0"/>
          </a:p>
        </p:txBody>
      </p:sp>
      <p:sp>
        <p:nvSpPr>
          <p:cNvPr id="4" name="Shape 2"/>
          <p:cNvSpPr/>
          <p:nvPr/>
        </p:nvSpPr>
        <p:spPr>
          <a:xfrm>
            <a:off x="548640" y="1417320"/>
            <a:ext cx="11094415" cy="4297680"/>
          </a:xfrm>
          <a:prstGeom prst="roundRect">
            <a:avLst>
              <a:gd name="adj" fmla="val 1915"/>
            </a:avLst>
          </a:prstGeom>
          <a:solidFill>
            <a:srgbClr val="EEF8EE"/>
          </a:solidFill>
          <a:ln/>
          <a:effectLst>
            <a:outerShdw sx="100000" sy="100000" kx="0" ky="0" algn="bl" rotWithShape="0" blurRad="76200" dist="25400" dir="5400000">
              <a:srgbClr val="1A3A5C">
                <a:alpha val="12000"/>
              </a:srgbClr>
            </a:outerShdw>
          </a:effectLst>
        </p:spPr>
      </p:sp>
      <p:sp>
        <p:nvSpPr>
          <p:cNvPr id="5" name="Text 3"/>
          <p:cNvSpPr/>
          <p:nvPr/>
        </p:nvSpPr>
        <p:spPr>
          <a:xfrm>
            <a:off x="749808" y="1545336"/>
            <a:ext cx="10692079" cy="329184"/>
          </a:xfrm>
          <a:prstGeom prst="rect">
            <a:avLst/>
          </a:prstGeom>
          <a:noFill/>
          <a:ln/>
        </p:spPr>
        <p:txBody>
          <a:bodyPr wrap="square" lIns="0" tIns="0" rIns="0" bIns="0" rtlCol="0" anchor="ctr"/>
          <a:lstStyle/>
          <a:p>
            <a:pPr indent="0" marL="0">
              <a:buNone/>
            </a:pPr>
            <a:r>
              <a:rPr lang="en-US" sz="1450" b="1" dirty="0">
                <a:solidFill>
                  <a:srgbClr val="1B6B3A"/>
                </a:solidFill>
                <a:latin typeface="Calibri" pitchFamily="34" charset="0"/>
                <a:ea typeface="Calibri" pitchFamily="34" charset="-122"/>
                <a:cs typeface="Calibri" pitchFamily="34" charset="-120"/>
              </a:rPr>
              <a:t>Putting it all together</a:t>
            </a:r>
            <a:endParaRPr lang="en-US" sz="1450" dirty="0"/>
          </a:p>
        </p:txBody>
      </p:sp>
      <p:sp>
        <p:nvSpPr>
          <p:cNvPr id="6" name="Text 4"/>
          <p:cNvSpPr/>
          <p:nvPr/>
        </p:nvSpPr>
        <p:spPr>
          <a:xfrm>
            <a:off x="749808" y="1929384"/>
            <a:ext cx="10692079" cy="367588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37"/>
                </a:solidFill>
                <a:latin typeface="Calibri" pitchFamily="34" charset="0"/>
                <a:ea typeface="Calibri" pitchFamily="34" charset="-122"/>
                <a:cs typeface="Calibri" pitchFamily="34" charset="-120"/>
              </a:rPr>
              <a:t>Wren starts each morning with high uncertainty about its exact position in the pharmacy hallway.</a:t>
            </a:r>
            <a:endParaRPr lang="en-US" sz="1400" dirty="0"/>
          </a:p>
          <a:p>
            <a:pPr marL="177800" indent="-177800">
              <a:spcAft>
                <a:spcPts val="500"/>
              </a:spcAft>
              <a:buSzPct val="100000"/>
              <a:buChar char="●"/>
            </a:pPr>
            <a:r>
              <a:rPr lang="en-US" sz="1400" dirty="0">
                <a:solidFill>
                  <a:srgbClr val="1F2A37"/>
                </a:solidFill>
                <a:latin typeface="Calibri" pitchFamily="34" charset="0"/>
                <a:ea typeface="Calibri" pitchFamily="34" charset="-122"/>
                <a:cs typeface="Calibri" pitchFamily="34" charset="-120"/>
              </a:rPr>
              <a:t>Its lidar sweep feeds a range-scan sensor model into a Monte Carlo localization filter — particles start uniform, then cluster as Wren passes a distinctive supply-closet doorway.</a:t>
            </a:r>
            <a:endParaRPr lang="en-US" sz="1400" dirty="0"/>
          </a:p>
          <a:p>
            <a:pPr marL="177800" indent="-177800">
              <a:spcAft>
                <a:spcPts val="500"/>
              </a:spcAft>
              <a:buSzPct val="100000"/>
              <a:buChar char="●"/>
            </a:pPr>
            <a:r>
              <a:rPr lang="en-US" sz="1400" dirty="0">
                <a:solidFill>
                  <a:srgbClr val="1F2A37"/>
                </a:solidFill>
                <a:latin typeface="Calibri" pitchFamily="34" charset="0"/>
                <a:ea typeface="Calibri" pitchFamily="34" charset="-122"/>
                <a:cs typeface="Calibri" pitchFamily="34" charset="-120"/>
              </a:rPr>
              <a:t>Wi-Fi beacon readings (Section 26.2) act as extra evidence, sharply shrinking the uncertainty ellipse whenever Wren passes near a known beacon.</a:t>
            </a:r>
            <a:endParaRPr lang="en-US" sz="1400" dirty="0"/>
          </a:p>
          <a:p>
            <a:pPr marL="177800" indent="-177800">
              <a:spcAft>
                <a:spcPts val="500"/>
              </a:spcAft>
              <a:buSzPct val="100000"/>
              <a:buChar char="●"/>
            </a:pPr>
            <a:r>
              <a:rPr lang="en-US" sz="1400" dirty="0">
                <a:solidFill>
                  <a:srgbClr val="1F2A37"/>
                </a:solidFill>
                <a:latin typeface="Calibri" pitchFamily="34" charset="0"/>
                <a:ea typeface="Calibri" pitchFamily="34" charset="-122"/>
                <a:cs typeface="Calibri" pitchFamily="34" charset="-120"/>
              </a:rPr>
              <a:t>By the time Wren reaches Maria Santos's hallway, its belief has converged to a single confident pose estimate — exactly the third MCL panel from a few slides ago.</a:t>
            </a:r>
            <a:endParaRPr lang="en-US" sz="1400" dirty="0"/>
          </a:p>
        </p:txBody>
      </p:sp>
      <p:sp>
        <p:nvSpPr>
          <p:cNvPr id="7" name="Text 5"/>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8" name="Text 6"/>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26.4 Robotic Perception</a:t>
            </a:r>
            <a:endParaRPr lang="en-US" sz="900" dirty="0"/>
          </a:p>
        </p:txBody>
      </p:sp>
      <p:sp>
        <p:nvSpPr>
          <p:cNvPr id="9" name="Text 7"/>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3A5C"/>
          </a:solidFill>
          <a:ln/>
        </p:spPr>
      </p:sp>
      <p:sp>
        <p:nvSpPr>
          <p:cNvPr id="3" name="Shape 1"/>
          <p:cNvSpPr/>
          <p:nvPr/>
        </p:nvSpPr>
        <p:spPr>
          <a:xfrm>
            <a:off x="9692640" y="2377440"/>
            <a:ext cx="5120640" cy="5120640"/>
          </a:xfrm>
          <a:prstGeom prst="ellipse">
            <a:avLst/>
          </a:prstGeom>
          <a:solidFill>
            <a:srgbClr val="132B45"/>
          </a:solidFill>
          <a:ln/>
        </p:spPr>
      </p:sp>
      <p:sp>
        <p:nvSpPr>
          <p:cNvPr id="4" name="Text 2"/>
          <p:cNvSpPr/>
          <p:nvPr/>
        </p:nvSpPr>
        <p:spPr>
          <a:xfrm>
            <a:off x="822960" y="1463040"/>
            <a:ext cx="3657600" cy="1554480"/>
          </a:xfrm>
          <a:prstGeom prst="rect">
            <a:avLst/>
          </a:prstGeom>
          <a:noFill/>
          <a:ln/>
        </p:spPr>
        <p:txBody>
          <a:bodyPr wrap="square" lIns="0" tIns="0" rIns="0" bIns="0" rtlCol="0" anchor="ctr"/>
          <a:lstStyle/>
          <a:p>
            <a:pPr indent="0" marL="0">
              <a:buNone/>
            </a:pPr>
            <a:r>
              <a:rPr lang="en-US" sz="8400" b="1" dirty="0">
                <a:solidFill>
                  <a:srgbClr val="E8960C"/>
                </a:solidFill>
                <a:latin typeface="Calibri" pitchFamily="34" charset="0"/>
                <a:ea typeface="Calibri" pitchFamily="34" charset="-122"/>
                <a:cs typeface="Calibri" pitchFamily="34" charset="-120"/>
              </a:rPr>
              <a:t>26.5</a:t>
            </a:r>
            <a:endParaRPr lang="en-US" sz="8400" dirty="0"/>
          </a:p>
        </p:txBody>
      </p:sp>
      <p:sp>
        <p:nvSpPr>
          <p:cNvPr id="5" name="Text 3"/>
          <p:cNvSpPr/>
          <p:nvPr/>
        </p:nvSpPr>
        <p:spPr>
          <a:xfrm>
            <a:off x="822960" y="2971800"/>
            <a:ext cx="9875520" cy="105156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Planning and Control</a:t>
            </a:r>
            <a:endParaRPr lang="en-US" sz="3800" dirty="0"/>
          </a:p>
        </p:txBody>
      </p:sp>
      <p:sp>
        <p:nvSpPr>
          <p:cNvPr id="6" name="Text 4"/>
          <p:cNvSpPr/>
          <p:nvPr/>
        </p:nvSpPr>
        <p:spPr>
          <a:xfrm>
            <a:off x="822960" y="3977640"/>
            <a:ext cx="8778240" cy="82296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From an abstract configuration space down to the torque sent to a motor.</a:t>
            </a:r>
            <a:endParaRPr lang="en-US" sz="1600" dirty="0"/>
          </a:p>
        </p:txBody>
      </p:sp>
      <p:sp>
        <p:nvSpPr>
          <p:cNvPr id="7" name="Shape 5"/>
          <p:cNvSpPr/>
          <p:nvPr/>
        </p:nvSpPr>
        <p:spPr>
          <a:xfrm>
            <a:off x="868680" y="4956048"/>
            <a:ext cx="82296" cy="82296"/>
          </a:xfrm>
          <a:prstGeom prst="ellipse">
            <a:avLst/>
          </a:prstGeom>
          <a:solidFill>
            <a:srgbClr val="E8960C"/>
          </a:solidFill>
          <a:ln/>
        </p:spPr>
      </p:sp>
      <p:sp>
        <p:nvSpPr>
          <p:cNvPr id="8" name="Text 6"/>
          <p:cNvSpPr/>
          <p:nvPr/>
        </p:nvSpPr>
        <p:spPr>
          <a:xfrm>
            <a:off x="1097280" y="4837176"/>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Configuration space, degrees of freedom, kinematics</a:t>
            </a:r>
            <a:endParaRPr lang="en-US" sz="1350" dirty="0"/>
          </a:p>
        </p:txBody>
      </p:sp>
      <p:sp>
        <p:nvSpPr>
          <p:cNvPr id="9" name="Shape 7"/>
          <p:cNvSpPr/>
          <p:nvPr/>
        </p:nvSpPr>
        <p:spPr>
          <a:xfrm>
            <a:off x="868680" y="5285232"/>
            <a:ext cx="82296" cy="82296"/>
          </a:xfrm>
          <a:prstGeom prst="ellipse">
            <a:avLst/>
          </a:prstGeom>
          <a:solidFill>
            <a:srgbClr val="E8960C"/>
          </a:solidFill>
          <a:ln/>
        </p:spPr>
      </p:sp>
      <p:sp>
        <p:nvSpPr>
          <p:cNvPr id="10" name="Text 8"/>
          <p:cNvSpPr/>
          <p:nvPr/>
        </p:nvSpPr>
        <p:spPr>
          <a:xfrm>
            <a:off x="1097280" y="5166360"/>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Motion planning: visibility graphs, Voronoi diagrams, cell decomposition, PRM, RRT, trajectory optimization</a:t>
            </a:r>
            <a:endParaRPr lang="en-US" sz="1350" dirty="0"/>
          </a:p>
        </p:txBody>
      </p:sp>
      <p:sp>
        <p:nvSpPr>
          <p:cNvPr id="11" name="Shape 9"/>
          <p:cNvSpPr/>
          <p:nvPr/>
        </p:nvSpPr>
        <p:spPr>
          <a:xfrm>
            <a:off x="868680" y="5614416"/>
            <a:ext cx="82296" cy="82296"/>
          </a:xfrm>
          <a:prstGeom prst="ellipse">
            <a:avLst/>
          </a:prstGeom>
          <a:solidFill>
            <a:srgbClr val="E8960C"/>
          </a:solidFill>
          <a:ln/>
        </p:spPr>
      </p:sp>
      <p:sp>
        <p:nvSpPr>
          <p:cNvPr id="12" name="Text 10"/>
          <p:cNvSpPr/>
          <p:nvPr/>
        </p:nvSpPr>
        <p:spPr>
          <a:xfrm>
            <a:off x="1097280" y="5495544"/>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Trajectory tracking control: P, PD, PID, computed torque</a:t>
            </a:r>
            <a:endParaRPr lang="en-US" sz="1350" dirty="0"/>
          </a:p>
        </p:txBody>
      </p:sp>
      <p:sp>
        <p:nvSpPr>
          <p:cNvPr id="13" name="Shape 11"/>
          <p:cNvSpPr/>
          <p:nvPr/>
        </p:nvSpPr>
        <p:spPr>
          <a:xfrm>
            <a:off x="868680" y="5943600"/>
            <a:ext cx="82296" cy="82296"/>
          </a:xfrm>
          <a:prstGeom prst="ellipse">
            <a:avLst/>
          </a:prstGeom>
          <a:solidFill>
            <a:srgbClr val="E8960C"/>
          </a:solidFill>
          <a:ln/>
        </p:spPr>
      </p:sp>
      <p:sp>
        <p:nvSpPr>
          <p:cNvPr id="14" name="Text 12"/>
          <p:cNvSpPr/>
          <p:nvPr/>
        </p:nvSpPr>
        <p:spPr>
          <a:xfrm>
            <a:off x="1097280" y="5824728"/>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Optimal control: LQR and ILQR</a:t>
            </a:r>
            <a:endParaRPr lang="en-US" sz="1350" dirty="0"/>
          </a:p>
        </p:txBody>
      </p:sp>
      <p:sp>
        <p:nvSpPr>
          <p:cNvPr id="15" name="Text 13"/>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6" name="Text 14"/>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Planning and Control</a:t>
            </a:r>
            <a:endParaRPr lang="en-US" sz="900" dirty="0"/>
          </a:p>
        </p:txBody>
      </p:sp>
      <p:sp>
        <p:nvSpPr>
          <p:cNvPr id="17" name="Text 15"/>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 PLANNING &amp; CONTROL</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Path vs. Trajectory</a:t>
            </a:r>
            <a:endParaRPr lang="en-US" sz="2700" dirty="0"/>
          </a:p>
        </p:txBody>
      </p:sp>
      <p:sp>
        <p:nvSpPr>
          <p:cNvPr id="4" name="Shape 2"/>
          <p:cNvSpPr/>
          <p:nvPr/>
        </p:nvSpPr>
        <p:spPr>
          <a:xfrm>
            <a:off x="548640" y="1417320"/>
            <a:ext cx="5364328" cy="2103120"/>
          </a:xfrm>
          <a:prstGeom prst="roundRect">
            <a:avLst>
              <a:gd name="adj" fmla="val 3913"/>
            </a:avLst>
          </a:prstGeom>
          <a:solidFill>
            <a:srgbClr val="EEF2FF"/>
          </a:solidFill>
          <a:ln/>
          <a:effectLst>
            <a:outerShdw sx="100000" sy="100000" kx="0" ky="0" algn="bl" rotWithShape="0" blurRad="76200" dist="25400" dir="5400000">
              <a:srgbClr val="1A3A5C">
                <a:alpha val="12000"/>
              </a:srgbClr>
            </a:outerShdw>
          </a:effectLst>
        </p:spPr>
      </p:sp>
      <p:sp>
        <p:nvSpPr>
          <p:cNvPr id="5" name="Text 3"/>
          <p:cNvSpPr/>
          <p:nvPr/>
        </p:nvSpPr>
        <p:spPr>
          <a:xfrm>
            <a:off x="749808" y="1545336"/>
            <a:ext cx="4961992" cy="329184"/>
          </a:xfrm>
          <a:prstGeom prst="rect">
            <a:avLst/>
          </a:prstGeom>
          <a:noFill/>
          <a:ln/>
        </p:spPr>
        <p:txBody>
          <a:bodyPr wrap="square" lIns="0" tIns="0" rIns="0" bIns="0" rtlCol="0" anchor="ctr"/>
          <a:lstStyle/>
          <a:p>
            <a:pPr indent="0" marL="0">
              <a:buNone/>
            </a:pPr>
            <a:r>
              <a:rPr lang="en-US" sz="1450" b="1" dirty="0">
                <a:solidFill>
                  <a:srgbClr val="4A6FA5"/>
                </a:solidFill>
                <a:latin typeface="Calibri" pitchFamily="34" charset="0"/>
                <a:ea typeface="Calibri" pitchFamily="34" charset="-122"/>
                <a:cs typeface="Calibri" pitchFamily="34" charset="-120"/>
              </a:rPr>
              <a:t>Path</a:t>
            </a:r>
            <a:endParaRPr lang="en-US" sz="1450" dirty="0"/>
          </a:p>
        </p:txBody>
      </p:sp>
      <p:sp>
        <p:nvSpPr>
          <p:cNvPr id="6" name="Text 4"/>
          <p:cNvSpPr/>
          <p:nvPr/>
        </p:nvSpPr>
        <p:spPr>
          <a:xfrm>
            <a:off x="749808" y="1929384"/>
            <a:ext cx="4961992" cy="148132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37"/>
                </a:solidFill>
                <a:latin typeface="Calibri" pitchFamily="34" charset="0"/>
                <a:ea typeface="Calibri" pitchFamily="34" charset="-122"/>
                <a:cs typeface="Calibri" pitchFamily="34" charset="-120"/>
              </a:rPr>
              <a:t>A sequence of points in geometric space — “go from A to B to C.”</a:t>
            </a:r>
            <a:endParaRPr lang="en-US" sz="1400" dirty="0"/>
          </a:p>
          <a:p>
            <a:pPr marL="177800" indent="-177800">
              <a:spcAft>
                <a:spcPts val="500"/>
              </a:spcAft>
              <a:buSzPct val="100000"/>
              <a:buChar char="●"/>
            </a:pPr>
            <a:r>
              <a:rPr lang="en-US" sz="1400" dirty="0">
                <a:solidFill>
                  <a:srgbClr val="1F2A37"/>
                </a:solidFill>
                <a:latin typeface="Calibri" pitchFamily="34" charset="0"/>
                <a:ea typeface="Calibri" pitchFamily="34" charset="-122"/>
                <a:cs typeface="Calibri" pitchFamily="34" charset="-120"/>
              </a:rPr>
              <a:t>Finding a good path = motion planning.</a:t>
            </a:r>
            <a:endParaRPr lang="en-US" sz="1400" dirty="0"/>
          </a:p>
        </p:txBody>
      </p:sp>
      <p:sp>
        <p:nvSpPr>
          <p:cNvPr id="7" name="Shape 5"/>
          <p:cNvSpPr/>
          <p:nvPr/>
        </p:nvSpPr>
        <p:spPr>
          <a:xfrm>
            <a:off x="6278728" y="1417320"/>
            <a:ext cx="5364328" cy="2103120"/>
          </a:xfrm>
          <a:prstGeom prst="roundRect">
            <a:avLst>
              <a:gd name="adj" fmla="val 3913"/>
            </a:avLst>
          </a:prstGeom>
          <a:solidFill>
            <a:srgbClr val="FFF8E6"/>
          </a:solidFill>
          <a:ln/>
          <a:effectLst>
            <a:outerShdw sx="100000" sy="100000" kx="0" ky="0" algn="bl" rotWithShape="0" blurRad="76200" dist="25400" dir="5400000">
              <a:srgbClr val="1A3A5C">
                <a:alpha val="12000"/>
              </a:srgbClr>
            </a:outerShdw>
          </a:effectLst>
        </p:spPr>
      </p:sp>
      <p:sp>
        <p:nvSpPr>
          <p:cNvPr id="8" name="Text 6"/>
          <p:cNvSpPr/>
          <p:nvPr/>
        </p:nvSpPr>
        <p:spPr>
          <a:xfrm>
            <a:off x="6479896" y="1545336"/>
            <a:ext cx="4961992" cy="329184"/>
          </a:xfrm>
          <a:prstGeom prst="rect">
            <a:avLst/>
          </a:prstGeom>
          <a:noFill/>
          <a:ln/>
        </p:spPr>
        <p:txBody>
          <a:bodyPr wrap="square" lIns="0" tIns="0" rIns="0" bIns="0" rtlCol="0" anchor="ctr"/>
          <a:lstStyle/>
          <a:p>
            <a:pPr indent="0" marL="0">
              <a:buNone/>
            </a:pPr>
            <a:r>
              <a:rPr lang="en-US" sz="1450" b="1" dirty="0">
                <a:solidFill>
                  <a:srgbClr val="C8840A"/>
                </a:solidFill>
                <a:latin typeface="Calibri" pitchFamily="34" charset="0"/>
                <a:ea typeface="Calibri" pitchFamily="34" charset="-122"/>
                <a:cs typeface="Calibri" pitchFamily="34" charset="-120"/>
              </a:rPr>
              <a:t>Trajectory</a:t>
            </a:r>
            <a:endParaRPr lang="en-US" sz="1450" dirty="0"/>
          </a:p>
        </p:txBody>
      </p:sp>
      <p:sp>
        <p:nvSpPr>
          <p:cNvPr id="9" name="Text 7"/>
          <p:cNvSpPr/>
          <p:nvPr/>
        </p:nvSpPr>
        <p:spPr>
          <a:xfrm>
            <a:off x="6479896" y="1929384"/>
            <a:ext cx="4961992" cy="148132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37"/>
                </a:solidFill>
                <a:latin typeface="Calibri" pitchFamily="34" charset="0"/>
                <a:ea typeface="Calibri" pitchFamily="34" charset="-122"/>
                <a:cs typeface="Calibri" pitchFamily="34" charset="-120"/>
              </a:rPr>
              <a:t>A path with a TIME attached to each point — “start at A, take 1s to reach B, 1.5s more to reach C.”</a:t>
            </a:r>
            <a:endParaRPr lang="en-US" sz="1400" dirty="0"/>
          </a:p>
          <a:p>
            <a:pPr marL="177800" indent="-177800">
              <a:spcAft>
                <a:spcPts val="500"/>
              </a:spcAft>
              <a:buSzPct val="100000"/>
              <a:buChar char="●"/>
            </a:pPr>
            <a:r>
              <a:rPr lang="en-US" sz="1400" dirty="0">
                <a:solidFill>
                  <a:srgbClr val="1F2A37"/>
                </a:solidFill>
                <a:latin typeface="Calibri" pitchFamily="34" charset="0"/>
                <a:ea typeface="Calibri" pitchFamily="34" charset="-122"/>
                <a:cs typeface="Calibri" pitchFamily="34" charset="-120"/>
              </a:rPr>
              <a:t>Executing a trajectory = trajectory tracking control.</a:t>
            </a:r>
            <a:endParaRPr lang="en-US" sz="1400" dirty="0"/>
          </a:p>
        </p:txBody>
      </p:sp>
      <p:sp>
        <p:nvSpPr>
          <p:cNvPr id="10" name="Shape 8"/>
          <p:cNvSpPr/>
          <p:nvPr/>
        </p:nvSpPr>
        <p:spPr>
          <a:xfrm>
            <a:off x="548640" y="4160520"/>
            <a:ext cx="11094415" cy="1737360"/>
          </a:xfrm>
          <a:prstGeom prst="roundRect">
            <a:avLst>
              <a:gd name="adj" fmla="val 4211"/>
            </a:avLst>
          </a:prstGeom>
          <a:solidFill>
            <a:srgbClr val="F4F7FB"/>
          </a:solidFill>
          <a:ln w="12700">
            <a:solidFill>
              <a:srgbClr val="1A3A5C"/>
            </a:solidFill>
            <a:prstDash val="solid"/>
          </a:ln>
        </p:spPr>
      </p:sp>
      <p:sp>
        <p:nvSpPr>
          <p:cNvPr id="11" name="Text 9"/>
          <p:cNvSpPr/>
          <p:nvPr/>
        </p:nvSpPr>
        <p:spPr>
          <a:xfrm>
            <a:off x="749808" y="4270248"/>
            <a:ext cx="10692079" cy="274320"/>
          </a:xfrm>
          <a:prstGeom prst="rect">
            <a:avLst/>
          </a:prstGeom>
          <a:noFill/>
          <a:ln/>
        </p:spPr>
        <p:txBody>
          <a:bodyPr wrap="square" lIns="0" tIns="0" rIns="0" bIns="0" rtlCol="0" anchor="ctr"/>
          <a:lstStyle/>
          <a:p>
            <a:pPr indent="0" marL="0">
              <a:buNone/>
            </a:pPr>
            <a:r>
              <a:rPr lang="en-US" sz="1250" b="1" spc="50" kern="0" dirty="0">
                <a:solidFill>
                  <a:srgbClr val="1A3A5C"/>
                </a:solidFill>
                <a:latin typeface="Calibri" pitchFamily="34" charset="0"/>
                <a:ea typeface="Calibri" pitchFamily="34" charset="-122"/>
                <a:cs typeface="Calibri" pitchFamily="34" charset="-120"/>
              </a:rPr>
              <a:t>WHY THE SPLIT MATTERS</a:t>
            </a:r>
            <a:endParaRPr lang="en-US" sz="1250" dirty="0"/>
          </a:p>
        </p:txBody>
      </p:sp>
      <p:sp>
        <p:nvSpPr>
          <p:cNvPr id="12" name="Text 10"/>
          <p:cNvSpPr/>
          <p:nvPr/>
        </p:nvSpPr>
        <p:spPr>
          <a:xfrm>
            <a:off x="749808" y="4581144"/>
            <a:ext cx="10692079" cy="122529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We separate the question “what path avoids obstacles?” from “what forces/torques make the robot actually follow it?” This mirrors the plans-vs-policies distinction from Chapters 3 and 16, and we'll return to that exact analogy later in this section.</a:t>
            </a:r>
            <a:endParaRPr lang="en-US" sz="1300" dirty="0"/>
          </a:p>
        </p:txBody>
      </p:sp>
      <p:sp>
        <p:nvSpPr>
          <p:cNvPr id="13" name="Text 11"/>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4" name="Text 12"/>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15" name="Text 13"/>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26.5.1 CONFIGURATION SPACE</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Workspace vs. Configuration Space</a:t>
            </a:r>
            <a:endParaRPr lang="en-US" sz="2700" dirty="0"/>
          </a:p>
        </p:txBody>
      </p:sp>
      <p:sp>
        <p:nvSpPr>
          <p:cNvPr id="4" name="Shape 2"/>
          <p:cNvSpPr/>
          <p:nvPr/>
        </p:nvSpPr>
        <p:spPr>
          <a:xfrm>
            <a:off x="548640" y="1417320"/>
            <a:ext cx="5318608" cy="2148840"/>
          </a:xfrm>
          <a:prstGeom prst="rect">
            <a:avLst/>
          </a:prstGeom>
          <a:solidFill>
            <a:srgbClr val="F4F7FB"/>
          </a:solidFill>
          <a:ln w="15875">
            <a:solidFill>
              <a:srgbClr val="D7DEE8"/>
            </a:solidFill>
            <a:prstDash val="solid"/>
          </a:ln>
        </p:spPr>
      </p:sp>
      <p:sp>
        <p:nvSpPr>
          <p:cNvPr id="5" name="Text 3"/>
          <p:cNvSpPr/>
          <p:nvPr/>
        </p:nvSpPr>
        <p:spPr>
          <a:xfrm>
            <a:off x="658368" y="1472184"/>
            <a:ext cx="5099152" cy="228600"/>
          </a:xfrm>
          <a:prstGeom prst="rect">
            <a:avLst/>
          </a:prstGeom>
          <a:noFill/>
          <a:ln/>
        </p:spPr>
        <p:txBody>
          <a:bodyPr wrap="square" lIns="0" tIns="0" rIns="0" bIns="0" rtlCol="0" anchor="t"/>
          <a:lstStyle/>
          <a:p>
            <a:pPr algn="l" indent="0" marL="0">
              <a:buNone/>
            </a:pPr>
            <a:r>
              <a:rPr lang="en-US" sz="1150" b="1" dirty="0">
                <a:solidFill>
                  <a:srgbClr val="1A3A5C"/>
                </a:solidFill>
                <a:latin typeface="Calibri" pitchFamily="34" charset="0"/>
                <a:ea typeface="Calibri" pitchFamily="34" charset="-122"/>
                <a:cs typeface="Calibri" pitchFamily="34" charset="-120"/>
              </a:rPr>
              <a:t>WORKSPACE  W</a:t>
            </a:r>
            <a:endParaRPr lang="en-US" sz="1150" dirty="0"/>
          </a:p>
        </p:txBody>
      </p:sp>
      <p:sp>
        <p:nvSpPr>
          <p:cNvPr id="6" name="Shape 4"/>
          <p:cNvSpPr/>
          <p:nvPr/>
        </p:nvSpPr>
        <p:spPr>
          <a:xfrm>
            <a:off x="3473874" y="2061972"/>
            <a:ext cx="1861513" cy="687629"/>
          </a:xfrm>
          <a:prstGeom prst="rect">
            <a:avLst/>
          </a:prstGeom>
          <a:solidFill>
            <a:srgbClr val="F3D9CE"/>
          </a:solidFill>
          <a:ln w="15875">
            <a:solidFill>
              <a:srgbClr val="B5311A"/>
            </a:solidFill>
            <a:prstDash val="solid"/>
          </a:ln>
        </p:spPr>
      </p:sp>
      <p:sp>
        <p:nvSpPr>
          <p:cNvPr id="7" name="Text 5"/>
          <p:cNvSpPr/>
          <p:nvPr/>
        </p:nvSpPr>
        <p:spPr>
          <a:xfrm>
            <a:off x="3473874" y="2061972"/>
            <a:ext cx="1861513" cy="687629"/>
          </a:xfrm>
          <a:prstGeom prst="rect">
            <a:avLst/>
          </a:prstGeom>
          <a:noFill/>
          <a:ln/>
        </p:spPr>
        <p:txBody>
          <a:bodyPr wrap="square" lIns="25400" tIns="25400" rIns="25400" bIns="25400" rtlCol="0" anchor="ctr"/>
          <a:lstStyle/>
          <a:p>
            <a:pPr algn="ctr" indent="0" marL="0">
              <a:buNone/>
            </a:pPr>
            <a:r>
              <a:rPr lang="en-US" sz="950" dirty="0">
                <a:solidFill>
                  <a:srgbClr val="B5311A"/>
                </a:solidFill>
                <a:latin typeface="Calibri" pitchFamily="34" charset="0"/>
                <a:ea typeface="Calibri" pitchFamily="34" charset="-122"/>
                <a:cs typeface="Calibri" pitchFamily="34" charset="-120"/>
              </a:rPr>
              <a:t>obstacle O</a:t>
            </a:r>
            <a:endParaRPr lang="en-US" sz="950" dirty="0"/>
          </a:p>
        </p:txBody>
      </p:sp>
      <p:sp>
        <p:nvSpPr>
          <p:cNvPr id="8" name="Shape 6"/>
          <p:cNvSpPr/>
          <p:nvPr/>
        </p:nvSpPr>
        <p:spPr>
          <a:xfrm>
            <a:off x="1186873" y="2749601"/>
            <a:ext cx="457200" cy="365760"/>
          </a:xfrm>
          <a:prstGeom prst="rect">
            <a:avLst/>
          </a:prstGeom>
          <a:solidFill>
            <a:srgbClr val="4A6FA5"/>
          </a:solidFill>
          <a:ln w="15875">
            <a:solidFill>
              <a:srgbClr val="1A3A5C"/>
            </a:solidFill>
            <a:prstDash val="solid"/>
          </a:ln>
        </p:spPr>
      </p:sp>
      <p:sp>
        <p:nvSpPr>
          <p:cNvPr id="9" name="Text 7"/>
          <p:cNvSpPr/>
          <p:nvPr/>
        </p:nvSpPr>
        <p:spPr>
          <a:xfrm>
            <a:off x="1186873" y="2749601"/>
            <a:ext cx="457200" cy="36576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t>
            </a:r>
            <a:endParaRPr lang="en-US" sz="1100" dirty="0"/>
          </a:p>
        </p:txBody>
      </p:sp>
      <p:sp>
        <p:nvSpPr>
          <p:cNvPr id="10" name="Text 8"/>
          <p:cNvSpPr/>
          <p:nvPr/>
        </p:nvSpPr>
        <p:spPr>
          <a:xfrm>
            <a:off x="658368" y="3291840"/>
            <a:ext cx="5099152" cy="228600"/>
          </a:xfrm>
          <a:prstGeom prst="rect">
            <a:avLst/>
          </a:prstGeom>
          <a:noFill/>
          <a:ln/>
        </p:spPr>
        <p:txBody>
          <a:bodyPr wrap="square" lIns="0" tIns="0" rIns="0" bIns="0" rtlCol="0" anchor="t"/>
          <a:lstStyle/>
          <a:p>
            <a:pPr algn="l" indent="0" marL="0">
              <a:buNone/>
            </a:pPr>
            <a:r>
              <a:rPr lang="en-US" sz="950" i="1" dirty="0">
                <a:solidFill>
                  <a:srgbClr val="51606F"/>
                </a:solidFill>
                <a:latin typeface="Calibri" pitchFamily="34" charset="0"/>
                <a:ea typeface="Calibri" pitchFamily="34" charset="-122"/>
                <a:cs typeface="Calibri" pitchFamily="34" charset="-120"/>
              </a:rPr>
              <a:t>R can translate freely; must avoid O</a:t>
            </a:r>
            <a:endParaRPr lang="en-US" sz="950" dirty="0"/>
          </a:p>
        </p:txBody>
      </p:sp>
      <p:sp>
        <p:nvSpPr>
          <p:cNvPr id="11" name="Shape 9"/>
          <p:cNvSpPr/>
          <p:nvPr/>
        </p:nvSpPr>
        <p:spPr>
          <a:xfrm>
            <a:off x="6324448" y="1417320"/>
            <a:ext cx="5318608" cy="2148840"/>
          </a:xfrm>
          <a:prstGeom prst="rect">
            <a:avLst/>
          </a:prstGeom>
          <a:solidFill>
            <a:srgbClr val="F4F7FB"/>
          </a:solidFill>
          <a:ln w="15875">
            <a:solidFill>
              <a:srgbClr val="D7DEE8"/>
            </a:solidFill>
            <a:prstDash val="solid"/>
          </a:ln>
        </p:spPr>
      </p:sp>
      <p:sp>
        <p:nvSpPr>
          <p:cNvPr id="12" name="Text 10"/>
          <p:cNvSpPr/>
          <p:nvPr/>
        </p:nvSpPr>
        <p:spPr>
          <a:xfrm>
            <a:off x="6434176" y="1472184"/>
            <a:ext cx="5099152" cy="228600"/>
          </a:xfrm>
          <a:prstGeom prst="rect">
            <a:avLst/>
          </a:prstGeom>
          <a:noFill/>
          <a:ln/>
        </p:spPr>
        <p:txBody>
          <a:bodyPr wrap="square" lIns="0" tIns="0" rIns="0" bIns="0" rtlCol="0" anchor="t"/>
          <a:lstStyle/>
          <a:p>
            <a:pPr algn="l" indent="0" marL="0">
              <a:buNone/>
            </a:pPr>
            <a:r>
              <a:rPr lang="en-US" sz="1150" b="1" dirty="0">
                <a:solidFill>
                  <a:srgbClr val="1A3A5C"/>
                </a:solidFill>
                <a:latin typeface="Calibri" pitchFamily="34" charset="0"/>
                <a:ea typeface="Calibri" pitchFamily="34" charset="-122"/>
                <a:cs typeface="Calibri" pitchFamily="34" charset="-120"/>
              </a:rPr>
              <a:t>CONFIGURATION SPACE  C</a:t>
            </a:r>
            <a:endParaRPr lang="en-US" sz="1150" dirty="0"/>
          </a:p>
        </p:txBody>
      </p:sp>
      <p:sp>
        <p:nvSpPr>
          <p:cNvPr id="13" name="Shape 11"/>
          <p:cNvSpPr/>
          <p:nvPr/>
        </p:nvSpPr>
        <p:spPr>
          <a:xfrm>
            <a:off x="8558263" y="1890065"/>
            <a:ext cx="2127443" cy="1074420"/>
          </a:xfrm>
          <a:prstGeom prst="pentagon">
            <a:avLst/>
          </a:prstGeom>
          <a:solidFill>
            <a:srgbClr val="F3D9CE"/>
          </a:solidFill>
          <a:ln w="15875">
            <a:solidFill>
              <a:srgbClr val="B5311A"/>
            </a:solidFill>
            <a:prstDash val="solid"/>
          </a:ln>
        </p:spPr>
      </p:sp>
      <p:sp>
        <p:nvSpPr>
          <p:cNvPr id="14" name="Text 12"/>
          <p:cNvSpPr/>
          <p:nvPr/>
        </p:nvSpPr>
        <p:spPr>
          <a:xfrm>
            <a:off x="8558263" y="1844345"/>
            <a:ext cx="2127443" cy="182880"/>
          </a:xfrm>
          <a:prstGeom prst="rect">
            <a:avLst/>
          </a:prstGeom>
          <a:noFill/>
          <a:ln/>
        </p:spPr>
        <p:txBody>
          <a:bodyPr wrap="square" lIns="0" tIns="0" rIns="0" bIns="0" rtlCol="0" anchor="t"/>
          <a:lstStyle/>
          <a:p>
            <a:pPr algn="ctr" indent="0" marL="0">
              <a:buNone/>
            </a:pPr>
            <a:r>
              <a:rPr lang="en-US" sz="1000" b="1" dirty="0">
                <a:solidFill>
                  <a:srgbClr val="B5311A"/>
                </a:solidFill>
                <a:latin typeface="Calibri" pitchFamily="34" charset="0"/>
                <a:ea typeface="Calibri" pitchFamily="34" charset="-122"/>
                <a:cs typeface="Calibri" pitchFamily="34" charset="-120"/>
              </a:rPr>
              <a:t>Cobs</a:t>
            </a:r>
            <a:endParaRPr lang="en-US" sz="1000" dirty="0"/>
          </a:p>
        </p:txBody>
      </p:sp>
      <p:sp>
        <p:nvSpPr>
          <p:cNvPr id="15" name="Shape 13"/>
          <p:cNvSpPr/>
          <p:nvPr/>
        </p:nvSpPr>
        <p:spPr>
          <a:xfrm>
            <a:off x="7240649" y="2772918"/>
            <a:ext cx="82296" cy="82296"/>
          </a:xfrm>
          <a:prstGeom prst="ellipse">
            <a:avLst/>
          </a:prstGeom>
          <a:solidFill>
            <a:srgbClr val="4A6FA5"/>
          </a:solidFill>
          <a:ln/>
        </p:spPr>
      </p:sp>
      <p:sp>
        <p:nvSpPr>
          <p:cNvPr id="16" name="Text 14"/>
          <p:cNvSpPr/>
          <p:nvPr/>
        </p:nvSpPr>
        <p:spPr>
          <a:xfrm>
            <a:off x="6370168" y="2878531"/>
            <a:ext cx="1097280" cy="182880"/>
          </a:xfrm>
          <a:prstGeom prst="rect">
            <a:avLst/>
          </a:prstGeom>
          <a:noFill/>
          <a:ln/>
        </p:spPr>
        <p:txBody>
          <a:bodyPr wrap="square" lIns="0" tIns="0" rIns="0" bIns="0" rtlCol="0" anchor="t"/>
          <a:lstStyle/>
          <a:p>
            <a:pPr algn="l" indent="0" marL="0">
              <a:buNone/>
            </a:pPr>
            <a:r>
              <a:rPr lang="en-US" sz="900" i="1" dirty="0">
                <a:solidFill>
                  <a:srgbClr val="51606F"/>
                </a:solidFill>
                <a:latin typeface="Calibri" pitchFamily="34" charset="0"/>
                <a:ea typeface="Calibri" pitchFamily="34" charset="-122"/>
                <a:cs typeface="Calibri" pitchFamily="34" charset="-120"/>
              </a:rPr>
              <a:t>single point = full pose</a:t>
            </a:r>
            <a:endParaRPr lang="en-US" sz="900" dirty="0"/>
          </a:p>
        </p:txBody>
      </p:sp>
      <p:sp>
        <p:nvSpPr>
          <p:cNvPr id="17" name="Text 15"/>
          <p:cNvSpPr/>
          <p:nvPr/>
        </p:nvSpPr>
        <p:spPr>
          <a:xfrm>
            <a:off x="6434176" y="3291840"/>
            <a:ext cx="5099152" cy="228600"/>
          </a:xfrm>
          <a:prstGeom prst="rect">
            <a:avLst/>
          </a:prstGeom>
          <a:noFill/>
          <a:ln/>
        </p:spPr>
        <p:txBody>
          <a:bodyPr wrap="square" lIns="0" tIns="0" rIns="0" bIns="0" rtlCol="0" anchor="t"/>
          <a:lstStyle/>
          <a:p>
            <a:pPr algn="l" indent="0" marL="0">
              <a:buNone/>
            </a:pPr>
            <a:r>
              <a:rPr lang="en-US" sz="950" i="1" dirty="0">
                <a:solidFill>
                  <a:srgbClr val="51606F"/>
                </a:solidFill>
                <a:latin typeface="Calibri" pitchFamily="34" charset="0"/>
                <a:ea typeface="Calibri" pitchFamily="34" charset="-122"/>
                <a:cs typeface="Calibri" pitchFamily="34" charset="-120"/>
              </a:rPr>
              <a:t>The robot IS a point in C; Cobs shrinks it to the boundary</a:t>
            </a:r>
            <a:endParaRPr lang="en-US" sz="950" dirty="0"/>
          </a:p>
        </p:txBody>
      </p:sp>
      <p:sp>
        <p:nvSpPr>
          <p:cNvPr id="18" name="Shape 16"/>
          <p:cNvSpPr/>
          <p:nvPr/>
        </p:nvSpPr>
        <p:spPr>
          <a:xfrm>
            <a:off x="548640" y="3749040"/>
            <a:ext cx="11094415" cy="658368"/>
          </a:xfrm>
          <a:prstGeom prst="roundRect">
            <a:avLst>
              <a:gd name="adj" fmla="val 9722"/>
            </a:avLst>
          </a:prstGeom>
          <a:solidFill>
            <a:srgbClr val="EEF2FF"/>
          </a:solidFill>
          <a:ln w="9525">
            <a:solidFill>
              <a:srgbClr val="4A6FA5"/>
            </a:solidFill>
            <a:prstDash val="solid"/>
          </a:ln>
        </p:spPr>
      </p:sp>
      <p:sp>
        <p:nvSpPr>
          <p:cNvPr id="19" name="Text 17"/>
          <p:cNvSpPr/>
          <p:nvPr/>
        </p:nvSpPr>
        <p:spPr>
          <a:xfrm>
            <a:off x="713232" y="3794760"/>
            <a:ext cx="1554480" cy="237744"/>
          </a:xfrm>
          <a:prstGeom prst="rect">
            <a:avLst/>
          </a:prstGeom>
          <a:noFill/>
          <a:ln/>
        </p:spPr>
        <p:txBody>
          <a:bodyPr wrap="square" lIns="0" tIns="0" rIns="0" bIns="0" rtlCol="0" anchor="ctr"/>
          <a:lstStyle/>
          <a:p>
            <a:pPr indent="0" marL="0">
              <a:buNone/>
            </a:pPr>
            <a:r>
              <a:rPr lang="en-US" sz="1050" b="1" spc="50" kern="0" dirty="0">
                <a:solidFill>
                  <a:srgbClr val="4A6FA5"/>
                </a:solidFill>
                <a:latin typeface="Calibri" pitchFamily="34" charset="0"/>
                <a:ea typeface="Calibri" pitchFamily="34" charset="-122"/>
                <a:cs typeface="Calibri" pitchFamily="34" charset="-120"/>
              </a:rPr>
              <a:t>GENERAL</a:t>
            </a:r>
            <a:endParaRPr lang="en-US" sz="1050" dirty="0"/>
          </a:p>
        </p:txBody>
      </p:sp>
      <p:sp>
        <p:nvSpPr>
          <p:cNvPr id="20" name="Text 18"/>
          <p:cNvSpPr/>
          <p:nvPr/>
        </p:nvSpPr>
        <p:spPr>
          <a:xfrm>
            <a:off x="713232" y="4023360"/>
            <a:ext cx="10765231" cy="329184"/>
          </a:xfrm>
          <a:prstGeom prst="rect">
            <a:avLst/>
          </a:prstGeom>
          <a:noFill/>
          <a:ln/>
        </p:spPr>
        <p:txBody>
          <a:bodyPr wrap="square" lIns="0" tIns="0" rIns="0" bIns="0" rtlCol="0" anchor="t"/>
          <a:lstStyle/>
          <a:p>
            <a:pPr indent="0" marL="0">
              <a:buNone/>
            </a:pPr>
            <a:r>
              <a:rPr lang="en-US" sz="1200" dirty="0">
                <a:solidFill>
                  <a:srgbClr val="1F2A37"/>
                </a:solidFill>
                <a:latin typeface="Calibri" pitchFamily="34" charset="0"/>
                <a:ea typeface="Calibri" pitchFamily="34" charset="-122"/>
                <a:cs typeface="Calibri" pitchFamily="34" charset="-120"/>
              </a:rPr>
              <a:t>A robot's body is a set of (x,y) points in the workspace. Avoiding an obstacle means checking that NO point on the robot overlaps NO point on the obstacle.</a:t>
            </a:r>
            <a:endParaRPr lang="en-US" sz="1200" dirty="0"/>
          </a:p>
        </p:txBody>
      </p:sp>
      <p:sp>
        <p:nvSpPr>
          <p:cNvPr id="21" name="Shape 19"/>
          <p:cNvSpPr/>
          <p:nvPr/>
        </p:nvSpPr>
        <p:spPr>
          <a:xfrm>
            <a:off x="548640" y="4498848"/>
            <a:ext cx="11094415" cy="658368"/>
          </a:xfrm>
          <a:prstGeom prst="roundRect">
            <a:avLst>
              <a:gd name="adj" fmla="val 9722"/>
            </a:avLst>
          </a:prstGeom>
          <a:solidFill>
            <a:srgbClr val="FFF8E6"/>
          </a:solidFill>
          <a:ln w="9525">
            <a:solidFill>
              <a:srgbClr val="C8840A"/>
            </a:solidFill>
            <a:prstDash val="solid"/>
          </a:ln>
        </p:spPr>
      </p:sp>
      <p:sp>
        <p:nvSpPr>
          <p:cNvPr id="22" name="Text 20"/>
          <p:cNvSpPr/>
          <p:nvPr/>
        </p:nvSpPr>
        <p:spPr>
          <a:xfrm>
            <a:off x="713232" y="4544568"/>
            <a:ext cx="1554480" cy="237744"/>
          </a:xfrm>
          <a:prstGeom prst="rect">
            <a:avLst/>
          </a:prstGeom>
          <a:noFill/>
          <a:ln/>
        </p:spPr>
        <p:txBody>
          <a:bodyPr wrap="square" lIns="0" tIns="0" rIns="0" bIns="0" rtlCol="0" anchor="ctr"/>
          <a:lstStyle/>
          <a:p>
            <a:pPr indent="0" marL="0">
              <a:buNone/>
            </a:pPr>
            <a:r>
              <a:rPr lang="en-US" sz="1050" b="1" spc="50" kern="0" dirty="0">
                <a:solidFill>
                  <a:srgbClr val="C8840A"/>
                </a:solidFill>
                <a:latin typeface="Calibri" pitchFamily="34" charset="0"/>
                <a:ea typeface="Calibri" pitchFamily="34" charset="-122"/>
                <a:cs typeface="Calibri" pitchFamily="34" charset="-120"/>
              </a:rPr>
              <a:t>SUBSTITUTE</a:t>
            </a:r>
            <a:endParaRPr lang="en-US" sz="1050" dirty="0"/>
          </a:p>
        </p:txBody>
      </p:sp>
      <p:sp>
        <p:nvSpPr>
          <p:cNvPr id="23" name="Text 21"/>
          <p:cNvSpPr/>
          <p:nvPr/>
        </p:nvSpPr>
        <p:spPr>
          <a:xfrm>
            <a:off x="713232" y="4773168"/>
            <a:ext cx="10765231" cy="329184"/>
          </a:xfrm>
          <a:prstGeom prst="rect">
            <a:avLst/>
          </a:prstGeom>
          <a:noFill/>
          <a:ln/>
        </p:spPr>
        <p:txBody>
          <a:bodyPr wrap="square" lIns="0" tIns="0" rIns="0" bIns="0" rtlCol="0" anchor="t"/>
          <a:lstStyle/>
          <a:p>
            <a:pPr indent="0" marL="0">
              <a:buNone/>
            </a:pPr>
            <a:r>
              <a:rPr lang="en-US" sz="1200" dirty="0">
                <a:solidFill>
                  <a:srgbClr val="1F2A37"/>
                </a:solidFill>
                <a:latin typeface="Calibri" pitchFamily="34" charset="0"/>
                <a:ea typeface="Calibri" pitchFamily="34" charset="-122"/>
                <a:cs typeface="Calibri" pitchFamily="34" charset="-120"/>
              </a:rPr>
              <a:t>Instead, represent the ENTIRE robot as a single point in an abstract space — the configuration space, or C-space — using its known size/shape plus its current pose.</a:t>
            </a:r>
            <a:endParaRPr lang="en-US" sz="1200" dirty="0"/>
          </a:p>
        </p:txBody>
      </p:sp>
      <p:sp>
        <p:nvSpPr>
          <p:cNvPr id="24" name="Shape 22"/>
          <p:cNvSpPr/>
          <p:nvPr/>
        </p:nvSpPr>
        <p:spPr>
          <a:xfrm>
            <a:off x="548640" y="5248656"/>
            <a:ext cx="11094415" cy="658368"/>
          </a:xfrm>
          <a:prstGeom prst="roundRect">
            <a:avLst>
              <a:gd name="adj" fmla="val 9722"/>
            </a:avLst>
          </a:prstGeom>
          <a:solidFill>
            <a:srgbClr val="EEF8EE"/>
          </a:solidFill>
          <a:ln w="9525">
            <a:solidFill>
              <a:srgbClr val="1B6B3A"/>
            </a:solidFill>
            <a:prstDash val="solid"/>
          </a:ln>
        </p:spPr>
      </p:sp>
      <p:sp>
        <p:nvSpPr>
          <p:cNvPr id="25" name="Text 23"/>
          <p:cNvSpPr/>
          <p:nvPr/>
        </p:nvSpPr>
        <p:spPr>
          <a:xfrm>
            <a:off x="713232" y="5294376"/>
            <a:ext cx="1554480" cy="237744"/>
          </a:xfrm>
          <a:prstGeom prst="rect">
            <a:avLst/>
          </a:prstGeom>
          <a:noFill/>
          <a:ln/>
        </p:spPr>
        <p:txBody>
          <a:bodyPr wrap="square" lIns="0" tIns="0" rIns="0" bIns="0" rtlCol="0" anchor="ctr"/>
          <a:lstStyle/>
          <a:p>
            <a:pPr indent="0" marL="0">
              <a:buNone/>
            </a:pPr>
            <a:r>
              <a:rPr lang="en-US" sz="1050" b="1" spc="50" kern="0" dirty="0">
                <a:solidFill>
                  <a:srgbClr val="1B6B3A"/>
                </a:solidFill>
                <a:latin typeface="Calibri" pitchFamily="34" charset="0"/>
                <a:ea typeface="Calibri" pitchFamily="34" charset="-122"/>
                <a:cs typeface="Calibri" pitchFamily="34" charset="-120"/>
              </a:rPr>
              <a:t>RESULT</a:t>
            </a:r>
            <a:endParaRPr lang="en-US" sz="1050" dirty="0"/>
          </a:p>
        </p:txBody>
      </p:sp>
      <p:sp>
        <p:nvSpPr>
          <p:cNvPr id="26" name="Text 24"/>
          <p:cNvSpPr/>
          <p:nvPr/>
        </p:nvSpPr>
        <p:spPr>
          <a:xfrm>
            <a:off x="713232" y="5522976"/>
            <a:ext cx="10765231" cy="329184"/>
          </a:xfrm>
          <a:prstGeom prst="rect">
            <a:avLst/>
          </a:prstGeom>
          <a:noFill/>
          <a:ln/>
        </p:spPr>
        <p:txBody>
          <a:bodyPr wrap="square" lIns="0" tIns="0" rIns="0" bIns="0" rtlCol="0" anchor="t"/>
          <a:lstStyle/>
          <a:p>
            <a:pPr indent="0" marL="0">
              <a:buNone/>
            </a:pPr>
            <a:r>
              <a:rPr lang="en-US" sz="1200" dirty="0">
                <a:solidFill>
                  <a:srgbClr val="1F2A37"/>
                </a:solidFill>
                <a:latin typeface="Calibri" pitchFamily="34" charset="0"/>
                <a:ea typeface="Calibri" pitchFamily="34" charset="-122"/>
                <a:cs typeface="Calibri" pitchFamily="34" charset="-120"/>
              </a:rPr>
              <a:t>Motion planning becomes: find a path for one point, in C, that avoids the C-space obstacle Cobs. Vastly simpler than juggling every point on the robot's body.</a:t>
            </a:r>
            <a:endParaRPr lang="en-US" sz="1200" dirty="0"/>
          </a:p>
        </p:txBody>
      </p:sp>
      <p:sp>
        <p:nvSpPr>
          <p:cNvPr id="27" name="Text 25"/>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28" name="Text 26"/>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29" name="Text 27"/>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26.5.1 CONFIGURATION SPACE</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Degrees of Freedom and Kinematics</a:t>
            </a:r>
            <a:endParaRPr lang="en-US" sz="2700" dirty="0"/>
          </a:p>
        </p:txBody>
      </p:sp>
      <p:sp>
        <p:nvSpPr>
          <p:cNvPr id="4" name="Shape 2"/>
          <p:cNvSpPr/>
          <p:nvPr/>
        </p:nvSpPr>
        <p:spPr>
          <a:xfrm>
            <a:off x="548640" y="1417320"/>
            <a:ext cx="6101928" cy="3017520"/>
          </a:xfrm>
          <a:prstGeom prst="rect">
            <a:avLst/>
          </a:prstGeom>
          <a:solidFill>
            <a:srgbClr val="F4F7FB"/>
          </a:solidFill>
          <a:ln w="15875">
            <a:solidFill>
              <a:srgbClr val="D7DEE8"/>
            </a:solidFill>
            <a:prstDash val="solid"/>
          </a:ln>
        </p:spPr>
      </p:sp>
      <p:sp>
        <p:nvSpPr>
          <p:cNvPr id="5" name="Shape 3"/>
          <p:cNvSpPr/>
          <p:nvPr/>
        </p:nvSpPr>
        <p:spPr>
          <a:xfrm>
            <a:off x="1845522" y="3890772"/>
            <a:ext cx="457200" cy="182880"/>
          </a:xfrm>
          <a:prstGeom prst="rect">
            <a:avLst/>
          </a:prstGeom>
          <a:solidFill>
            <a:srgbClr val="1A3A5C"/>
          </a:solidFill>
          <a:ln w="15875">
            <a:solidFill>
              <a:srgbClr val="1A3A5C"/>
            </a:solidFill>
            <a:prstDash val="solid"/>
          </a:ln>
        </p:spPr>
      </p:sp>
      <p:sp>
        <p:nvSpPr>
          <p:cNvPr id="6" name="Text 4"/>
          <p:cNvSpPr/>
          <p:nvPr/>
        </p:nvSpPr>
        <p:spPr>
          <a:xfrm>
            <a:off x="1845522" y="3890772"/>
            <a:ext cx="457200" cy="182880"/>
          </a:xfrm>
          <a:prstGeom prst="rect">
            <a:avLst/>
          </a:prstGeom>
          <a:noFill/>
          <a:ln/>
        </p:spPr>
        <p:txBody>
          <a:bodyPr wrap="square" lIns="25400" tIns="25400" rIns="25400" bIns="2540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base</a:t>
            </a:r>
            <a:endParaRPr lang="en-US" sz="800" dirty="0"/>
          </a:p>
        </p:txBody>
      </p:sp>
      <p:sp>
        <p:nvSpPr>
          <p:cNvPr id="7" name="Shape 5"/>
          <p:cNvSpPr/>
          <p:nvPr/>
        </p:nvSpPr>
        <p:spPr>
          <a:xfrm flipV="1">
            <a:off x="2074122" y="2775204"/>
            <a:ext cx="1708540" cy="1207008"/>
          </a:xfrm>
          <a:prstGeom prst="line">
            <a:avLst/>
          </a:prstGeom>
          <a:noFill/>
          <a:ln w="50800">
            <a:solidFill>
              <a:srgbClr val="4A6FA5"/>
            </a:solidFill>
            <a:prstDash val="solid"/>
            <a:headEnd type="none"/>
            <a:tailEnd type="triangle"/>
          </a:ln>
        </p:spPr>
      </p:sp>
      <p:sp>
        <p:nvSpPr>
          <p:cNvPr id="8" name="Shape 6"/>
          <p:cNvSpPr/>
          <p:nvPr/>
        </p:nvSpPr>
        <p:spPr>
          <a:xfrm flipV="1">
            <a:off x="3782662" y="2624328"/>
            <a:ext cx="1830579" cy="150876"/>
          </a:xfrm>
          <a:prstGeom prst="line">
            <a:avLst/>
          </a:prstGeom>
          <a:noFill/>
          <a:ln w="50800">
            <a:solidFill>
              <a:srgbClr val="C8840A"/>
            </a:solidFill>
            <a:prstDash val="solid"/>
            <a:headEnd type="none"/>
            <a:tailEnd type="triangle"/>
          </a:ln>
        </p:spPr>
      </p:sp>
      <p:sp>
        <p:nvSpPr>
          <p:cNvPr id="9" name="Shape 7"/>
          <p:cNvSpPr/>
          <p:nvPr/>
        </p:nvSpPr>
        <p:spPr>
          <a:xfrm>
            <a:off x="2010114" y="3918204"/>
            <a:ext cx="128016" cy="128016"/>
          </a:xfrm>
          <a:prstGeom prst="ellipse">
            <a:avLst/>
          </a:prstGeom>
          <a:solidFill>
            <a:srgbClr val="1A3A5C"/>
          </a:solidFill>
          <a:ln/>
        </p:spPr>
      </p:sp>
      <p:sp>
        <p:nvSpPr>
          <p:cNvPr id="10" name="Shape 8"/>
          <p:cNvSpPr/>
          <p:nvPr/>
        </p:nvSpPr>
        <p:spPr>
          <a:xfrm>
            <a:off x="3718654" y="2711196"/>
            <a:ext cx="128016" cy="128016"/>
          </a:xfrm>
          <a:prstGeom prst="ellipse">
            <a:avLst/>
          </a:prstGeom>
          <a:solidFill>
            <a:srgbClr val="1A3A5C"/>
          </a:solidFill>
          <a:ln/>
        </p:spPr>
      </p:sp>
      <p:sp>
        <p:nvSpPr>
          <p:cNvPr id="11" name="Shape 9"/>
          <p:cNvSpPr/>
          <p:nvPr/>
        </p:nvSpPr>
        <p:spPr>
          <a:xfrm>
            <a:off x="5558377" y="2569464"/>
            <a:ext cx="109728" cy="109728"/>
          </a:xfrm>
          <a:prstGeom prst="ellipse">
            <a:avLst/>
          </a:prstGeom>
          <a:solidFill>
            <a:srgbClr val="E8960C"/>
          </a:solidFill>
          <a:ln/>
        </p:spPr>
      </p:sp>
      <p:sp>
        <p:nvSpPr>
          <p:cNvPr id="12" name="Text 10"/>
          <p:cNvSpPr/>
          <p:nvPr/>
        </p:nvSpPr>
        <p:spPr>
          <a:xfrm>
            <a:off x="1616922" y="4055364"/>
            <a:ext cx="1097280" cy="274320"/>
          </a:xfrm>
          <a:prstGeom prst="rect">
            <a:avLst/>
          </a:prstGeom>
          <a:noFill/>
          <a:ln/>
        </p:spPr>
        <p:txBody>
          <a:bodyPr wrap="square" lIns="0" tIns="0" rIns="0" bIns="0" rtlCol="0" anchor="t"/>
          <a:lstStyle/>
          <a:p>
            <a:pPr algn="l" indent="0" marL="0">
              <a:buNone/>
            </a:pPr>
            <a:r>
              <a:rPr lang="en-US" sz="1000" b="1" dirty="0">
                <a:solidFill>
                  <a:srgbClr val="4A6FA5"/>
                </a:solidFill>
                <a:latin typeface="Calibri" pitchFamily="34" charset="0"/>
                <a:ea typeface="Calibri" pitchFamily="34" charset="-122"/>
                <a:cs typeface="Calibri" pitchFamily="34" charset="-120"/>
              </a:rPr>
              <a:t>θshoulder</a:t>
            </a:r>
            <a:endParaRPr lang="en-US" sz="1000" dirty="0"/>
          </a:p>
        </p:txBody>
      </p:sp>
      <p:sp>
        <p:nvSpPr>
          <p:cNvPr id="13" name="Text 11"/>
          <p:cNvSpPr/>
          <p:nvPr/>
        </p:nvSpPr>
        <p:spPr>
          <a:xfrm>
            <a:off x="3828382" y="2482596"/>
            <a:ext cx="1005840" cy="274320"/>
          </a:xfrm>
          <a:prstGeom prst="rect">
            <a:avLst/>
          </a:prstGeom>
          <a:noFill/>
          <a:ln/>
        </p:spPr>
        <p:txBody>
          <a:bodyPr wrap="square" lIns="0" tIns="0" rIns="0" bIns="0" rtlCol="0" anchor="t"/>
          <a:lstStyle/>
          <a:p>
            <a:pPr algn="l" indent="0" marL="0">
              <a:buNone/>
            </a:pPr>
            <a:r>
              <a:rPr lang="en-US" sz="1000" b="1" dirty="0">
                <a:solidFill>
                  <a:srgbClr val="E8960C"/>
                </a:solidFill>
                <a:latin typeface="Calibri" pitchFamily="34" charset="0"/>
                <a:ea typeface="Calibri" pitchFamily="34" charset="-122"/>
                <a:cs typeface="Calibri" pitchFamily="34" charset="-120"/>
              </a:rPr>
              <a:t>θelbow</a:t>
            </a:r>
            <a:endParaRPr lang="en-US" sz="1000" dirty="0"/>
          </a:p>
        </p:txBody>
      </p:sp>
      <p:sp>
        <p:nvSpPr>
          <p:cNvPr id="14" name="Text 12"/>
          <p:cNvSpPr/>
          <p:nvPr/>
        </p:nvSpPr>
        <p:spPr>
          <a:xfrm>
            <a:off x="5704681" y="2514600"/>
            <a:ext cx="1188720" cy="274320"/>
          </a:xfrm>
          <a:prstGeom prst="rect">
            <a:avLst/>
          </a:prstGeom>
          <a:noFill/>
          <a:ln/>
        </p:spPr>
        <p:txBody>
          <a:bodyPr wrap="square" lIns="0" tIns="0" rIns="0" bIns="0" rtlCol="0" anchor="t"/>
          <a:lstStyle/>
          <a:p>
            <a:pPr algn="l" indent="0" marL="0">
              <a:buNone/>
            </a:pPr>
            <a:r>
              <a:rPr lang="en-US" sz="950" i="1" dirty="0">
                <a:solidFill>
                  <a:srgbClr val="51606F"/>
                </a:solidFill>
                <a:latin typeface="Calibri" pitchFamily="34" charset="0"/>
                <a:ea typeface="Calibri" pitchFamily="34" charset="-122"/>
                <a:cs typeface="Calibri" pitchFamily="34" charset="-120"/>
              </a:rPr>
              <a:t>end effector</a:t>
            </a:r>
            <a:endParaRPr lang="en-US" sz="950" dirty="0"/>
          </a:p>
        </p:txBody>
      </p:sp>
      <p:sp>
        <p:nvSpPr>
          <p:cNvPr id="15" name="Text 13"/>
          <p:cNvSpPr/>
          <p:nvPr/>
        </p:nvSpPr>
        <p:spPr>
          <a:xfrm>
            <a:off x="685800" y="1508760"/>
            <a:ext cx="5827608" cy="274320"/>
          </a:xfrm>
          <a:prstGeom prst="rect">
            <a:avLst/>
          </a:prstGeom>
          <a:noFill/>
          <a:ln/>
        </p:spPr>
        <p:txBody>
          <a:bodyPr wrap="square" lIns="0" tIns="0" rIns="0" bIns="0" rtlCol="0" anchor="t"/>
          <a:lstStyle/>
          <a:p>
            <a:pPr algn="l" indent="0" marL="0">
              <a:buNone/>
            </a:pPr>
            <a:r>
              <a:rPr lang="en-US" sz="1150" b="1" dirty="0">
                <a:solidFill>
                  <a:srgbClr val="1A3A5C"/>
                </a:solidFill>
                <a:latin typeface="Calibri" pitchFamily="34" charset="0"/>
                <a:ea typeface="Calibri" pitchFamily="34" charset="-122"/>
                <a:cs typeface="Calibri" pitchFamily="34" charset="-120"/>
              </a:rPr>
              <a:t>C-space = (θshoulder, θelbow)  →  2 degrees of freedom</a:t>
            </a:r>
            <a:endParaRPr lang="en-US" sz="1150" dirty="0"/>
          </a:p>
        </p:txBody>
      </p:sp>
      <p:sp>
        <p:nvSpPr>
          <p:cNvPr id="16" name="Shape 14"/>
          <p:cNvSpPr/>
          <p:nvPr/>
        </p:nvSpPr>
        <p:spPr>
          <a:xfrm>
            <a:off x="6970608" y="1417320"/>
            <a:ext cx="4672447" cy="3017520"/>
          </a:xfrm>
          <a:prstGeom prst="roundRect">
            <a:avLst>
              <a:gd name="adj" fmla="val 2727"/>
            </a:avLst>
          </a:prstGeom>
          <a:solidFill>
            <a:srgbClr val="FFF8E6"/>
          </a:solidFill>
          <a:ln/>
          <a:effectLst>
            <a:outerShdw sx="100000" sy="100000" kx="0" ky="0" algn="bl" rotWithShape="0" blurRad="76200" dist="25400" dir="5400000">
              <a:srgbClr val="1A3A5C">
                <a:alpha val="12000"/>
              </a:srgbClr>
            </a:outerShdw>
          </a:effectLst>
        </p:spPr>
      </p:sp>
      <p:sp>
        <p:nvSpPr>
          <p:cNvPr id="17" name="Text 15"/>
          <p:cNvSpPr/>
          <p:nvPr/>
        </p:nvSpPr>
        <p:spPr>
          <a:xfrm>
            <a:off x="7171776" y="1545336"/>
            <a:ext cx="4270111" cy="329184"/>
          </a:xfrm>
          <a:prstGeom prst="rect">
            <a:avLst/>
          </a:prstGeom>
          <a:noFill/>
          <a:ln/>
        </p:spPr>
        <p:txBody>
          <a:bodyPr wrap="square" lIns="0" tIns="0" rIns="0" bIns="0" rtlCol="0" anchor="ctr"/>
          <a:lstStyle/>
          <a:p>
            <a:pPr indent="0" marL="0">
              <a:buNone/>
            </a:pPr>
            <a:r>
              <a:rPr lang="en-US" sz="1450" b="1" dirty="0">
                <a:solidFill>
                  <a:srgbClr val="C8840A"/>
                </a:solidFill>
                <a:latin typeface="Calibri" pitchFamily="34" charset="0"/>
                <a:ea typeface="Calibri" pitchFamily="34" charset="-122"/>
                <a:cs typeface="Calibri" pitchFamily="34" charset="-120"/>
              </a:rPr>
              <a:t>Forward vs. inverse kinematics</a:t>
            </a:r>
            <a:endParaRPr lang="en-US" sz="1450" dirty="0"/>
          </a:p>
        </p:txBody>
      </p:sp>
      <p:sp>
        <p:nvSpPr>
          <p:cNvPr id="18" name="Text 16"/>
          <p:cNvSpPr/>
          <p:nvPr/>
        </p:nvSpPr>
        <p:spPr>
          <a:xfrm>
            <a:off x="7171776" y="1929384"/>
            <a:ext cx="4270111" cy="2395728"/>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Forward kinematics φb: C → W — given a configuration, where is point b on the robot?</a:t>
            </a:r>
            <a:endParaRPr lang="en-US" sz="1300" dirty="0"/>
          </a:p>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Inverse kinematics IKb: W → {q ∈ C} — given a desired location for point b, what configuration(s) achieve it?</a:t>
            </a:r>
            <a:endParaRPr lang="en-US" sz="1300" dirty="0"/>
          </a:p>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Grasping example: compute a target position+orientation for the gripper, then use IK to find the goal configuration.</a:t>
            </a:r>
            <a:endParaRPr lang="en-US" sz="1300" dirty="0"/>
          </a:p>
        </p:txBody>
      </p:sp>
      <p:sp>
        <p:nvSpPr>
          <p:cNvPr id="19" name="Text 17"/>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20" name="Text 18"/>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21" name="Text 19"/>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26.5.1 CONFIGURATION SPACE</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C-space Obstacles Can Be Strange Shapes</a:t>
            </a:r>
            <a:endParaRPr lang="en-US" sz="2700" dirty="0"/>
          </a:p>
        </p:txBody>
      </p:sp>
      <p:sp>
        <p:nvSpPr>
          <p:cNvPr id="4" name="Text 2"/>
          <p:cNvSpPr/>
          <p:nvPr/>
        </p:nvSpPr>
        <p:spPr>
          <a:xfrm>
            <a:off x="548640" y="1417320"/>
            <a:ext cx="11094415" cy="4937760"/>
          </a:xfrm>
          <a:prstGeom prst="rect">
            <a:avLst/>
          </a:prstGeom>
          <a:noFill/>
          <a:ln/>
        </p:spPr>
        <p:txBody>
          <a:bodyPr wrap="square" lIns="0" tIns="0" rIns="0" bIns="0" rtlCol="0" anchor="t"/>
          <a:lstStyle/>
          <a:p>
            <a:pPr marL="228600" indent="-228600">
              <a:spcAft>
                <a:spcPts val="1000"/>
              </a:spcAft>
              <a:buSzPct val="100000"/>
              <a:buChar char="●"/>
            </a:pPr>
            <a:r>
              <a:rPr lang="en-US" sz="1550" b="1" dirty="0">
                <a:solidFill>
                  <a:srgbClr val="1F2A37"/>
                </a:solidFill>
                <a:latin typeface="Calibri" pitchFamily="34" charset="0"/>
                <a:ea typeface="Calibri" pitchFamily="34" charset="-122"/>
                <a:cs typeface="Calibri" pitchFamily="34" charset="-120"/>
              </a:rPr>
              <a:t>Even simple, flat polygonal obstacles in the workspace can become highly nonlinear — even concave — shapes in C-space.</a:t>
            </a:r>
            <a:endParaRPr lang="en-US" sz="1550" dirty="0"/>
          </a:p>
          <a:p>
            <a:pPr lvl="1" marL="457200" indent="-228600">
              <a:spcAft>
                <a:spcPts val="1000"/>
              </a:spcAft>
              <a:buSzPct val="100000"/>
              <a:buChar char="–"/>
            </a:pPr>
            <a:r>
              <a:rPr lang="en-US" sz="1550" dirty="0">
                <a:solidFill>
                  <a:srgbClr val="1F2A37"/>
                </a:solidFill>
                <a:latin typeface="Calibri" pitchFamily="34" charset="0"/>
                <a:ea typeface="Calibri" pitchFamily="34" charset="-122"/>
                <a:cs typeface="Calibri" pitchFamily="34" charset="-120"/>
              </a:rPr>
              <a:t>For a two-link arm, one vertical obstacle hanging from the ceiling creates a warped C-space region that's hard to recognize at first glance.</a:t>
            </a:r>
            <a:endParaRPr lang="en-US" sz="1550" dirty="0"/>
          </a:p>
          <a:p>
            <a:pPr lvl="1" marL="457200" indent="-228600">
              <a:spcAft>
                <a:spcPts val="1000"/>
              </a:spcAft>
              <a:buSzPct val="100000"/>
              <a:buChar char="–"/>
            </a:pPr>
            <a:r>
              <a:rPr lang="en-US" sz="1550" dirty="0">
                <a:solidFill>
                  <a:srgbClr val="1F2A37"/>
                </a:solidFill>
                <a:latin typeface="Calibri" pitchFamily="34" charset="0"/>
                <a:ea typeface="Calibri" pitchFamily="34" charset="-122"/>
                <a:cs typeface="Calibri" pitchFamily="34" charset="-120"/>
              </a:rPr>
              <a:t>The dark region surrounding all of C-space in Fig. 26.12(b) is itself an obstacle: configurations where the robot collides with ITSELF.</a:t>
            </a:r>
            <a:endParaRPr lang="en-US" sz="1550" dirty="0"/>
          </a:p>
          <a:p>
            <a:pPr marL="228600" indent="-228600">
              <a:spcAft>
                <a:spcPts val="1000"/>
              </a:spcAft>
              <a:buSzPct val="100000"/>
              <a:buChar char="●"/>
            </a:pPr>
            <a:r>
              <a:rPr lang="en-US" sz="1550" b="1" dirty="0">
                <a:solidFill>
                  <a:srgbClr val="C8840A"/>
                </a:solidFill>
                <a:latin typeface="Calibri" pitchFamily="34" charset="0"/>
                <a:ea typeface="Calibri" pitchFamily="34" charset="-122"/>
                <a:cs typeface="Calibri" pitchFamily="34" charset="-120"/>
              </a:rPr>
              <a:t>Practical consequence: in practice, we almost never construct Cobs explicitly. We probe it.</a:t>
            </a:r>
            <a:endParaRPr lang="en-US" sz="1550" dirty="0"/>
          </a:p>
        </p:txBody>
      </p:sp>
      <p:sp>
        <p:nvSpPr>
          <p:cNvPr id="5" name="Shape 3"/>
          <p:cNvSpPr/>
          <p:nvPr/>
        </p:nvSpPr>
        <p:spPr>
          <a:xfrm>
            <a:off x="548640" y="4892040"/>
            <a:ext cx="11094415" cy="1188720"/>
          </a:xfrm>
          <a:prstGeom prst="roundRect">
            <a:avLst>
              <a:gd name="adj" fmla="val 6154"/>
            </a:avLst>
          </a:prstGeom>
          <a:solidFill>
            <a:srgbClr val="EEF8EE"/>
          </a:solidFill>
          <a:ln w="12700">
            <a:solidFill>
              <a:srgbClr val="1B6B3A"/>
            </a:solidFill>
            <a:prstDash val="solid"/>
          </a:ln>
        </p:spPr>
      </p:sp>
      <p:sp>
        <p:nvSpPr>
          <p:cNvPr id="6" name="Text 4"/>
          <p:cNvSpPr/>
          <p:nvPr/>
        </p:nvSpPr>
        <p:spPr>
          <a:xfrm>
            <a:off x="749808" y="5001768"/>
            <a:ext cx="10692079" cy="274320"/>
          </a:xfrm>
          <a:prstGeom prst="rect">
            <a:avLst/>
          </a:prstGeom>
          <a:noFill/>
          <a:ln/>
        </p:spPr>
        <p:txBody>
          <a:bodyPr wrap="square" lIns="0" tIns="0" rIns="0" bIns="0" rtlCol="0" anchor="ctr"/>
          <a:lstStyle/>
          <a:p>
            <a:pPr indent="0" marL="0">
              <a:buNone/>
            </a:pPr>
            <a:r>
              <a:rPr lang="en-US" sz="1250" b="1" spc="50" kern="0" dirty="0">
                <a:solidFill>
                  <a:srgbClr val="1B6B3A"/>
                </a:solidFill>
                <a:latin typeface="Calibri" pitchFamily="34" charset="0"/>
                <a:ea typeface="Calibri" pitchFamily="34" charset="-122"/>
                <a:cs typeface="Calibri" pitchFamily="34" charset="-120"/>
              </a:rPr>
              <a:t>COLLISION CHECKER</a:t>
            </a:r>
            <a:endParaRPr lang="en-US" sz="1250" dirty="0"/>
          </a:p>
        </p:txBody>
      </p:sp>
      <p:sp>
        <p:nvSpPr>
          <p:cNvPr id="7" name="Text 5"/>
          <p:cNvSpPr/>
          <p:nvPr/>
        </p:nvSpPr>
        <p:spPr>
          <a:xfrm>
            <a:off x="749808" y="5312664"/>
            <a:ext cx="10692079" cy="67665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A function γ(q) → {0,1}: does configuration q collide with something, yes or no? It's far easier to test one configuration at a time than to build the full obstacle region up front — this single function underlies almost every motion planner in the rest of this section.</a:t>
            </a:r>
            <a:endParaRPr lang="en-US" sz="1300" dirty="0"/>
          </a:p>
        </p:txBody>
      </p:sp>
      <p:sp>
        <p:nvSpPr>
          <p:cNvPr id="8" name="Text 6"/>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9" name="Text 7"/>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10" name="Text 8"/>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26.5.2 MOTION PLANNING</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The Piano Mover's Problem</a:t>
            </a:r>
            <a:endParaRPr lang="en-US" sz="2700" dirty="0"/>
          </a:p>
        </p:txBody>
      </p:sp>
      <p:sp>
        <p:nvSpPr>
          <p:cNvPr id="4" name="Shape 2"/>
          <p:cNvSpPr/>
          <p:nvPr/>
        </p:nvSpPr>
        <p:spPr>
          <a:xfrm>
            <a:off x="548640" y="1417320"/>
            <a:ext cx="11094415" cy="1005840"/>
          </a:xfrm>
          <a:prstGeom prst="roundRect">
            <a:avLst>
              <a:gd name="adj" fmla="val 7273"/>
            </a:avLst>
          </a:prstGeom>
          <a:solidFill>
            <a:srgbClr val="FFF8E6"/>
          </a:solidFill>
          <a:ln w="12700">
            <a:solidFill>
              <a:srgbClr val="C8840A"/>
            </a:solidFill>
            <a:prstDash val="solid"/>
          </a:ln>
        </p:spPr>
      </p:sp>
      <p:sp>
        <p:nvSpPr>
          <p:cNvPr id="5" name="Text 3"/>
          <p:cNvSpPr/>
          <p:nvPr/>
        </p:nvSpPr>
        <p:spPr>
          <a:xfrm>
            <a:off x="749808" y="1527048"/>
            <a:ext cx="10692079" cy="274320"/>
          </a:xfrm>
          <a:prstGeom prst="rect">
            <a:avLst/>
          </a:prstGeom>
          <a:noFill/>
          <a:ln/>
        </p:spPr>
        <p:txBody>
          <a:bodyPr wrap="square" lIns="0" tIns="0" rIns="0" bIns="0" rtlCol="0" anchor="ctr"/>
          <a:lstStyle/>
          <a:p>
            <a:pPr indent="0" marL="0">
              <a:buNone/>
            </a:pPr>
            <a:r>
              <a:rPr lang="en-US" sz="1250" b="1" spc="50" kern="0" dirty="0">
                <a:solidFill>
                  <a:srgbClr val="C8840A"/>
                </a:solidFill>
                <a:latin typeface="Calibri" pitchFamily="34" charset="0"/>
                <a:ea typeface="Calibri" pitchFamily="34" charset="-122"/>
                <a:cs typeface="Calibri" pitchFamily="34" charset="-120"/>
              </a:rPr>
              <a:t>WHERE THE NAME COMES FROM</a:t>
            </a:r>
            <a:endParaRPr lang="en-US" sz="1250" dirty="0"/>
          </a:p>
        </p:txBody>
      </p:sp>
      <p:sp>
        <p:nvSpPr>
          <p:cNvPr id="6" name="Text 4"/>
          <p:cNvSpPr/>
          <p:nvPr/>
        </p:nvSpPr>
        <p:spPr>
          <a:xfrm>
            <a:off x="749808" y="1837944"/>
            <a:ext cx="10692079" cy="493776"/>
          </a:xfrm>
          <a:prstGeom prst="rect">
            <a:avLst/>
          </a:prstGeom>
          <a:noFill/>
          <a:ln/>
        </p:spPr>
        <p:txBody>
          <a:bodyPr wrap="square" lIns="0" tIns="0" rIns="0" bIns="0" rtlCol="0" anchor="t"/>
          <a:lstStyle/>
          <a:p>
            <a:pPr indent="0" marL="0">
              <a:lnSpc>
                <a:spcPct val="118000"/>
              </a:lnSpc>
              <a:buNone/>
            </a:pPr>
            <a:r>
              <a:rPr lang="en-US" sz="1400" dirty="0">
                <a:solidFill>
                  <a:srgbClr val="1F2A37"/>
                </a:solidFill>
                <a:latin typeface="Calibri" pitchFamily="34" charset="0"/>
                <a:ea typeface="Calibri" pitchFamily="34" charset="-122"/>
                <a:cs typeface="Calibri" pitchFamily="34" charset="-120"/>
              </a:rPr>
              <a:t>A mover's struggle to get a large, irregular piano from one room to another without hitting anything — the formal name for the general motion planning problem.</a:t>
            </a:r>
            <a:endParaRPr lang="en-US" sz="1400" dirty="0"/>
          </a:p>
        </p:txBody>
      </p:sp>
      <p:sp>
        <p:nvSpPr>
          <p:cNvPr id="7" name="Text 5"/>
          <p:cNvSpPr/>
          <p:nvPr/>
        </p:nvSpPr>
        <p:spPr>
          <a:xfrm>
            <a:off x="548640" y="2606040"/>
            <a:ext cx="11094415" cy="3108960"/>
          </a:xfrm>
          <a:prstGeom prst="rect">
            <a:avLst/>
          </a:prstGeom>
          <a:noFill/>
          <a:ln/>
        </p:spPr>
        <p:txBody>
          <a:bodyPr wrap="square" lIns="0" tIns="0" rIns="0" bIns="0" rtlCol="0" anchor="t"/>
          <a:lstStyle/>
          <a:p>
            <a:pPr marL="228600" indent="-228600">
              <a:spcAft>
                <a:spcPts val="1000"/>
              </a:spcAft>
              <a:buSzPct val="100000"/>
              <a:buChar char="●"/>
            </a:pPr>
            <a:r>
              <a:rPr lang="en-US" sz="1450" dirty="0">
                <a:solidFill>
                  <a:srgbClr val="1F2A37"/>
                </a:solidFill>
                <a:latin typeface="Calibri" pitchFamily="34" charset="0"/>
                <a:ea typeface="Calibri" pitchFamily="34" charset="-122"/>
                <a:cs typeface="Calibri" pitchFamily="34" charset="-120"/>
              </a:rPr>
              <a:t>Given: a workspace W, an obstacle region O ⊂ W, a robot with C-space C and body points A(q), a start qs, and a goal qg.</a:t>
            </a:r>
            <a:endParaRPr lang="en-US" sz="1450" dirty="0"/>
          </a:p>
          <a:p>
            <a:pPr marL="228600" indent="-228600">
              <a:spcAft>
                <a:spcPts val="1000"/>
              </a:spcAft>
              <a:buSzPct val="100000"/>
              <a:buChar char="●"/>
            </a:pPr>
            <a:r>
              <a:rPr lang="en-US" sz="1450" dirty="0">
                <a:solidFill>
                  <a:srgbClr val="1F2A37"/>
                </a:solidFill>
                <a:latin typeface="Calibri" pitchFamily="34" charset="0"/>
                <a:ea typeface="Calibri" pitchFamily="34" charset="-122"/>
                <a:cs typeface="Calibri" pitchFamily="34" charset="-120"/>
              </a:rPr>
              <a:t>Find a continuous path τ(t), with τ(0) = qs and τ(1) = qg, that stays entirely inside Cfree for every t ∈ [0,1].</a:t>
            </a:r>
            <a:endParaRPr lang="en-US" sz="1450" dirty="0"/>
          </a:p>
          <a:p>
            <a:pPr marL="228600" indent="-228600">
              <a:spcAft>
                <a:spcPts val="1000"/>
              </a:spcAft>
              <a:buSzPct val="100000"/>
              <a:buChar char="●"/>
            </a:pPr>
            <a:r>
              <a:rPr lang="en-US" sz="1450" b="1" dirty="0">
                <a:solidFill>
                  <a:srgbClr val="B5311A"/>
                </a:solidFill>
                <a:latin typeface="Calibri" pitchFamily="34" charset="0"/>
                <a:ea typeface="Calibri" pitchFamily="34" charset="-122"/>
                <a:cs typeface="Calibri" pitchFamily="34" charset="-120"/>
              </a:rPr>
              <a:t>The parameter t is NOT time — it's just “how far along the path,” a number from 0 to 1.</a:t>
            </a:r>
            <a:endParaRPr lang="en-US" sz="1450" dirty="0"/>
          </a:p>
          <a:p>
            <a:pPr lvl="1" marL="457200" indent="-228600">
              <a:spcAft>
                <a:spcPts val="1000"/>
              </a:spcAft>
              <a:buSzPct val="100000"/>
              <a:buChar char="–"/>
            </a:pPr>
            <a:r>
              <a:rPr lang="en-US" sz="1450" dirty="0">
                <a:solidFill>
                  <a:srgbClr val="1F2A37"/>
                </a:solidFill>
                <a:latin typeface="Calibri" pitchFamily="34" charset="0"/>
                <a:ea typeface="Calibri" pitchFamily="34" charset="-122"/>
                <a:cs typeface="Calibri" pitchFamily="34" charset="-120"/>
              </a:rPr>
              <a:t>Can be made harder: goal sets instead of single points, workspace-defined goals, cost minimization, or constraints (keep a carried cup upright!).</a:t>
            </a:r>
            <a:endParaRPr lang="en-US" sz="1450" dirty="0"/>
          </a:p>
        </p:txBody>
      </p:sp>
      <p:sp>
        <p:nvSpPr>
          <p:cNvPr id="8" name="Text 6"/>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9" name="Text 7"/>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10" name="Text 8"/>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26.5.2 MOTION PLANNING — APPROACH 1</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Visibility Graphs: Guaranteed Shortest Path</a:t>
            </a:r>
            <a:endParaRPr lang="en-US" sz="2700" dirty="0"/>
          </a:p>
        </p:txBody>
      </p:sp>
      <p:sp>
        <p:nvSpPr>
          <p:cNvPr id="4" name="Shape 2"/>
          <p:cNvSpPr/>
          <p:nvPr/>
        </p:nvSpPr>
        <p:spPr>
          <a:xfrm>
            <a:off x="548640" y="1417320"/>
            <a:ext cx="6434761" cy="3291840"/>
          </a:xfrm>
          <a:prstGeom prst="rect">
            <a:avLst/>
          </a:prstGeom>
          <a:solidFill>
            <a:srgbClr val="F4F7FB"/>
          </a:solidFill>
          <a:ln w="15875">
            <a:solidFill>
              <a:srgbClr val="D7DEE8"/>
            </a:solidFill>
            <a:prstDash val="solid"/>
          </a:ln>
        </p:spPr>
      </p:sp>
      <p:sp>
        <p:nvSpPr>
          <p:cNvPr id="5" name="Shape 3"/>
          <p:cNvSpPr/>
          <p:nvPr/>
        </p:nvSpPr>
        <p:spPr>
          <a:xfrm>
            <a:off x="3122544" y="2240280"/>
            <a:ext cx="1673038" cy="987552"/>
          </a:xfrm>
          <a:prstGeom prst="rect">
            <a:avLst/>
          </a:prstGeom>
          <a:solidFill>
            <a:srgbClr val="F3D9CE"/>
          </a:solidFill>
          <a:ln w="15875">
            <a:solidFill>
              <a:srgbClr val="B5311A"/>
            </a:solidFill>
            <a:prstDash val="solid"/>
          </a:ln>
        </p:spPr>
      </p:sp>
      <p:sp>
        <p:nvSpPr>
          <p:cNvPr id="6" name="Shape 4"/>
          <p:cNvSpPr/>
          <p:nvPr/>
        </p:nvSpPr>
        <p:spPr>
          <a:xfrm flipV="1">
            <a:off x="914400" y="2569464"/>
            <a:ext cx="2208144" cy="1773936"/>
          </a:xfrm>
          <a:prstGeom prst="line">
            <a:avLst/>
          </a:prstGeom>
          <a:noFill/>
          <a:ln w="12700">
            <a:solidFill>
              <a:srgbClr val="D7DEE8"/>
            </a:solidFill>
            <a:prstDash val="solid"/>
            <a:headEnd type="none"/>
            <a:tailEnd type="triangle"/>
          </a:ln>
        </p:spPr>
      </p:sp>
      <p:sp>
        <p:nvSpPr>
          <p:cNvPr id="7" name="Shape 5"/>
          <p:cNvSpPr/>
          <p:nvPr/>
        </p:nvSpPr>
        <p:spPr>
          <a:xfrm flipV="1">
            <a:off x="914400" y="2240280"/>
            <a:ext cx="3623792" cy="2103120"/>
          </a:xfrm>
          <a:prstGeom prst="line">
            <a:avLst/>
          </a:prstGeom>
          <a:noFill/>
          <a:ln w="12700">
            <a:solidFill>
              <a:srgbClr val="D7DEE8"/>
            </a:solidFill>
            <a:prstDash val="solid"/>
            <a:headEnd type="none"/>
            <a:tailEnd type="triangle"/>
          </a:ln>
        </p:spPr>
      </p:sp>
      <p:sp>
        <p:nvSpPr>
          <p:cNvPr id="8" name="Shape 6"/>
          <p:cNvSpPr/>
          <p:nvPr/>
        </p:nvSpPr>
        <p:spPr>
          <a:xfrm>
            <a:off x="3122544" y="2569464"/>
            <a:ext cx="257390" cy="888797"/>
          </a:xfrm>
          <a:prstGeom prst="line">
            <a:avLst/>
          </a:prstGeom>
          <a:noFill/>
          <a:ln w="12700">
            <a:solidFill>
              <a:srgbClr val="D7DEE8"/>
            </a:solidFill>
            <a:prstDash val="solid"/>
            <a:headEnd type="none"/>
            <a:tailEnd type="triangle"/>
          </a:ln>
        </p:spPr>
      </p:sp>
      <p:sp>
        <p:nvSpPr>
          <p:cNvPr id="9" name="Shape 7"/>
          <p:cNvSpPr/>
          <p:nvPr/>
        </p:nvSpPr>
        <p:spPr>
          <a:xfrm>
            <a:off x="4538192" y="2240280"/>
            <a:ext cx="257390" cy="987552"/>
          </a:xfrm>
          <a:prstGeom prst="line">
            <a:avLst/>
          </a:prstGeom>
          <a:noFill/>
          <a:ln w="12700">
            <a:solidFill>
              <a:srgbClr val="D7DEE8"/>
            </a:solidFill>
            <a:prstDash val="solid"/>
            <a:headEnd type="none"/>
            <a:tailEnd type="triangle"/>
          </a:ln>
        </p:spPr>
      </p:sp>
      <p:sp>
        <p:nvSpPr>
          <p:cNvPr id="10" name="Shape 8"/>
          <p:cNvSpPr/>
          <p:nvPr/>
        </p:nvSpPr>
        <p:spPr>
          <a:xfrm flipV="1">
            <a:off x="4795582" y="1783080"/>
            <a:ext cx="1730619" cy="1444752"/>
          </a:xfrm>
          <a:prstGeom prst="line">
            <a:avLst/>
          </a:prstGeom>
          <a:noFill/>
          <a:ln w="12700">
            <a:solidFill>
              <a:srgbClr val="D7DEE8"/>
            </a:solidFill>
            <a:prstDash val="solid"/>
            <a:headEnd type="none"/>
            <a:tailEnd type="triangle"/>
          </a:ln>
        </p:spPr>
      </p:sp>
      <p:sp>
        <p:nvSpPr>
          <p:cNvPr id="11" name="Shape 9"/>
          <p:cNvSpPr/>
          <p:nvPr/>
        </p:nvSpPr>
        <p:spPr>
          <a:xfrm flipV="1">
            <a:off x="3379935" y="1783080"/>
            <a:ext cx="3146266" cy="1675181"/>
          </a:xfrm>
          <a:prstGeom prst="line">
            <a:avLst/>
          </a:prstGeom>
          <a:noFill/>
          <a:ln w="12700">
            <a:solidFill>
              <a:srgbClr val="D7DEE8"/>
            </a:solidFill>
            <a:prstDash val="solid"/>
            <a:headEnd type="none"/>
            <a:tailEnd type="triangle"/>
          </a:ln>
        </p:spPr>
      </p:sp>
      <p:sp>
        <p:nvSpPr>
          <p:cNvPr id="12" name="Shape 10"/>
          <p:cNvSpPr/>
          <p:nvPr/>
        </p:nvSpPr>
        <p:spPr>
          <a:xfrm flipV="1">
            <a:off x="914400" y="3227832"/>
            <a:ext cx="3881182" cy="1115568"/>
          </a:xfrm>
          <a:prstGeom prst="line">
            <a:avLst/>
          </a:prstGeom>
          <a:noFill/>
          <a:ln w="12700">
            <a:solidFill>
              <a:srgbClr val="D7DEE8"/>
            </a:solidFill>
            <a:prstDash val="solid"/>
            <a:headEnd type="none"/>
            <a:tailEnd type="triangle"/>
          </a:ln>
        </p:spPr>
      </p:sp>
      <p:sp>
        <p:nvSpPr>
          <p:cNvPr id="13" name="Shape 11"/>
          <p:cNvSpPr/>
          <p:nvPr/>
        </p:nvSpPr>
        <p:spPr>
          <a:xfrm flipV="1">
            <a:off x="914400" y="2240280"/>
            <a:ext cx="3623792" cy="2103120"/>
          </a:xfrm>
          <a:prstGeom prst="line">
            <a:avLst/>
          </a:prstGeom>
          <a:noFill/>
          <a:ln w="38100">
            <a:solidFill>
              <a:srgbClr val="1B6B3A"/>
            </a:solidFill>
            <a:prstDash val="solid"/>
            <a:headEnd type="none"/>
            <a:tailEnd type="triangle"/>
          </a:ln>
        </p:spPr>
      </p:sp>
      <p:sp>
        <p:nvSpPr>
          <p:cNvPr id="14" name="Shape 12"/>
          <p:cNvSpPr/>
          <p:nvPr/>
        </p:nvSpPr>
        <p:spPr>
          <a:xfrm>
            <a:off x="4538192" y="2240280"/>
            <a:ext cx="257390" cy="987552"/>
          </a:xfrm>
          <a:prstGeom prst="line">
            <a:avLst/>
          </a:prstGeom>
          <a:noFill/>
          <a:ln w="38100">
            <a:solidFill>
              <a:srgbClr val="1B6B3A"/>
            </a:solidFill>
            <a:prstDash val="solid"/>
            <a:headEnd type="none"/>
            <a:tailEnd type="triangle"/>
          </a:ln>
        </p:spPr>
      </p:sp>
      <p:sp>
        <p:nvSpPr>
          <p:cNvPr id="15" name="Shape 13"/>
          <p:cNvSpPr/>
          <p:nvPr/>
        </p:nvSpPr>
        <p:spPr>
          <a:xfrm flipV="1">
            <a:off x="4795582" y="1783080"/>
            <a:ext cx="1730619" cy="1444752"/>
          </a:xfrm>
          <a:prstGeom prst="line">
            <a:avLst/>
          </a:prstGeom>
          <a:noFill/>
          <a:ln w="38100">
            <a:solidFill>
              <a:srgbClr val="1B6B3A"/>
            </a:solidFill>
            <a:prstDash val="solid"/>
            <a:headEnd type="none"/>
            <a:tailEnd type="triangle"/>
          </a:ln>
        </p:spPr>
      </p:sp>
      <p:sp>
        <p:nvSpPr>
          <p:cNvPr id="16" name="Shape 14"/>
          <p:cNvSpPr/>
          <p:nvPr/>
        </p:nvSpPr>
        <p:spPr>
          <a:xfrm>
            <a:off x="841248" y="4270248"/>
            <a:ext cx="146304" cy="146304"/>
          </a:xfrm>
          <a:prstGeom prst="ellipse">
            <a:avLst/>
          </a:prstGeom>
          <a:solidFill>
            <a:srgbClr val="1A3A5C"/>
          </a:solidFill>
          <a:ln/>
        </p:spPr>
      </p:sp>
      <p:sp>
        <p:nvSpPr>
          <p:cNvPr id="17" name="Text 15"/>
          <p:cNvSpPr/>
          <p:nvPr/>
        </p:nvSpPr>
        <p:spPr>
          <a:xfrm>
            <a:off x="594360" y="4453128"/>
            <a:ext cx="914400" cy="182880"/>
          </a:xfrm>
          <a:prstGeom prst="rect">
            <a:avLst/>
          </a:prstGeom>
          <a:noFill/>
          <a:ln/>
        </p:spPr>
        <p:txBody>
          <a:bodyPr wrap="square" lIns="0" tIns="0" rIns="0" bIns="0" rtlCol="0" anchor="t"/>
          <a:lstStyle/>
          <a:p>
            <a:pPr algn="l" indent="0" marL="0">
              <a:buNone/>
            </a:pPr>
            <a:r>
              <a:rPr lang="en-US" sz="1100" b="1" dirty="0">
                <a:solidFill>
                  <a:srgbClr val="51606F"/>
                </a:solidFill>
                <a:latin typeface="Calibri" pitchFamily="34" charset="0"/>
                <a:ea typeface="Calibri" pitchFamily="34" charset="-122"/>
                <a:cs typeface="Calibri" pitchFamily="34" charset="-120"/>
              </a:rPr>
              <a:t>qs</a:t>
            </a:r>
            <a:endParaRPr lang="en-US" sz="1100" dirty="0"/>
          </a:p>
        </p:txBody>
      </p:sp>
      <p:sp>
        <p:nvSpPr>
          <p:cNvPr id="18" name="Shape 16"/>
          <p:cNvSpPr/>
          <p:nvPr/>
        </p:nvSpPr>
        <p:spPr>
          <a:xfrm>
            <a:off x="6453049" y="1709928"/>
            <a:ext cx="146304" cy="146304"/>
          </a:xfrm>
          <a:prstGeom prst="ellipse">
            <a:avLst/>
          </a:prstGeom>
          <a:solidFill>
            <a:srgbClr val="E8960C"/>
          </a:solidFill>
          <a:ln/>
        </p:spPr>
      </p:sp>
      <p:sp>
        <p:nvSpPr>
          <p:cNvPr id="19" name="Text 17"/>
          <p:cNvSpPr/>
          <p:nvPr/>
        </p:nvSpPr>
        <p:spPr>
          <a:xfrm>
            <a:off x="6617641" y="1554480"/>
            <a:ext cx="914400" cy="182880"/>
          </a:xfrm>
          <a:prstGeom prst="rect">
            <a:avLst/>
          </a:prstGeom>
          <a:noFill/>
          <a:ln/>
        </p:spPr>
        <p:txBody>
          <a:bodyPr wrap="square" lIns="0" tIns="0" rIns="0" bIns="0" rtlCol="0" anchor="t"/>
          <a:lstStyle/>
          <a:p>
            <a:pPr algn="l" indent="0" marL="0">
              <a:buNone/>
            </a:pPr>
            <a:r>
              <a:rPr lang="en-US" sz="1100" b="1" dirty="0">
                <a:solidFill>
                  <a:srgbClr val="51606F"/>
                </a:solidFill>
                <a:latin typeface="Calibri" pitchFamily="34" charset="0"/>
                <a:ea typeface="Calibri" pitchFamily="34" charset="-122"/>
                <a:cs typeface="Calibri" pitchFamily="34" charset="-120"/>
              </a:rPr>
              <a:t>qg</a:t>
            </a:r>
            <a:endParaRPr lang="en-US" sz="1100" dirty="0"/>
          </a:p>
        </p:txBody>
      </p:sp>
      <p:sp>
        <p:nvSpPr>
          <p:cNvPr id="20" name="Text 18"/>
          <p:cNvSpPr/>
          <p:nvPr/>
        </p:nvSpPr>
        <p:spPr>
          <a:xfrm>
            <a:off x="685800" y="4453128"/>
            <a:ext cx="6160441" cy="228600"/>
          </a:xfrm>
          <a:prstGeom prst="rect">
            <a:avLst/>
          </a:prstGeom>
          <a:noFill/>
          <a:ln/>
        </p:spPr>
        <p:txBody>
          <a:bodyPr wrap="square" lIns="0" tIns="0" rIns="0" bIns="0" rtlCol="0" anchor="t"/>
          <a:lstStyle/>
          <a:p>
            <a:pPr algn="l" indent="0" marL="0">
              <a:buNone/>
            </a:pPr>
            <a:r>
              <a:rPr lang="en-US" sz="950" i="1" dirty="0">
                <a:solidFill>
                  <a:srgbClr val="51606F"/>
                </a:solidFill>
                <a:latin typeface="Calibri" pitchFamily="34" charset="0"/>
                <a:ea typeface="Calibri" pitchFamily="34" charset="-122"/>
                <a:cs typeface="Calibri" pitchFamily="34" charset="-120"/>
              </a:rPr>
              <a:t>Vertices “see” each other; shortest path (green) hugs obstacle corners</a:t>
            </a:r>
            <a:endParaRPr lang="en-US" sz="950" dirty="0"/>
          </a:p>
        </p:txBody>
      </p:sp>
      <p:sp>
        <p:nvSpPr>
          <p:cNvPr id="21" name="Shape 19"/>
          <p:cNvSpPr/>
          <p:nvPr/>
        </p:nvSpPr>
        <p:spPr>
          <a:xfrm>
            <a:off x="7257721" y="1417320"/>
            <a:ext cx="4385334" cy="3291840"/>
          </a:xfrm>
          <a:prstGeom prst="roundRect">
            <a:avLst>
              <a:gd name="adj" fmla="val 2500"/>
            </a:avLst>
          </a:prstGeom>
          <a:solidFill>
            <a:srgbClr val="EEF2FF"/>
          </a:solidFill>
          <a:ln/>
          <a:effectLst>
            <a:outerShdw sx="100000" sy="100000" kx="0" ky="0" algn="bl" rotWithShape="0" blurRad="76200" dist="25400" dir="5400000">
              <a:srgbClr val="1A3A5C">
                <a:alpha val="12000"/>
              </a:srgbClr>
            </a:outerShdw>
          </a:effectLst>
        </p:spPr>
      </p:sp>
      <p:sp>
        <p:nvSpPr>
          <p:cNvPr id="22" name="Text 20"/>
          <p:cNvSpPr/>
          <p:nvPr/>
        </p:nvSpPr>
        <p:spPr>
          <a:xfrm>
            <a:off x="7458889" y="1545336"/>
            <a:ext cx="3982998" cy="329184"/>
          </a:xfrm>
          <a:prstGeom prst="rect">
            <a:avLst/>
          </a:prstGeom>
          <a:noFill/>
          <a:ln/>
        </p:spPr>
        <p:txBody>
          <a:bodyPr wrap="square" lIns="0" tIns="0" rIns="0" bIns="0" rtlCol="0" anchor="ctr"/>
          <a:lstStyle/>
          <a:p>
            <a:pPr indent="0" marL="0">
              <a:buNone/>
            </a:pPr>
            <a:r>
              <a:rPr lang="en-US" sz="1450" b="1" dirty="0">
                <a:solidFill>
                  <a:srgbClr val="4A6FA5"/>
                </a:solidFill>
                <a:latin typeface="Calibri" pitchFamily="34" charset="0"/>
                <a:ea typeface="Calibri" pitchFamily="34" charset="-122"/>
                <a:cs typeface="Calibri" pitchFamily="34" charset="-120"/>
              </a:rPr>
              <a:t>How it works</a:t>
            </a:r>
            <a:endParaRPr lang="en-US" sz="1450" dirty="0"/>
          </a:p>
        </p:txBody>
      </p:sp>
      <p:sp>
        <p:nvSpPr>
          <p:cNvPr id="23" name="Text 21"/>
          <p:cNvSpPr/>
          <p:nvPr/>
        </p:nvSpPr>
        <p:spPr>
          <a:xfrm>
            <a:off x="7458889" y="1929384"/>
            <a:ext cx="3982998" cy="2670048"/>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Vertices = obstacle polygon corners + start + goal.</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Edge exists if two vertices can 'see' each other (the connecting line stays in free space).</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Run ordinary graph search (e.g., best-first) on this graph.</a:t>
            </a:r>
            <a:endParaRPr lang="en-US" sz="1250" dirty="0"/>
          </a:p>
        </p:txBody>
      </p:sp>
      <p:sp>
        <p:nvSpPr>
          <p:cNvPr id="24" name="Shape 22"/>
          <p:cNvSpPr/>
          <p:nvPr/>
        </p:nvSpPr>
        <p:spPr>
          <a:xfrm>
            <a:off x="548640" y="5394960"/>
            <a:ext cx="11094415" cy="914400"/>
          </a:xfrm>
          <a:prstGeom prst="roundRect">
            <a:avLst>
              <a:gd name="adj" fmla="val 8000"/>
            </a:avLst>
          </a:prstGeom>
          <a:solidFill>
            <a:srgbClr val="FFF0EE"/>
          </a:solidFill>
          <a:ln w="12700">
            <a:solidFill>
              <a:srgbClr val="B5311A"/>
            </a:solidFill>
            <a:prstDash val="solid"/>
          </a:ln>
        </p:spPr>
      </p:sp>
      <p:sp>
        <p:nvSpPr>
          <p:cNvPr id="25" name="Text 23"/>
          <p:cNvSpPr/>
          <p:nvPr/>
        </p:nvSpPr>
        <p:spPr>
          <a:xfrm>
            <a:off x="749808" y="5504688"/>
            <a:ext cx="10692079" cy="274320"/>
          </a:xfrm>
          <a:prstGeom prst="rect">
            <a:avLst/>
          </a:prstGeom>
          <a:noFill/>
          <a:ln/>
        </p:spPr>
        <p:txBody>
          <a:bodyPr wrap="square" lIns="0" tIns="0" rIns="0" bIns="0" rtlCol="0" anchor="ctr"/>
          <a:lstStyle/>
          <a:p>
            <a:pPr indent="0" marL="0">
              <a:buNone/>
            </a:pPr>
            <a:r>
              <a:rPr lang="en-US" sz="1250" b="1" spc="50" kern="0" dirty="0">
                <a:solidFill>
                  <a:srgbClr val="B5311A"/>
                </a:solidFill>
                <a:latin typeface="Calibri" pitchFamily="34" charset="0"/>
                <a:ea typeface="Calibri" pitchFamily="34" charset="-122"/>
                <a:cs typeface="Calibri" pitchFamily="34" charset="-120"/>
              </a:rPr>
              <a:t>THE CATCH</a:t>
            </a:r>
            <a:endParaRPr lang="en-US" sz="1250" dirty="0"/>
          </a:p>
        </p:txBody>
      </p:sp>
      <p:sp>
        <p:nvSpPr>
          <p:cNvPr id="26" name="Text 24"/>
          <p:cNvSpPr/>
          <p:nvPr/>
        </p:nvSpPr>
        <p:spPr>
          <a:xfrm>
            <a:off x="749808" y="5815584"/>
            <a:ext cx="10692079" cy="40233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Optimal paths hug obstacle corners tightly — great in theory, risky in practice if motion or sensing has any noise at all.</a:t>
            </a:r>
            <a:endParaRPr lang="en-US" sz="1300" dirty="0"/>
          </a:p>
        </p:txBody>
      </p:sp>
      <p:sp>
        <p:nvSpPr>
          <p:cNvPr id="27" name="Text 25"/>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28" name="Text 26"/>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29" name="Text 27"/>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26.5.2 MOTION PLANNING — APPROACH 2</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Voronoi Diagrams: Stay Away From Everything</a:t>
            </a:r>
            <a:endParaRPr lang="en-US" sz="2700" dirty="0"/>
          </a:p>
        </p:txBody>
      </p:sp>
      <p:sp>
        <p:nvSpPr>
          <p:cNvPr id="4" name="Shape 2"/>
          <p:cNvSpPr/>
          <p:nvPr/>
        </p:nvSpPr>
        <p:spPr>
          <a:xfrm>
            <a:off x="548640" y="1417320"/>
            <a:ext cx="6434761" cy="3291840"/>
          </a:xfrm>
          <a:prstGeom prst="rect">
            <a:avLst/>
          </a:prstGeom>
          <a:solidFill>
            <a:srgbClr val="F4F7FB"/>
          </a:solidFill>
          <a:ln w="15875">
            <a:solidFill>
              <a:srgbClr val="D7DEE8"/>
            </a:solidFill>
            <a:prstDash val="solid"/>
          </a:ln>
        </p:spPr>
      </p:sp>
      <p:sp>
        <p:nvSpPr>
          <p:cNvPr id="5" name="Shape 3"/>
          <p:cNvSpPr/>
          <p:nvPr/>
        </p:nvSpPr>
        <p:spPr>
          <a:xfrm>
            <a:off x="1964287" y="2240280"/>
            <a:ext cx="1029562" cy="987552"/>
          </a:xfrm>
          <a:prstGeom prst="roundRect">
            <a:avLst>
              <a:gd name="adj" fmla="val 5556"/>
            </a:avLst>
          </a:prstGeom>
          <a:solidFill>
            <a:srgbClr val="F3D9CE"/>
          </a:solidFill>
          <a:ln w="15875">
            <a:solidFill>
              <a:srgbClr val="B5311A"/>
            </a:solidFill>
            <a:prstDash val="solid"/>
          </a:ln>
        </p:spPr>
      </p:sp>
      <p:sp>
        <p:nvSpPr>
          <p:cNvPr id="6" name="Shape 4"/>
          <p:cNvSpPr/>
          <p:nvPr/>
        </p:nvSpPr>
        <p:spPr>
          <a:xfrm>
            <a:off x="4538192" y="2898648"/>
            <a:ext cx="1158257" cy="1053389"/>
          </a:xfrm>
          <a:prstGeom prst="roundRect">
            <a:avLst>
              <a:gd name="adj" fmla="val 5208"/>
            </a:avLst>
          </a:prstGeom>
          <a:solidFill>
            <a:srgbClr val="F3D9CE"/>
          </a:solidFill>
          <a:ln w="15875">
            <a:solidFill>
              <a:srgbClr val="B5311A"/>
            </a:solidFill>
            <a:prstDash val="solid"/>
          </a:ln>
        </p:spPr>
      </p:sp>
      <p:sp>
        <p:nvSpPr>
          <p:cNvPr id="7" name="Shape 5"/>
          <p:cNvSpPr/>
          <p:nvPr/>
        </p:nvSpPr>
        <p:spPr>
          <a:xfrm>
            <a:off x="3508630" y="1680667"/>
            <a:ext cx="137160" cy="1053389"/>
          </a:xfrm>
          <a:prstGeom prst="line">
            <a:avLst/>
          </a:prstGeom>
          <a:noFill/>
          <a:ln w="28575">
            <a:solidFill>
              <a:srgbClr val="1A3A5C"/>
            </a:solidFill>
            <a:prstDash val="solid"/>
            <a:headEnd type="none"/>
            <a:tailEnd type="triangle"/>
          </a:ln>
        </p:spPr>
      </p:sp>
      <p:sp>
        <p:nvSpPr>
          <p:cNvPr id="8" name="Shape 6"/>
          <p:cNvSpPr/>
          <p:nvPr/>
        </p:nvSpPr>
        <p:spPr>
          <a:xfrm flipH="1">
            <a:off x="3462910" y="2734056"/>
            <a:ext cx="182880" cy="987552"/>
          </a:xfrm>
          <a:prstGeom prst="line">
            <a:avLst/>
          </a:prstGeom>
          <a:noFill/>
          <a:ln w="28575">
            <a:solidFill>
              <a:srgbClr val="1A3A5C"/>
            </a:solidFill>
            <a:prstDash val="solid"/>
            <a:headEnd type="none"/>
            <a:tailEnd type="triangle"/>
          </a:ln>
        </p:spPr>
      </p:sp>
      <p:sp>
        <p:nvSpPr>
          <p:cNvPr id="9" name="Shape 7"/>
          <p:cNvSpPr/>
          <p:nvPr/>
        </p:nvSpPr>
        <p:spPr>
          <a:xfrm>
            <a:off x="3462910" y="3721608"/>
            <a:ext cx="228600" cy="822960"/>
          </a:xfrm>
          <a:prstGeom prst="line">
            <a:avLst/>
          </a:prstGeom>
          <a:noFill/>
          <a:ln w="28575">
            <a:solidFill>
              <a:srgbClr val="1A3A5C"/>
            </a:solidFill>
            <a:prstDash val="solid"/>
            <a:headEnd type="none"/>
            <a:tailEnd type="triangle"/>
          </a:ln>
        </p:spPr>
      </p:sp>
      <p:sp>
        <p:nvSpPr>
          <p:cNvPr id="10" name="Shape 8"/>
          <p:cNvSpPr/>
          <p:nvPr/>
        </p:nvSpPr>
        <p:spPr>
          <a:xfrm>
            <a:off x="804672" y="4370832"/>
            <a:ext cx="128016" cy="128016"/>
          </a:xfrm>
          <a:prstGeom prst="ellipse">
            <a:avLst/>
          </a:prstGeom>
          <a:solidFill>
            <a:srgbClr val="1A3A5C"/>
          </a:solidFill>
          <a:ln/>
        </p:spPr>
      </p:sp>
      <p:sp>
        <p:nvSpPr>
          <p:cNvPr id="11" name="Text 9"/>
          <p:cNvSpPr/>
          <p:nvPr/>
        </p:nvSpPr>
        <p:spPr>
          <a:xfrm>
            <a:off x="594360" y="4526280"/>
            <a:ext cx="731520" cy="182880"/>
          </a:xfrm>
          <a:prstGeom prst="rect">
            <a:avLst/>
          </a:prstGeom>
          <a:noFill/>
          <a:ln/>
        </p:spPr>
        <p:txBody>
          <a:bodyPr wrap="square" lIns="0" tIns="0" rIns="0" bIns="0" rtlCol="0" anchor="t"/>
          <a:lstStyle/>
          <a:p>
            <a:pPr algn="l" indent="0" marL="0">
              <a:buNone/>
            </a:pPr>
            <a:r>
              <a:rPr lang="en-US" sz="1100" b="1" dirty="0">
                <a:solidFill>
                  <a:srgbClr val="51606F"/>
                </a:solidFill>
                <a:latin typeface="Calibri" pitchFamily="34" charset="0"/>
                <a:ea typeface="Calibri" pitchFamily="34" charset="-122"/>
                <a:cs typeface="Calibri" pitchFamily="34" charset="-120"/>
              </a:rPr>
              <a:t>qs</a:t>
            </a:r>
            <a:endParaRPr lang="en-US" sz="1100" dirty="0"/>
          </a:p>
        </p:txBody>
      </p:sp>
      <p:sp>
        <p:nvSpPr>
          <p:cNvPr id="12" name="Shape 10"/>
          <p:cNvSpPr/>
          <p:nvPr/>
        </p:nvSpPr>
        <p:spPr>
          <a:xfrm>
            <a:off x="6553633" y="1627632"/>
            <a:ext cx="128016" cy="128016"/>
          </a:xfrm>
          <a:prstGeom prst="ellipse">
            <a:avLst/>
          </a:prstGeom>
          <a:solidFill>
            <a:srgbClr val="E8960C"/>
          </a:solidFill>
          <a:ln/>
        </p:spPr>
      </p:sp>
      <p:sp>
        <p:nvSpPr>
          <p:cNvPr id="13" name="Text 11"/>
          <p:cNvSpPr/>
          <p:nvPr/>
        </p:nvSpPr>
        <p:spPr>
          <a:xfrm>
            <a:off x="6663361" y="1463040"/>
            <a:ext cx="731520" cy="182880"/>
          </a:xfrm>
          <a:prstGeom prst="rect">
            <a:avLst/>
          </a:prstGeom>
          <a:noFill/>
          <a:ln/>
        </p:spPr>
        <p:txBody>
          <a:bodyPr wrap="square" lIns="0" tIns="0" rIns="0" bIns="0" rtlCol="0" anchor="t"/>
          <a:lstStyle/>
          <a:p>
            <a:pPr algn="l" indent="0" marL="0">
              <a:buNone/>
            </a:pPr>
            <a:r>
              <a:rPr lang="en-US" sz="1100" b="1" dirty="0">
                <a:solidFill>
                  <a:srgbClr val="51606F"/>
                </a:solidFill>
                <a:latin typeface="Calibri" pitchFamily="34" charset="0"/>
                <a:ea typeface="Calibri" pitchFamily="34" charset="-122"/>
                <a:cs typeface="Calibri" pitchFamily="34" charset="-120"/>
              </a:rPr>
              <a:t>qg</a:t>
            </a:r>
            <a:endParaRPr lang="en-US" sz="1100" dirty="0"/>
          </a:p>
        </p:txBody>
      </p:sp>
      <p:sp>
        <p:nvSpPr>
          <p:cNvPr id="14" name="Shape 12"/>
          <p:cNvSpPr/>
          <p:nvPr/>
        </p:nvSpPr>
        <p:spPr>
          <a:xfrm flipV="1">
            <a:off x="868680" y="3787445"/>
            <a:ext cx="2621662" cy="647395"/>
          </a:xfrm>
          <a:prstGeom prst="line">
            <a:avLst/>
          </a:prstGeom>
          <a:noFill/>
          <a:ln w="31750">
            <a:solidFill>
              <a:srgbClr val="1B6B3A"/>
            </a:solidFill>
            <a:prstDash val="solid"/>
            <a:headEnd type="none"/>
            <a:tailEnd type="triangle"/>
          </a:ln>
        </p:spPr>
      </p:sp>
      <p:sp>
        <p:nvSpPr>
          <p:cNvPr id="15" name="Shape 13"/>
          <p:cNvSpPr/>
          <p:nvPr/>
        </p:nvSpPr>
        <p:spPr>
          <a:xfrm flipV="1">
            <a:off x="3554350" y="1691640"/>
            <a:ext cx="3063291" cy="877824"/>
          </a:xfrm>
          <a:prstGeom prst="line">
            <a:avLst/>
          </a:prstGeom>
          <a:noFill/>
          <a:ln w="31750">
            <a:solidFill>
              <a:srgbClr val="1B6B3A"/>
            </a:solidFill>
            <a:prstDash val="solid"/>
            <a:headEnd type="none"/>
            <a:tailEnd type="triangle"/>
          </a:ln>
        </p:spPr>
      </p:sp>
      <p:sp>
        <p:nvSpPr>
          <p:cNvPr id="16" name="Text 14"/>
          <p:cNvSpPr/>
          <p:nvPr/>
        </p:nvSpPr>
        <p:spPr>
          <a:xfrm>
            <a:off x="685800" y="4690872"/>
            <a:ext cx="6160441" cy="182880"/>
          </a:xfrm>
          <a:prstGeom prst="rect">
            <a:avLst/>
          </a:prstGeom>
          <a:noFill/>
          <a:ln/>
        </p:spPr>
        <p:txBody>
          <a:bodyPr wrap="square" lIns="0" tIns="0" rIns="0" bIns="0" rtlCol="0" anchor="t"/>
          <a:lstStyle/>
          <a:p>
            <a:pPr algn="l" indent="0" marL="0">
              <a:buNone/>
            </a:pPr>
            <a:r>
              <a:rPr lang="en-US" sz="950" i="1" dirty="0">
                <a:solidFill>
                  <a:srgbClr val="51606F"/>
                </a:solidFill>
                <a:latin typeface="Calibri" pitchFamily="34" charset="0"/>
                <a:ea typeface="Calibri" pitchFamily="34" charset="-122"/>
                <a:cs typeface="Calibri" pitchFamily="34" charset="-120"/>
              </a:rPr>
              <a:t>path runs along the ridge — maximally far from every obstacle</a:t>
            </a:r>
            <a:endParaRPr lang="en-US" sz="950" dirty="0"/>
          </a:p>
        </p:txBody>
      </p:sp>
      <p:sp>
        <p:nvSpPr>
          <p:cNvPr id="17" name="Shape 15"/>
          <p:cNvSpPr/>
          <p:nvPr/>
        </p:nvSpPr>
        <p:spPr>
          <a:xfrm>
            <a:off x="7257721" y="1417320"/>
            <a:ext cx="4385334" cy="3291840"/>
          </a:xfrm>
          <a:prstGeom prst="roundRect">
            <a:avLst>
              <a:gd name="adj" fmla="val 2500"/>
            </a:avLst>
          </a:prstGeom>
          <a:solidFill>
            <a:srgbClr val="FFF8E6"/>
          </a:solidFill>
          <a:ln/>
          <a:effectLst>
            <a:outerShdw sx="100000" sy="100000" kx="0" ky="0" algn="bl" rotWithShape="0" blurRad="76200" dist="25400" dir="5400000">
              <a:srgbClr val="1A3A5C">
                <a:alpha val="12000"/>
              </a:srgbClr>
            </a:outerShdw>
          </a:effectLst>
        </p:spPr>
      </p:sp>
      <p:sp>
        <p:nvSpPr>
          <p:cNvPr id="18" name="Text 16"/>
          <p:cNvSpPr/>
          <p:nvPr/>
        </p:nvSpPr>
        <p:spPr>
          <a:xfrm>
            <a:off x="7458889" y="1545336"/>
            <a:ext cx="3982998" cy="329184"/>
          </a:xfrm>
          <a:prstGeom prst="rect">
            <a:avLst/>
          </a:prstGeom>
          <a:noFill/>
          <a:ln/>
        </p:spPr>
        <p:txBody>
          <a:bodyPr wrap="square" lIns="0" tIns="0" rIns="0" bIns="0" rtlCol="0" anchor="ctr"/>
          <a:lstStyle/>
          <a:p>
            <a:pPr indent="0" marL="0">
              <a:buNone/>
            </a:pPr>
            <a:r>
              <a:rPr lang="en-US" sz="1450" b="1" dirty="0">
                <a:solidFill>
                  <a:srgbClr val="C8840A"/>
                </a:solidFill>
                <a:latin typeface="Calibri" pitchFamily="34" charset="0"/>
                <a:ea typeface="Calibri" pitchFamily="34" charset="-122"/>
                <a:cs typeface="Calibri" pitchFamily="34" charset="-120"/>
              </a:rPr>
              <a:t>How it works</a:t>
            </a:r>
            <a:endParaRPr lang="en-US" sz="1450" dirty="0"/>
          </a:p>
        </p:txBody>
      </p:sp>
      <p:sp>
        <p:nvSpPr>
          <p:cNvPr id="19" name="Text 17"/>
          <p:cNvSpPr/>
          <p:nvPr/>
        </p:nvSpPr>
        <p:spPr>
          <a:xfrm>
            <a:off x="7458889" y="1929384"/>
            <a:ext cx="3982998" cy="2670048"/>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Partition space into regions closer to one obstacle than any other.</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The Voronoi graph = the boundaries between those regions — maximally far from every obstacle.</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Connect qs and qg to the nearest points on this graph, then search it.</a:t>
            </a:r>
            <a:endParaRPr lang="en-US" sz="1250" dirty="0"/>
          </a:p>
        </p:txBody>
      </p:sp>
      <p:sp>
        <p:nvSpPr>
          <p:cNvPr id="20" name="Shape 18"/>
          <p:cNvSpPr/>
          <p:nvPr/>
        </p:nvSpPr>
        <p:spPr>
          <a:xfrm>
            <a:off x="548640" y="5394960"/>
            <a:ext cx="11094415" cy="914400"/>
          </a:xfrm>
          <a:prstGeom prst="roundRect">
            <a:avLst>
              <a:gd name="adj" fmla="val 8000"/>
            </a:avLst>
          </a:prstGeom>
          <a:solidFill>
            <a:srgbClr val="FFF0EE"/>
          </a:solidFill>
          <a:ln w="12700">
            <a:solidFill>
              <a:srgbClr val="B5311A"/>
            </a:solidFill>
            <a:prstDash val="solid"/>
          </a:ln>
        </p:spPr>
      </p:sp>
      <p:sp>
        <p:nvSpPr>
          <p:cNvPr id="21" name="Text 19"/>
          <p:cNvSpPr/>
          <p:nvPr/>
        </p:nvSpPr>
        <p:spPr>
          <a:xfrm>
            <a:off x="749808" y="5504688"/>
            <a:ext cx="10692079" cy="274320"/>
          </a:xfrm>
          <a:prstGeom prst="rect">
            <a:avLst/>
          </a:prstGeom>
          <a:noFill/>
          <a:ln/>
        </p:spPr>
        <p:txBody>
          <a:bodyPr wrap="square" lIns="0" tIns="0" rIns="0" bIns="0" rtlCol="0" anchor="ctr"/>
          <a:lstStyle/>
          <a:p>
            <a:pPr indent="0" marL="0">
              <a:buNone/>
            </a:pPr>
            <a:r>
              <a:rPr lang="en-US" sz="1250" b="1" spc="50" kern="0" dirty="0">
                <a:solidFill>
                  <a:srgbClr val="B5311A"/>
                </a:solidFill>
                <a:latin typeface="Calibri" pitchFamily="34" charset="0"/>
                <a:ea typeface="Calibri" pitchFamily="34" charset="-122"/>
                <a:cs typeface="Calibri" pitchFamily="34" charset="-120"/>
              </a:rPr>
              <a:t>THE CATCH</a:t>
            </a:r>
            <a:endParaRPr lang="en-US" sz="1250" dirty="0"/>
          </a:p>
        </p:txBody>
      </p:sp>
      <p:sp>
        <p:nvSpPr>
          <p:cNvPr id="22" name="Text 20"/>
          <p:cNvSpPr/>
          <p:nvPr/>
        </p:nvSpPr>
        <p:spPr>
          <a:xfrm>
            <a:off x="749808" y="5815584"/>
            <a:ext cx="10692079" cy="40233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Great for narrow indoor corridors. Terrible in wide-open outdoor spaces — it can suggest an unnecessary 100-meter detour just to stay in the exact middle of a 200-meter clearing.</a:t>
            </a:r>
            <a:endParaRPr lang="en-US" sz="1300" dirty="0"/>
          </a:p>
        </p:txBody>
      </p:sp>
      <p:sp>
        <p:nvSpPr>
          <p:cNvPr id="23" name="Text 21"/>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24" name="Text 22"/>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25" name="Text 23"/>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26.5.2 MOTION PLANNING — APPROACH 3</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Cell Decomposition: Discretize and Search</a:t>
            </a:r>
            <a:endParaRPr lang="en-US" sz="2700" dirty="0"/>
          </a:p>
        </p:txBody>
      </p:sp>
      <p:sp>
        <p:nvSpPr>
          <p:cNvPr id="4" name="Shape 2"/>
          <p:cNvSpPr/>
          <p:nvPr/>
        </p:nvSpPr>
        <p:spPr>
          <a:xfrm>
            <a:off x="548640" y="1417320"/>
            <a:ext cx="643476" cy="444137"/>
          </a:xfrm>
          <a:prstGeom prst="rect">
            <a:avLst/>
          </a:prstGeom>
          <a:solidFill>
            <a:srgbClr val="EEF8EE"/>
          </a:solidFill>
          <a:ln w="6350">
            <a:solidFill>
              <a:srgbClr val="D7DEE8"/>
            </a:solidFill>
            <a:prstDash val="solid"/>
          </a:ln>
        </p:spPr>
      </p:sp>
      <p:sp>
        <p:nvSpPr>
          <p:cNvPr id="5" name="Shape 3"/>
          <p:cNvSpPr/>
          <p:nvPr/>
        </p:nvSpPr>
        <p:spPr>
          <a:xfrm>
            <a:off x="1192116" y="1417320"/>
            <a:ext cx="643476" cy="444137"/>
          </a:xfrm>
          <a:prstGeom prst="rect">
            <a:avLst/>
          </a:prstGeom>
          <a:solidFill>
            <a:srgbClr val="FFFFFF"/>
          </a:solidFill>
          <a:ln w="6350">
            <a:solidFill>
              <a:srgbClr val="D7DEE8"/>
            </a:solidFill>
            <a:prstDash val="solid"/>
          </a:ln>
        </p:spPr>
      </p:sp>
      <p:sp>
        <p:nvSpPr>
          <p:cNvPr id="6" name="Shape 4"/>
          <p:cNvSpPr/>
          <p:nvPr/>
        </p:nvSpPr>
        <p:spPr>
          <a:xfrm>
            <a:off x="1835592" y="1417320"/>
            <a:ext cx="643476" cy="444137"/>
          </a:xfrm>
          <a:prstGeom prst="rect">
            <a:avLst/>
          </a:prstGeom>
          <a:solidFill>
            <a:srgbClr val="FFFFFF"/>
          </a:solidFill>
          <a:ln w="6350">
            <a:solidFill>
              <a:srgbClr val="D7DEE8"/>
            </a:solidFill>
            <a:prstDash val="solid"/>
          </a:ln>
        </p:spPr>
      </p:sp>
      <p:sp>
        <p:nvSpPr>
          <p:cNvPr id="7" name="Shape 5"/>
          <p:cNvSpPr/>
          <p:nvPr/>
        </p:nvSpPr>
        <p:spPr>
          <a:xfrm>
            <a:off x="2479068" y="1417320"/>
            <a:ext cx="643476" cy="444137"/>
          </a:xfrm>
          <a:prstGeom prst="rect">
            <a:avLst/>
          </a:prstGeom>
          <a:solidFill>
            <a:srgbClr val="FFFFFF"/>
          </a:solidFill>
          <a:ln w="6350">
            <a:solidFill>
              <a:srgbClr val="D7DEE8"/>
            </a:solidFill>
            <a:prstDash val="solid"/>
          </a:ln>
        </p:spPr>
      </p:sp>
      <p:sp>
        <p:nvSpPr>
          <p:cNvPr id="8" name="Shape 6"/>
          <p:cNvSpPr/>
          <p:nvPr/>
        </p:nvSpPr>
        <p:spPr>
          <a:xfrm>
            <a:off x="3122544" y="1417320"/>
            <a:ext cx="643476" cy="444137"/>
          </a:xfrm>
          <a:prstGeom prst="rect">
            <a:avLst/>
          </a:prstGeom>
          <a:solidFill>
            <a:srgbClr val="FFFFFF"/>
          </a:solidFill>
          <a:ln w="6350">
            <a:solidFill>
              <a:srgbClr val="D7DEE8"/>
            </a:solidFill>
            <a:prstDash val="solid"/>
          </a:ln>
        </p:spPr>
      </p:sp>
      <p:sp>
        <p:nvSpPr>
          <p:cNvPr id="9" name="Shape 7"/>
          <p:cNvSpPr/>
          <p:nvPr/>
        </p:nvSpPr>
        <p:spPr>
          <a:xfrm>
            <a:off x="3766020" y="1417320"/>
            <a:ext cx="643476" cy="444137"/>
          </a:xfrm>
          <a:prstGeom prst="rect">
            <a:avLst/>
          </a:prstGeom>
          <a:solidFill>
            <a:srgbClr val="FFFFFF"/>
          </a:solidFill>
          <a:ln w="6350">
            <a:solidFill>
              <a:srgbClr val="D7DEE8"/>
            </a:solidFill>
            <a:prstDash val="solid"/>
          </a:ln>
        </p:spPr>
      </p:sp>
      <p:sp>
        <p:nvSpPr>
          <p:cNvPr id="10" name="Shape 8"/>
          <p:cNvSpPr/>
          <p:nvPr/>
        </p:nvSpPr>
        <p:spPr>
          <a:xfrm>
            <a:off x="4409496" y="1417320"/>
            <a:ext cx="643476" cy="444137"/>
          </a:xfrm>
          <a:prstGeom prst="rect">
            <a:avLst/>
          </a:prstGeom>
          <a:solidFill>
            <a:srgbClr val="FFFFFF"/>
          </a:solidFill>
          <a:ln w="6350">
            <a:solidFill>
              <a:srgbClr val="D7DEE8"/>
            </a:solidFill>
            <a:prstDash val="solid"/>
          </a:ln>
        </p:spPr>
      </p:sp>
      <p:sp>
        <p:nvSpPr>
          <p:cNvPr id="11" name="Shape 9"/>
          <p:cNvSpPr/>
          <p:nvPr/>
        </p:nvSpPr>
        <p:spPr>
          <a:xfrm>
            <a:off x="5052973" y="1417320"/>
            <a:ext cx="643476" cy="444137"/>
          </a:xfrm>
          <a:prstGeom prst="rect">
            <a:avLst/>
          </a:prstGeom>
          <a:solidFill>
            <a:srgbClr val="FFFFFF"/>
          </a:solidFill>
          <a:ln w="6350">
            <a:solidFill>
              <a:srgbClr val="D7DEE8"/>
            </a:solidFill>
            <a:prstDash val="solid"/>
          </a:ln>
        </p:spPr>
      </p:sp>
      <p:sp>
        <p:nvSpPr>
          <p:cNvPr id="12" name="Shape 10"/>
          <p:cNvSpPr/>
          <p:nvPr/>
        </p:nvSpPr>
        <p:spPr>
          <a:xfrm>
            <a:off x="5696449" y="1417320"/>
            <a:ext cx="643476" cy="444137"/>
          </a:xfrm>
          <a:prstGeom prst="rect">
            <a:avLst/>
          </a:prstGeom>
          <a:solidFill>
            <a:srgbClr val="FFFFFF"/>
          </a:solidFill>
          <a:ln w="6350">
            <a:solidFill>
              <a:srgbClr val="D7DEE8"/>
            </a:solidFill>
            <a:prstDash val="solid"/>
          </a:ln>
        </p:spPr>
      </p:sp>
      <p:sp>
        <p:nvSpPr>
          <p:cNvPr id="13" name="Shape 11"/>
          <p:cNvSpPr/>
          <p:nvPr/>
        </p:nvSpPr>
        <p:spPr>
          <a:xfrm>
            <a:off x="6339925" y="1417320"/>
            <a:ext cx="643476" cy="444137"/>
          </a:xfrm>
          <a:prstGeom prst="rect">
            <a:avLst/>
          </a:prstGeom>
          <a:solidFill>
            <a:srgbClr val="FFFFFF"/>
          </a:solidFill>
          <a:ln w="6350">
            <a:solidFill>
              <a:srgbClr val="D7DEE8"/>
            </a:solidFill>
            <a:prstDash val="solid"/>
          </a:ln>
        </p:spPr>
      </p:sp>
      <p:sp>
        <p:nvSpPr>
          <p:cNvPr id="14" name="Shape 12"/>
          <p:cNvSpPr/>
          <p:nvPr/>
        </p:nvSpPr>
        <p:spPr>
          <a:xfrm>
            <a:off x="548640" y="1861457"/>
            <a:ext cx="643476" cy="444137"/>
          </a:xfrm>
          <a:prstGeom prst="rect">
            <a:avLst/>
          </a:prstGeom>
          <a:solidFill>
            <a:srgbClr val="FFFFFF"/>
          </a:solidFill>
          <a:ln w="6350">
            <a:solidFill>
              <a:srgbClr val="D7DEE8"/>
            </a:solidFill>
            <a:prstDash val="solid"/>
          </a:ln>
        </p:spPr>
      </p:sp>
      <p:sp>
        <p:nvSpPr>
          <p:cNvPr id="15" name="Shape 13"/>
          <p:cNvSpPr/>
          <p:nvPr/>
        </p:nvSpPr>
        <p:spPr>
          <a:xfrm>
            <a:off x="1192116" y="1861457"/>
            <a:ext cx="643476" cy="444137"/>
          </a:xfrm>
          <a:prstGeom prst="rect">
            <a:avLst/>
          </a:prstGeom>
          <a:solidFill>
            <a:srgbClr val="EEF8EE"/>
          </a:solidFill>
          <a:ln w="6350">
            <a:solidFill>
              <a:srgbClr val="D7DEE8"/>
            </a:solidFill>
            <a:prstDash val="solid"/>
          </a:ln>
        </p:spPr>
      </p:sp>
      <p:sp>
        <p:nvSpPr>
          <p:cNvPr id="16" name="Shape 14"/>
          <p:cNvSpPr/>
          <p:nvPr/>
        </p:nvSpPr>
        <p:spPr>
          <a:xfrm>
            <a:off x="1835592" y="1861457"/>
            <a:ext cx="643476" cy="444137"/>
          </a:xfrm>
          <a:prstGeom prst="rect">
            <a:avLst/>
          </a:prstGeom>
          <a:solidFill>
            <a:srgbClr val="FFFFFF"/>
          </a:solidFill>
          <a:ln w="6350">
            <a:solidFill>
              <a:srgbClr val="D7DEE8"/>
            </a:solidFill>
            <a:prstDash val="solid"/>
          </a:ln>
        </p:spPr>
      </p:sp>
      <p:sp>
        <p:nvSpPr>
          <p:cNvPr id="17" name="Shape 15"/>
          <p:cNvSpPr/>
          <p:nvPr/>
        </p:nvSpPr>
        <p:spPr>
          <a:xfrm>
            <a:off x="2479068" y="1861457"/>
            <a:ext cx="643476" cy="444137"/>
          </a:xfrm>
          <a:prstGeom prst="rect">
            <a:avLst/>
          </a:prstGeom>
          <a:solidFill>
            <a:srgbClr val="FFFFFF"/>
          </a:solidFill>
          <a:ln w="6350">
            <a:solidFill>
              <a:srgbClr val="D7DEE8"/>
            </a:solidFill>
            <a:prstDash val="solid"/>
          </a:ln>
        </p:spPr>
      </p:sp>
      <p:sp>
        <p:nvSpPr>
          <p:cNvPr id="18" name="Shape 16"/>
          <p:cNvSpPr/>
          <p:nvPr/>
        </p:nvSpPr>
        <p:spPr>
          <a:xfrm>
            <a:off x="3122544" y="1861457"/>
            <a:ext cx="643476" cy="444137"/>
          </a:xfrm>
          <a:prstGeom prst="rect">
            <a:avLst/>
          </a:prstGeom>
          <a:solidFill>
            <a:srgbClr val="FFFFFF"/>
          </a:solidFill>
          <a:ln w="6350">
            <a:solidFill>
              <a:srgbClr val="D7DEE8"/>
            </a:solidFill>
            <a:prstDash val="solid"/>
          </a:ln>
        </p:spPr>
      </p:sp>
      <p:sp>
        <p:nvSpPr>
          <p:cNvPr id="19" name="Shape 17"/>
          <p:cNvSpPr/>
          <p:nvPr/>
        </p:nvSpPr>
        <p:spPr>
          <a:xfrm>
            <a:off x="3766020" y="1861457"/>
            <a:ext cx="643476" cy="444137"/>
          </a:xfrm>
          <a:prstGeom prst="rect">
            <a:avLst/>
          </a:prstGeom>
          <a:solidFill>
            <a:srgbClr val="FFFFFF"/>
          </a:solidFill>
          <a:ln w="6350">
            <a:solidFill>
              <a:srgbClr val="D7DEE8"/>
            </a:solidFill>
            <a:prstDash val="solid"/>
          </a:ln>
        </p:spPr>
      </p:sp>
      <p:sp>
        <p:nvSpPr>
          <p:cNvPr id="20" name="Shape 18"/>
          <p:cNvSpPr/>
          <p:nvPr/>
        </p:nvSpPr>
        <p:spPr>
          <a:xfrm>
            <a:off x="4409496" y="1861457"/>
            <a:ext cx="643476" cy="444137"/>
          </a:xfrm>
          <a:prstGeom prst="rect">
            <a:avLst/>
          </a:prstGeom>
          <a:solidFill>
            <a:srgbClr val="FFFFFF"/>
          </a:solidFill>
          <a:ln w="6350">
            <a:solidFill>
              <a:srgbClr val="D7DEE8"/>
            </a:solidFill>
            <a:prstDash val="solid"/>
          </a:ln>
        </p:spPr>
      </p:sp>
      <p:sp>
        <p:nvSpPr>
          <p:cNvPr id="21" name="Shape 19"/>
          <p:cNvSpPr/>
          <p:nvPr/>
        </p:nvSpPr>
        <p:spPr>
          <a:xfrm>
            <a:off x="5052973" y="1861457"/>
            <a:ext cx="643476" cy="444137"/>
          </a:xfrm>
          <a:prstGeom prst="rect">
            <a:avLst/>
          </a:prstGeom>
          <a:solidFill>
            <a:srgbClr val="F3D9CE"/>
          </a:solidFill>
          <a:ln w="6350">
            <a:solidFill>
              <a:srgbClr val="D7DEE8"/>
            </a:solidFill>
            <a:prstDash val="solid"/>
          </a:ln>
        </p:spPr>
      </p:sp>
      <p:sp>
        <p:nvSpPr>
          <p:cNvPr id="22" name="Shape 20"/>
          <p:cNvSpPr/>
          <p:nvPr/>
        </p:nvSpPr>
        <p:spPr>
          <a:xfrm>
            <a:off x="5696449" y="1861457"/>
            <a:ext cx="643476" cy="444137"/>
          </a:xfrm>
          <a:prstGeom prst="rect">
            <a:avLst/>
          </a:prstGeom>
          <a:solidFill>
            <a:srgbClr val="FFFFFF"/>
          </a:solidFill>
          <a:ln w="6350">
            <a:solidFill>
              <a:srgbClr val="D7DEE8"/>
            </a:solidFill>
            <a:prstDash val="solid"/>
          </a:ln>
        </p:spPr>
      </p:sp>
      <p:sp>
        <p:nvSpPr>
          <p:cNvPr id="23" name="Shape 21"/>
          <p:cNvSpPr/>
          <p:nvPr/>
        </p:nvSpPr>
        <p:spPr>
          <a:xfrm>
            <a:off x="6339925" y="1861457"/>
            <a:ext cx="643476" cy="444137"/>
          </a:xfrm>
          <a:prstGeom prst="rect">
            <a:avLst/>
          </a:prstGeom>
          <a:solidFill>
            <a:srgbClr val="FFFFFF"/>
          </a:solidFill>
          <a:ln w="6350">
            <a:solidFill>
              <a:srgbClr val="D7DEE8"/>
            </a:solidFill>
            <a:prstDash val="solid"/>
          </a:ln>
        </p:spPr>
      </p:sp>
      <p:sp>
        <p:nvSpPr>
          <p:cNvPr id="24" name="Shape 22"/>
          <p:cNvSpPr/>
          <p:nvPr/>
        </p:nvSpPr>
        <p:spPr>
          <a:xfrm>
            <a:off x="548640" y="2305594"/>
            <a:ext cx="643476" cy="444137"/>
          </a:xfrm>
          <a:prstGeom prst="rect">
            <a:avLst/>
          </a:prstGeom>
          <a:solidFill>
            <a:srgbClr val="FFFFFF"/>
          </a:solidFill>
          <a:ln w="6350">
            <a:solidFill>
              <a:srgbClr val="D7DEE8"/>
            </a:solidFill>
            <a:prstDash val="solid"/>
          </a:ln>
        </p:spPr>
      </p:sp>
      <p:sp>
        <p:nvSpPr>
          <p:cNvPr id="25" name="Shape 23"/>
          <p:cNvSpPr/>
          <p:nvPr/>
        </p:nvSpPr>
        <p:spPr>
          <a:xfrm>
            <a:off x="1192116" y="2305594"/>
            <a:ext cx="643476" cy="444137"/>
          </a:xfrm>
          <a:prstGeom prst="rect">
            <a:avLst/>
          </a:prstGeom>
          <a:solidFill>
            <a:srgbClr val="FFFFFF"/>
          </a:solidFill>
          <a:ln w="6350">
            <a:solidFill>
              <a:srgbClr val="D7DEE8"/>
            </a:solidFill>
            <a:prstDash val="solid"/>
          </a:ln>
        </p:spPr>
      </p:sp>
      <p:sp>
        <p:nvSpPr>
          <p:cNvPr id="26" name="Shape 24"/>
          <p:cNvSpPr/>
          <p:nvPr/>
        </p:nvSpPr>
        <p:spPr>
          <a:xfrm>
            <a:off x="1835592" y="2305594"/>
            <a:ext cx="643476" cy="444137"/>
          </a:xfrm>
          <a:prstGeom prst="rect">
            <a:avLst/>
          </a:prstGeom>
          <a:solidFill>
            <a:srgbClr val="EEF8EE"/>
          </a:solidFill>
          <a:ln w="6350">
            <a:solidFill>
              <a:srgbClr val="D7DEE8"/>
            </a:solidFill>
            <a:prstDash val="solid"/>
          </a:ln>
        </p:spPr>
      </p:sp>
      <p:sp>
        <p:nvSpPr>
          <p:cNvPr id="27" name="Shape 25"/>
          <p:cNvSpPr/>
          <p:nvPr/>
        </p:nvSpPr>
        <p:spPr>
          <a:xfrm>
            <a:off x="2479068" y="2305594"/>
            <a:ext cx="643476" cy="444137"/>
          </a:xfrm>
          <a:prstGeom prst="rect">
            <a:avLst/>
          </a:prstGeom>
          <a:solidFill>
            <a:srgbClr val="F3D9CE"/>
          </a:solidFill>
          <a:ln w="6350">
            <a:solidFill>
              <a:srgbClr val="D7DEE8"/>
            </a:solidFill>
            <a:prstDash val="solid"/>
          </a:ln>
        </p:spPr>
      </p:sp>
      <p:sp>
        <p:nvSpPr>
          <p:cNvPr id="28" name="Shape 26"/>
          <p:cNvSpPr/>
          <p:nvPr/>
        </p:nvSpPr>
        <p:spPr>
          <a:xfrm>
            <a:off x="3122544" y="2305594"/>
            <a:ext cx="643476" cy="444137"/>
          </a:xfrm>
          <a:prstGeom prst="rect">
            <a:avLst/>
          </a:prstGeom>
          <a:solidFill>
            <a:srgbClr val="F3D9CE"/>
          </a:solidFill>
          <a:ln w="6350">
            <a:solidFill>
              <a:srgbClr val="D7DEE8"/>
            </a:solidFill>
            <a:prstDash val="solid"/>
          </a:ln>
        </p:spPr>
      </p:sp>
      <p:sp>
        <p:nvSpPr>
          <p:cNvPr id="29" name="Shape 27"/>
          <p:cNvSpPr/>
          <p:nvPr/>
        </p:nvSpPr>
        <p:spPr>
          <a:xfrm>
            <a:off x="3766020" y="2305594"/>
            <a:ext cx="643476" cy="444137"/>
          </a:xfrm>
          <a:prstGeom prst="rect">
            <a:avLst/>
          </a:prstGeom>
          <a:solidFill>
            <a:srgbClr val="FFFFFF"/>
          </a:solidFill>
          <a:ln w="6350">
            <a:solidFill>
              <a:srgbClr val="D7DEE8"/>
            </a:solidFill>
            <a:prstDash val="solid"/>
          </a:ln>
        </p:spPr>
      </p:sp>
      <p:sp>
        <p:nvSpPr>
          <p:cNvPr id="30" name="Shape 28"/>
          <p:cNvSpPr/>
          <p:nvPr/>
        </p:nvSpPr>
        <p:spPr>
          <a:xfrm>
            <a:off x="4409496" y="2305594"/>
            <a:ext cx="643476" cy="444137"/>
          </a:xfrm>
          <a:prstGeom prst="rect">
            <a:avLst/>
          </a:prstGeom>
          <a:solidFill>
            <a:srgbClr val="FFFFFF"/>
          </a:solidFill>
          <a:ln w="6350">
            <a:solidFill>
              <a:srgbClr val="D7DEE8"/>
            </a:solidFill>
            <a:prstDash val="solid"/>
          </a:ln>
        </p:spPr>
      </p:sp>
      <p:sp>
        <p:nvSpPr>
          <p:cNvPr id="31" name="Shape 29"/>
          <p:cNvSpPr/>
          <p:nvPr/>
        </p:nvSpPr>
        <p:spPr>
          <a:xfrm>
            <a:off x="5052973" y="2305594"/>
            <a:ext cx="643476" cy="444137"/>
          </a:xfrm>
          <a:prstGeom prst="rect">
            <a:avLst/>
          </a:prstGeom>
          <a:solidFill>
            <a:srgbClr val="F3D9CE"/>
          </a:solidFill>
          <a:ln w="6350">
            <a:solidFill>
              <a:srgbClr val="D7DEE8"/>
            </a:solidFill>
            <a:prstDash val="solid"/>
          </a:ln>
        </p:spPr>
      </p:sp>
      <p:sp>
        <p:nvSpPr>
          <p:cNvPr id="32" name="Shape 30"/>
          <p:cNvSpPr/>
          <p:nvPr/>
        </p:nvSpPr>
        <p:spPr>
          <a:xfrm>
            <a:off x="5696449" y="2305594"/>
            <a:ext cx="643476" cy="444137"/>
          </a:xfrm>
          <a:prstGeom prst="rect">
            <a:avLst/>
          </a:prstGeom>
          <a:solidFill>
            <a:srgbClr val="FFFFFF"/>
          </a:solidFill>
          <a:ln w="6350">
            <a:solidFill>
              <a:srgbClr val="D7DEE8"/>
            </a:solidFill>
            <a:prstDash val="solid"/>
          </a:ln>
        </p:spPr>
      </p:sp>
      <p:sp>
        <p:nvSpPr>
          <p:cNvPr id="33" name="Shape 31"/>
          <p:cNvSpPr/>
          <p:nvPr/>
        </p:nvSpPr>
        <p:spPr>
          <a:xfrm>
            <a:off x="6339925" y="2305594"/>
            <a:ext cx="643476" cy="444137"/>
          </a:xfrm>
          <a:prstGeom prst="rect">
            <a:avLst/>
          </a:prstGeom>
          <a:solidFill>
            <a:srgbClr val="FFFFFF"/>
          </a:solidFill>
          <a:ln w="6350">
            <a:solidFill>
              <a:srgbClr val="D7DEE8"/>
            </a:solidFill>
            <a:prstDash val="solid"/>
          </a:ln>
        </p:spPr>
      </p:sp>
      <p:sp>
        <p:nvSpPr>
          <p:cNvPr id="34" name="Shape 32"/>
          <p:cNvSpPr/>
          <p:nvPr/>
        </p:nvSpPr>
        <p:spPr>
          <a:xfrm>
            <a:off x="548640" y="2749731"/>
            <a:ext cx="643476" cy="444137"/>
          </a:xfrm>
          <a:prstGeom prst="rect">
            <a:avLst/>
          </a:prstGeom>
          <a:solidFill>
            <a:srgbClr val="FFFFFF"/>
          </a:solidFill>
          <a:ln w="6350">
            <a:solidFill>
              <a:srgbClr val="D7DEE8"/>
            </a:solidFill>
            <a:prstDash val="solid"/>
          </a:ln>
        </p:spPr>
      </p:sp>
      <p:sp>
        <p:nvSpPr>
          <p:cNvPr id="35" name="Shape 33"/>
          <p:cNvSpPr/>
          <p:nvPr/>
        </p:nvSpPr>
        <p:spPr>
          <a:xfrm>
            <a:off x="1192116" y="2749731"/>
            <a:ext cx="643476" cy="444137"/>
          </a:xfrm>
          <a:prstGeom prst="rect">
            <a:avLst/>
          </a:prstGeom>
          <a:solidFill>
            <a:srgbClr val="FFFFFF"/>
          </a:solidFill>
          <a:ln w="6350">
            <a:solidFill>
              <a:srgbClr val="D7DEE8"/>
            </a:solidFill>
            <a:prstDash val="solid"/>
          </a:ln>
        </p:spPr>
      </p:sp>
      <p:sp>
        <p:nvSpPr>
          <p:cNvPr id="36" name="Shape 34"/>
          <p:cNvSpPr/>
          <p:nvPr/>
        </p:nvSpPr>
        <p:spPr>
          <a:xfrm>
            <a:off x="1835592" y="2749731"/>
            <a:ext cx="643476" cy="444137"/>
          </a:xfrm>
          <a:prstGeom prst="rect">
            <a:avLst/>
          </a:prstGeom>
          <a:solidFill>
            <a:srgbClr val="EEF8EE"/>
          </a:solidFill>
          <a:ln w="6350">
            <a:solidFill>
              <a:srgbClr val="D7DEE8"/>
            </a:solidFill>
            <a:prstDash val="solid"/>
          </a:ln>
        </p:spPr>
      </p:sp>
      <p:sp>
        <p:nvSpPr>
          <p:cNvPr id="37" name="Shape 35"/>
          <p:cNvSpPr/>
          <p:nvPr/>
        </p:nvSpPr>
        <p:spPr>
          <a:xfrm>
            <a:off x="2479068" y="2749731"/>
            <a:ext cx="643476" cy="444137"/>
          </a:xfrm>
          <a:prstGeom prst="rect">
            <a:avLst/>
          </a:prstGeom>
          <a:solidFill>
            <a:srgbClr val="F3D9CE"/>
          </a:solidFill>
          <a:ln w="6350">
            <a:solidFill>
              <a:srgbClr val="D7DEE8"/>
            </a:solidFill>
            <a:prstDash val="solid"/>
          </a:ln>
        </p:spPr>
      </p:sp>
      <p:sp>
        <p:nvSpPr>
          <p:cNvPr id="38" name="Shape 36"/>
          <p:cNvSpPr/>
          <p:nvPr/>
        </p:nvSpPr>
        <p:spPr>
          <a:xfrm>
            <a:off x="3122544" y="2749731"/>
            <a:ext cx="643476" cy="444137"/>
          </a:xfrm>
          <a:prstGeom prst="rect">
            <a:avLst/>
          </a:prstGeom>
          <a:solidFill>
            <a:srgbClr val="F3D9CE"/>
          </a:solidFill>
          <a:ln w="6350">
            <a:solidFill>
              <a:srgbClr val="D7DEE8"/>
            </a:solidFill>
            <a:prstDash val="solid"/>
          </a:ln>
        </p:spPr>
      </p:sp>
      <p:sp>
        <p:nvSpPr>
          <p:cNvPr id="39" name="Shape 37"/>
          <p:cNvSpPr/>
          <p:nvPr/>
        </p:nvSpPr>
        <p:spPr>
          <a:xfrm>
            <a:off x="3766020" y="2749731"/>
            <a:ext cx="643476" cy="444137"/>
          </a:xfrm>
          <a:prstGeom prst="rect">
            <a:avLst/>
          </a:prstGeom>
          <a:solidFill>
            <a:srgbClr val="FFFFFF"/>
          </a:solidFill>
          <a:ln w="6350">
            <a:solidFill>
              <a:srgbClr val="D7DEE8"/>
            </a:solidFill>
            <a:prstDash val="solid"/>
          </a:ln>
        </p:spPr>
      </p:sp>
      <p:sp>
        <p:nvSpPr>
          <p:cNvPr id="40" name="Shape 38"/>
          <p:cNvSpPr/>
          <p:nvPr/>
        </p:nvSpPr>
        <p:spPr>
          <a:xfrm>
            <a:off x="4409496" y="2749731"/>
            <a:ext cx="643476" cy="444137"/>
          </a:xfrm>
          <a:prstGeom prst="rect">
            <a:avLst/>
          </a:prstGeom>
          <a:solidFill>
            <a:srgbClr val="FFFFFF"/>
          </a:solidFill>
          <a:ln w="6350">
            <a:solidFill>
              <a:srgbClr val="D7DEE8"/>
            </a:solidFill>
            <a:prstDash val="solid"/>
          </a:ln>
        </p:spPr>
      </p:sp>
      <p:sp>
        <p:nvSpPr>
          <p:cNvPr id="41" name="Shape 39"/>
          <p:cNvSpPr/>
          <p:nvPr/>
        </p:nvSpPr>
        <p:spPr>
          <a:xfrm>
            <a:off x="5052973" y="2749731"/>
            <a:ext cx="643476" cy="444137"/>
          </a:xfrm>
          <a:prstGeom prst="rect">
            <a:avLst/>
          </a:prstGeom>
          <a:solidFill>
            <a:srgbClr val="F3D9CE"/>
          </a:solidFill>
          <a:ln w="6350">
            <a:solidFill>
              <a:srgbClr val="D7DEE8"/>
            </a:solidFill>
            <a:prstDash val="solid"/>
          </a:ln>
        </p:spPr>
      </p:sp>
      <p:sp>
        <p:nvSpPr>
          <p:cNvPr id="42" name="Shape 40"/>
          <p:cNvSpPr/>
          <p:nvPr/>
        </p:nvSpPr>
        <p:spPr>
          <a:xfrm>
            <a:off x="5696449" y="2749731"/>
            <a:ext cx="643476" cy="444137"/>
          </a:xfrm>
          <a:prstGeom prst="rect">
            <a:avLst/>
          </a:prstGeom>
          <a:solidFill>
            <a:srgbClr val="FFFFFF"/>
          </a:solidFill>
          <a:ln w="6350">
            <a:solidFill>
              <a:srgbClr val="D7DEE8"/>
            </a:solidFill>
            <a:prstDash val="solid"/>
          </a:ln>
        </p:spPr>
      </p:sp>
      <p:sp>
        <p:nvSpPr>
          <p:cNvPr id="43" name="Shape 41"/>
          <p:cNvSpPr/>
          <p:nvPr/>
        </p:nvSpPr>
        <p:spPr>
          <a:xfrm>
            <a:off x="6339925" y="2749731"/>
            <a:ext cx="643476" cy="444137"/>
          </a:xfrm>
          <a:prstGeom prst="rect">
            <a:avLst/>
          </a:prstGeom>
          <a:solidFill>
            <a:srgbClr val="FFFFFF"/>
          </a:solidFill>
          <a:ln w="6350">
            <a:solidFill>
              <a:srgbClr val="D7DEE8"/>
            </a:solidFill>
            <a:prstDash val="solid"/>
          </a:ln>
        </p:spPr>
      </p:sp>
      <p:sp>
        <p:nvSpPr>
          <p:cNvPr id="44" name="Shape 42"/>
          <p:cNvSpPr/>
          <p:nvPr/>
        </p:nvSpPr>
        <p:spPr>
          <a:xfrm>
            <a:off x="548640" y="3193869"/>
            <a:ext cx="643476" cy="444137"/>
          </a:xfrm>
          <a:prstGeom prst="rect">
            <a:avLst/>
          </a:prstGeom>
          <a:solidFill>
            <a:srgbClr val="FFFFFF"/>
          </a:solidFill>
          <a:ln w="6350">
            <a:solidFill>
              <a:srgbClr val="D7DEE8"/>
            </a:solidFill>
            <a:prstDash val="solid"/>
          </a:ln>
        </p:spPr>
      </p:sp>
      <p:sp>
        <p:nvSpPr>
          <p:cNvPr id="45" name="Shape 43"/>
          <p:cNvSpPr/>
          <p:nvPr/>
        </p:nvSpPr>
        <p:spPr>
          <a:xfrm>
            <a:off x="1192116" y="3193869"/>
            <a:ext cx="643476" cy="444137"/>
          </a:xfrm>
          <a:prstGeom prst="rect">
            <a:avLst/>
          </a:prstGeom>
          <a:solidFill>
            <a:srgbClr val="FFFFFF"/>
          </a:solidFill>
          <a:ln w="6350">
            <a:solidFill>
              <a:srgbClr val="D7DEE8"/>
            </a:solidFill>
            <a:prstDash val="solid"/>
          </a:ln>
        </p:spPr>
      </p:sp>
      <p:sp>
        <p:nvSpPr>
          <p:cNvPr id="46" name="Shape 44"/>
          <p:cNvSpPr/>
          <p:nvPr/>
        </p:nvSpPr>
        <p:spPr>
          <a:xfrm>
            <a:off x="1835592" y="3193869"/>
            <a:ext cx="643476" cy="444137"/>
          </a:xfrm>
          <a:prstGeom prst="rect">
            <a:avLst/>
          </a:prstGeom>
          <a:solidFill>
            <a:srgbClr val="FFFFFF"/>
          </a:solidFill>
          <a:ln w="6350">
            <a:solidFill>
              <a:srgbClr val="D7DEE8"/>
            </a:solidFill>
            <a:prstDash val="solid"/>
          </a:ln>
        </p:spPr>
      </p:sp>
      <p:sp>
        <p:nvSpPr>
          <p:cNvPr id="47" name="Shape 45"/>
          <p:cNvSpPr/>
          <p:nvPr/>
        </p:nvSpPr>
        <p:spPr>
          <a:xfrm>
            <a:off x="2479068" y="3193869"/>
            <a:ext cx="643476" cy="444137"/>
          </a:xfrm>
          <a:prstGeom prst="rect">
            <a:avLst/>
          </a:prstGeom>
          <a:solidFill>
            <a:srgbClr val="EEF8EE"/>
          </a:solidFill>
          <a:ln w="6350">
            <a:solidFill>
              <a:srgbClr val="D7DEE8"/>
            </a:solidFill>
            <a:prstDash val="solid"/>
          </a:ln>
        </p:spPr>
      </p:sp>
      <p:sp>
        <p:nvSpPr>
          <p:cNvPr id="48" name="Shape 46"/>
          <p:cNvSpPr/>
          <p:nvPr/>
        </p:nvSpPr>
        <p:spPr>
          <a:xfrm>
            <a:off x="3122544" y="3193869"/>
            <a:ext cx="643476" cy="444137"/>
          </a:xfrm>
          <a:prstGeom prst="rect">
            <a:avLst/>
          </a:prstGeom>
          <a:solidFill>
            <a:srgbClr val="F3D9CE"/>
          </a:solidFill>
          <a:ln w="6350">
            <a:solidFill>
              <a:srgbClr val="D7DEE8"/>
            </a:solidFill>
            <a:prstDash val="solid"/>
          </a:ln>
        </p:spPr>
      </p:sp>
      <p:sp>
        <p:nvSpPr>
          <p:cNvPr id="49" name="Shape 47"/>
          <p:cNvSpPr/>
          <p:nvPr/>
        </p:nvSpPr>
        <p:spPr>
          <a:xfrm>
            <a:off x="3766020" y="3193869"/>
            <a:ext cx="643476" cy="444137"/>
          </a:xfrm>
          <a:prstGeom prst="rect">
            <a:avLst/>
          </a:prstGeom>
          <a:solidFill>
            <a:srgbClr val="FFFFFF"/>
          </a:solidFill>
          <a:ln w="6350">
            <a:solidFill>
              <a:srgbClr val="D7DEE8"/>
            </a:solidFill>
            <a:prstDash val="solid"/>
          </a:ln>
        </p:spPr>
      </p:sp>
      <p:sp>
        <p:nvSpPr>
          <p:cNvPr id="50" name="Shape 48"/>
          <p:cNvSpPr/>
          <p:nvPr/>
        </p:nvSpPr>
        <p:spPr>
          <a:xfrm>
            <a:off x="4409496" y="3193869"/>
            <a:ext cx="643476" cy="444137"/>
          </a:xfrm>
          <a:prstGeom prst="rect">
            <a:avLst/>
          </a:prstGeom>
          <a:solidFill>
            <a:srgbClr val="FFFFFF"/>
          </a:solidFill>
          <a:ln w="6350">
            <a:solidFill>
              <a:srgbClr val="D7DEE8"/>
            </a:solidFill>
            <a:prstDash val="solid"/>
          </a:ln>
        </p:spPr>
      </p:sp>
      <p:sp>
        <p:nvSpPr>
          <p:cNvPr id="51" name="Shape 49"/>
          <p:cNvSpPr/>
          <p:nvPr/>
        </p:nvSpPr>
        <p:spPr>
          <a:xfrm>
            <a:off x="5052973" y="3193869"/>
            <a:ext cx="643476" cy="444137"/>
          </a:xfrm>
          <a:prstGeom prst="rect">
            <a:avLst/>
          </a:prstGeom>
          <a:solidFill>
            <a:srgbClr val="FFFFFF"/>
          </a:solidFill>
          <a:ln w="6350">
            <a:solidFill>
              <a:srgbClr val="D7DEE8"/>
            </a:solidFill>
            <a:prstDash val="solid"/>
          </a:ln>
        </p:spPr>
      </p:sp>
      <p:sp>
        <p:nvSpPr>
          <p:cNvPr id="52" name="Shape 50"/>
          <p:cNvSpPr/>
          <p:nvPr/>
        </p:nvSpPr>
        <p:spPr>
          <a:xfrm>
            <a:off x="5696449" y="3193869"/>
            <a:ext cx="643476" cy="444137"/>
          </a:xfrm>
          <a:prstGeom prst="rect">
            <a:avLst/>
          </a:prstGeom>
          <a:solidFill>
            <a:srgbClr val="FFFFFF"/>
          </a:solidFill>
          <a:ln w="6350">
            <a:solidFill>
              <a:srgbClr val="D7DEE8"/>
            </a:solidFill>
            <a:prstDash val="solid"/>
          </a:ln>
        </p:spPr>
      </p:sp>
      <p:sp>
        <p:nvSpPr>
          <p:cNvPr id="53" name="Shape 51"/>
          <p:cNvSpPr/>
          <p:nvPr/>
        </p:nvSpPr>
        <p:spPr>
          <a:xfrm>
            <a:off x="6339925" y="3193869"/>
            <a:ext cx="643476" cy="444137"/>
          </a:xfrm>
          <a:prstGeom prst="rect">
            <a:avLst/>
          </a:prstGeom>
          <a:solidFill>
            <a:srgbClr val="EEF8EE"/>
          </a:solidFill>
          <a:ln w="6350">
            <a:solidFill>
              <a:srgbClr val="D7DEE8"/>
            </a:solidFill>
            <a:prstDash val="solid"/>
          </a:ln>
        </p:spPr>
      </p:sp>
      <p:sp>
        <p:nvSpPr>
          <p:cNvPr id="54" name="Shape 52"/>
          <p:cNvSpPr/>
          <p:nvPr/>
        </p:nvSpPr>
        <p:spPr>
          <a:xfrm>
            <a:off x="548640" y="3638006"/>
            <a:ext cx="643476" cy="444137"/>
          </a:xfrm>
          <a:prstGeom prst="rect">
            <a:avLst/>
          </a:prstGeom>
          <a:solidFill>
            <a:srgbClr val="FFFFFF"/>
          </a:solidFill>
          <a:ln w="6350">
            <a:solidFill>
              <a:srgbClr val="D7DEE8"/>
            </a:solidFill>
            <a:prstDash val="solid"/>
          </a:ln>
        </p:spPr>
      </p:sp>
      <p:sp>
        <p:nvSpPr>
          <p:cNvPr id="55" name="Shape 53"/>
          <p:cNvSpPr/>
          <p:nvPr/>
        </p:nvSpPr>
        <p:spPr>
          <a:xfrm>
            <a:off x="1192116" y="3638006"/>
            <a:ext cx="643476" cy="444137"/>
          </a:xfrm>
          <a:prstGeom prst="rect">
            <a:avLst/>
          </a:prstGeom>
          <a:solidFill>
            <a:srgbClr val="FFFFFF"/>
          </a:solidFill>
          <a:ln w="6350">
            <a:solidFill>
              <a:srgbClr val="D7DEE8"/>
            </a:solidFill>
            <a:prstDash val="solid"/>
          </a:ln>
        </p:spPr>
      </p:sp>
      <p:sp>
        <p:nvSpPr>
          <p:cNvPr id="56" name="Shape 54"/>
          <p:cNvSpPr/>
          <p:nvPr/>
        </p:nvSpPr>
        <p:spPr>
          <a:xfrm>
            <a:off x="1835592" y="3638006"/>
            <a:ext cx="643476" cy="444137"/>
          </a:xfrm>
          <a:prstGeom prst="rect">
            <a:avLst/>
          </a:prstGeom>
          <a:solidFill>
            <a:srgbClr val="FFFFFF"/>
          </a:solidFill>
          <a:ln w="6350">
            <a:solidFill>
              <a:srgbClr val="D7DEE8"/>
            </a:solidFill>
            <a:prstDash val="solid"/>
          </a:ln>
        </p:spPr>
      </p:sp>
      <p:sp>
        <p:nvSpPr>
          <p:cNvPr id="57" name="Shape 55"/>
          <p:cNvSpPr/>
          <p:nvPr/>
        </p:nvSpPr>
        <p:spPr>
          <a:xfrm>
            <a:off x="2479068" y="3638006"/>
            <a:ext cx="643476" cy="444137"/>
          </a:xfrm>
          <a:prstGeom prst="rect">
            <a:avLst/>
          </a:prstGeom>
          <a:solidFill>
            <a:srgbClr val="FFFFFF"/>
          </a:solidFill>
          <a:ln w="6350">
            <a:solidFill>
              <a:srgbClr val="D7DEE8"/>
            </a:solidFill>
            <a:prstDash val="solid"/>
          </a:ln>
        </p:spPr>
      </p:sp>
      <p:sp>
        <p:nvSpPr>
          <p:cNvPr id="58" name="Shape 56"/>
          <p:cNvSpPr/>
          <p:nvPr/>
        </p:nvSpPr>
        <p:spPr>
          <a:xfrm>
            <a:off x="3122544" y="3638006"/>
            <a:ext cx="643476" cy="444137"/>
          </a:xfrm>
          <a:prstGeom prst="rect">
            <a:avLst/>
          </a:prstGeom>
          <a:solidFill>
            <a:srgbClr val="FFFFFF"/>
          </a:solidFill>
          <a:ln w="6350">
            <a:solidFill>
              <a:srgbClr val="D7DEE8"/>
            </a:solidFill>
            <a:prstDash val="solid"/>
          </a:ln>
        </p:spPr>
      </p:sp>
      <p:sp>
        <p:nvSpPr>
          <p:cNvPr id="59" name="Shape 57"/>
          <p:cNvSpPr/>
          <p:nvPr/>
        </p:nvSpPr>
        <p:spPr>
          <a:xfrm>
            <a:off x="3766020" y="3638006"/>
            <a:ext cx="643476" cy="444137"/>
          </a:xfrm>
          <a:prstGeom prst="rect">
            <a:avLst/>
          </a:prstGeom>
          <a:solidFill>
            <a:srgbClr val="EEF8EE"/>
          </a:solidFill>
          <a:ln w="6350">
            <a:solidFill>
              <a:srgbClr val="D7DEE8"/>
            </a:solidFill>
            <a:prstDash val="solid"/>
          </a:ln>
        </p:spPr>
      </p:sp>
      <p:sp>
        <p:nvSpPr>
          <p:cNvPr id="60" name="Shape 58"/>
          <p:cNvSpPr/>
          <p:nvPr/>
        </p:nvSpPr>
        <p:spPr>
          <a:xfrm>
            <a:off x="4409496" y="3638006"/>
            <a:ext cx="643476" cy="444137"/>
          </a:xfrm>
          <a:prstGeom prst="rect">
            <a:avLst/>
          </a:prstGeom>
          <a:solidFill>
            <a:srgbClr val="EEF8EE"/>
          </a:solidFill>
          <a:ln w="6350">
            <a:solidFill>
              <a:srgbClr val="D7DEE8"/>
            </a:solidFill>
            <a:prstDash val="solid"/>
          </a:ln>
        </p:spPr>
      </p:sp>
      <p:sp>
        <p:nvSpPr>
          <p:cNvPr id="61" name="Shape 59"/>
          <p:cNvSpPr/>
          <p:nvPr/>
        </p:nvSpPr>
        <p:spPr>
          <a:xfrm>
            <a:off x="5052973" y="3638006"/>
            <a:ext cx="643476" cy="444137"/>
          </a:xfrm>
          <a:prstGeom prst="rect">
            <a:avLst/>
          </a:prstGeom>
          <a:solidFill>
            <a:srgbClr val="FFFFFF"/>
          </a:solidFill>
          <a:ln w="6350">
            <a:solidFill>
              <a:srgbClr val="D7DEE8"/>
            </a:solidFill>
            <a:prstDash val="solid"/>
          </a:ln>
        </p:spPr>
      </p:sp>
      <p:sp>
        <p:nvSpPr>
          <p:cNvPr id="62" name="Shape 60"/>
          <p:cNvSpPr/>
          <p:nvPr/>
        </p:nvSpPr>
        <p:spPr>
          <a:xfrm>
            <a:off x="5696449" y="3638006"/>
            <a:ext cx="643476" cy="444137"/>
          </a:xfrm>
          <a:prstGeom prst="rect">
            <a:avLst/>
          </a:prstGeom>
          <a:solidFill>
            <a:srgbClr val="EEF8EE"/>
          </a:solidFill>
          <a:ln w="6350">
            <a:solidFill>
              <a:srgbClr val="D7DEE8"/>
            </a:solidFill>
            <a:prstDash val="solid"/>
          </a:ln>
        </p:spPr>
      </p:sp>
      <p:sp>
        <p:nvSpPr>
          <p:cNvPr id="63" name="Shape 61"/>
          <p:cNvSpPr/>
          <p:nvPr/>
        </p:nvSpPr>
        <p:spPr>
          <a:xfrm>
            <a:off x="6339925" y="3638006"/>
            <a:ext cx="643476" cy="444137"/>
          </a:xfrm>
          <a:prstGeom prst="rect">
            <a:avLst/>
          </a:prstGeom>
          <a:solidFill>
            <a:srgbClr val="FFFFFF"/>
          </a:solidFill>
          <a:ln w="6350">
            <a:solidFill>
              <a:srgbClr val="D7DEE8"/>
            </a:solidFill>
            <a:prstDash val="solid"/>
          </a:ln>
        </p:spPr>
      </p:sp>
      <p:sp>
        <p:nvSpPr>
          <p:cNvPr id="64" name="Shape 62"/>
          <p:cNvSpPr/>
          <p:nvPr/>
        </p:nvSpPr>
        <p:spPr>
          <a:xfrm>
            <a:off x="548640" y="4082143"/>
            <a:ext cx="643476" cy="444137"/>
          </a:xfrm>
          <a:prstGeom prst="rect">
            <a:avLst/>
          </a:prstGeom>
          <a:solidFill>
            <a:srgbClr val="FFFFFF"/>
          </a:solidFill>
          <a:ln w="6350">
            <a:solidFill>
              <a:srgbClr val="D7DEE8"/>
            </a:solidFill>
            <a:prstDash val="solid"/>
          </a:ln>
        </p:spPr>
      </p:sp>
      <p:sp>
        <p:nvSpPr>
          <p:cNvPr id="65" name="Shape 63"/>
          <p:cNvSpPr/>
          <p:nvPr/>
        </p:nvSpPr>
        <p:spPr>
          <a:xfrm>
            <a:off x="1192116" y="4082143"/>
            <a:ext cx="643476" cy="444137"/>
          </a:xfrm>
          <a:prstGeom prst="rect">
            <a:avLst/>
          </a:prstGeom>
          <a:solidFill>
            <a:srgbClr val="FFFFFF"/>
          </a:solidFill>
          <a:ln w="6350">
            <a:solidFill>
              <a:srgbClr val="D7DEE8"/>
            </a:solidFill>
            <a:prstDash val="solid"/>
          </a:ln>
        </p:spPr>
      </p:sp>
      <p:sp>
        <p:nvSpPr>
          <p:cNvPr id="66" name="Shape 64"/>
          <p:cNvSpPr/>
          <p:nvPr/>
        </p:nvSpPr>
        <p:spPr>
          <a:xfrm>
            <a:off x="1835592" y="4082143"/>
            <a:ext cx="643476" cy="444137"/>
          </a:xfrm>
          <a:prstGeom prst="rect">
            <a:avLst/>
          </a:prstGeom>
          <a:solidFill>
            <a:srgbClr val="FFFFFF"/>
          </a:solidFill>
          <a:ln w="6350">
            <a:solidFill>
              <a:srgbClr val="D7DEE8"/>
            </a:solidFill>
            <a:prstDash val="solid"/>
          </a:ln>
        </p:spPr>
      </p:sp>
      <p:sp>
        <p:nvSpPr>
          <p:cNvPr id="67" name="Shape 65"/>
          <p:cNvSpPr/>
          <p:nvPr/>
        </p:nvSpPr>
        <p:spPr>
          <a:xfrm>
            <a:off x="2479068" y="4082143"/>
            <a:ext cx="643476" cy="444137"/>
          </a:xfrm>
          <a:prstGeom prst="rect">
            <a:avLst/>
          </a:prstGeom>
          <a:solidFill>
            <a:srgbClr val="FFFFFF"/>
          </a:solidFill>
          <a:ln w="6350">
            <a:solidFill>
              <a:srgbClr val="D7DEE8"/>
            </a:solidFill>
            <a:prstDash val="solid"/>
          </a:ln>
        </p:spPr>
      </p:sp>
      <p:sp>
        <p:nvSpPr>
          <p:cNvPr id="68" name="Shape 66"/>
          <p:cNvSpPr/>
          <p:nvPr/>
        </p:nvSpPr>
        <p:spPr>
          <a:xfrm>
            <a:off x="3122544" y="4082143"/>
            <a:ext cx="643476" cy="444137"/>
          </a:xfrm>
          <a:prstGeom prst="rect">
            <a:avLst/>
          </a:prstGeom>
          <a:solidFill>
            <a:srgbClr val="FFFFFF"/>
          </a:solidFill>
          <a:ln w="6350">
            <a:solidFill>
              <a:srgbClr val="D7DEE8"/>
            </a:solidFill>
            <a:prstDash val="solid"/>
          </a:ln>
        </p:spPr>
      </p:sp>
      <p:sp>
        <p:nvSpPr>
          <p:cNvPr id="69" name="Shape 67"/>
          <p:cNvSpPr/>
          <p:nvPr/>
        </p:nvSpPr>
        <p:spPr>
          <a:xfrm>
            <a:off x="3766020" y="4082143"/>
            <a:ext cx="643476" cy="444137"/>
          </a:xfrm>
          <a:prstGeom prst="rect">
            <a:avLst/>
          </a:prstGeom>
          <a:solidFill>
            <a:srgbClr val="FFFFFF"/>
          </a:solidFill>
          <a:ln w="6350">
            <a:solidFill>
              <a:srgbClr val="D7DEE8"/>
            </a:solidFill>
            <a:prstDash val="solid"/>
          </a:ln>
        </p:spPr>
      </p:sp>
      <p:sp>
        <p:nvSpPr>
          <p:cNvPr id="70" name="Shape 68"/>
          <p:cNvSpPr/>
          <p:nvPr/>
        </p:nvSpPr>
        <p:spPr>
          <a:xfrm>
            <a:off x="4409496" y="4082143"/>
            <a:ext cx="643476" cy="444137"/>
          </a:xfrm>
          <a:prstGeom prst="rect">
            <a:avLst/>
          </a:prstGeom>
          <a:solidFill>
            <a:srgbClr val="FFFFFF"/>
          </a:solidFill>
          <a:ln w="6350">
            <a:solidFill>
              <a:srgbClr val="D7DEE8"/>
            </a:solidFill>
            <a:prstDash val="solid"/>
          </a:ln>
        </p:spPr>
      </p:sp>
      <p:sp>
        <p:nvSpPr>
          <p:cNvPr id="71" name="Shape 69"/>
          <p:cNvSpPr/>
          <p:nvPr/>
        </p:nvSpPr>
        <p:spPr>
          <a:xfrm>
            <a:off x="5052973" y="4082143"/>
            <a:ext cx="643476" cy="444137"/>
          </a:xfrm>
          <a:prstGeom prst="rect">
            <a:avLst/>
          </a:prstGeom>
          <a:solidFill>
            <a:srgbClr val="FFFFFF"/>
          </a:solidFill>
          <a:ln w="6350">
            <a:solidFill>
              <a:srgbClr val="D7DEE8"/>
            </a:solidFill>
            <a:prstDash val="solid"/>
          </a:ln>
        </p:spPr>
      </p:sp>
      <p:sp>
        <p:nvSpPr>
          <p:cNvPr id="72" name="Shape 70"/>
          <p:cNvSpPr/>
          <p:nvPr/>
        </p:nvSpPr>
        <p:spPr>
          <a:xfrm>
            <a:off x="5696449" y="4082143"/>
            <a:ext cx="643476" cy="444137"/>
          </a:xfrm>
          <a:prstGeom prst="rect">
            <a:avLst/>
          </a:prstGeom>
          <a:solidFill>
            <a:srgbClr val="FFFFFF"/>
          </a:solidFill>
          <a:ln w="6350">
            <a:solidFill>
              <a:srgbClr val="D7DEE8"/>
            </a:solidFill>
            <a:prstDash val="solid"/>
          </a:ln>
        </p:spPr>
      </p:sp>
      <p:sp>
        <p:nvSpPr>
          <p:cNvPr id="73" name="Shape 71"/>
          <p:cNvSpPr/>
          <p:nvPr/>
        </p:nvSpPr>
        <p:spPr>
          <a:xfrm>
            <a:off x="6339925" y="4082143"/>
            <a:ext cx="643476" cy="444137"/>
          </a:xfrm>
          <a:prstGeom prst="rect">
            <a:avLst/>
          </a:prstGeom>
          <a:solidFill>
            <a:srgbClr val="FFFFFF"/>
          </a:solidFill>
          <a:ln w="6350">
            <a:solidFill>
              <a:srgbClr val="D7DEE8"/>
            </a:solidFill>
            <a:prstDash val="solid"/>
          </a:ln>
        </p:spPr>
      </p:sp>
      <p:sp>
        <p:nvSpPr>
          <p:cNvPr id="74" name="Shape 72"/>
          <p:cNvSpPr/>
          <p:nvPr/>
        </p:nvSpPr>
        <p:spPr>
          <a:xfrm>
            <a:off x="870378" y="1639389"/>
            <a:ext cx="643476" cy="444137"/>
          </a:xfrm>
          <a:prstGeom prst="line">
            <a:avLst/>
          </a:prstGeom>
          <a:noFill/>
          <a:ln w="31750">
            <a:solidFill>
              <a:srgbClr val="1B6B3A"/>
            </a:solidFill>
            <a:prstDash val="solid"/>
            <a:headEnd type="none"/>
            <a:tailEnd type="triangle"/>
          </a:ln>
        </p:spPr>
      </p:sp>
      <p:sp>
        <p:nvSpPr>
          <p:cNvPr id="75" name="Shape 73"/>
          <p:cNvSpPr/>
          <p:nvPr/>
        </p:nvSpPr>
        <p:spPr>
          <a:xfrm>
            <a:off x="1513854" y="2083526"/>
            <a:ext cx="643476" cy="444137"/>
          </a:xfrm>
          <a:prstGeom prst="line">
            <a:avLst/>
          </a:prstGeom>
          <a:noFill/>
          <a:ln w="31750">
            <a:solidFill>
              <a:srgbClr val="1B6B3A"/>
            </a:solidFill>
            <a:prstDash val="solid"/>
            <a:headEnd type="none"/>
            <a:tailEnd type="triangle"/>
          </a:ln>
        </p:spPr>
      </p:sp>
      <p:sp>
        <p:nvSpPr>
          <p:cNvPr id="76" name="Shape 74"/>
          <p:cNvSpPr/>
          <p:nvPr/>
        </p:nvSpPr>
        <p:spPr>
          <a:xfrm>
            <a:off x="2157330" y="2527663"/>
            <a:ext cx="914" cy="444137"/>
          </a:xfrm>
          <a:prstGeom prst="line">
            <a:avLst/>
          </a:prstGeom>
          <a:noFill/>
          <a:ln w="31750">
            <a:solidFill>
              <a:srgbClr val="1B6B3A"/>
            </a:solidFill>
            <a:prstDash val="solid"/>
            <a:headEnd type="none"/>
            <a:tailEnd type="triangle"/>
          </a:ln>
        </p:spPr>
      </p:sp>
      <p:sp>
        <p:nvSpPr>
          <p:cNvPr id="77" name="Shape 75"/>
          <p:cNvSpPr/>
          <p:nvPr/>
        </p:nvSpPr>
        <p:spPr>
          <a:xfrm>
            <a:off x="2157330" y="2971800"/>
            <a:ext cx="643476" cy="444137"/>
          </a:xfrm>
          <a:prstGeom prst="line">
            <a:avLst/>
          </a:prstGeom>
          <a:noFill/>
          <a:ln w="31750">
            <a:solidFill>
              <a:srgbClr val="1B6B3A"/>
            </a:solidFill>
            <a:prstDash val="solid"/>
            <a:headEnd type="none"/>
            <a:tailEnd type="triangle"/>
          </a:ln>
        </p:spPr>
      </p:sp>
      <p:sp>
        <p:nvSpPr>
          <p:cNvPr id="78" name="Shape 76"/>
          <p:cNvSpPr/>
          <p:nvPr/>
        </p:nvSpPr>
        <p:spPr>
          <a:xfrm>
            <a:off x="2800806" y="3415937"/>
            <a:ext cx="1286952" cy="444137"/>
          </a:xfrm>
          <a:prstGeom prst="line">
            <a:avLst/>
          </a:prstGeom>
          <a:noFill/>
          <a:ln w="31750">
            <a:solidFill>
              <a:srgbClr val="1B6B3A"/>
            </a:solidFill>
            <a:prstDash val="solid"/>
            <a:headEnd type="none"/>
            <a:tailEnd type="triangle"/>
          </a:ln>
        </p:spPr>
      </p:sp>
      <p:sp>
        <p:nvSpPr>
          <p:cNvPr id="79" name="Shape 77"/>
          <p:cNvSpPr/>
          <p:nvPr/>
        </p:nvSpPr>
        <p:spPr>
          <a:xfrm>
            <a:off x="4087758" y="3860074"/>
            <a:ext cx="643476" cy="914"/>
          </a:xfrm>
          <a:prstGeom prst="line">
            <a:avLst/>
          </a:prstGeom>
          <a:noFill/>
          <a:ln w="31750">
            <a:solidFill>
              <a:srgbClr val="1B6B3A"/>
            </a:solidFill>
            <a:prstDash val="solid"/>
            <a:headEnd type="none"/>
            <a:tailEnd type="triangle"/>
          </a:ln>
        </p:spPr>
      </p:sp>
      <p:sp>
        <p:nvSpPr>
          <p:cNvPr id="80" name="Shape 78"/>
          <p:cNvSpPr/>
          <p:nvPr/>
        </p:nvSpPr>
        <p:spPr>
          <a:xfrm>
            <a:off x="4731235" y="3860074"/>
            <a:ext cx="1286952" cy="914"/>
          </a:xfrm>
          <a:prstGeom prst="line">
            <a:avLst/>
          </a:prstGeom>
          <a:noFill/>
          <a:ln w="31750">
            <a:solidFill>
              <a:srgbClr val="1B6B3A"/>
            </a:solidFill>
            <a:prstDash val="solid"/>
            <a:headEnd type="none"/>
            <a:tailEnd type="triangle"/>
          </a:ln>
        </p:spPr>
      </p:sp>
      <p:sp>
        <p:nvSpPr>
          <p:cNvPr id="81" name="Shape 79"/>
          <p:cNvSpPr/>
          <p:nvPr/>
        </p:nvSpPr>
        <p:spPr>
          <a:xfrm flipV="1">
            <a:off x="6018187" y="3415937"/>
            <a:ext cx="643476" cy="444137"/>
          </a:xfrm>
          <a:prstGeom prst="line">
            <a:avLst/>
          </a:prstGeom>
          <a:noFill/>
          <a:ln w="31750">
            <a:solidFill>
              <a:srgbClr val="1B6B3A"/>
            </a:solidFill>
            <a:prstDash val="solid"/>
            <a:headEnd type="none"/>
            <a:tailEnd type="triangle"/>
          </a:ln>
        </p:spPr>
      </p:sp>
      <p:sp>
        <p:nvSpPr>
          <p:cNvPr id="82" name="Text 80"/>
          <p:cNvSpPr/>
          <p:nvPr/>
        </p:nvSpPr>
        <p:spPr>
          <a:xfrm>
            <a:off x="2800806" y="2749731"/>
            <a:ext cx="965214" cy="444137"/>
          </a:xfrm>
          <a:prstGeom prst="rect">
            <a:avLst/>
          </a:prstGeom>
          <a:noFill/>
          <a:ln/>
        </p:spPr>
        <p:txBody>
          <a:bodyPr wrap="square" lIns="0" tIns="0" rIns="0" bIns="0" rtlCol="0" anchor="ctr"/>
          <a:lstStyle/>
          <a:p>
            <a:pPr algn="ctr" indent="0" marL="0">
              <a:buNone/>
            </a:pPr>
            <a:r>
              <a:rPr lang="en-US" sz="1100" b="1" dirty="0">
                <a:solidFill>
                  <a:srgbClr val="B5311A"/>
                </a:solidFill>
                <a:latin typeface="Calibri" pitchFamily="34" charset="0"/>
                <a:ea typeface="Calibri" pitchFamily="34" charset="-122"/>
                <a:cs typeface="Calibri" pitchFamily="34" charset="-120"/>
              </a:rPr>
              <a:t>Cobs</a:t>
            </a:r>
            <a:endParaRPr lang="en-US" sz="1100" dirty="0"/>
          </a:p>
        </p:txBody>
      </p:sp>
      <p:sp>
        <p:nvSpPr>
          <p:cNvPr id="83" name="Shape 81"/>
          <p:cNvSpPr/>
          <p:nvPr/>
        </p:nvSpPr>
        <p:spPr>
          <a:xfrm>
            <a:off x="7257721" y="1417320"/>
            <a:ext cx="4385334" cy="3108960"/>
          </a:xfrm>
          <a:prstGeom prst="roundRect">
            <a:avLst>
              <a:gd name="adj" fmla="val 2647"/>
            </a:avLst>
          </a:prstGeom>
          <a:solidFill>
            <a:srgbClr val="FFF0EE"/>
          </a:solidFill>
          <a:ln/>
          <a:effectLst>
            <a:outerShdw sx="100000" sy="100000" kx="0" ky="0" algn="bl" rotWithShape="0" blurRad="76200" dist="25400" dir="5400000">
              <a:srgbClr val="1A3A5C">
                <a:alpha val="12000"/>
              </a:srgbClr>
            </a:outerShdw>
          </a:effectLst>
        </p:spPr>
      </p:sp>
      <p:sp>
        <p:nvSpPr>
          <p:cNvPr id="84" name="Text 82"/>
          <p:cNvSpPr/>
          <p:nvPr/>
        </p:nvSpPr>
        <p:spPr>
          <a:xfrm>
            <a:off x="7458889" y="1545336"/>
            <a:ext cx="3982998" cy="329184"/>
          </a:xfrm>
          <a:prstGeom prst="rect">
            <a:avLst/>
          </a:prstGeom>
          <a:noFill/>
          <a:ln/>
        </p:spPr>
        <p:txBody>
          <a:bodyPr wrap="square" lIns="0" tIns="0" rIns="0" bIns="0" rtlCol="0" anchor="ctr"/>
          <a:lstStyle/>
          <a:p>
            <a:pPr indent="0" marL="0">
              <a:buNone/>
            </a:pPr>
            <a:r>
              <a:rPr lang="en-US" sz="1450" b="1" dirty="0">
                <a:solidFill>
                  <a:srgbClr val="B5311A"/>
                </a:solidFill>
                <a:latin typeface="Calibri" pitchFamily="34" charset="0"/>
                <a:ea typeface="Calibri" pitchFamily="34" charset="-122"/>
                <a:cs typeface="Calibri" pitchFamily="34" charset="-120"/>
              </a:rPr>
              <a:t>Three real limitations</a:t>
            </a:r>
            <a:endParaRPr lang="en-US" sz="1450" dirty="0"/>
          </a:p>
        </p:txBody>
      </p:sp>
      <p:sp>
        <p:nvSpPr>
          <p:cNvPr id="85" name="Text 83"/>
          <p:cNvSpPr/>
          <p:nvPr/>
        </p:nvSpPr>
        <p:spPr>
          <a:xfrm>
            <a:off x="7458889" y="1929384"/>
            <a:ext cx="3982998" cy="2487168"/>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F2A37"/>
                </a:solidFill>
                <a:latin typeface="Calibri" pitchFamily="34" charset="0"/>
                <a:ea typeface="Calibri" pitchFamily="34" charset="-122"/>
                <a:cs typeface="Calibri" pitchFamily="34" charset="-120"/>
              </a:rPr>
              <a:t>Curse of dimensionality — cell count explodes exponentially with DOF.</a:t>
            </a:r>
            <a:endParaRPr lang="en-US" sz="1200" dirty="0"/>
          </a:p>
          <a:p>
            <a:pPr marL="177800" indent="-177800">
              <a:spcAft>
                <a:spcPts val="500"/>
              </a:spcAft>
              <a:buSzPct val="100000"/>
              <a:buChar char="●"/>
            </a:pPr>
            <a:r>
              <a:rPr lang="en-US" sz="1200" dirty="0">
                <a:solidFill>
                  <a:srgbClr val="1F2A37"/>
                </a:solidFill>
                <a:latin typeface="Calibri" pitchFamily="34" charset="0"/>
                <a:ea typeface="Calibri" pitchFamily="34" charset="-122"/>
                <a:cs typeface="Calibri" pitchFamily="34" charset="-120"/>
              </a:rPr>
              <a:t>Grid paths are jagged, not smooth — hard for a real robot to follow.</a:t>
            </a:r>
            <a:endParaRPr lang="en-US" sz="1200" dirty="0"/>
          </a:p>
          <a:p>
            <a:pPr marL="177800" indent="-177800">
              <a:spcAft>
                <a:spcPts val="500"/>
              </a:spcAft>
              <a:buSzPct val="100000"/>
              <a:buChar char="●"/>
            </a:pPr>
            <a:r>
              <a:rPr lang="en-US" sz="1200" dirty="0">
                <a:solidFill>
                  <a:srgbClr val="1F2A37"/>
                </a:solidFill>
                <a:latin typeface="Calibri" pitchFamily="34" charset="0"/>
                <a:ea typeface="Calibri" pitchFamily="34" charset="-122"/>
                <a:cs typeface="Calibri" pitchFamily="34" charset="-120"/>
              </a:rPr>
              <a:t>Mixed cells (partly free, partly blocked) are ambiguous — recursive subdivision helps, but adds cost.</a:t>
            </a:r>
            <a:endParaRPr lang="en-US" sz="1200" dirty="0"/>
          </a:p>
        </p:txBody>
      </p:sp>
      <p:sp>
        <p:nvSpPr>
          <p:cNvPr id="86" name="Shape 84"/>
          <p:cNvSpPr/>
          <p:nvPr/>
        </p:nvSpPr>
        <p:spPr>
          <a:xfrm>
            <a:off x="548640" y="5257800"/>
            <a:ext cx="11094415" cy="1051560"/>
          </a:xfrm>
          <a:prstGeom prst="roundRect">
            <a:avLst>
              <a:gd name="adj" fmla="val 6957"/>
            </a:avLst>
          </a:prstGeom>
          <a:solidFill>
            <a:srgbClr val="EEF8EE"/>
          </a:solidFill>
          <a:ln w="12700">
            <a:solidFill>
              <a:srgbClr val="1B6B3A"/>
            </a:solidFill>
            <a:prstDash val="solid"/>
          </a:ln>
        </p:spPr>
      </p:sp>
      <p:sp>
        <p:nvSpPr>
          <p:cNvPr id="87" name="Text 85"/>
          <p:cNvSpPr/>
          <p:nvPr/>
        </p:nvSpPr>
        <p:spPr>
          <a:xfrm>
            <a:off x="749808" y="5367528"/>
            <a:ext cx="10692079" cy="274320"/>
          </a:xfrm>
          <a:prstGeom prst="rect">
            <a:avLst/>
          </a:prstGeom>
          <a:noFill/>
          <a:ln/>
        </p:spPr>
        <p:txBody>
          <a:bodyPr wrap="square" lIns="0" tIns="0" rIns="0" bIns="0" rtlCol="0" anchor="ctr"/>
          <a:lstStyle/>
          <a:p>
            <a:pPr indent="0" marL="0">
              <a:buNone/>
            </a:pPr>
            <a:r>
              <a:rPr lang="en-US" sz="1250" b="1" spc="50" kern="0" dirty="0">
                <a:solidFill>
                  <a:srgbClr val="1B6B3A"/>
                </a:solidFill>
                <a:latin typeface="Calibri" pitchFamily="34" charset="0"/>
                <a:ea typeface="Calibri" pitchFamily="34" charset="-122"/>
                <a:cs typeface="Calibri" pitchFamily="34" charset="-120"/>
              </a:rPr>
              <a:t>THE FIX FOR SHARP CORNERS</a:t>
            </a:r>
            <a:endParaRPr lang="en-US" sz="1250" dirty="0"/>
          </a:p>
        </p:txBody>
      </p:sp>
      <p:sp>
        <p:nvSpPr>
          <p:cNvPr id="88" name="Text 86"/>
          <p:cNvSpPr/>
          <p:nvPr/>
        </p:nvSpPr>
        <p:spPr>
          <a:xfrm>
            <a:off x="749808" y="5678424"/>
            <a:ext cx="10692079" cy="53949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Hybrid A* stores continuous position AND velocity at each cell, so transitions obey real robot motion — producing smooth, physically executable turns instead of instant 90° corners.</a:t>
            </a:r>
            <a:endParaRPr lang="en-US" sz="1300" dirty="0"/>
          </a:p>
        </p:txBody>
      </p:sp>
      <p:sp>
        <p:nvSpPr>
          <p:cNvPr id="89" name="Text 87"/>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90" name="Text 88"/>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91" name="Text 89"/>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26.5.2 MOTION PLANNING — APPROACH 4</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Probabilistic Roadmaps (PRM)</a:t>
            </a:r>
            <a:endParaRPr lang="en-US" sz="2700" dirty="0"/>
          </a:p>
        </p:txBody>
      </p:sp>
      <p:sp>
        <p:nvSpPr>
          <p:cNvPr id="4" name="Shape 2"/>
          <p:cNvSpPr/>
          <p:nvPr/>
        </p:nvSpPr>
        <p:spPr>
          <a:xfrm>
            <a:off x="548640" y="1417320"/>
            <a:ext cx="2567864" cy="2834640"/>
          </a:xfrm>
          <a:prstGeom prst="rect">
            <a:avLst/>
          </a:prstGeom>
          <a:solidFill>
            <a:srgbClr val="F4F7FB"/>
          </a:solidFill>
          <a:ln w="15875">
            <a:solidFill>
              <a:srgbClr val="D7DEE8"/>
            </a:solidFill>
            <a:prstDash val="solid"/>
          </a:ln>
        </p:spPr>
      </p:sp>
      <p:sp>
        <p:nvSpPr>
          <p:cNvPr id="5" name="Text 3"/>
          <p:cNvSpPr/>
          <p:nvPr/>
        </p:nvSpPr>
        <p:spPr>
          <a:xfrm>
            <a:off x="603504" y="1453896"/>
            <a:ext cx="2458136" cy="201168"/>
          </a:xfrm>
          <a:prstGeom prst="rect">
            <a:avLst/>
          </a:prstGeom>
          <a:noFill/>
          <a:ln/>
        </p:spPr>
        <p:txBody>
          <a:bodyPr wrap="square" lIns="0" tIns="0" rIns="0" bIns="0" rtlCol="0" anchor="t"/>
          <a:lstStyle/>
          <a:p>
            <a:pPr algn="l" indent="0" marL="0">
              <a:buNone/>
            </a:pPr>
            <a:r>
              <a:rPr lang="en-US" sz="950" b="1" dirty="0">
                <a:solidFill>
                  <a:srgbClr val="1A3A5C"/>
                </a:solidFill>
                <a:latin typeface="Calibri" pitchFamily="34" charset="0"/>
                <a:ea typeface="Calibri" pitchFamily="34" charset="-122"/>
                <a:cs typeface="Calibri" pitchFamily="34" charset="-120"/>
              </a:rPr>
              <a:t>1. Start / Goal</a:t>
            </a:r>
            <a:endParaRPr lang="en-US" sz="950" dirty="0"/>
          </a:p>
        </p:txBody>
      </p:sp>
      <p:sp>
        <p:nvSpPr>
          <p:cNvPr id="6" name="Shape 4"/>
          <p:cNvSpPr/>
          <p:nvPr/>
        </p:nvSpPr>
        <p:spPr>
          <a:xfrm>
            <a:off x="806492" y="3918204"/>
            <a:ext cx="100584" cy="100584"/>
          </a:xfrm>
          <a:prstGeom prst="ellipse">
            <a:avLst/>
          </a:prstGeom>
          <a:solidFill>
            <a:srgbClr val="1A3A5C"/>
          </a:solidFill>
          <a:ln/>
        </p:spPr>
      </p:sp>
      <p:sp>
        <p:nvSpPr>
          <p:cNvPr id="7" name="Shape 5"/>
          <p:cNvSpPr/>
          <p:nvPr/>
        </p:nvSpPr>
        <p:spPr>
          <a:xfrm>
            <a:off x="2681032" y="1792224"/>
            <a:ext cx="100584" cy="100584"/>
          </a:xfrm>
          <a:prstGeom prst="ellipse">
            <a:avLst/>
          </a:prstGeom>
          <a:solidFill>
            <a:srgbClr val="E8960C"/>
          </a:solidFill>
          <a:ln/>
        </p:spPr>
      </p:sp>
      <p:sp>
        <p:nvSpPr>
          <p:cNvPr id="8" name="Shape 6"/>
          <p:cNvSpPr/>
          <p:nvPr/>
        </p:nvSpPr>
        <p:spPr>
          <a:xfrm>
            <a:off x="3390824" y="1417320"/>
            <a:ext cx="2567864" cy="2834640"/>
          </a:xfrm>
          <a:prstGeom prst="rect">
            <a:avLst/>
          </a:prstGeom>
          <a:solidFill>
            <a:srgbClr val="F4F7FB"/>
          </a:solidFill>
          <a:ln w="15875">
            <a:solidFill>
              <a:srgbClr val="D7DEE8"/>
            </a:solidFill>
            <a:prstDash val="solid"/>
          </a:ln>
        </p:spPr>
      </p:sp>
      <p:sp>
        <p:nvSpPr>
          <p:cNvPr id="9" name="Text 7"/>
          <p:cNvSpPr/>
          <p:nvPr/>
        </p:nvSpPr>
        <p:spPr>
          <a:xfrm>
            <a:off x="3445688" y="1453896"/>
            <a:ext cx="2458136" cy="201168"/>
          </a:xfrm>
          <a:prstGeom prst="rect">
            <a:avLst/>
          </a:prstGeom>
          <a:noFill/>
          <a:ln/>
        </p:spPr>
        <p:txBody>
          <a:bodyPr wrap="square" lIns="0" tIns="0" rIns="0" bIns="0" rtlCol="0" anchor="t"/>
          <a:lstStyle/>
          <a:p>
            <a:pPr algn="l" indent="0" marL="0">
              <a:buNone/>
            </a:pPr>
            <a:r>
              <a:rPr lang="en-US" sz="950" b="1" dirty="0">
                <a:solidFill>
                  <a:srgbClr val="1A3A5C"/>
                </a:solidFill>
                <a:latin typeface="Calibri" pitchFamily="34" charset="0"/>
                <a:ea typeface="Calibri" pitchFamily="34" charset="-122"/>
                <a:cs typeface="Calibri" pitchFamily="34" charset="-120"/>
              </a:rPr>
              <a:t>2. Sample milestones</a:t>
            </a:r>
            <a:endParaRPr lang="en-US" sz="950" dirty="0"/>
          </a:p>
        </p:txBody>
      </p:sp>
      <p:sp>
        <p:nvSpPr>
          <p:cNvPr id="10" name="Shape 8"/>
          <p:cNvSpPr/>
          <p:nvPr/>
        </p:nvSpPr>
        <p:spPr>
          <a:xfrm>
            <a:off x="3648675" y="3918204"/>
            <a:ext cx="100584" cy="100584"/>
          </a:xfrm>
          <a:prstGeom prst="ellipse">
            <a:avLst/>
          </a:prstGeom>
          <a:solidFill>
            <a:srgbClr val="1A3A5C"/>
          </a:solidFill>
          <a:ln/>
        </p:spPr>
      </p:sp>
      <p:sp>
        <p:nvSpPr>
          <p:cNvPr id="11" name="Shape 9"/>
          <p:cNvSpPr/>
          <p:nvPr/>
        </p:nvSpPr>
        <p:spPr>
          <a:xfrm>
            <a:off x="5523216" y="1792224"/>
            <a:ext cx="100584" cy="100584"/>
          </a:xfrm>
          <a:prstGeom prst="ellipse">
            <a:avLst/>
          </a:prstGeom>
          <a:solidFill>
            <a:srgbClr val="E8960C"/>
          </a:solidFill>
          <a:ln/>
        </p:spPr>
      </p:sp>
      <p:sp>
        <p:nvSpPr>
          <p:cNvPr id="12" name="Shape 10"/>
          <p:cNvSpPr/>
          <p:nvPr/>
        </p:nvSpPr>
        <p:spPr>
          <a:xfrm>
            <a:off x="4640466" y="3792474"/>
            <a:ext cx="68580" cy="68580"/>
          </a:xfrm>
          <a:prstGeom prst="ellipse">
            <a:avLst/>
          </a:prstGeom>
          <a:solidFill>
            <a:srgbClr val="4A6FA5"/>
          </a:solidFill>
          <a:ln/>
        </p:spPr>
      </p:sp>
      <p:sp>
        <p:nvSpPr>
          <p:cNvPr id="13" name="Shape 11"/>
          <p:cNvSpPr/>
          <p:nvPr/>
        </p:nvSpPr>
        <p:spPr>
          <a:xfrm>
            <a:off x="3998500" y="2375154"/>
            <a:ext cx="68580" cy="68580"/>
          </a:xfrm>
          <a:prstGeom prst="ellipse">
            <a:avLst/>
          </a:prstGeom>
          <a:solidFill>
            <a:srgbClr val="4A6FA5"/>
          </a:solidFill>
          <a:ln/>
        </p:spPr>
      </p:sp>
      <p:sp>
        <p:nvSpPr>
          <p:cNvPr id="14" name="Shape 12"/>
          <p:cNvSpPr/>
          <p:nvPr/>
        </p:nvSpPr>
        <p:spPr>
          <a:xfrm>
            <a:off x="4768859" y="1808226"/>
            <a:ext cx="68580" cy="68580"/>
          </a:xfrm>
          <a:prstGeom prst="ellipse">
            <a:avLst/>
          </a:prstGeom>
          <a:solidFill>
            <a:srgbClr val="4A6FA5"/>
          </a:solidFill>
          <a:ln/>
        </p:spPr>
      </p:sp>
      <p:sp>
        <p:nvSpPr>
          <p:cNvPr id="15" name="Shape 13"/>
          <p:cNvSpPr/>
          <p:nvPr/>
        </p:nvSpPr>
        <p:spPr>
          <a:xfrm>
            <a:off x="5410825" y="2942082"/>
            <a:ext cx="68580" cy="68580"/>
          </a:xfrm>
          <a:prstGeom prst="ellipse">
            <a:avLst/>
          </a:prstGeom>
          <a:solidFill>
            <a:srgbClr val="4A6FA5"/>
          </a:solidFill>
          <a:ln/>
        </p:spPr>
      </p:sp>
      <p:sp>
        <p:nvSpPr>
          <p:cNvPr id="16" name="Shape 14"/>
          <p:cNvSpPr/>
          <p:nvPr/>
        </p:nvSpPr>
        <p:spPr>
          <a:xfrm>
            <a:off x="4383679" y="3083814"/>
            <a:ext cx="68580" cy="68580"/>
          </a:xfrm>
          <a:prstGeom prst="ellipse">
            <a:avLst/>
          </a:prstGeom>
          <a:solidFill>
            <a:srgbClr val="4A6FA5"/>
          </a:solidFill>
          <a:ln/>
        </p:spPr>
      </p:sp>
      <p:sp>
        <p:nvSpPr>
          <p:cNvPr id="17" name="Shape 15"/>
          <p:cNvSpPr/>
          <p:nvPr/>
        </p:nvSpPr>
        <p:spPr>
          <a:xfrm>
            <a:off x="3741713" y="1808226"/>
            <a:ext cx="68580" cy="68580"/>
          </a:xfrm>
          <a:prstGeom prst="ellipse">
            <a:avLst/>
          </a:prstGeom>
          <a:solidFill>
            <a:srgbClr val="4A6FA5"/>
          </a:solidFill>
          <a:ln/>
        </p:spPr>
      </p:sp>
      <p:sp>
        <p:nvSpPr>
          <p:cNvPr id="18" name="Shape 16"/>
          <p:cNvSpPr/>
          <p:nvPr/>
        </p:nvSpPr>
        <p:spPr>
          <a:xfrm>
            <a:off x="6233008" y="1417320"/>
            <a:ext cx="2567864" cy="2834640"/>
          </a:xfrm>
          <a:prstGeom prst="rect">
            <a:avLst/>
          </a:prstGeom>
          <a:solidFill>
            <a:srgbClr val="F4F7FB"/>
          </a:solidFill>
          <a:ln w="15875">
            <a:solidFill>
              <a:srgbClr val="D7DEE8"/>
            </a:solidFill>
            <a:prstDash val="solid"/>
          </a:ln>
        </p:spPr>
      </p:sp>
      <p:sp>
        <p:nvSpPr>
          <p:cNvPr id="19" name="Text 17"/>
          <p:cNvSpPr/>
          <p:nvPr/>
        </p:nvSpPr>
        <p:spPr>
          <a:xfrm>
            <a:off x="6287872" y="1453896"/>
            <a:ext cx="2458136" cy="201168"/>
          </a:xfrm>
          <a:prstGeom prst="rect">
            <a:avLst/>
          </a:prstGeom>
          <a:noFill/>
          <a:ln/>
        </p:spPr>
        <p:txBody>
          <a:bodyPr wrap="square" lIns="0" tIns="0" rIns="0" bIns="0" rtlCol="0" anchor="t"/>
          <a:lstStyle/>
          <a:p>
            <a:pPr algn="l" indent="0" marL="0">
              <a:buNone/>
            </a:pPr>
            <a:r>
              <a:rPr lang="en-US" sz="950" b="1" dirty="0">
                <a:solidFill>
                  <a:srgbClr val="1A3A5C"/>
                </a:solidFill>
                <a:latin typeface="Calibri" pitchFamily="34" charset="0"/>
                <a:ea typeface="Calibri" pitchFamily="34" charset="-122"/>
                <a:cs typeface="Calibri" pitchFamily="34" charset="-120"/>
              </a:rPr>
              <a:t>3. Connect k-NN</a:t>
            </a:r>
            <a:endParaRPr lang="en-US" sz="950" dirty="0"/>
          </a:p>
        </p:txBody>
      </p:sp>
      <p:sp>
        <p:nvSpPr>
          <p:cNvPr id="20" name="Shape 18"/>
          <p:cNvSpPr/>
          <p:nvPr/>
        </p:nvSpPr>
        <p:spPr>
          <a:xfrm>
            <a:off x="6490859" y="3918204"/>
            <a:ext cx="100584" cy="100584"/>
          </a:xfrm>
          <a:prstGeom prst="ellipse">
            <a:avLst/>
          </a:prstGeom>
          <a:solidFill>
            <a:srgbClr val="1A3A5C"/>
          </a:solidFill>
          <a:ln/>
        </p:spPr>
      </p:sp>
      <p:sp>
        <p:nvSpPr>
          <p:cNvPr id="21" name="Shape 19"/>
          <p:cNvSpPr/>
          <p:nvPr/>
        </p:nvSpPr>
        <p:spPr>
          <a:xfrm>
            <a:off x="8365400" y="1792224"/>
            <a:ext cx="100584" cy="100584"/>
          </a:xfrm>
          <a:prstGeom prst="ellipse">
            <a:avLst/>
          </a:prstGeom>
          <a:solidFill>
            <a:srgbClr val="E8960C"/>
          </a:solidFill>
          <a:ln/>
        </p:spPr>
      </p:sp>
      <p:sp>
        <p:nvSpPr>
          <p:cNvPr id="22" name="Shape 20"/>
          <p:cNvSpPr/>
          <p:nvPr/>
        </p:nvSpPr>
        <p:spPr>
          <a:xfrm>
            <a:off x="7482650" y="3792474"/>
            <a:ext cx="68580" cy="68580"/>
          </a:xfrm>
          <a:prstGeom prst="ellipse">
            <a:avLst/>
          </a:prstGeom>
          <a:solidFill>
            <a:srgbClr val="4A6FA5"/>
          </a:solidFill>
          <a:ln/>
        </p:spPr>
      </p:sp>
      <p:sp>
        <p:nvSpPr>
          <p:cNvPr id="23" name="Shape 21"/>
          <p:cNvSpPr/>
          <p:nvPr/>
        </p:nvSpPr>
        <p:spPr>
          <a:xfrm>
            <a:off x="6840684" y="2375154"/>
            <a:ext cx="68580" cy="68580"/>
          </a:xfrm>
          <a:prstGeom prst="ellipse">
            <a:avLst/>
          </a:prstGeom>
          <a:solidFill>
            <a:srgbClr val="4A6FA5"/>
          </a:solidFill>
          <a:ln/>
        </p:spPr>
      </p:sp>
      <p:sp>
        <p:nvSpPr>
          <p:cNvPr id="24" name="Shape 22"/>
          <p:cNvSpPr/>
          <p:nvPr/>
        </p:nvSpPr>
        <p:spPr>
          <a:xfrm>
            <a:off x="7611043" y="1808226"/>
            <a:ext cx="68580" cy="68580"/>
          </a:xfrm>
          <a:prstGeom prst="ellipse">
            <a:avLst/>
          </a:prstGeom>
          <a:solidFill>
            <a:srgbClr val="4A6FA5"/>
          </a:solidFill>
          <a:ln/>
        </p:spPr>
      </p:sp>
      <p:sp>
        <p:nvSpPr>
          <p:cNvPr id="25" name="Shape 23"/>
          <p:cNvSpPr/>
          <p:nvPr/>
        </p:nvSpPr>
        <p:spPr>
          <a:xfrm>
            <a:off x="8253009" y="2942082"/>
            <a:ext cx="68580" cy="68580"/>
          </a:xfrm>
          <a:prstGeom prst="ellipse">
            <a:avLst/>
          </a:prstGeom>
          <a:solidFill>
            <a:srgbClr val="4A6FA5"/>
          </a:solidFill>
          <a:ln/>
        </p:spPr>
      </p:sp>
      <p:sp>
        <p:nvSpPr>
          <p:cNvPr id="26" name="Shape 24"/>
          <p:cNvSpPr/>
          <p:nvPr/>
        </p:nvSpPr>
        <p:spPr>
          <a:xfrm>
            <a:off x="7225863" y="3083814"/>
            <a:ext cx="68580" cy="68580"/>
          </a:xfrm>
          <a:prstGeom prst="ellipse">
            <a:avLst/>
          </a:prstGeom>
          <a:solidFill>
            <a:srgbClr val="4A6FA5"/>
          </a:solidFill>
          <a:ln/>
        </p:spPr>
      </p:sp>
      <p:sp>
        <p:nvSpPr>
          <p:cNvPr id="27" name="Shape 25"/>
          <p:cNvSpPr/>
          <p:nvPr/>
        </p:nvSpPr>
        <p:spPr>
          <a:xfrm>
            <a:off x="6583897" y="1808226"/>
            <a:ext cx="68580" cy="68580"/>
          </a:xfrm>
          <a:prstGeom prst="ellipse">
            <a:avLst/>
          </a:prstGeom>
          <a:solidFill>
            <a:srgbClr val="4A6FA5"/>
          </a:solidFill>
          <a:ln/>
        </p:spPr>
      </p:sp>
      <p:sp>
        <p:nvSpPr>
          <p:cNvPr id="28" name="Shape 26"/>
          <p:cNvSpPr/>
          <p:nvPr/>
        </p:nvSpPr>
        <p:spPr>
          <a:xfrm flipV="1">
            <a:off x="6541151" y="2976372"/>
            <a:ext cx="1746147" cy="992124"/>
          </a:xfrm>
          <a:prstGeom prst="line">
            <a:avLst/>
          </a:prstGeom>
          <a:noFill/>
          <a:ln w="12700">
            <a:solidFill>
              <a:srgbClr val="D7DEE8"/>
            </a:solidFill>
            <a:prstDash val="solid"/>
            <a:headEnd type="none"/>
            <a:tailEnd type="triangle"/>
          </a:ln>
        </p:spPr>
      </p:sp>
      <p:sp>
        <p:nvSpPr>
          <p:cNvPr id="29" name="Shape 27"/>
          <p:cNvSpPr/>
          <p:nvPr/>
        </p:nvSpPr>
        <p:spPr>
          <a:xfrm flipH="1">
            <a:off x="7260153" y="2976372"/>
            <a:ext cx="1027146" cy="141732"/>
          </a:xfrm>
          <a:prstGeom prst="line">
            <a:avLst/>
          </a:prstGeom>
          <a:noFill/>
          <a:ln w="12700">
            <a:solidFill>
              <a:srgbClr val="D7DEE8"/>
            </a:solidFill>
            <a:prstDash val="solid"/>
            <a:headEnd type="none"/>
            <a:tailEnd type="triangle"/>
          </a:ln>
        </p:spPr>
      </p:sp>
      <p:sp>
        <p:nvSpPr>
          <p:cNvPr id="30" name="Shape 28"/>
          <p:cNvSpPr/>
          <p:nvPr/>
        </p:nvSpPr>
        <p:spPr>
          <a:xfrm flipV="1">
            <a:off x="7260153" y="1842516"/>
            <a:ext cx="385180" cy="1275588"/>
          </a:xfrm>
          <a:prstGeom prst="line">
            <a:avLst/>
          </a:prstGeom>
          <a:noFill/>
          <a:ln w="12700">
            <a:solidFill>
              <a:srgbClr val="D7DEE8"/>
            </a:solidFill>
            <a:prstDash val="solid"/>
            <a:headEnd type="none"/>
            <a:tailEnd type="triangle"/>
          </a:ln>
        </p:spPr>
      </p:sp>
      <p:sp>
        <p:nvSpPr>
          <p:cNvPr id="31" name="Shape 29"/>
          <p:cNvSpPr/>
          <p:nvPr/>
        </p:nvSpPr>
        <p:spPr>
          <a:xfrm flipH="1">
            <a:off x="6618187" y="1842516"/>
            <a:ext cx="1027146" cy="914"/>
          </a:xfrm>
          <a:prstGeom prst="line">
            <a:avLst/>
          </a:prstGeom>
          <a:noFill/>
          <a:ln w="12700">
            <a:solidFill>
              <a:srgbClr val="D7DEE8"/>
            </a:solidFill>
            <a:prstDash val="solid"/>
            <a:headEnd type="none"/>
            <a:tailEnd type="triangle"/>
          </a:ln>
        </p:spPr>
      </p:sp>
      <p:sp>
        <p:nvSpPr>
          <p:cNvPr id="32" name="Shape 30"/>
          <p:cNvSpPr/>
          <p:nvPr/>
        </p:nvSpPr>
        <p:spPr>
          <a:xfrm>
            <a:off x="6618187" y="1842516"/>
            <a:ext cx="1797505" cy="914"/>
          </a:xfrm>
          <a:prstGeom prst="line">
            <a:avLst/>
          </a:prstGeom>
          <a:noFill/>
          <a:ln w="12700">
            <a:solidFill>
              <a:srgbClr val="D7DEE8"/>
            </a:solidFill>
            <a:prstDash val="solid"/>
            <a:headEnd type="none"/>
            <a:tailEnd type="triangle"/>
          </a:ln>
        </p:spPr>
      </p:sp>
      <p:sp>
        <p:nvSpPr>
          <p:cNvPr id="33" name="Shape 31"/>
          <p:cNvSpPr/>
          <p:nvPr/>
        </p:nvSpPr>
        <p:spPr>
          <a:xfrm flipV="1">
            <a:off x="6541151" y="1842516"/>
            <a:ext cx="1104181" cy="2125980"/>
          </a:xfrm>
          <a:prstGeom prst="line">
            <a:avLst/>
          </a:prstGeom>
          <a:noFill/>
          <a:ln w="12700">
            <a:solidFill>
              <a:srgbClr val="D7DEE8"/>
            </a:solidFill>
            <a:prstDash val="solid"/>
            <a:headEnd type="none"/>
            <a:tailEnd type="triangle"/>
          </a:ln>
        </p:spPr>
      </p:sp>
      <p:sp>
        <p:nvSpPr>
          <p:cNvPr id="34" name="Shape 32"/>
          <p:cNvSpPr/>
          <p:nvPr/>
        </p:nvSpPr>
        <p:spPr>
          <a:xfrm flipV="1">
            <a:off x="7260153" y="1842516"/>
            <a:ext cx="1155539" cy="1275588"/>
          </a:xfrm>
          <a:prstGeom prst="line">
            <a:avLst/>
          </a:prstGeom>
          <a:noFill/>
          <a:ln w="12700">
            <a:solidFill>
              <a:srgbClr val="D7DEE8"/>
            </a:solidFill>
            <a:prstDash val="solid"/>
            <a:headEnd type="none"/>
            <a:tailEnd type="triangle"/>
          </a:ln>
        </p:spPr>
      </p:sp>
      <p:sp>
        <p:nvSpPr>
          <p:cNvPr id="35" name="Shape 33"/>
          <p:cNvSpPr/>
          <p:nvPr/>
        </p:nvSpPr>
        <p:spPr>
          <a:xfrm>
            <a:off x="9075191" y="1417320"/>
            <a:ext cx="2567864" cy="2834640"/>
          </a:xfrm>
          <a:prstGeom prst="rect">
            <a:avLst/>
          </a:prstGeom>
          <a:solidFill>
            <a:srgbClr val="F4F7FB"/>
          </a:solidFill>
          <a:ln w="15875">
            <a:solidFill>
              <a:srgbClr val="D7DEE8"/>
            </a:solidFill>
            <a:prstDash val="solid"/>
          </a:ln>
        </p:spPr>
      </p:sp>
      <p:sp>
        <p:nvSpPr>
          <p:cNvPr id="36" name="Text 34"/>
          <p:cNvSpPr/>
          <p:nvPr/>
        </p:nvSpPr>
        <p:spPr>
          <a:xfrm>
            <a:off x="9130055" y="1453896"/>
            <a:ext cx="2458136" cy="201168"/>
          </a:xfrm>
          <a:prstGeom prst="rect">
            <a:avLst/>
          </a:prstGeom>
          <a:noFill/>
          <a:ln/>
        </p:spPr>
        <p:txBody>
          <a:bodyPr wrap="square" lIns="0" tIns="0" rIns="0" bIns="0" rtlCol="0" anchor="t"/>
          <a:lstStyle/>
          <a:p>
            <a:pPr algn="l" indent="0" marL="0">
              <a:buNone/>
            </a:pPr>
            <a:r>
              <a:rPr lang="en-US" sz="950" b="1" dirty="0">
                <a:solidFill>
                  <a:srgbClr val="1A3A5C"/>
                </a:solidFill>
                <a:latin typeface="Calibri" pitchFamily="34" charset="0"/>
                <a:ea typeface="Calibri" pitchFamily="34" charset="-122"/>
                <a:cs typeface="Calibri" pitchFamily="34" charset="-120"/>
              </a:rPr>
              <a:t>4. Search shortest path</a:t>
            </a:r>
            <a:endParaRPr lang="en-US" sz="950" dirty="0"/>
          </a:p>
        </p:txBody>
      </p:sp>
      <p:sp>
        <p:nvSpPr>
          <p:cNvPr id="37" name="Shape 35"/>
          <p:cNvSpPr/>
          <p:nvPr/>
        </p:nvSpPr>
        <p:spPr>
          <a:xfrm>
            <a:off x="9333043" y="3918204"/>
            <a:ext cx="100584" cy="100584"/>
          </a:xfrm>
          <a:prstGeom prst="ellipse">
            <a:avLst/>
          </a:prstGeom>
          <a:solidFill>
            <a:srgbClr val="1A3A5C"/>
          </a:solidFill>
          <a:ln/>
        </p:spPr>
      </p:sp>
      <p:sp>
        <p:nvSpPr>
          <p:cNvPr id="38" name="Shape 36"/>
          <p:cNvSpPr/>
          <p:nvPr/>
        </p:nvSpPr>
        <p:spPr>
          <a:xfrm>
            <a:off x="11207584" y="1792224"/>
            <a:ext cx="100584" cy="100584"/>
          </a:xfrm>
          <a:prstGeom prst="ellipse">
            <a:avLst/>
          </a:prstGeom>
          <a:solidFill>
            <a:srgbClr val="E8960C"/>
          </a:solidFill>
          <a:ln/>
        </p:spPr>
      </p:sp>
      <p:sp>
        <p:nvSpPr>
          <p:cNvPr id="39" name="Shape 37"/>
          <p:cNvSpPr/>
          <p:nvPr/>
        </p:nvSpPr>
        <p:spPr>
          <a:xfrm>
            <a:off x="10324833" y="3792474"/>
            <a:ext cx="68580" cy="68580"/>
          </a:xfrm>
          <a:prstGeom prst="ellipse">
            <a:avLst/>
          </a:prstGeom>
          <a:solidFill>
            <a:srgbClr val="4A6FA5"/>
          </a:solidFill>
          <a:ln/>
        </p:spPr>
      </p:sp>
      <p:sp>
        <p:nvSpPr>
          <p:cNvPr id="40" name="Shape 38"/>
          <p:cNvSpPr/>
          <p:nvPr/>
        </p:nvSpPr>
        <p:spPr>
          <a:xfrm>
            <a:off x="9682867" y="2375154"/>
            <a:ext cx="68580" cy="68580"/>
          </a:xfrm>
          <a:prstGeom prst="ellipse">
            <a:avLst/>
          </a:prstGeom>
          <a:solidFill>
            <a:srgbClr val="4A6FA5"/>
          </a:solidFill>
          <a:ln/>
        </p:spPr>
      </p:sp>
      <p:sp>
        <p:nvSpPr>
          <p:cNvPr id="41" name="Shape 39"/>
          <p:cNvSpPr/>
          <p:nvPr/>
        </p:nvSpPr>
        <p:spPr>
          <a:xfrm>
            <a:off x="10453226" y="1808226"/>
            <a:ext cx="68580" cy="68580"/>
          </a:xfrm>
          <a:prstGeom prst="ellipse">
            <a:avLst/>
          </a:prstGeom>
          <a:solidFill>
            <a:srgbClr val="4A6FA5"/>
          </a:solidFill>
          <a:ln/>
        </p:spPr>
      </p:sp>
      <p:sp>
        <p:nvSpPr>
          <p:cNvPr id="42" name="Shape 40"/>
          <p:cNvSpPr/>
          <p:nvPr/>
        </p:nvSpPr>
        <p:spPr>
          <a:xfrm>
            <a:off x="11095192" y="2942082"/>
            <a:ext cx="68580" cy="68580"/>
          </a:xfrm>
          <a:prstGeom prst="ellipse">
            <a:avLst/>
          </a:prstGeom>
          <a:solidFill>
            <a:srgbClr val="4A6FA5"/>
          </a:solidFill>
          <a:ln/>
        </p:spPr>
      </p:sp>
      <p:sp>
        <p:nvSpPr>
          <p:cNvPr id="43" name="Shape 41"/>
          <p:cNvSpPr/>
          <p:nvPr/>
        </p:nvSpPr>
        <p:spPr>
          <a:xfrm>
            <a:off x="10068047" y="3083814"/>
            <a:ext cx="68580" cy="68580"/>
          </a:xfrm>
          <a:prstGeom prst="ellipse">
            <a:avLst/>
          </a:prstGeom>
          <a:solidFill>
            <a:srgbClr val="4A6FA5"/>
          </a:solidFill>
          <a:ln/>
        </p:spPr>
      </p:sp>
      <p:sp>
        <p:nvSpPr>
          <p:cNvPr id="44" name="Shape 42"/>
          <p:cNvSpPr/>
          <p:nvPr/>
        </p:nvSpPr>
        <p:spPr>
          <a:xfrm>
            <a:off x="9426081" y="1808226"/>
            <a:ext cx="68580" cy="68580"/>
          </a:xfrm>
          <a:prstGeom prst="ellipse">
            <a:avLst/>
          </a:prstGeom>
          <a:solidFill>
            <a:srgbClr val="4A6FA5"/>
          </a:solidFill>
          <a:ln/>
        </p:spPr>
      </p:sp>
      <p:sp>
        <p:nvSpPr>
          <p:cNvPr id="45" name="Shape 43"/>
          <p:cNvSpPr/>
          <p:nvPr/>
        </p:nvSpPr>
        <p:spPr>
          <a:xfrm flipV="1">
            <a:off x="9383335" y="2976372"/>
            <a:ext cx="1746147" cy="992124"/>
          </a:xfrm>
          <a:prstGeom prst="line">
            <a:avLst/>
          </a:prstGeom>
          <a:noFill/>
          <a:ln w="12700">
            <a:solidFill>
              <a:srgbClr val="D7DEE8"/>
            </a:solidFill>
            <a:prstDash val="solid"/>
            <a:headEnd type="none"/>
            <a:tailEnd type="triangle"/>
          </a:ln>
        </p:spPr>
      </p:sp>
      <p:sp>
        <p:nvSpPr>
          <p:cNvPr id="46" name="Shape 44"/>
          <p:cNvSpPr/>
          <p:nvPr/>
        </p:nvSpPr>
        <p:spPr>
          <a:xfrm flipH="1">
            <a:off x="10102337" y="2976372"/>
            <a:ext cx="1027146" cy="141732"/>
          </a:xfrm>
          <a:prstGeom prst="line">
            <a:avLst/>
          </a:prstGeom>
          <a:noFill/>
          <a:ln w="12700">
            <a:solidFill>
              <a:srgbClr val="D7DEE8"/>
            </a:solidFill>
            <a:prstDash val="solid"/>
            <a:headEnd type="none"/>
            <a:tailEnd type="triangle"/>
          </a:ln>
        </p:spPr>
      </p:sp>
      <p:sp>
        <p:nvSpPr>
          <p:cNvPr id="47" name="Shape 45"/>
          <p:cNvSpPr/>
          <p:nvPr/>
        </p:nvSpPr>
        <p:spPr>
          <a:xfrm flipV="1">
            <a:off x="10102337" y="1842516"/>
            <a:ext cx="385180" cy="1275588"/>
          </a:xfrm>
          <a:prstGeom prst="line">
            <a:avLst/>
          </a:prstGeom>
          <a:noFill/>
          <a:ln w="12700">
            <a:solidFill>
              <a:srgbClr val="D7DEE8"/>
            </a:solidFill>
            <a:prstDash val="solid"/>
            <a:headEnd type="none"/>
            <a:tailEnd type="triangle"/>
          </a:ln>
        </p:spPr>
      </p:sp>
      <p:sp>
        <p:nvSpPr>
          <p:cNvPr id="48" name="Shape 46"/>
          <p:cNvSpPr/>
          <p:nvPr/>
        </p:nvSpPr>
        <p:spPr>
          <a:xfrm flipH="1">
            <a:off x="9460371" y="1842516"/>
            <a:ext cx="1027146" cy="914"/>
          </a:xfrm>
          <a:prstGeom prst="line">
            <a:avLst/>
          </a:prstGeom>
          <a:noFill/>
          <a:ln w="12700">
            <a:solidFill>
              <a:srgbClr val="D7DEE8"/>
            </a:solidFill>
            <a:prstDash val="solid"/>
            <a:headEnd type="none"/>
            <a:tailEnd type="triangle"/>
          </a:ln>
        </p:spPr>
      </p:sp>
      <p:sp>
        <p:nvSpPr>
          <p:cNvPr id="49" name="Shape 47"/>
          <p:cNvSpPr/>
          <p:nvPr/>
        </p:nvSpPr>
        <p:spPr>
          <a:xfrm>
            <a:off x="9460371" y="1842516"/>
            <a:ext cx="1797505" cy="914"/>
          </a:xfrm>
          <a:prstGeom prst="line">
            <a:avLst/>
          </a:prstGeom>
          <a:noFill/>
          <a:ln w="12700">
            <a:solidFill>
              <a:srgbClr val="D7DEE8"/>
            </a:solidFill>
            <a:prstDash val="solid"/>
            <a:headEnd type="none"/>
            <a:tailEnd type="triangle"/>
          </a:ln>
        </p:spPr>
      </p:sp>
      <p:sp>
        <p:nvSpPr>
          <p:cNvPr id="50" name="Shape 48"/>
          <p:cNvSpPr/>
          <p:nvPr/>
        </p:nvSpPr>
        <p:spPr>
          <a:xfrm flipV="1">
            <a:off x="9383335" y="1842516"/>
            <a:ext cx="1104181" cy="2125980"/>
          </a:xfrm>
          <a:prstGeom prst="line">
            <a:avLst/>
          </a:prstGeom>
          <a:noFill/>
          <a:ln w="12700">
            <a:solidFill>
              <a:srgbClr val="D7DEE8"/>
            </a:solidFill>
            <a:prstDash val="solid"/>
            <a:headEnd type="none"/>
            <a:tailEnd type="triangle"/>
          </a:ln>
        </p:spPr>
      </p:sp>
      <p:sp>
        <p:nvSpPr>
          <p:cNvPr id="51" name="Shape 49"/>
          <p:cNvSpPr/>
          <p:nvPr/>
        </p:nvSpPr>
        <p:spPr>
          <a:xfrm flipV="1">
            <a:off x="10102337" y="1842516"/>
            <a:ext cx="1155539" cy="1275588"/>
          </a:xfrm>
          <a:prstGeom prst="line">
            <a:avLst/>
          </a:prstGeom>
          <a:noFill/>
          <a:ln w="12700">
            <a:solidFill>
              <a:srgbClr val="D7DEE8"/>
            </a:solidFill>
            <a:prstDash val="solid"/>
            <a:headEnd type="none"/>
            <a:tailEnd type="triangle"/>
          </a:ln>
        </p:spPr>
      </p:sp>
      <p:sp>
        <p:nvSpPr>
          <p:cNvPr id="52" name="Shape 50"/>
          <p:cNvSpPr/>
          <p:nvPr/>
        </p:nvSpPr>
        <p:spPr>
          <a:xfrm flipV="1">
            <a:off x="9383335" y="2976372"/>
            <a:ext cx="1746147" cy="992124"/>
          </a:xfrm>
          <a:prstGeom prst="line">
            <a:avLst/>
          </a:prstGeom>
          <a:noFill/>
          <a:ln w="34925">
            <a:solidFill>
              <a:srgbClr val="1B6B3A"/>
            </a:solidFill>
            <a:prstDash val="solid"/>
            <a:headEnd type="none"/>
            <a:tailEnd type="triangle"/>
          </a:ln>
        </p:spPr>
      </p:sp>
      <p:sp>
        <p:nvSpPr>
          <p:cNvPr id="53" name="Shape 51"/>
          <p:cNvSpPr/>
          <p:nvPr/>
        </p:nvSpPr>
        <p:spPr>
          <a:xfrm flipH="1">
            <a:off x="10102337" y="2976372"/>
            <a:ext cx="1027146" cy="141732"/>
          </a:xfrm>
          <a:prstGeom prst="line">
            <a:avLst/>
          </a:prstGeom>
          <a:noFill/>
          <a:ln w="34925">
            <a:solidFill>
              <a:srgbClr val="1B6B3A"/>
            </a:solidFill>
            <a:prstDash val="solid"/>
            <a:headEnd type="none"/>
            <a:tailEnd type="triangle"/>
          </a:ln>
        </p:spPr>
      </p:sp>
      <p:sp>
        <p:nvSpPr>
          <p:cNvPr id="54" name="Shape 52"/>
          <p:cNvSpPr/>
          <p:nvPr/>
        </p:nvSpPr>
        <p:spPr>
          <a:xfrm flipV="1">
            <a:off x="10102337" y="1842516"/>
            <a:ext cx="1155539" cy="1275588"/>
          </a:xfrm>
          <a:prstGeom prst="line">
            <a:avLst/>
          </a:prstGeom>
          <a:noFill/>
          <a:ln w="34925">
            <a:solidFill>
              <a:srgbClr val="1B6B3A"/>
            </a:solidFill>
            <a:prstDash val="solid"/>
            <a:headEnd type="none"/>
            <a:tailEnd type="triangle"/>
          </a:ln>
        </p:spPr>
      </p:sp>
      <p:sp>
        <p:nvSpPr>
          <p:cNvPr id="55" name="Text 53"/>
          <p:cNvSpPr/>
          <p:nvPr/>
        </p:nvSpPr>
        <p:spPr>
          <a:xfrm>
            <a:off x="548640" y="4480560"/>
            <a:ext cx="11094415" cy="1737360"/>
          </a:xfrm>
          <a:prstGeom prst="rect">
            <a:avLst/>
          </a:prstGeom>
          <a:noFill/>
          <a:ln/>
        </p:spPr>
        <p:txBody>
          <a:bodyPr wrap="square" lIns="0" tIns="0" rIns="0" bIns="0" rtlCol="0" anchor="t"/>
          <a:lstStyle/>
          <a:p>
            <a:pPr marL="228600" indent="-228600">
              <a:spcAft>
                <a:spcPts val="1000"/>
              </a:spcAft>
              <a:buSzPct val="100000"/>
              <a:buChar char="●"/>
            </a:pPr>
            <a:r>
              <a:rPr lang="en-US" sz="1350" dirty="0">
                <a:solidFill>
                  <a:srgbClr val="1F2A37"/>
                </a:solidFill>
                <a:latin typeface="Calibri" pitchFamily="34" charset="0"/>
                <a:ea typeface="Calibri" pitchFamily="34" charset="-122"/>
                <a:cs typeface="Calibri" pitchFamily="34" charset="-120"/>
              </a:rPr>
              <a:t>Sample M random collision-free milestones in Cfree (using the collision checker γ).</a:t>
            </a:r>
            <a:endParaRPr lang="en-US" sz="1350" dirty="0"/>
          </a:p>
          <a:p>
            <a:pPr marL="228600" indent="-228600">
              <a:spcAft>
                <a:spcPts val="1000"/>
              </a:spcAft>
              <a:buSzPct val="100000"/>
              <a:buChar char="●"/>
            </a:pPr>
            <a:r>
              <a:rPr lang="en-US" sz="1350" dirty="0">
                <a:solidFill>
                  <a:srgbClr val="1F2A37"/>
                </a:solidFill>
                <a:latin typeface="Calibri" pitchFamily="34" charset="0"/>
                <a:ea typeface="Calibri" pitchFamily="34" charset="-122"/>
                <a:cs typeface="Calibri" pitchFamily="34" charset="-120"/>
              </a:rPr>
              <a:t>Try to connect each milestone to its k nearest neighbors with a fast, incomplete 'simple planner.'</a:t>
            </a:r>
            <a:endParaRPr lang="en-US" sz="1350" dirty="0"/>
          </a:p>
          <a:p>
            <a:pPr marL="228600" indent="-228600">
              <a:spcAft>
                <a:spcPts val="1000"/>
              </a:spcAft>
              <a:buSzPct val="100000"/>
              <a:buChar char="●"/>
            </a:pPr>
            <a:r>
              <a:rPr lang="en-US" sz="1350" dirty="0">
                <a:solidFill>
                  <a:srgbClr val="1F2A37"/>
                </a:solidFill>
                <a:latin typeface="Calibri" pitchFamily="34" charset="0"/>
                <a:ea typeface="Calibri" pitchFamily="34" charset="-122"/>
                <a:cs typeface="Calibri" pitchFamily="34" charset="-120"/>
              </a:rPr>
              <a:t>Search the resulting graph for a path from start to goal — if none exists, sample more milestones and retry.</a:t>
            </a:r>
            <a:endParaRPr lang="en-US" sz="1350" dirty="0"/>
          </a:p>
          <a:p>
            <a:pPr marL="228600" indent="-228600">
              <a:spcAft>
                <a:spcPts val="1000"/>
              </a:spcAft>
              <a:buSzPct val="100000"/>
              <a:buChar char="●"/>
            </a:pPr>
            <a:r>
              <a:rPr lang="en-US" sz="1350" b="1" dirty="0">
                <a:solidFill>
                  <a:srgbClr val="1B6B3A"/>
                </a:solidFill>
                <a:latin typeface="Calibri" pitchFamily="34" charset="0"/>
                <a:ea typeface="Calibri" pitchFamily="34" charset="-122"/>
                <a:cs typeface="Calibri" pitchFamily="34" charset="-120"/>
              </a:rPr>
              <a:t>Probabilistically complete: not guaranteed to find a path, but will EVENTUALLY find one if it exists. Excellent even in high-dimensional spaces. Popular for multi-query planning — build once, reuse for many goals.</a:t>
            </a:r>
            <a:endParaRPr lang="en-US" sz="1350" dirty="0"/>
          </a:p>
        </p:txBody>
      </p:sp>
      <p:sp>
        <p:nvSpPr>
          <p:cNvPr id="56" name="Text 54"/>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57" name="Text 55"/>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58" name="Text 56"/>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26.5.2 MOTION PLANNING — APPROACH 5</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Rapidly-Exploring Random Trees (RRT)</a:t>
            </a:r>
            <a:endParaRPr lang="en-US" sz="2700" dirty="0"/>
          </a:p>
        </p:txBody>
      </p:sp>
      <p:sp>
        <p:nvSpPr>
          <p:cNvPr id="4" name="Shape 2"/>
          <p:cNvSpPr/>
          <p:nvPr/>
        </p:nvSpPr>
        <p:spPr>
          <a:xfrm>
            <a:off x="548640" y="1417320"/>
            <a:ext cx="6434761" cy="3200400"/>
          </a:xfrm>
          <a:prstGeom prst="rect">
            <a:avLst/>
          </a:prstGeom>
          <a:solidFill>
            <a:srgbClr val="F4F7FB"/>
          </a:solidFill>
          <a:ln w="15875">
            <a:solidFill>
              <a:srgbClr val="D7DEE8"/>
            </a:solidFill>
            <a:prstDash val="solid"/>
          </a:ln>
        </p:spPr>
      </p:sp>
      <p:sp>
        <p:nvSpPr>
          <p:cNvPr id="5" name="Shape 3"/>
          <p:cNvSpPr/>
          <p:nvPr/>
        </p:nvSpPr>
        <p:spPr>
          <a:xfrm>
            <a:off x="1128108" y="4073652"/>
            <a:ext cx="128016" cy="128016"/>
          </a:xfrm>
          <a:prstGeom prst="ellipse">
            <a:avLst/>
          </a:prstGeom>
          <a:solidFill>
            <a:srgbClr val="1A3A5C"/>
          </a:solidFill>
          <a:ln/>
        </p:spPr>
      </p:sp>
      <p:sp>
        <p:nvSpPr>
          <p:cNvPr id="6" name="Text 4"/>
          <p:cNvSpPr/>
          <p:nvPr/>
        </p:nvSpPr>
        <p:spPr>
          <a:xfrm>
            <a:off x="917796" y="4229100"/>
            <a:ext cx="731520" cy="182880"/>
          </a:xfrm>
          <a:prstGeom prst="rect">
            <a:avLst/>
          </a:prstGeom>
          <a:noFill/>
          <a:ln/>
        </p:spPr>
        <p:txBody>
          <a:bodyPr wrap="square" lIns="0" tIns="0" rIns="0" bIns="0" rtlCol="0" anchor="t"/>
          <a:lstStyle/>
          <a:p>
            <a:pPr algn="l" indent="0" marL="0">
              <a:buNone/>
            </a:pPr>
            <a:r>
              <a:rPr lang="en-US" sz="1100" b="1" dirty="0">
                <a:solidFill>
                  <a:srgbClr val="51606F"/>
                </a:solidFill>
                <a:latin typeface="Calibri" pitchFamily="34" charset="0"/>
                <a:ea typeface="Calibri" pitchFamily="34" charset="-122"/>
                <a:cs typeface="Calibri" pitchFamily="34" charset="-120"/>
              </a:rPr>
              <a:t>qs</a:t>
            </a:r>
            <a:endParaRPr lang="en-US" sz="1100" dirty="0"/>
          </a:p>
        </p:txBody>
      </p:sp>
      <p:sp>
        <p:nvSpPr>
          <p:cNvPr id="7" name="Shape 5"/>
          <p:cNvSpPr/>
          <p:nvPr/>
        </p:nvSpPr>
        <p:spPr>
          <a:xfrm>
            <a:off x="6275917" y="1833372"/>
            <a:ext cx="128016" cy="128016"/>
          </a:xfrm>
          <a:prstGeom prst="ellipse">
            <a:avLst/>
          </a:prstGeom>
          <a:solidFill>
            <a:srgbClr val="E8960C"/>
          </a:solidFill>
          <a:ln/>
        </p:spPr>
      </p:sp>
      <p:sp>
        <p:nvSpPr>
          <p:cNvPr id="8" name="Text 6"/>
          <p:cNvSpPr/>
          <p:nvPr/>
        </p:nvSpPr>
        <p:spPr>
          <a:xfrm>
            <a:off x="6394789" y="1668780"/>
            <a:ext cx="731520" cy="182880"/>
          </a:xfrm>
          <a:prstGeom prst="rect">
            <a:avLst/>
          </a:prstGeom>
          <a:noFill/>
          <a:ln/>
        </p:spPr>
        <p:txBody>
          <a:bodyPr wrap="square" lIns="0" tIns="0" rIns="0" bIns="0" rtlCol="0" anchor="t"/>
          <a:lstStyle/>
          <a:p>
            <a:pPr algn="l" indent="0" marL="0">
              <a:buNone/>
            </a:pPr>
            <a:r>
              <a:rPr lang="en-US" sz="1100" b="1" dirty="0">
                <a:solidFill>
                  <a:srgbClr val="51606F"/>
                </a:solidFill>
                <a:latin typeface="Calibri" pitchFamily="34" charset="0"/>
                <a:ea typeface="Calibri" pitchFamily="34" charset="-122"/>
                <a:cs typeface="Calibri" pitchFamily="34" charset="-120"/>
              </a:rPr>
              <a:t>qg</a:t>
            </a:r>
            <a:endParaRPr lang="en-US" sz="1100" dirty="0"/>
          </a:p>
        </p:txBody>
      </p:sp>
      <p:sp>
        <p:nvSpPr>
          <p:cNvPr id="9" name="Shape 7"/>
          <p:cNvSpPr/>
          <p:nvPr/>
        </p:nvSpPr>
        <p:spPr>
          <a:xfrm flipV="1">
            <a:off x="1192116" y="3817620"/>
            <a:ext cx="772171" cy="320040"/>
          </a:xfrm>
          <a:prstGeom prst="line">
            <a:avLst/>
          </a:prstGeom>
          <a:noFill/>
          <a:ln w="22225">
            <a:solidFill>
              <a:srgbClr val="4A6FA5"/>
            </a:solidFill>
            <a:prstDash val="solid"/>
            <a:headEnd type="none"/>
            <a:tailEnd type="triangle"/>
          </a:ln>
        </p:spPr>
      </p:sp>
      <p:sp>
        <p:nvSpPr>
          <p:cNvPr id="10" name="Shape 8"/>
          <p:cNvSpPr/>
          <p:nvPr/>
        </p:nvSpPr>
        <p:spPr>
          <a:xfrm>
            <a:off x="1936855" y="3790188"/>
            <a:ext cx="54864" cy="54864"/>
          </a:xfrm>
          <a:prstGeom prst="ellipse">
            <a:avLst/>
          </a:prstGeom>
          <a:solidFill>
            <a:srgbClr val="4A6FA5"/>
          </a:solidFill>
          <a:ln/>
        </p:spPr>
      </p:sp>
      <p:sp>
        <p:nvSpPr>
          <p:cNvPr id="11" name="Shape 9"/>
          <p:cNvSpPr/>
          <p:nvPr/>
        </p:nvSpPr>
        <p:spPr>
          <a:xfrm flipV="1">
            <a:off x="1964287" y="3337560"/>
            <a:ext cx="514781" cy="480060"/>
          </a:xfrm>
          <a:prstGeom prst="line">
            <a:avLst/>
          </a:prstGeom>
          <a:noFill/>
          <a:ln w="22225">
            <a:solidFill>
              <a:srgbClr val="4A6FA5"/>
            </a:solidFill>
            <a:prstDash val="solid"/>
            <a:headEnd type="none"/>
            <a:tailEnd type="triangle"/>
          </a:ln>
        </p:spPr>
      </p:sp>
      <p:sp>
        <p:nvSpPr>
          <p:cNvPr id="12" name="Shape 10"/>
          <p:cNvSpPr/>
          <p:nvPr/>
        </p:nvSpPr>
        <p:spPr>
          <a:xfrm>
            <a:off x="2451636" y="3310128"/>
            <a:ext cx="54864" cy="54864"/>
          </a:xfrm>
          <a:prstGeom prst="ellipse">
            <a:avLst/>
          </a:prstGeom>
          <a:solidFill>
            <a:srgbClr val="4A6FA5"/>
          </a:solidFill>
          <a:ln/>
        </p:spPr>
      </p:sp>
      <p:sp>
        <p:nvSpPr>
          <p:cNvPr id="13" name="Shape 11"/>
          <p:cNvSpPr/>
          <p:nvPr/>
        </p:nvSpPr>
        <p:spPr>
          <a:xfrm>
            <a:off x="2479068" y="3337560"/>
            <a:ext cx="643476" cy="256032"/>
          </a:xfrm>
          <a:prstGeom prst="line">
            <a:avLst/>
          </a:prstGeom>
          <a:noFill/>
          <a:ln w="22225">
            <a:solidFill>
              <a:srgbClr val="4A6FA5"/>
            </a:solidFill>
            <a:prstDash val="solid"/>
            <a:headEnd type="none"/>
            <a:tailEnd type="triangle"/>
          </a:ln>
        </p:spPr>
      </p:sp>
      <p:sp>
        <p:nvSpPr>
          <p:cNvPr id="14" name="Shape 12"/>
          <p:cNvSpPr/>
          <p:nvPr/>
        </p:nvSpPr>
        <p:spPr>
          <a:xfrm>
            <a:off x="3095112" y="3566160"/>
            <a:ext cx="54864" cy="54864"/>
          </a:xfrm>
          <a:prstGeom prst="ellipse">
            <a:avLst/>
          </a:prstGeom>
          <a:solidFill>
            <a:srgbClr val="4A6FA5"/>
          </a:solidFill>
          <a:ln/>
        </p:spPr>
      </p:sp>
      <p:sp>
        <p:nvSpPr>
          <p:cNvPr id="15" name="Shape 13"/>
          <p:cNvSpPr/>
          <p:nvPr/>
        </p:nvSpPr>
        <p:spPr>
          <a:xfrm flipH="1" flipV="1">
            <a:off x="2993849" y="2857500"/>
            <a:ext cx="128695" cy="736092"/>
          </a:xfrm>
          <a:prstGeom prst="line">
            <a:avLst/>
          </a:prstGeom>
          <a:noFill/>
          <a:ln w="22225">
            <a:solidFill>
              <a:srgbClr val="4A6FA5"/>
            </a:solidFill>
            <a:prstDash val="solid"/>
            <a:headEnd type="none"/>
            <a:tailEnd type="triangle"/>
          </a:ln>
        </p:spPr>
      </p:sp>
      <p:sp>
        <p:nvSpPr>
          <p:cNvPr id="16" name="Shape 14"/>
          <p:cNvSpPr/>
          <p:nvPr/>
        </p:nvSpPr>
        <p:spPr>
          <a:xfrm>
            <a:off x="2966417" y="2830068"/>
            <a:ext cx="54864" cy="54864"/>
          </a:xfrm>
          <a:prstGeom prst="ellipse">
            <a:avLst/>
          </a:prstGeom>
          <a:solidFill>
            <a:srgbClr val="4A6FA5"/>
          </a:solidFill>
          <a:ln/>
        </p:spPr>
      </p:sp>
      <p:sp>
        <p:nvSpPr>
          <p:cNvPr id="17" name="Shape 15"/>
          <p:cNvSpPr/>
          <p:nvPr/>
        </p:nvSpPr>
        <p:spPr>
          <a:xfrm>
            <a:off x="2993849" y="2857500"/>
            <a:ext cx="772171" cy="160020"/>
          </a:xfrm>
          <a:prstGeom prst="line">
            <a:avLst/>
          </a:prstGeom>
          <a:noFill/>
          <a:ln w="22225">
            <a:solidFill>
              <a:srgbClr val="4A6FA5"/>
            </a:solidFill>
            <a:prstDash val="solid"/>
            <a:headEnd type="none"/>
            <a:tailEnd type="triangle"/>
          </a:ln>
        </p:spPr>
      </p:sp>
      <p:sp>
        <p:nvSpPr>
          <p:cNvPr id="18" name="Shape 16"/>
          <p:cNvSpPr/>
          <p:nvPr/>
        </p:nvSpPr>
        <p:spPr>
          <a:xfrm>
            <a:off x="3738588" y="2990088"/>
            <a:ext cx="54864" cy="54864"/>
          </a:xfrm>
          <a:prstGeom prst="ellipse">
            <a:avLst/>
          </a:prstGeom>
          <a:solidFill>
            <a:srgbClr val="4A6FA5"/>
          </a:solidFill>
          <a:ln/>
        </p:spPr>
      </p:sp>
      <p:sp>
        <p:nvSpPr>
          <p:cNvPr id="19" name="Shape 17"/>
          <p:cNvSpPr/>
          <p:nvPr/>
        </p:nvSpPr>
        <p:spPr>
          <a:xfrm flipH="1">
            <a:off x="5567753" y="1897380"/>
            <a:ext cx="772171" cy="416052"/>
          </a:xfrm>
          <a:prstGeom prst="line">
            <a:avLst/>
          </a:prstGeom>
          <a:noFill/>
          <a:ln w="22225">
            <a:solidFill>
              <a:srgbClr val="C8840A"/>
            </a:solidFill>
            <a:prstDash val="solid"/>
            <a:headEnd type="none"/>
            <a:tailEnd type="triangle"/>
          </a:ln>
        </p:spPr>
      </p:sp>
      <p:sp>
        <p:nvSpPr>
          <p:cNvPr id="20" name="Shape 18"/>
          <p:cNvSpPr/>
          <p:nvPr/>
        </p:nvSpPr>
        <p:spPr>
          <a:xfrm>
            <a:off x="5540321" y="2286000"/>
            <a:ext cx="54864" cy="54864"/>
          </a:xfrm>
          <a:prstGeom prst="ellipse">
            <a:avLst/>
          </a:prstGeom>
          <a:solidFill>
            <a:srgbClr val="E8960C"/>
          </a:solidFill>
          <a:ln/>
        </p:spPr>
      </p:sp>
      <p:sp>
        <p:nvSpPr>
          <p:cNvPr id="21" name="Shape 19"/>
          <p:cNvSpPr/>
          <p:nvPr/>
        </p:nvSpPr>
        <p:spPr>
          <a:xfrm flipH="1">
            <a:off x="4924277" y="2313432"/>
            <a:ext cx="643476" cy="224028"/>
          </a:xfrm>
          <a:prstGeom prst="line">
            <a:avLst/>
          </a:prstGeom>
          <a:noFill/>
          <a:ln w="22225">
            <a:solidFill>
              <a:srgbClr val="C8840A"/>
            </a:solidFill>
            <a:prstDash val="solid"/>
            <a:headEnd type="none"/>
            <a:tailEnd type="triangle"/>
          </a:ln>
        </p:spPr>
      </p:sp>
      <p:sp>
        <p:nvSpPr>
          <p:cNvPr id="22" name="Shape 20"/>
          <p:cNvSpPr/>
          <p:nvPr/>
        </p:nvSpPr>
        <p:spPr>
          <a:xfrm>
            <a:off x="4896845" y="2510028"/>
            <a:ext cx="54864" cy="54864"/>
          </a:xfrm>
          <a:prstGeom prst="ellipse">
            <a:avLst/>
          </a:prstGeom>
          <a:solidFill>
            <a:srgbClr val="E8960C"/>
          </a:solidFill>
          <a:ln/>
        </p:spPr>
      </p:sp>
      <p:sp>
        <p:nvSpPr>
          <p:cNvPr id="23" name="Shape 21"/>
          <p:cNvSpPr/>
          <p:nvPr/>
        </p:nvSpPr>
        <p:spPr>
          <a:xfrm flipH="1" flipV="1">
            <a:off x="4409496" y="2217420"/>
            <a:ext cx="514781" cy="320040"/>
          </a:xfrm>
          <a:prstGeom prst="line">
            <a:avLst/>
          </a:prstGeom>
          <a:noFill/>
          <a:ln w="22225">
            <a:solidFill>
              <a:srgbClr val="C8840A"/>
            </a:solidFill>
            <a:prstDash val="solid"/>
            <a:headEnd type="none"/>
            <a:tailEnd type="triangle"/>
          </a:ln>
        </p:spPr>
      </p:sp>
      <p:sp>
        <p:nvSpPr>
          <p:cNvPr id="24" name="Shape 22"/>
          <p:cNvSpPr/>
          <p:nvPr/>
        </p:nvSpPr>
        <p:spPr>
          <a:xfrm>
            <a:off x="4382064" y="2189988"/>
            <a:ext cx="54864" cy="54864"/>
          </a:xfrm>
          <a:prstGeom prst="ellipse">
            <a:avLst/>
          </a:prstGeom>
          <a:solidFill>
            <a:srgbClr val="E8960C"/>
          </a:solidFill>
          <a:ln/>
        </p:spPr>
      </p:sp>
      <p:sp>
        <p:nvSpPr>
          <p:cNvPr id="25" name="Shape 23"/>
          <p:cNvSpPr/>
          <p:nvPr/>
        </p:nvSpPr>
        <p:spPr>
          <a:xfrm>
            <a:off x="4409496" y="2217420"/>
            <a:ext cx="128695" cy="640080"/>
          </a:xfrm>
          <a:prstGeom prst="line">
            <a:avLst/>
          </a:prstGeom>
          <a:noFill/>
          <a:ln w="22225">
            <a:solidFill>
              <a:srgbClr val="C8840A"/>
            </a:solidFill>
            <a:prstDash val="solid"/>
            <a:headEnd type="none"/>
            <a:tailEnd type="triangle"/>
          </a:ln>
        </p:spPr>
      </p:sp>
      <p:sp>
        <p:nvSpPr>
          <p:cNvPr id="26" name="Shape 24"/>
          <p:cNvSpPr/>
          <p:nvPr/>
        </p:nvSpPr>
        <p:spPr>
          <a:xfrm>
            <a:off x="4510760" y="2830068"/>
            <a:ext cx="54864" cy="54864"/>
          </a:xfrm>
          <a:prstGeom prst="ellipse">
            <a:avLst/>
          </a:prstGeom>
          <a:solidFill>
            <a:srgbClr val="E8960C"/>
          </a:solidFill>
          <a:ln/>
        </p:spPr>
      </p:sp>
      <p:sp>
        <p:nvSpPr>
          <p:cNvPr id="27" name="Shape 25"/>
          <p:cNvSpPr/>
          <p:nvPr/>
        </p:nvSpPr>
        <p:spPr>
          <a:xfrm flipH="1" flipV="1">
            <a:off x="3766020" y="2761488"/>
            <a:ext cx="772171" cy="96012"/>
          </a:xfrm>
          <a:prstGeom prst="line">
            <a:avLst/>
          </a:prstGeom>
          <a:noFill/>
          <a:ln w="22225">
            <a:solidFill>
              <a:srgbClr val="C8840A"/>
            </a:solidFill>
            <a:prstDash val="solid"/>
            <a:headEnd type="none"/>
            <a:tailEnd type="triangle"/>
          </a:ln>
        </p:spPr>
      </p:sp>
      <p:sp>
        <p:nvSpPr>
          <p:cNvPr id="28" name="Shape 26"/>
          <p:cNvSpPr/>
          <p:nvPr/>
        </p:nvSpPr>
        <p:spPr>
          <a:xfrm>
            <a:off x="3738588" y="2734056"/>
            <a:ext cx="54864" cy="54864"/>
          </a:xfrm>
          <a:prstGeom prst="ellipse">
            <a:avLst/>
          </a:prstGeom>
          <a:solidFill>
            <a:srgbClr val="E8960C"/>
          </a:solidFill>
          <a:ln/>
        </p:spPr>
      </p:sp>
      <p:sp>
        <p:nvSpPr>
          <p:cNvPr id="29" name="Shape 27"/>
          <p:cNvSpPr/>
          <p:nvPr/>
        </p:nvSpPr>
        <p:spPr>
          <a:xfrm>
            <a:off x="3711156" y="2834640"/>
            <a:ext cx="109728" cy="109728"/>
          </a:xfrm>
          <a:prstGeom prst="ellipse">
            <a:avLst/>
          </a:prstGeom>
          <a:solidFill>
            <a:srgbClr val="1B6B3A"/>
          </a:solidFill>
          <a:ln/>
        </p:spPr>
      </p:sp>
      <p:sp>
        <p:nvSpPr>
          <p:cNvPr id="30" name="Text 28"/>
          <p:cNvSpPr/>
          <p:nvPr/>
        </p:nvSpPr>
        <p:spPr>
          <a:xfrm>
            <a:off x="3308820" y="2596896"/>
            <a:ext cx="1280160" cy="201168"/>
          </a:xfrm>
          <a:prstGeom prst="rect">
            <a:avLst/>
          </a:prstGeom>
          <a:noFill/>
          <a:ln/>
        </p:spPr>
        <p:txBody>
          <a:bodyPr wrap="square" lIns="0" tIns="0" rIns="0" bIns="0" rtlCol="0" anchor="t"/>
          <a:lstStyle/>
          <a:p>
            <a:pPr algn="l" indent="0" marL="0">
              <a:buNone/>
            </a:pPr>
            <a:r>
              <a:rPr lang="en-US" sz="1050" b="1" dirty="0">
                <a:solidFill>
                  <a:srgbClr val="1B6B3A"/>
                </a:solidFill>
                <a:latin typeface="Calibri" pitchFamily="34" charset="0"/>
                <a:ea typeface="Calibri" pitchFamily="34" charset="-122"/>
                <a:cs typeface="Calibri" pitchFamily="34" charset="-120"/>
              </a:rPr>
              <a:t>trees connect!</a:t>
            </a:r>
            <a:endParaRPr lang="en-US" sz="1050" dirty="0"/>
          </a:p>
        </p:txBody>
      </p:sp>
      <p:sp>
        <p:nvSpPr>
          <p:cNvPr id="31" name="Text 29"/>
          <p:cNvSpPr/>
          <p:nvPr/>
        </p:nvSpPr>
        <p:spPr>
          <a:xfrm>
            <a:off x="658368" y="4398264"/>
            <a:ext cx="6215305" cy="201168"/>
          </a:xfrm>
          <a:prstGeom prst="rect">
            <a:avLst/>
          </a:prstGeom>
          <a:noFill/>
          <a:ln/>
        </p:spPr>
        <p:txBody>
          <a:bodyPr wrap="square" lIns="0" tIns="0" rIns="0" bIns="0" rtlCol="0" anchor="t"/>
          <a:lstStyle/>
          <a:p>
            <a:pPr algn="l" indent="0" marL="0">
              <a:buNone/>
            </a:pPr>
            <a:r>
              <a:rPr lang="en-US" sz="950" i="1" dirty="0">
                <a:solidFill>
                  <a:srgbClr val="51606F"/>
                </a:solidFill>
                <a:latin typeface="Calibri" pitchFamily="34" charset="0"/>
                <a:ea typeface="Calibri" pitchFamily="34" charset="-122"/>
                <a:cs typeface="Calibri" pitchFamily="34" charset="-120"/>
              </a:rPr>
              <a:t>blue tree grows from start, gold tree from goal, toward random samples</a:t>
            </a:r>
            <a:endParaRPr lang="en-US" sz="950" dirty="0"/>
          </a:p>
        </p:txBody>
      </p:sp>
      <p:sp>
        <p:nvSpPr>
          <p:cNvPr id="32" name="Shape 30"/>
          <p:cNvSpPr/>
          <p:nvPr/>
        </p:nvSpPr>
        <p:spPr>
          <a:xfrm>
            <a:off x="7257721" y="1417320"/>
            <a:ext cx="4385334" cy="3200400"/>
          </a:xfrm>
          <a:prstGeom prst="roundRect">
            <a:avLst>
              <a:gd name="adj" fmla="val 2571"/>
            </a:avLst>
          </a:prstGeom>
          <a:solidFill>
            <a:srgbClr val="FFF8E6"/>
          </a:solidFill>
          <a:ln/>
          <a:effectLst>
            <a:outerShdw sx="100000" sy="100000" kx="0" ky="0" algn="bl" rotWithShape="0" blurRad="76200" dist="25400" dir="5400000">
              <a:srgbClr val="1A3A5C">
                <a:alpha val="12000"/>
              </a:srgbClr>
            </a:outerShdw>
          </a:effectLst>
        </p:spPr>
      </p:sp>
      <p:sp>
        <p:nvSpPr>
          <p:cNvPr id="33" name="Text 31"/>
          <p:cNvSpPr/>
          <p:nvPr/>
        </p:nvSpPr>
        <p:spPr>
          <a:xfrm>
            <a:off x="7458889" y="1545336"/>
            <a:ext cx="3982998" cy="329184"/>
          </a:xfrm>
          <a:prstGeom prst="rect">
            <a:avLst/>
          </a:prstGeom>
          <a:noFill/>
          <a:ln/>
        </p:spPr>
        <p:txBody>
          <a:bodyPr wrap="square" lIns="0" tIns="0" rIns="0" bIns="0" rtlCol="0" anchor="ctr"/>
          <a:lstStyle/>
          <a:p>
            <a:pPr indent="0" marL="0">
              <a:buNone/>
            </a:pPr>
            <a:r>
              <a:rPr lang="en-US" sz="1450" b="1" dirty="0">
                <a:solidFill>
                  <a:srgbClr val="C8840A"/>
                </a:solidFill>
                <a:latin typeface="Calibri" pitchFamily="34" charset="0"/>
                <a:ea typeface="Calibri" pitchFamily="34" charset="-122"/>
                <a:cs typeface="Calibri" pitchFamily="34" charset="-120"/>
              </a:rPr>
              <a:t>How it works</a:t>
            </a:r>
            <a:endParaRPr lang="en-US" sz="1450" dirty="0"/>
          </a:p>
        </p:txBody>
      </p:sp>
      <p:sp>
        <p:nvSpPr>
          <p:cNvPr id="34" name="Text 32"/>
          <p:cNvSpPr/>
          <p:nvPr/>
        </p:nvSpPr>
        <p:spPr>
          <a:xfrm>
            <a:off x="7458889" y="1929384"/>
            <a:ext cx="3982998" cy="2578608"/>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Grow TWO trees at once — one rooted at start, one at goal.</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Sample a point; extend the nearest tree node toward it by a fixed step δ.</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When a sample connects both trees → solution found!</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RRT* rewires for asymptotic optimality as more samples arrive.</a:t>
            </a:r>
            <a:endParaRPr lang="en-US" sz="1250" dirty="0"/>
          </a:p>
        </p:txBody>
      </p:sp>
      <p:sp>
        <p:nvSpPr>
          <p:cNvPr id="35" name="Shape 33"/>
          <p:cNvSpPr/>
          <p:nvPr/>
        </p:nvSpPr>
        <p:spPr>
          <a:xfrm>
            <a:off x="548640" y="5486400"/>
            <a:ext cx="11094415" cy="822960"/>
          </a:xfrm>
          <a:prstGeom prst="roundRect">
            <a:avLst>
              <a:gd name="adj" fmla="val 8889"/>
            </a:avLst>
          </a:prstGeom>
          <a:solidFill>
            <a:srgbClr val="EEF2FF"/>
          </a:solidFill>
          <a:ln w="12700">
            <a:solidFill>
              <a:srgbClr val="4A6FA5"/>
            </a:solidFill>
            <a:prstDash val="solid"/>
          </a:ln>
        </p:spPr>
      </p:sp>
      <p:sp>
        <p:nvSpPr>
          <p:cNvPr id="36" name="Text 34"/>
          <p:cNvSpPr/>
          <p:nvPr/>
        </p:nvSpPr>
        <p:spPr>
          <a:xfrm>
            <a:off x="749808" y="5596128"/>
            <a:ext cx="10692079" cy="274320"/>
          </a:xfrm>
          <a:prstGeom prst="rect">
            <a:avLst/>
          </a:prstGeom>
          <a:noFill/>
          <a:ln/>
        </p:spPr>
        <p:txBody>
          <a:bodyPr wrap="square" lIns="0" tIns="0" rIns="0" bIns="0" rtlCol="0" anchor="ctr"/>
          <a:lstStyle/>
          <a:p>
            <a:pPr indent="0" marL="0">
              <a:buNone/>
            </a:pPr>
            <a:r>
              <a:rPr lang="en-US" sz="1250" b="1" spc="50" kern="0" dirty="0">
                <a:solidFill>
                  <a:srgbClr val="4A6FA5"/>
                </a:solidFill>
                <a:latin typeface="Calibri" pitchFamily="34" charset="0"/>
                <a:ea typeface="Calibri" pitchFamily="34" charset="-122"/>
                <a:cs typeface="Calibri" pitchFamily="34" charset="-120"/>
              </a:rPr>
              <a:t>POST-PROCESSING</a:t>
            </a:r>
            <a:endParaRPr lang="en-US" sz="1250" dirty="0"/>
          </a:p>
        </p:txBody>
      </p:sp>
      <p:sp>
        <p:nvSpPr>
          <p:cNvPr id="37" name="Text 35"/>
          <p:cNvSpPr/>
          <p:nvPr/>
        </p:nvSpPr>
        <p:spPr>
          <a:xfrm>
            <a:off x="749808" y="5907024"/>
            <a:ext cx="10692079" cy="31089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Roboticists love RRT for ease of use — but raw solutions are often non-smooth. “Short-cutting” randomly removes vertices when their neighbors can connect directly.</a:t>
            </a:r>
            <a:endParaRPr lang="en-US" sz="1300" dirty="0"/>
          </a:p>
        </p:txBody>
      </p:sp>
      <p:sp>
        <p:nvSpPr>
          <p:cNvPr id="38" name="Text 36"/>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39" name="Text 37"/>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40" name="Text 38"/>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26.5.2 MOTION PLANNING — SUMMARY</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Five Approaches, Side by Side</a:t>
            </a:r>
            <a:endParaRPr lang="en-US" sz="27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286000"/>
                <a:gridCol w="1828800"/>
                <a:gridCol w="3291840"/>
                <a:gridCol w="3687775"/>
              </a:tblGrid>
              <a:tr h="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Approach</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Completeness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Best when...</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Watch out for...</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r>
              <a:tr h="0">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Visibility graph</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Complete, optimal</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2D, polygonal obstacles</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Hugs corners — risky under noise</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Voronoi diagram</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Complete</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Narrow indoor corridors</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Wastefully conservative outdoors</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r>
              <a:tr h="0">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Cell decomposition</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Complete (resolution-dependent)</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Low-DOF, need a value function</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Curse of dimensionality; jagged paths</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PRM</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Probabilistically complete</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High-DOF, many repeated queries</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Roadmap-building cost up front</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r>
              <a:tr h="0">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RRT / RRT*</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Probabilistically complete</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One-off, high-DOF queries, need it fast</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Non-smooth without post-processing</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6" name="Text 3"/>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7" name="Text 4"/>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26.5.2 MOTION PLANNING — TRAJECTORY OPTIMIZATION</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From Feasible-But-Ugly to Optimal</a:t>
            </a:r>
            <a:endParaRPr lang="en-US" sz="2700" dirty="0"/>
          </a:p>
        </p:txBody>
      </p:sp>
      <p:sp>
        <p:nvSpPr>
          <p:cNvPr id="4" name="Text 2"/>
          <p:cNvSpPr/>
          <p:nvPr/>
        </p:nvSpPr>
        <p:spPr>
          <a:xfrm>
            <a:off x="548640" y="1417320"/>
            <a:ext cx="11094415" cy="493776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1F2A37"/>
                </a:solidFill>
                <a:latin typeface="Calibri" pitchFamily="34" charset="0"/>
                <a:ea typeface="Calibri" pitchFamily="34" charset="-122"/>
                <a:cs typeface="Calibri" pitchFamily="34" charset="-120"/>
              </a:rPr>
              <a:t>Randomized planners (PRM/RRT) build a complex-but-feasible path first, then optimize it.</a:t>
            </a:r>
            <a:endParaRPr lang="en-US" sz="1600" dirty="0"/>
          </a:p>
          <a:p>
            <a:pPr marL="228600" indent="-228600">
              <a:spcAft>
                <a:spcPts val="1000"/>
              </a:spcAft>
              <a:buSzPct val="100000"/>
              <a:buChar char="●"/>
            </a:pPr>
            <a:r>
              <a:rPr lang="en-US" sz="1600" b="1" dirty="0">
                <a:solidFill>
                  <a:srgbClr val="C8840A"/>
                </a:solidFill>
                <a:latin typeface="Calibri" pitchFamily="34" charset="0"/>
                <a:ea typeface="Calibri" pitchFamily="34" charset="-122"/>
                <a:cs typeface="Calibri" pitchFamily="34" charset="-120"/>
              </a:rPr>
              <a:t>Trajectory optimization does the opposite: start with a simple-but-INFEASIBLE path (often a straight line straight through obstacles!) and push it out of collision.</a:t>
            </a:r>
            <a:endParaRPr lang="en-US" sz="1600" dirty="0"/>
          </a:p>
          <a:p>
            <a:pPr marL="228600" indent="-228600">
              <a:spcAft>
                <a:spcPts val="1000"/>
              </a:spcAft>
              <a:buSzPct val="100000"/>
              <a:buChar char="●"/>
            </a:pPr>
            <a:r>
              <a:rPr lang="en-US" sz="1600" dirty="0">
                <a:solidFill>
                  <a:srgbClr val="1F2A37"/>
                </a:solidFill>
                <a:latin typeface="Calibri" pitchFamily="34" charset="0"/>
                <a:ea typeface="Calibri" pitchFamily="34" charset="-122"/>
                <a:cs typeface="Calibri" pitchFamily="34" charset="-120"/>
              </a:rPr>
              <a:t>Minimize a cost functional J(τ) = Jobs + λJeff, where τ(0)=qs and τ(1)=qg.</a:t>
            </a:r>
            <a:endParaRPr lang="en-US" sz="1600" dirty="0"/>
          </a:p>
        </p:txBody>
      </p:sp>
      <p:sp>
        <p:nvSpPr>
          <p:cNvPr id="5" name="Shape 3"/>
          <p:cNvSpPr/>
          <p:nvPr/>
        </p:nvSpPr>
        <p:spPr>
          <a:xfrm>
            <a:off x="548640" y="3703320"/>
            <a:ext cx="11094415" cy="2468880"/>
          </a:xfrm>
          <a:prstGeom prst="rect">
            <a:avLst/>
          </a:prstGeom>
          <a:solidFill>
            <a:srgbClr val="F4F7FB"/>
          </a:solidFill>
          <a:ln w="15875">
            <a:solidFill>
              <a:srgbClr val="D7DEE8"/>
            </a:solidFill>
            <a:prstDash val="solid"/>
          </a:ln>
        </p:spPr>
      </p:sp>
      <p:sp>
        <p:nvSpPr>
          <p:cNvPr id="6" name="Shape 4"/>
          <p:cNvSpPr/>
          <p:nvPr/>
        </p:nvSpPr>
        <p:spPr>
          <a:xfrm>
            <a:off x="3928765" y="4434840"/>
            <a:ext cx="1005840" cy="1005840"/>
          </a:xfrm>
          <a:prstGeom prst="ellipse">
            <a:avLst/>
          </a:prstGeom>
          <a:ln w="11430">
            <a:solidFill>
              <a:srgbClr val="B5311A"/>
            </a:solidFill>
            <a:prstDash val="solid"/>
          </a:ln>
        </p:spPr>
      </p:sp>
      <p:sp>
        <p:nvSpPr>
          <p:cNvPr id="7" name="Shape 5"/>
          <p:cNvSpPr/>
          <p:nvPr/>
        </p:nvSpPr>
        <p:spPr>
          <a:xfrm>
            <a:off x="4065925" y="4572000"/>
            <a:ext cx="731520" cy="731520"/>
          </a:xfrm>
          <a:prstGeom prst="ellipse">
            <a:avLst/>
          </a:prstGeom>
          <a:ln w="11430">
            <a:solidFill>
              <a:srgbClr val="B5311A">
                <a:alpha val="80000"/>
              </a:srgbClr>
            </a:solidFill>
            <a:prstDash val="solid"/>
          </a:ln>
        </p:spPr>
      </p:sp>
      <p:sp>
        <p:nvSpPr>
          <p:cNvPr id="8" name="Shape 6"/>
          <p:cNvSpPr/>
          <p:nvPr/>
        </p:nvSpPr>
        <p:spPr>
          <a:xfrm>
            <a:off x="4203085" y="4709160"/>
            <a:ext cx="457200" cy="457200"/>
          </a:xfrm>
          <a:prstGeom prst="ellipse">
            <a:avLst/>
          </a:prstGeom>
          <a:ln w="11430">
            <a:solidFill>
              <a:srgbClr val="B5311A">
                <a:alpha val="60000"/>
              </a:srgbClr>
            </a:solidFill>
            <a:prstDash val="solid"/>
          </a:ln>
        </p:spPr>
      </p:sp>
      <p:sp>
        <p:nvSpPr>
          <p:cNvPr id="9" name="Shape 7"/>
          <p:cNvSpPr/>
          <p:nvPr/>
        </p:nvSpPr>
        <p:spPr>
          <a:xfrm>
            <a:off x="4367677" y="4873752"/>
            <a:ext cx="128016" cy="128016"/>
          </a:xfrm>
          <a:prstGeom prst="ellipse">
            <a:avLst/>
          </a:prstGeom>
          <a:solidFill>
            <a:srgbClr val="B5311A"/>
          </a:solidFill>
          <a:ln/>
        </p:spPr>
      </p:sp>
      <p:sp>
        <p:nvSpPr>
          <p:cNvPr id="10" name="Shape 8"/>
          <p:cNvSpPr/>
          <p:nvPr/>
        </p:nvSpPr>
        <p:spPr>
          <a:xfrm>
            <a:off x="6924257" y="4064508"/>
            <a:ext cx="1005840" cy="1005840"/>
          </a:xfrm>
          <a:prstGeom prst="ellipse">
            <a:avLst/>
          </a:prstGeom>
          <a:ln w="11430">
            <a:solidFill>
              <a:srgbClr val="B5311A"/>
            </a:solidFill>
            <a:prstDash val="solid"/>
          </a:ln>
        </p:spPr>
      </p:sp>
      <p:sp>
        <p:nvSpPr>
          <p:cNvPr id="11" name="Shape 9"/>
          <p:cNvSpPr/>
          <p:nvPr/>
        </p:nvSpPr>
        <p:spPr>
          <a:xfrm>
            <a:off x="7061417" y="4201668"/>
            <a:ext cx="731520" cy="731520"/>
          </a:xfrm>
          <a:prstGeom prst="ellipse">
            <a:avLst/>
          </a:prstGeom>
          <a:ln w="11430">
            <a:solidFill>
              <a:srgbClr val="B5311A">
                <a:alpha val="80000"/>
              </a:srgbClr>
            </a:solidFill>
            <a:prstDash val="solid"/>
          </a:ln>
        </p:spPr>
      </p:sp>
      <p:sp>
        <p:nvSpPr>
          <p:cNvPr id="12" name="Shape 10"/>
          <p:cNvSpPr/>
          <p:nvPr/>
        </p:nvSpPr>
        <p:spPr>
          <a:xfrm>
            <a:off x="7198577" y="4338828"/>
            <a:ext cx="457200" cy="457200"/>
          </a:xfrm>
          <a:prstGeom prst="ellipse">
            <a:avLst/>
          </a:prstGeom>
          <a:ln w="11430">
            <a:solidFill>
              <a:srgbClr val="B5311A">
                <a:alpha val="60000"/>
              </a:srgbClr>
            </a:solidFill>
            <a:prstDash val="solid"/>
          </a:ln>
        </p:spPr>
      </p:sp>
      <p:sp>
        <p:nvSpPr>
          <p:cNvPr id="13" name="Shape 11"/>
          <p:cNvSpPr/>
          <p:nvPr/>
        </p:nvSpPr>
        <p:spPr>
          <a:xfrm>
            <a:off x="7363169" y="4503420"/>
            <a:ext cx="128016" cy="128016"/>
          </a:xfrm>
          <a:prstGeom prst="ellipse">
            <a:avLst/>
          </a:prstGeom>
          <a:solidFill>
            <a:srgbClr val="B5311A"/>
          </a:solidFill>
          <a:ln/>
        </p:spPr>
      </p:sp>
      <p:sp>
        <p:nvSpPr>
          <p:cNvPr id="14" name="Shape 12"/>
          <p:cNvSpPr/>
          <p:nvPr/>
        </p:nvSpPr>
        <p:spPr>
          <a:xfrm flipV="1">
            <a:off x="822960" y="4073652"/>
            <a:ext cx="10500055" cy="1728216"/>
          </a:xfrm>
          <a:prstGeom prst="line">
            <a:avLst/>
          </a:prstGeom>
          <a:noFill/>
          <a:ln w="15875">
            <a:solidFill>
              <a:srgbClr val="51606F"/>
            </a:solidFill>
            <a:prstDash val="dash"/>
            <a:headEnd type="none"/>
            <a:tailEnd type="triangle"/>
          </a:ln>
        </p:spPr>
      </p:sp>
      <p:sp>
        <p:nvSpPr>
          <p:cNvPr id="15" name="Shape 13"/>
          <p:cNvSpPr/>
          <p:nvPr/>
        </p:nvSpPr>
        <p:spPr>
          <a:xfrm flipV="1">
            <a:off x="822960" y="5480914"/>
            <a:ext cx="2832116" cy="320954"/>
          </a:xfrm>
          <a:prstGeom prst="line">
            <a:avLst/>
          </a:prstGeom>
          <a:noFill/>
          <a:ln w="38100">
            <a:solidFill>
              <a:srgbClr val="1B6B3A"/>
            </a:solidFill>
            <a:prstDash val="solid"/>
            <a:headEnd type="none"/>
            <a:tailEnd type="triangle"/>
          </a:ln>
        </p:spPr>
      </p:sp>
      <p:sp>
        <p:nvSpPr>
          <p:cNvPr id="16" name="Shape 14"/>
          <p:cNvSpPr/>
          <p:nvPr/>
        </p:nvSpPr>
        <p:spPr>
          <a:xfrm flipV="1">
            <a:off x="3655076" y="5061204"/>
            <a:ext cx="5547208" cy="419710"/>
          </a:xfrm>
          <a:prstGeom prst="line">
            <a:avLst/>
          </a:prstGeom>
          <a:noFill/>
          <a:ln w="38100">
            <a:solidFill>
              <a:srgbClr val="1B6B3A"/>
            </a:solidFill>
            <a:prstDash val="solid"/>
            <a:headEnd type="none"/>
            <a:tailEnd type="triangle"/>
          </a:ln>
        </p:spPr>
      </p:sp>
      <p:sp>
        <p:nvSpPr>
          <p:cNvPr id="17" name="Shape 15"/>
          <p:cNvSpPr/>
          <p:nvPr/>
        </p:nvSpPr>
        <p:spPr>
          <a:xfrm flipV="1">
            <a:off x="9202284" y="4073652"/>
            <a:ext cx="2120731" cy="987552"/>
          </a:xfrm>
          <a:prstGeom prst="line">
            <a:avLst/>
          </a:prstGeom>
          <a:noFill/>
          <a:ln w="38100">
            <a:solidFill>
              <a:srgbClr val="1B6B3A"/>
            </a:solidFill>
            <a:prstDash val="solid"/>
            <a:headEnd type="none"/>
            <a:tailEnd type="triangle"/>
          </a:ln>
        </p:spPr>
      </p:sp>
      <p:sp>
        <p:nvSpPr>
          <p:cNvPr id="18" name="Shape 16"/>
          <p:cNvSpPr/>
          <p:nvPr/>
        </p:nvSpPr>
        <p:spPr>
          <a:xfrm>
            <a:off x="763524" y="5742432"/>
            <a:ext cx="118872" cy="118872"/>
          </a:xfrm>
          <a:prstGeom prst="ellipse">
            <a:avLst/>
          </a:prstGeom>
          <a:solidFill>
            <a:srgbClr val="1A3A5C"/>
          </a:solidFill>
          <a:ln/>
        </p:spPr>
      </p:sp>
      <p:sp>
        <p:nvSpPr>
          <p:cNvPr id="19" name="Shape 17"/>
          <p:cNvSpPr/>
          <p:nvPr/>
        </p:nvSpPr>
        <p:spPr>
          <a:xfrm>
            <a:off x="11263579" y="4014216"/>
            <a:ext cx="118872" cy="118872"/>
          </a:xfrm>
          <a:prstGeom prst="ellipse">
            <a:avLst/>
          </a:prstGeom>
          <a:solidFill>
            <a:srgbClr val="E8960C"/>
          </a:solidFill>
          <a:ln/>
        </p:spPr>
      </p:sp>
      <p:sp>
        <p:nvSpPr>
          <p:cNvPr id="20" name="Text 18"/>
          <p:cNvSpPr/>
          <p:nvPr/>
        </p:nvSpPr>
        <p:spPr>
          <a:xfrm>
            <a:off x="685800" y="5934456"/>
            <a:ext cx="10820095" cy="201168"/>
          </a:xfrm>
          <a:prstGeom prst="rect">
            <a:avLst/>
          </a:prstGeom>
          <a:noFill/>
          <a:ln/>
        </p:spPr>
        <p:txBody>
          <a:bodyPr wrap="square" lIns="0" tIns="0" rIns="0" bIns="0" rtlCol="0" anchor="t"/>
          <a:lstStyle/>
          <a:p>
            <a:pPr algn="l" indent="0" marL="0">
              <a:buNone/>
            </a:pPr>
            <a:r>
              <a:rPr lang="en-US" sz="950" i="1" dirty="0">
                <a:solidFill>
                  <a:srgbClr val="51606F"/>
                </a:solidFill>
                <a:latin typeface="Calibri" pitchFamily="34" charset="0"/>
                <a:ea typeface="Calibri" pitchFamily="34" charset="-122"/>
                <a:cs typeface="Calibri" pitchFamily="34" charset="-120"/>
              </a:rPr>
              <a:t>dashed = naive straight line;  green = optimized path pushed out of high-cost zones</a:t>
            </a:r>
            <a:endParaRPr lang="en-US" sz="950" dirty="0"/>
          </a:p>
        </p:txBody>
      </p:sp>
      <p:sp>
        <p:nvSpPr>
          <p:cNvPr id="21" name="Text 19"/>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22" name="Text 20"/>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23" name="Text 21"/>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26.5.2 TRAJECTORY OPTIMIZATION</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Signed Distance Fields &amp; the Path Integral</a:t>
            </a:r>
            <a:endParaRPr lang="en-US" sz="2700" dirty="0"/>
          </a:p>
        </p:txBody>
      </p:sp>
      <p:sp>
        <p:nvSpPr>
          <p:cNvPr id="4" name="Shape 2"/>
          <p:cNvSpPr/>
          <p:nvPr/>
        </p:nvSpPr>
        <p:spPr>
          <a:xfrm>
            <a:off x="548640" y="1417320"/>
            <a:ext cx="6212873" cy="822960"/>
          </a:xfrm>
          <a:prstGeom prst="roundRect">
            <a:avLst>
              <a:gd name="adj" fmla="val 7778"/>
            </a:avLst>
          </a:prstGeom>
          <a:solidFill>
            <a:srgbClr val="EEF2FF"/>
          </a:solidFill>
          <a:ln w="9525">
            <a:solidFill>
              <a:srgbClr val="4A6FA5"/>
            </a:solidFill>
            <a:prstDash val="solid"/>
          </a:ln>
        </p:spPr>
      </p:sp>
      <p:sp>
        <p:nvSpPr>
          <p:cNvPr id="5" name="Text 3"/>
          <p:cNvSpPr/>
          <p:nvPr/>
        </p:nvSpPr>
        <p:spPr>
          <a:xfrm>
            <a:off x="713232" y="1463040"/>
            <a:ext cx="1554480" cy="237744"/>
          </a:xfrm>
          <a:prstGeom prst="rect">
            <a:avLst/>
          </a:prstGeom>
          <a:noFill/>
          <a:ln/>
        </p:spPr>
        <p:txBody>
          <a:bodyPr wrap="square" lIns="0" tIns="0" rIns="0" bIns="0" rtlCol="0" anchor="ctr"/>
          <a:lstStyle/>
          <a:p>
            <a:pPr indent="0" marL="0">
              <a:buNone/>
            </a:pPr>
            <a:r>
              <a:rPr lang="en-US" sz="1050" b="1" spc="50" kern="0" dirty="0">
                <a:solidFill>
                  <a:srgbClr val="4A6FA5"/>
                </a:solidFill>
                <a:latin typeface="Calibri" pitchFamily="34" charset="0"/>
                <a:ea typeface="Calibri" pitchFamily="34" charset="-122"/>
                <a:cs typeface="Calibri" pitchFamily="34" charset="-120"/>
              </a:rPr>
              <a:t>GENERAL</a:t>
            </a:r>
            <a:endParaRPr lang="en-US" sz="1050" dirty="0"/>
          </a:p>
        </p:txBody>
      </p:sp>
      <p:sp>
        <p:nvSpPr>
          <p:cNvPr id="6" name="Text 4"/>
          <p:cNvSpPr/>
          <p:nvPr/>
        </p:nvSpPr>
        <p:spPr>
          <a:xfrm>
            <a:off x="713232" y="1691640"/>
            <a:ext cx="5883689"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d(x) = distance from point x to the nearest obstacle edge: positive outside, 0 at the edge, negative inside.</a:t>
            </a:r>
            <a:endParaRPr lang="en-US" sz="1300" dirty="0"/>
          </a:p>
        </p:txBody>
      </p:sp>
      <p:sp>
        <p:nvSpPr>
          <p:cNvPr id="7" name="Shape 5"/>
          <p:cNvSpPr/>
          <p:nvPr/>
        </p:nvSpPr>
        <p:spPr>
          <a:xfrm>
            <a:off x="548640" y="2368296"/>
            <a:ext cx="6212873" cy="822960"/>
          </a:xfrm>
          <a:prstGeom prst="roundRect">
            <a:avLst>
              <a:gd name="adj" fmla="val 7778"/>
            </a:avLst>
          </a:prstGeom>
          <a:solidFill>
            <a:srgbClr val="FFF8E6"/>
          </a:solidFill>
          <a:ln w="9525">
            <a:solidFill>
              <a:srgbClr val="C8840A"/>
            </a:solidFill>
            <a:prstDash val="solid"/>
          </a:ln>
        </p:spPr>
      </p:sp>
      <p:sp>
        <p:nvSpPr>
          <p:cNvPr id="8" name="Text 6"/>
          <p:cNvSpPr/>
          <p:nvPr/>
        </p:nvSpPr>
        <p:spPr>
          <a:xfrm>
            <a:off x="713232" y="2414016"/>
            <a:ext cx="1554480" cy="237744"/>
          </a:xfrm>
          <a:prstGeom prst="rect">
            <a:avLst/>
          </a:prstGeom>
          <a:noFill/>
          <a:ln/>
        </p:spPr>
        <p:txBody>
          <a:bodyPr wrap="square" lIns="0" tIns="0" rIns="0" bIns="0" rtlCol="0" anchor="ctr"/>
          <a:lstStyle/>
          <a:p>
            <a:pPr indent="0" marL="0">
              <a:buNone/>
            </a:pPr>
            <a:r>
              <a:rPr lang="en-US" sz="1050" b="1" spc="50" kern="0" dirty="0">
                <a:solidFill>
                  <a:srgbClr val="C8840A"/>
                </a:solidFill>
                <a:latin typeface="Calibri" pitchFamily="34" charset="0"/>
                <a:ea typeface="Calibri" pitchFamily="34" charset="-122"/>
                <a:cs typeface="Calibri" pitchFamily="34" charset="-120"/>
              </a:rPr>
              <a:t>SUBSTITUTE</a:t>
            </a:r>
            <a:endParaRPr lang="en-US" sz="1050" dirty="0"/>
          </a:p>
        </p:txBody>
      </p:sp>
      <p:sp>
        <p:nvSpPr>
          <p:cNvPr id="9" name="Text 7"/>
          <p:cNvSpPr/>
          <p:nvPr/>
        </p:nvSpPr>
        <p:spPr>
          <a:xfrm>
            <a:off x="713232" y="2642616"/>
            <a:ext cx="5883689"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Build a cost field c(x): high inside obstacles, small just outside — this is the signed distance field.</a:t>
            </a:r>
            <a:endParaRPr lang="en-US" sz="1300" dirty="0"/>
          </a:p>
        </p:txBody>
      </p:sp>
      <p:sp>
        <p:nvSpPr>
          <p:cNvPr id="10" name="Shape 8"/>
          <p:cNvSpPr/>
          <p:nvPr/>
        </p:nvSpPr>
        <p:spPr>
          <a:xfrm>
            <a:off x="548640" y="3319272"/>
            <a:ext cx="6212873" cy="822960"/>
          </a:xfrm>
          <a:prstGeom prst="roundRect">
            <a:avLst>
              <a:gd name="adj" fmla="val 7778"/>
            </a:avLst>
          </a:prstGeom>
          <a:solidFill>
            <a:srgbClr val="EEF8EE"/>
          </a:solidFill>
          <a:ln w="9525">
            <a:solidFill>
              <a:srgbClr val="1B6B3A"/>
            </a:solidFill>
            <a:prstDash val="solid"/>
          </a:ln>
        </p:spPr>
      </p:sp>
      <p:sp>
        <p:nvSpPr>
          <p:cNvPr id="11" name="Text 9"/>
          <p:cNvSpPr/>
          <p:nvPr/>
        </p:nvSpPr>
        <p:spPr>
          <a:xfrm>
            <a:off x="713232" y="3364992"/>
            <a:ext cx="1554480" cy="237744"/>
          </a:xfrm>
          <a:prstGeom prst="rect">
            <a:avLst/>
          </a:prstGeom>
          <a:noFill/>
          <a:ln/>
        </p:spPr>
        <p:txBody>
          <a:bodyPr wrap="square" lIns="0" tIns="0" rIns="0" bIns="0" rtlCol="0" anchor="ctr"/>
          <a:lstStyle/>
          <a:p>
            <a:pPr indent="0" marL="0">
              <a:buNone/>
            </a:pPr>
            <a:r>
              <a:rPr lang="en-US" sz="1050" b="1" spc="50" kern="0" dirty="0">
                <a:solidFill>
                  <a:srgbClr val="1B6B3A"/>
                </a:solidFill>
                <a:latin typeface="Calibri" pitchFamily="34" charset="0"/>
                <a:ea typeface="Calibri" pitchFamily="34" charset="-122"/>
                <a:cs typeface="Calibri" pitchFamily="34" charset="-120"/>
              </a:rPr>
              <a:t>RESULT</a:t>
            </a:r>
            <a:endParaRPr lang="en-US" sz="1050" dirty="0"/>
          </a:p>
        </p:txBody>
      </p:sp>
      <p:sp>
        <p:nvSpPr>
          <p:cNvPr id="12" name="Text 10"/>
          <p:cNvSpPr/>
          <p:nvPr/>
        </p:nvSpPr>
        <p:spPr>
          <a:xfrm>
            <a:off x="713232" y="3593592"/>
            <a:ext cx="5883689"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Jobs = ∫∫ c(φb(τ(s))) · ‖d/ds φb(τ(s))‖ db ds — a path integral over every body point b, weighted so total cost is invariant to how fast the robot moves.</a:t>
            </a:r>
            <a:endParaRPr lang="en-US" sz="1300" dirty="0"/>
          </a:p>
        </p:txBody>
      </p:sp>
      <p:sp>
        <p:nvSpPr>
          <p:cNvPr id="13" name="Shape 11"/>
          <p:cNvSpPr/>
          <p:nvPr/>
        </p:nvSpPr>
        <p:spPr>
          <a:xfrm>
            <a:off x="7035833" y="1417320"/>
            <a:ext cx="4607223" cy="3108960"/>
          </a:xfrm>
          <a:prstGeom prst="roundRect">
            <a:avLst>
              <a:gd name="adj" fmla="val 2647"/>
            </a:avLst>
          </a:prstGeom>
          <a:solidFill>
            <a:srgbClr val="FFF8E6"/>
          </a:solidFill>
          <a:ln/>
          <a:effectLst>
            <a:outerShdw sx="100000" sy="100000" kx="0" ky="0" algn="bl" rotWithShape="0" blurRad="76200" dist="25400" dir="5400000">
              <a:srgbClr val="1A3A5C">
                <a:alpha val="12000"/>
              </a:srgbClr>
            </a:outerShdw>
          </a:effectLst>
        </p:spPr>
      </p:sp>
      <p:sp>
        <p:nvSpPr>
          <p:cNvPr id="14" name="Text 12"/>
          <p:cNvSpPr/>
          <p:nvPr/>
        </p:nvSpPr>
        <p:spPr>
          <a:xfrm>
            <a:off x="7237001" y="1545336"/>
            <a:ext cx="4204887" cy="329184"/>
          </a:xfrm>
          <a:prstGeom prst="rect">
            <a:avLst/>
          </a:prstGeom>
          <a:noFill/>
          <a:ln/>
        </p:spPr>
        <p:txBody>
          <a:bodyPr wrap="square" lIns="0" tIns="0" rIns="0" bIns="0" rtlCol="0" anchor="ctr"/>
          <a:lstStyle/>
          <a:p>
            <a:pPr indent="0" marL="0">
              <a:buNone/>
            </a:pPr>
            <a:r>
              <a:rPr lang="en-US" sz="1450" b="1" dirty="0">
                <a:solidFill>
                  <a:srgbClr val="C8840A"/>
                </a:solidFill>
                <a:latin typeface="Calibri" pitchFamily="34" charset="0"/>
                <a:ea typeface="Calibri" pitchFamily="34" charset="-122"/>
                <a:cs typeface="Calibri" pitchFamily="34" charset="-120"/>
              </a:rPr>
              <a:t>Solving it</a:t>
            </a:r>
            <a:endParaRPr lang="en-US" sz="1450" dirty="0"/>
          </a:p>
        </p:txBody>
      </p:sp>
      <p:sp>
        <p:nvSpPr>
          <p:cNvPr id="15" name="Text 13"/>
          <p:cNvSpPr/>
          <p:nvPr/>
        </p:nvSpPr>
        <p:spPr>
          <a:xfrm>
            <a:off x="7237001" y="1929384"/>
            <a:ext cx="4204887" cy="2487168"/>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Simplest method: gradient descent on J.</a:t>
            </a:r>
            <a:endParaRPr lang="en-US" sz="1300" dirty="0"/>
          </a:p>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Only finds a LOCAL optimum — like hill climbing (Section 4.1).</a:t>
            </a:r>
            <a:endParaRPr lang="en-US" sz="1300" dirty="0"/>
          </a:p>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Simulated annealing can help escape a bad local optimum.</a:t>
            </a:r>
            <a:endParaRPr lang="en-US" sz="1300" dirty="0"/>
          </a:p>
        </p:txBody>
      </p:sp>
      <p:sp>
        <p:nvSpPr>
          <p:cNvPr id="16" name="Text 14"/>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7" name="Text 15"/>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18" name="Text 16"/>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26.5.2 TRAJECTORY OPTIMIZATION</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Worked Derivation: Why Straight Lines Are Optimal</a:t>
            </a:r>
            <a:endParaRPr lang="en-US" sz="2700" dirty="0"/>
          </a:p>
        </p:txBody>
      </p:sp>
      <p:sp>
        <p:nvSpPr>
          <p:cNvPr id="4" name="Shape 2"/>
          <p:cNvSpPr/>
          <p:nvPr/>
        </p:nvSpPr>
        <p:spPr>
          <a:xfrm>
            <a:off x="548640" y="1417320"/>
            <a:ext cx="11094415" cy="822960"/>
          </a:xfrm>
          <a:prstGeom prst="roundRect">
            <a:avLst>
              <a:gd name="adj" fmla="val 7778"/>
            </a:avLst>
          </a:prstGeom>
          <a:solidFill>
            <a:srgbClr val="EEF2FF"/>
          </a:solidFill>
          <a:ln w="9525">
            <a:solidFill>
              <a:srgbClr val="4A6FA5"/>
            </a:solidFill>
            <a:prstDash val="solid"/>
          </a:ln>
        </p:spPr>
      </p:sp>
      <p:sp>
        <p:nvSpPr>
          <p:cNvPr id="5" name="Text 3"/>
          <p:cNvSpPr/>
          <p:nvPr/>
        </p:nvSpPr>
        <p:spPr>
          <a:xfrm>
            <a:off x="713232" y="1463040"/>
            <a:ext cx="1554480" cy="237744"/>
          </a:xfrm>
          <a:prstGeom prst="rect">
            <a:avLst/>
          </a:prstGeom>
          <a:noFill/>
          <a:ln/>
        </p:spPr>
        <p:txBody>
          <a:bodyPr wrap="square" lIns="0" tIns="0" rIns="0" bIns="0" rtlCol="0" anchor="ctr"/>
          <a:lstStyle/>
          <a:p>
            <a:pPr indent="0" marL="0">
              <a:buNone/>
            </a:pPr>
            <a:r>
              <a:rPr lang="en-US" sz="1050" b="1" spc="50" kern="0" dirty="0">
                <a:solidFill>
                  <a:srgbClr val="4A6FA5"/>
                </a:solidFill>
                <a:latin typeface="Calibri" pitchFamily="34" charset="0"/>
                <a:ea typeface="Calibri" pitchFamily="34" charset="-122"/>
                <a:cs typeface="Calibri" pitchFamily="34" charset="-120"/>
              </a:rPr>
              <a:t>GENERAL</a:t>
            </a:r>
            <a:endParaRPr lang="en-US" sz="1050" dirty="0"/>
          </a:p>
        </p:txBody>
      </p:sp>
      <p:sp>
        <p:nvSpPr>
          <p:cNvPr id="6" name="Text 4"/>
          <p:cNvSpPr/>
          <p:nvPr/>
        </p:nvSpPr>
        <p:spPr>
          <a:xfrm>
            <a:off x="713232" y="1691640"/>
            <a:ext cx="10765231"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Euler-Lagrange equation: for J[τ] = ∫F(s,τ(s),τ̇(s))ds, the gradient is ∇τJ(s) = ∂F/∂τ(s) − d/dt[∂F/∂τ̇(s)].</a:t>
            </a:r>
            <a:endParaRPr lang="en-US" sz="1300" dirty="0"/>
          </a:p>
        </p:txBody>
      </p:sp>
      <p:sp>
        <p:nvSpPr>
          <p:cNvPr id="7" name="Shape 5"/>
          <p:cNvSpPr/>
          <p:nvPr/>
        </p:nvSpPr>
        <p:spPr>
          <a:xfrm>
            <a:off x="548640" y="2368296"/>
            <a:ext cx="11094415" cy="822960"/>
          </a:xfrm>
          <a:prstGeom prst="roundRect">
            <a:avLst>
              <a:gd name="adj" fmla="val 7778"/>
            </a:avLst>
          </a:prstGeom>
          <a:solidFill>
            <a:srgbClr val="FFF8E6"/>
          </a:solidFill>
          <a:ln w="9525">
            <a:solidFill>
              <a:srgbClr val="C8840A"/>
            </a:solidFill>
            <a:prstDash val="solid"/>
          </a:ln>
        </p:spPr>
      </p:sp>
      <p:sp>
        <p:nvSpPr>
          <p:cNvPr id="8" name="Text 6"/>
          <p:cNvSpPr/>
          <p:nvPr/>
        </p:nvSpPr>
        <p:spPr>
          <a:xfrm>
            <a:off x="713232" y="2414016"/>
            <a:ext cx="1554480" cy="237744"/>
          </a:xfrm>
          <a:prstGeom prst="rect">
            <a:avLst/>
          </a:prstGeom>
          <a:noFill/>
          <a:ln/>
        </p:spPr>
        <p:txBody>
          <a:bodyPr wrap="square" lIns="0" tIns="0" rIns="0" bIns="0" rtlCol="0" anchor="ctr"/>
          <a:lstStyle/>
          <a:p>
            <a:pPr indent="0" marL="0">
              <a:buNone/>
            </a:pPr>
            <a:r>
              <a:rPr lang="en-US" sz="1050" b="1" spc="50" kern="0" dirty="0">
                <a:solidFill>
                  <a:srgbClr val="C8840A"/>
                </a:solidFill>
                <a:latin typeface="Calibri" pitchFamily="34" charset="0"/>
                <a:ea typeface="Calibri" pitchFamily="34" charset="-122"/>
                <a:cs typeface="Calibri" pitchFamily="34" charset="-120"/>
              </a:rPr>
              <a:t>SUBSTITUTE</a:t>
            </a:r>
            <a:endParaRPr lang="en-US" sz="1050" dirty="0"/>
          </a:p>
        </p:txBody>
      </p:sp>
      <p:sp>
        <p:nvSpPr>
          <p:cNvPr id="9" name="Text 7"/>
          <p:cNvSpPr/>
          <p:nvPr/>
        </p:nvSpPr>
        <p:spPr>
          <a:xfrm>
            <a:off x="713232" y="2642616"/>
            <a:ext cx="10765231"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For efficiency alone, F(s,τ(s),τ̇(s)) = ‖τ̇(s)‖². This F doesn't depend on τ(s) directly, so the first term is 0, leaving ∇τJ(s) = −τ̈(s).</a:t>
            </a:r>
            <a:endParaRPr lang="en-US" sz="1300" dirty="0"/>
          </a:p>
        </p:txBody>
      </p:sp>
      <p:sp>
        <p:nvSpPr>
          <p:cNvPr id="10" name="Shape 8"/>
          <p:cNvSpPr/>
          <p:nvPr/>
        </p:nvSpPr>
        <p:spPr>
          <a:xfrm>
            <a:off x="548640" y="3319272"/>
            <a:ext cx="11094415" cy="822960"/>
          </a:xfrm>
          <a:prstGeom prst="roundRect">
            <a:avLst>
              <a:gd name="adj" fmla="val 7778"/>
            </a:avLst>
          </a:prstGeom>
          <a:solidFill>
            <a:srgbClr val="EEF8EE"/>
          </a:solidFill>
          <a:ln w="9525">
            <a:solidFill>
              <a:srgbClr val="1B6B3A"/>
            </a:solidFill>
            <a:prstDash val="solid"/>
          </a:ln>
        </p:spPr>
      </p:sp>
      <p:sp>
        <p:nvSpPr>
          <p:cNvPr id="11" name="Text 9"/>
          <p:cNvSpPr/>
          <p:nvPr/>
        </p:nvSpPr>
        <p:spPr>
          <a:xfrm>
            <a:off x="713232" y="3364992"/>
            <a:ext cx="1554480" cy="237744"/>
          </a:xfrm>
          <a:prstGeom prst="rect">
            <a:avLst/>
          </a:prstGeom>
          <a:noFill/>
          <a:ln/>
        </p:spPr>
        <p:txBody>
          <a:bodyPr wrap="square" lIns="0" tIns="0" rIns="0" bIns="0" rtlCol="0" anchor="ctr"/>
          <a:lstStyle/>
          <a:p>
            <a:pPr indent="0" marL="0">
              <a:buNone/>
            </a:pPr>
            <a:r>
              <a:rPr lang="en-US" sz="1050" b="1" spc="50" kern="0" dirty="0">
                <a:solidFill>
                  <a:srgbClr val="1B6B3A"/>
                </a:solidFill>
                <a:latin typeface="Calibri" pitchFamily="34" charset="0"/>
                <a:ea typeface="Calibri" pitchFamily="34" charset="-122"/>
                <a:cs typeface="Calibri" pitchFamily="34" charset="-120"/>
              </a:rPr>
              <a:t>RESULT</a:t>
            </a:r>
            <a:endParaRPr lang="en-US" sz="1050" dirty="0"/>
          </a:p>
        </p:txBody>
      </p:sp>
      <p:sp>
        <p:nvSpPr>
          <p:cNvPr id="12" name="Text 10"/>
          <p:cNvSpPr/>
          <p:nvPr/>
        </p:nvSpPr>
        <p:spPr>
          <a:xfrm>
            <a:off x="713232" y="3593592"/>
            <a:ext cx="10765231"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Setting the gradient to 0 gives τ̈(s)=0. Integrate twice: τ(s) = a·s + b. That's a STRAIGHT LINE — the most efficient path when there are no obstacles at all.</a:t>
            </a:r>
            <a:endParaRPr lang="en-US" sz="1300" dirty="0"/>
          </a:p>
        </p:txBody>
      </p:sp>
      <p:sp>
        <p:nvSpPr>
          <p:cNvPr id="13" name="Text 11"/>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4" name="Text 12"/>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15" name="Text 13"/>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26.5.3 TRAJECTORY TRACKING CONTROL</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From Path to Torque: Kinematic vs. Dynamic State</a:t>
            </a:r>
            <a:endParaRPr lang="en-US" sz="2700" dirty="0"/>
          </a:p>
        </p:txBody>
      </p:sp>
      <p:sp>
        <p:nvSpPr>
          <p:cNvPr id="4" name="Text 2"/>
          <p:cNvSpPr/>
          <p:nvPr/>
        </p:nvSpPr>
        <p:spPr>
          <a:xfrm>
            <a:off x="548640" y="1417320"/>
            <a:ext cx="11094415" cy="4937760"/>
          </a:xfrm>
          <a:prstGeom prst="rect">
            <a:avLst/>
          </a:prstGeom>
          <a:noFill/>
          <a:ln/>
        </p:spPr>
        <p:txBody>
          <a:bodyPr wrap="square" lIns="0" tIns="0" rIns="0" bIns="0" rtlCol="0" anchor="t"/>
          <a:lstStyle/>
          <a:p>
            <a:pPr marL="228600" indent="-228600">
              <a:spcAft>
                <a:spcPts val="1000"/>
              </a:spcAft>
              <a:buSzPct val="100000"/>
              <a:buChar char="●"/>
            </a:pPr>
            <a:r>
              <a:rPr lang="en-US" sz="1600" b="1" dirty="0">
                <a:solidFill>
                  <a:srgbClr val="1F2A37"/>
                </a:solidFill>
                <a:latin typeface="Calibri" pitchFamily="34" charset="0"/>
                <a:ea typeface="Calibri" pitchFamily="34" charset="-122"/>
                <a:cs typeface="Calibri" pitchFamily="34" charset="-120"/>
              </a:rPr>
              <a:t>Kinematic state: just the configuration q. Not enough to compute torque!</a:t>
            </a:r>
            <a:endParaRPr lang="en-US" sz="1600" dirty="0"/>
          </a:p>
          <a:p>
            <a:pPr marL="228600" indent="-228600">
              <a:spcAft>
                <a:spcPts val="1000"/>
              </a:spcAft>
              <a:buSzPct val="100000"/>
              <a:buChar char="●"/>
            </a:pPr>
            <a:r>
              <a:rPr lang="en-US" sz="1600" b="1" dirty="0">
                <a:solidFill>
                  <a:srgbClr val="1F2A37"/>
                </a:solidFill>
                <a:latin typeface="Calibri" pitchFamily="34" charset="0"/>
                <a:ea typeface="Calibri" pitchFamily="34" charset="-122"/>
                <a:cs typeface="Calibri" pitchFamily="34" charset="-120"/>
              </a:rPr>
              <a:t>Dynamic state: (q, q̇) — configuration AND velocity.</a:t>
            </a:r>
            <a:endParaRPr lang="en-US" sz="1600" dirty="0"/>
          </a:p>
          <a:p>
            <a:pPr marL="228600" indent="-228600">
              <a:spcAft>
                <a:spcPts val="1000"/>
              </a:spcAft>
              <a:buSzPct val="100000"/>
              <a:buChar char="●"/>
            </a:pPr>
            <a:r>
              <a:rPr lang="en-US" sz="1600" dirty="0">
                <a:solidFill>
                  <a:srgbClr val="1F2A37"/>
                </a:solidFill>
                <a:latin typeface="Calibri" pitchFamily="34" charset="0"/>
                <a:ea typeface="Calibri" pitchFamily="34" charset="-122"/>
                <a:cs typeface="Calibri" pitchFamily="34" charset="-120"/>
              </a:rPr>
              <a:t>The dynamics model f: q̈ = f(q, q̇, u), where u is a torque. The inverse f⁻¹ tells you what torque produces a desired acceleration.</a:t>
            </a:r>
            <a:endParaRPr lang="en-US" sz="1600" dirty="0"/>
          </a:p>
          <a:p>
            <a:pPr marL="228600" indent="-228600">
              <a:spcAft>
                <a:spcPts val="1000"/>
              </a:spcAft>
              <a:buSzPct val="100000"/>
              <a:buChar char="●"/>
            </a:pPr>
            <a:r>
              <a:rPr lang="en-US" sz="1600" b="1" dirty="0">
                <a:solidFill>
                  <a:srgbClr val="C8840A"/>
                </a:solidFill>
                <a:latin typeface="Calibri" pitchFamily="34" charset="0"/>
                <a:ea typeface="Calibri" pitchFamily="34" charset="-122"/>
                <a:cs typeface="Calibri" pitchFamily="34" charset="-120"/>
              </a:rPr>
              <a:t>Retiming: our path τ(t) doesn't know about velocity, acceleration, or real elapsed time. We must convert it into a genuine trajectory ξ(t) over [0, T] before we can apply any of this.</a:t>
            </a:r>
            <a:endParaRPr lang="en-US" sz="1600" dirty="0"/>
          </a:p>
        </p:txBody>
      </p:sp>
      <p:sp>
        <p:nvSpPr>
          <p:cNvPr id="5" name="Text 3"/>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6" name="Text 4"/>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7" name="Text 5"/>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26.5.3 TRAJECTORY TRACKING CONTROL</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Why Open-Loop Control Fails</a:t>
            </a:r>
            <a:endParaRPr lang="en-US" sz="2700" dirty="0"/>
          </a:p>
        </p:txBody>
      </p:sp>
      <p:sp>
        <p:nvSpPr>
          <p:cNvPr id="4" name="Shape 2"/>
          <p:cNvSpPr/>
          <p:nvPr/>
        </p:nvSpPr>
        <p:spPr>
          <a:xfrm>
            <a:off x="548640" y="1417320"/>
            <a:ext cx="11094415" cy="1051560"/>
          </a:xfrm>
          <a:prstGeom prst="roundRect">
            <a:avLst>
              <a:gd name="adj" fmla="val 6957"/>
            </a:avLst>
          </a:prstGeom>
          <a:solidFill>
            <a:srgbClr val="EEF2FF"/>
          </a:solidFill>
          <a:ln w="12700">
            <a:solidFill>
              <a:srgbClr val="4A6FA5"/>
            </a:solidFill>
            <a:prstDash val="solid"/>
          </a:ln>
        </p:spPr>
      </p:sp>
      <p:sp>
        <p:nvSpPr>
          <p:cNvPr id="5" name="Text 3"/>
          <p:cNvSpPr/>
          <p:nvPr/>
        </p:nvSpPr>
        <p:spPr>
          <a:xfrm>
            <a:off x="749808" y="1527048"/>
            <a:ext cx="10692079" cy="274320"/>
          </a:xfrm>
          <a:prstGeom prst="rect">
            <a:avLst/>
          </a:prstGeom>
          <a:noFill/>
          <a:ln/>
        </p:spPr>
        <p:txBody>
          <a:bodyPr wrap="square" lIns="0" tIns="0" rIns="0" bIns="0" rtlCol="0" anchor="ctr"/>
          <a:lstStyle/>
          <a:p>
            <a:pPr indent="0" marL="0">
              <a:buNone/>
            </a:pPr>
            <a:r>
              <a:rPr lang="en-US" sz="1250" b="1" spc="50" kern="0" dirty="0">
                <a:solidFill>
                  <a:srgbClr val="4A6FA5"/>
                </a:solidFill>
                <a:latin typeface="Calibri" pitchFamily="34" charset="0"/>
                <a:ea typeface="Calibri" pitchFamily="34" charset="-122"/>
                <a:cs typeface="Calibri" pitchFamily="34" charset="-120"/>
              </a:rPr>
              <a:t>OPEN-LOOP CONTROL LAW</a:t>
            </a:r>
            <a:endParaRPr lang="en-US" sz="1250" dirty="0"/>
          </a:p>
        </p:txBody>
      </p:sp>
      <p:sp>
        <p:nvSpPr>
          <p:cNvPr id="6" name="Text 4"/>
          <p:cNvSpPr/>
          <p:nvPr/>
        </p:nvSpPr>
        <p:spPr>
          <a:xfrm>
            <a:off x="749808" y="1837944"/>
            <a:ext cx="10692079" cy="539496"/>
          </a:xfrm>
          <a:prstGeom prst="rect">
            <a:avLst/>
          </a:prstGeom>
          <a:noFill/>
          <a:ln/>
        </p:spPr>
        <p:txBody>
          <a:bodyPr wrap="square" lIns="0" tIns="0" rIns="0" bIns="0" rtlCol="0" anchor="t"/>
          <a:lstStyle/>
          <a:p>
            <a:pPr indent="0" marL="0">
              <a:lnSpc>
                <a:spcPct val="118000"/>
              </a:lnSpc>
              <a:buNone/>
            </a:pPr>
            <a:r>
              <a:rPr lang="en-US" sz="1450" dirty="0">
                <a:solidFill>
                  <a:srgbClr val="1F2A37"/>
                </a:solidFill>
                <a:latin typeface="Calibri" pitchFamily="34" charset="0"/>
                <a:ea typeface="Calibri" pitchFamily="34" charset="-122"/>
                <a:cs typeface="Calibri" pitchFamily="34" charset="-120"/>
              </a:rPr>
              <a:t>u(t) = f⁻¹(ξ(t), ξ̇(t), ξ̈(t)) — compute the torque you THINK you need, from the plan alone, and just send it. No feedback at all.</a:t>
            </a:r>
            <a:endParaRPr lang="en-US" sz="1450" dirty="0"/>
          </a:p>
        </p:txBody>
      </p:sp>
      <p:sp>
        <p:nvSpPr>
          <p:cNvPr id="7" name="Text 5"/>
          <p:cNvSpPr/>
          <p:nvPr/>
        </p:nvSpPr>
        <p:spPr>
          <a:xfrm>
            <a:off x="548640" y="2788920"/>
            <a:ext cx="11094415" cy="2926080"/>
          </a:xfrm>
          <a:prstGeom prst="rect">
            <a:avLst/>
          </a:prstGeom>
          <a:noFill/>
          <a:ln/>
        </p:spPr>
        <p:txBody>
          <a:bodyPr wrap="square" lIns="0" tIns="0" rIns="0" bIns="0" rtlCol="0" anchor="t"/>
          <a:lstStyle/>
          <a:p>
            <a:pPr marL="228600" indent="-228600">
              <a:spcAft>
                <a:spcPts val="1000"/>
              </a:spcAft>
              <a:buSzPct val="100000"/>
              <a:buChar char="●"/>
            </a:pPr>
            <a:r>
              <a:rPr lang="en-US" sz="1500" b="1" dirty="0">
                <a:solidFill>
                  <a:srgbClr val="B5311A"/>
                </a:solidFill>
                <a:latin typeface="Calibri" pitchFamily="34" charset="0"/>
                <a:ea typeface="Calibri" pitchFamily="34" charset="-122"/>
                <a:cs typeface="Calibri" pitchFamily="34" charset="-120"/>
              </a:rPr>
              <a:t>Works perfectly... if f is exact. It never is.</a:t>
            </a:r>
            <a:endParaRPr lang="en-US" sz="1500" dirty="0"/>
          </a:p>
          <a:p>
            <a:pPr lvl="1" marL="4572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Real systems can't measure mass and inertia exactly.</a:t>
            </a:r>
            <a:endParaRPr lang="en-US" sz="1500" dirty="0"/>
          </a:p>
          <a:p>
            <a:pPr lvl="1" marL="4572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f often ignores physical effects like stiction — the friction that resists getting a stationary surface moving.</a:t>
            </a:r>
            <a:endParaRPr lang="en-US" sz="1500" dirty="0"/>
          </a:p>
          <a:p>
            <a:pPr lvl="1" marL="4572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Errors accumulate over time with nothing to correct them — the robot drifts further and further from the reference path.</a:t>
            </a:r>
            <a:endParaRPr lang="en-US" sz="1500" dirty="0"/>
          </a:p>
        </p:txBody>
      </p:sp>
      <p:sp>
        <p:nvSpPr>
          <p:cNvPr id="8" name="Text 6"/>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9" name="Text 7"/>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10" name="Text 8"/>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26.5.3 TRAJECTORY TRACKING CONTROL</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The Control Loop: Closing the Feedback</a:t>
            </a:r>
            <a:endParaRPr lang="en-US" sz="2700" dirty="0"/>
          </a:p>
        </p:txBody>
      </p:sp>
      <p:sp>
        <p:nvSpPr>
          <p:cNvPr id="4" name="Shape 2"/>
          <p:cNvSpPr/>
          <p:nvPr/>
        </p:nvSpPr>
        <p:spPr>
          <a:xfrm>
            <a:off x="548640" y="2278685"/>
            <a:ext cx="1417320" cy="640080"/>
          </a:xfrm>
          <a:prstGeom prst="roundRect">
            <a:avLst>
              <a:gd name="adj" fmla="val 8571"/>
            </a:avLst>
          </a:prstGeom>
          <a:solidFill>
            <a:srgbClr val="EEF2FF"/>
          </a:solidFill>
          <a:ln w="15875">
            <a:solidFill>
              <a:srgbClr val="4A6FA5"/>
            </a:solidFill>
            <a:prstDash val="solid"/>
          </a:ln>
        </p:spPr>
      </p:sp>
      <p:sp>
        <p:nvSpPr>
          <p:cNvPr id="5" name="Text 3"/>
          <p:cNvSpPr/>
          <p:nvPr/>
        </p:nvSpPr>
        <p:spPr>
          <a:xfrm>
            <a:off x="548640" y="2278685"/>
            <a:ext cx="1417320" cy="640080"/>
          </a:xfrm>
          <a:prstGeom prst="rect">
            <a:avLst/>
          </a:prstGeom>
          <a:noFill/>
          <a:ln/>
        </p:spPr>
        <p:txBody>
          <a:bodyPr wrap="square" lIns="25400" tIns="25400" rIns="25400" bIns="25400" rtlCol="0" anchor="ctr"/>
          <a:lstStyle/>
          <a:p>
            <a:pPr algn="ctr" indent="0" marL="0">
              <a:buNone/>
            </a:pPr>
            <a:r>
              <a:rPr lang="en-US" sz="1150" b="1" dirty="0">
                <a:solidFill>
                  <a:srgbClr val="1A3A5C"/>
                </a:solidFill>
                <a:latin typeface="Calibri" pitchFamily="34" charset="0"/>
                <a:ea typeface="Calibri" pitchFamily="34" charset="-122"/>
                <a:cs typeface="Calibri" pitchFamily="34" charset="-120"/>
              </a:rPr>
              <a:t>Reference</a:t>
            </a:r>
            <a:endParaRPr lang="en-US" sz="1150" dirty="0"/>
          </a:p>
          <a:p>
            <a:pPr algn="ctr" indent="0" marL="0">
              <a:buNone/>
            </a:pPr>
            <a:r>
              <a:rPr lang="en-US" sz="1150" b="1" dirty="0">
                <a:solidFill>
                  <a:srgbClr val="1A3A5C"/>
                </a:solidFill>
                <a:latin typeface="Calibri" pitchFamily="34" charset="0"/>
                <a:ea typeface="Calibri" pitchFamily="34" charset="-122"/>
                <a:cs typeface="Calibri" pitchFamily="34" charset="-120"/>
              </a:rPr>
              <a:t>ξ(t)</a:t>
            </a:r>
            <a:endParaRPr lang="en-US" sz="1150" dirty="0"/>
          </a:p>
        </p:txBody>
      </p:sp>
      <p:sp>
        <p:nvSpPr>
          <p:cNvPr id="6" name="Shape 4"/>
          <p:cNvSpPr/>
          <p:nvPr/>
        </p:nvSpPr>
        <p:spPr>
          <a:xfrm>
            <a:off x="2560320" y="2278685"/>
            <a:ext cx="502920" cy="640080"/>
          </a:xfrm>
          <a:prstGeom prst="rect">
            <a:avLst/>
          </a:prstGeom>
          <a:solidFill>
            <a:srgbClr val="FFFFFF"/>
          </a:solidFill>
          <a:ln w="15875">
            <a:solidFill>
              <a:srgbClr val="51606F"/>
            </a:solidFill>
            <a:prstDash val="solid"/>
          </a:ln>
        </p:spPr>
      </p:sp>
      <p:sp>
        <p:nvSpPr>
          <p:cNvPr id="7" name="Text 5"/>
          <p:cNvSpPr/>
          <p:nvPr/>
        </p:nvSpPr>
        <p:spPr>
          <a:xfrm>
            <a:off x="2560320" y="2278685"/>
            <a:ext cx="502920" cy="640080"/>
          </a:xfrm>
          <a:prstGeom prst="rect">
            <a:avLst/>
          </a:prstGeom>
          <a:noFill/>
          <a:ln/>
        </p:spPr>
        <p:txBody>
          <a:bodyPr wrap="square" lIns="25400" tIns="25400" rIns="25400" bIns="25400" rtlCol="0" anchor="ctr"/>
          <a:lstStyle/>
          <a:p>
            <a:pPr algn="ctr" indent="0" marL="0">
              <a:buNone/>
            </a:pPr>
            <a:r>
              <a:rPr lang="en-US" sz="1300" b="1" dirty="0">
                <a:solidFill>
                  <a:srgbClr val="51606F"/>
                </a:solidFill>
                <a:latin typeface="Calibri" pitchFamily="34" charset="0"/>
                <a:ea typeface="Calibri" pitchFamily="34" charset="-122"/>
                <a:cs typeface="Calibri" pitchFamily="34" charset="-120"/>
              </a:rPr>
              <a:t>+/–</a:t>
            </a:r>
            <a:endParaRPr lang="en-US" sz="1300" dirty="0"/>
          </a:p>
        </p:txBody>
      </p:sp>
      <p:sp>
        <p:nvSpPr>
          <p:cNvPr id="8" name="Shape 6"/>
          <p:cNvSpPr/>
          <p:nvPr/>
        </p:nvSpPr>
        <p:spPr>
          <a:xfrm>
            <a:off x="3611880" y="2278685"/>
            <a:ext cx="1828800" cy="640080"/>
          </a:xfrm>
          <a:prstGeom prst="roundRect">
            <a:avLst>
              <a:gd name="adj" fmla="val 8571"/>
            </a:avLst>
          </a:prstGeom>
          <a:solidFill>
            <a:srgbClr val="FFF8E6"/>
          </a:solidFill>
          <a:ln w="15875">
            <a:solidFill>
              <a:srgbClr val="C8840A"/>
            </a:solidFill>
            <a:prstDash val="solid"/>
          </a:ln>
        </p:spPr>
      </p:sp>
      <p:sp>
        <p:nvSpPr>
          <p:cNvPr id="9" name="Text 7"/>
          <p:cNvSpPr/>
          <p:nvPr/>
        </p:nvSpPr>
        <p:spPr>
          <a:xfrm>
            <a:off x="3611880" y="2278685"/>
            <a:ext cx="1828800" cy="640080"/>
          </a:xfrm>
          <a:prstGeom prst="rect">
            <a:avLst/>
          </a:prstGeom>
          <a:noFill/>
          <a:ln/>
        </p:spPr>
        <p:txBody>
          <a:bodyPr wrap="square" lIns="25400" tIns="25400" rIns="25400" bIns="25400" rtlCol="0" anchor="ctr"/>
          <a:lstStyle/>
          <a:p>
            <a:pPr algn="ctr" indent="0" marL="0">
              <a:buNone/>
            </a:pPr>
            <a:r>
              <a:rPr lang="en-US" sz="1150" b="1" dirty="0">
                <a:solidFill>
                  <a:srgbClr val="C8840A"/>
                </a:solidFill>
                <a:latin typeface="Calibri" pitchFamily="34" charset="0"/>
                <a:ea typeface="Calibri" pitchFamily="34" charset="-122"/>
                <a:cs typeface="Calibri" pitchFamily="34" charset="-120"/>
              </a:rPr>
              <a:t>Controller</a:t>
            </a:r>
            <a:endParaRPr lang="en-US" sz="1150" dirty="0"/>
          </a:p>
          <a:p>
            <a:pPr algn="ctr" indent="0" marL="0">
              <a:buNone/>
            </a:pPr>
            <a:r>
              <a:rPr lang="en-US" sz="1150" b="1" dirty="0">
                <a:solidFill>
                  <a:srgbClr val="C8840A"/>
                </a:solidFill>
                <a:latin typeface="Calibri" pitchFamily="34" charset="0"/>
                <a:ea typeface="Calibri" pitchFamily="34" charset="-122"/>
                <a:cs typeface="Calibri" pitchFamily="34" charset="-120"/>
              </a:rPr>
              <a:t>(P / PD / PID)</a:t>
            </a:r>
            <a:endParaRPr lang="en-US" sz="1150" dirty="0"/>
          </a:p>
        </p:txBody>
      </p:sp>
      <p:sp>
        <p:nvSpPr>
          <p:cNvPr id="10" name="Shape 8"/>
          <p:cNvSpPr/>
          <p:nvPr/>
        </p:nvSpPr>
        <p:spPr>
          <a:xfrm>
            <a:off x="6126480" y="2278685"/>
            <a:ext cx="1828800" cy="640080"/>
          </a:xfrm>
          <a:prstGeom prst="roundRect">
            <a:avLst>
              <a:gd name="adj" fmla="val 8571"/>
            </a:avLst>
          </a:prstGeom>
          <a:solidFill>
            <a:srgbClr val="EEF8EE"/>
          </a:solidFill>
          <a:ln w="15875">
            <a:solidFill>
              <a:srgbClr val="1B6B3A"/>
            </a:solidFill>
            <a:prstDash val="solid"/>
          </a:ln>
        </p:spPr>
      </p:sp>
      <p:sp>
        <p:nvSpPr>
          <p:cNvPr id="11" name="Text 9"/>
          <p:cNvSpPr/>
          <p:nvPr/>
        </p:nvSpPr>
        <p:spPr>
          <a:xfrm>
            <a:off x="6126480" y="2278685"/>
            <a:ext cx="1828800" cy="640080"/>
          </a:xfrm>
          <a:prstGeom prst="rect">
            <a:avLst/>
          </a:prstGeom>
          <a:noFill/>
          <a:ln/>
        </p:spPr>
        <p:txBody>
          <a:bodyPr wrap="square" lIns="25400" tIns="25400" rIns="25400" bIns="25400" rtlCol="0" anchor="ctr"/>
          <a:lstStyle/>
          <a:p>
            <a:pPr algn="ctr" indent="0" marL="0">
              <a:buNone/>
            </a:pPr>
            <a:r>
              <a:rPr lang="en-US" sz="1150" b="1" dirty="0">
                <a:solidFill>
                  <a:srgbClr val="1B6B3A"/>
                </a:solidFill>
                <a:latin typeface="Calibri" pitchFamily="34" charset="0"/>
                <a:ea typeface="Calibri" pitchFamily="34" charset="-122"/>
                <a:cs typeface="Calibri" pitchFamily="34" charset="-120"/>
              </a:rPr>
              <a:t>Robot / Plant</a:t>
            </a:r>
            <a:endParaRPr lang="en-US" sz="1150" dirty="0"/>
          </a:p>
          <a:p>
            <a:pPr algn="ctr" indent="0" marL="0">
              <a:buNone/>
            </a:pPr>
            <a:r>
              <a:rPr lang="en-US" sz="1150" b="1" dirty="0">
                <a:solidFill>
                  <a:srgbClr val="1B6B3A"/>
                </a:solidFill>
                <a:latin typeface="Calibri" pitchFamily="34" charset="0"/>
                <a:ea typeface="Calibri" pitchFamily="34" charset="-122"/>
                <a:cs typeface="Calibri" pitchFamily="34" charset="-120"/>
              </a:rPr>
              <a:t>(dynamics f)</a:t>
            </a:r>
            <a:endParaRPr lang="en-US" sz="1150" dirty="0"/>
          </a:p>
        </p:txBody>
      </p:sp>
      <p:sp>
        <p:nvSpPr>
          <p:cNvPr id="12" name="Shape 10"/>
          <p:cNvSpPr/>
          <p:nvPr/>
        </p:nvSpPr>
        <p:spPr>
          <a:xfrm>
            <a:off x="10088575" y="2278685"/>
            <a:ext cx="1463040" cy="640080"/>
          </a:xfrm>
          <a:prstGeom prst="roundRect">
            <a:avLst>
              <a:gd name="adj" fmla="val 8571"/>
            </a:avLst>
          </a:prstGeom>
          <a:solidFill>
            <a:srgbClr val="F4F7FB"/>
          </a:solidFill>
          <a:ln w="15875">
            <a:solidFill>
              <a:srgbClr val="51606F"/>
            </a:solidFill>
            <a:prstDash val="solid"/>
          </a:ln>
        </p:spPr>
      </p:sp>
      <p:sp>
        <p:nvSpPr>
          <p:cNvPr id="13" name="Text 11"/>
          <p:cNvSpPr/>
          <p:nvPr/>
        </p:nvSpPr>
        <p:spPr>
          <a:xfrm>
            <a:off x="10088575" y="2278685"/>
            <a:ext cx="1463040" cy="640080"/>
          </a:xfrm>
          <a:prstGeom prst="rect">
            <a:avLst/>
          </a:prstGeom>
          <a:noFill/>
          <a:ln/>
        </p:spPr>
        <p:txBody>
          <a:bodyPr wrap="square" lIns="25400" tIns="25400" rIns="25400" bIns="25400" rtlCol="0" anchor="ctr"/>
          <a:lstStyle/>
          <a:p>
            <a:pPr algn="ctr" indent="0" marL="0">
              <a:buNone/>
            </a:pPr>
            <a:r>
              <a:rPr lang="en-US" sz="1100" b="1" dirty="0">
                <a:solidFill>
                  <a:srgbClr val="1A3A5C"/>
                </a:solidFill>
                <a:latin typeface="Calibri" pitchFamily="34" charset="0"/>
                <a:ea typeface="Calibri" pitchFamily="34" charset="-122"/>
                <a:cs typeface="Calibri" pitchFamily="34" charset="-120"/>
              </a:rPr>
              <a:t>qt, q̇t</a:t>
            </a:r>
            <a:endParaRPr lang="en-US" sz="1100" dirty="0"/>
          </a:p>
          <a:p>
            <a:pPr algn="ctr" indent="0" marL="0">
              <a:buNone/>
            </a:pPr>
            <a:r>
              <a:rPr lang="en-US" sz="1100" b="1" dirty="0">
                <a:solidFill>
                  <a:srgbClr val="1A3A5C"/>
                </a:solidFill>
                <a:latin typeface="Calibri" pitchFamily="34" charset="0"/>
                <a:ea typeface="Calibri" pitchFamily="34" charset="-122"/>
                <a:cs typeface="Calibri" pitchFamily="34" charset="-120"/>
              </a:rPr>
              <a:t>(actual state)</a:t>
            </a:r>
            <a:endParaRPr lang="en-US" sz="1100" dirty="0"/>
          </a:p>
        </p:txBody>
      </p:sp>
      <p:sp>
        <p:nvSpPr>
          <p:cNvPr id="14" name="Shape 12"/>
          <p:cNvSpPr/>
          <p:nvPr/>
        </p:nvSpPr>
        <p:spPr>
          <a:xfrm>
            <a:off x="1965960" y="2598725"/>
            <a:ext cx="594360" cy="914"/>
          </a:xfrm>
          <a:prstGeom prst="line">
            <a:avLst/>
          </a:prstGeom>
          <a:noFill/>
          <a:ln w="25400">
            <a:solidFill>
              <a:srgbClr val="51606F"/>
            </a:solidFill>
            <a:prstDash val="solid"/>
            <a:headEnd type="none"/>
            <a:tailEnd type="triangle"/>
          </a:ln>
        </p:spPr>
      </p:sp>
      <p:sp>
        <p:nvSpPr>
          <p:cNvPr id="15" name="Shape 13"/>
          <p:cNvSpPr/>
          <p:nvPr/>
        </p:nvSpPr>
        <p:spPr>
          <a:xfrm>
            <a:off x="3063240" y="2598725"/>
            <a:ext cx="548640" cy="914"/>
          </a:xfrm>
          <a:prstGeom prst="line">
            <a:avLst/>
          </a:prstGeom>
          <a:noFill/>
          <a:ln w="25400">
            <a:solidFill>
              <a:srgbClr val="51606F"/>
            </a:solidFill>
            <a:prstDash val="solid"/>
            <a:headEnd type="none"/>
            <a:tailEnd type="triangle"/>
          </a:ln>
        </p:spPr>
      </p:sp>
      <p:sp>
        <p:nvSpPr>
          <p:cNvPr id="16" name="Shape 14"/>
          <p:cNvSpPr/>
          <p:nvPr/>
        </p:nvSpPr>
        <p:spPr>
          <a:xfrm>
            <a:off x="5440680" y="2598725"/>
            <a:ext cx="685800" cy="914"/>
          </a:xfrm>
          <a:prstGeom prst="line">
            <a:avLst/>
          </a:prstGeom>
          <a:noFill/>
          <a:ln w="25400">
            <a:solidFill>
              <a:srgbClr val="51606F"/>
            </a:solidFill>
            <a:prstDash val="solid"/>
            <a:headEnd type="none"/>
            <a:tailEnd type="triangle"/>
          </a:ln>
        </p:spPr>
      </p:sp>
      <p:sp>
        <p:nvSpPr>
          <p:cNvPr id="17" name="Shape 15"/>
          <p:cNvSpPr/>
          <p:nvPr/>
        </p:nvSpPr>
        <p:spPr>
          <a:xfrm>
            <a:off x="7955280" y="2598725"/>
            <a:ext cx="2133295" cy="914"/>
          </a:xfrm>
          <a:prstGeom prst="line">
            <a:avLst/>
          </a:prstGeom>
          <a:noFill/>
          <a:ln w="25400">
            <a:solidFill>
              <a:srgbClr val="51606F"/>
            </a:solidFill>
            <a:prstDash val="solid"/>
            <a:headEnd type="none"/>
            <a:tailEnd type="triangle"/>
          </a:ln>
        </p:spPr>
      </p:sp>
      <p:sp>
        <p:nvSpPr>
          <p:cNvPr id="18" name="Shape 16"/>
          <p:cNvSpPr/>
          <p:nvPr/>
        </p:nvSpPr>
        <p:spPr>
          <a:xfrm>
            <a:off x="10820095" y="2918765"/>
            <a:ext cx="914" cy="731520"/>
          </a:xfrm>
          <a:prstGeom prst="line">
            <a:avLst/>
          </a:prstGeom>
          <a:noFill/>
          <a:ln w="22225">
            <a:solidFill>
              <a:srgbClr val="B5311A"/>
            </a:solidFill>
            <a:prstDash val="solid"/>
            <a:headEnd type="none"/>
            <a:tailEnd type="triangle"/>
          </a:ln>
        </p:spPr>
      </p:sp>
      <p:sp>
        <p:nvSpPr>
          <p:cNvPr id="19" name="Shape 17"/>
          <p:cNvSpPr/>
          <p:nvPr/>
        </p:nvSpPr>
        <p:spPr>
          <a:xfrm flipH="1">
            <a:off x="2811780" y="3650285"/>
            <a:ext cx="8008315" cy="914"/>
          </a:xfrm>
          <a:prstGeom prst="line">
            <a:avLst/>
          </a:prstGeom>
          <a:noFill/>
          <a:ln w="22225">
            <a:solidFill>
              <a:srgbClr val="B5311A"/>
            </a:solidFill>
            <a:prstDash val="solid"/>
            <a:headEnd type="none"/>
            <a:tailEnd type="triangle"/>
          </a:ln>
        </p:spPr>
      </p:sp>
      <p:sp>
        <p:nvSpPr>
          <p:cNvPr id="20" name="Shape 18"/>
          <p:cNvSpPr/>
          <p:nvPr/>
        </p:nvSpPr>
        <p:spPr>
          <a:xfrm flipV="1">
            <a:off x="2811780" y="2918765"/>
            <a:ext cx="914" cy="731520"/>
          </a:xfrm>
          <a:prstGeom prst="line">
            <a:avLst/>
          </a:prstGeom>
          <a:noFill/>
          <a:ln w="22225">
            <a:solidFill>
              <a:srgbClr val="B5311A"/>
            </a:solidFill>
            <a:prstDash val="solid"/>
            <a:headEnd type="none"/>
            <a:tailEnd type="triangle"/>
          </a:ln>
        </p:spPr>
      </p:sp>
      <p:sp>
        <p:nvSpPr>
          <p:cNvPr id="21" name="Text 19"/>
          <p:cNvSpPr/>
          <p:nvPr/>
        </p:nvSpPr>
        <p:spPr>
          <a:xfrm>
            <a:off x="3291840" y="3604565"/>
            <a:ext cx="3657600" cy="274320"/>
          </a:xfrm>
          <a:prstGeom prst="rect">
            <a:avLst/>
          </a:prstGeom>
          <a:noFill/>
          <a:ln/>
        </p:spPr>
        <p:txBody>
          <a:bodyPr wrap="square" lIns="0" tIns="0" rIns="0" bIns="0" rtlCol="0" anchor="t"/>
          <a:lstStyle/>
          <a:p>
            <a:pPr algn="ctr" indent="0" marL="0">
              <a:buNone/>
            </a:pPr>
            <a:r>
              <a:rPr lang="en-US" sz="1050" i="1" dirty="0">
                <a:solidFill>
                  <a:srgbClr val="B5311A"/>
                </a:solidFill>
                <a:latin typeface="Calibri" pitchFamily="34" charset="0"/>
                <a:ea typeface="Calibri" pitchFamily="34" charset="-122"/>
                <a:cs typeface="Calibri" pitchFamily="34" charset="-120"/>
              </a:rPr>
              <a:t>feedback: measured error corrects the next command</a:t>
            </a:r>
            <a:endParaRPr lang="en-US" sz="1050" dirty="0"/>
          </a:p>
        </p:txBody>
      </p:sp>
      <p:sp>
        <p:nvSpPr>
          <p:cNvPr id="22" name="Shape 20"/>
          <p:cNvSpPr/>
          <p:nvPr/>
        </p:nvSpPr>
        <p:spPr>
          <a:xfrm>
            <a:off x="548640" y="4251960"/>
            <a:ext cx="11094415" cy="1828800"/>
          </a:xfrm>
          <a:prstGeom prst="roundRect">
            <a:avLst>
              <a:gd name="adj" fmla="val 4000"/>
            </a:avLst>
          </a:prstGeom>
          <a:solidFill>
            <a:srgbClr val="F4F7FB"/>
          </a:solidFill>
          <a:ln w="12700">
            <a:solidFill>
              <a:srgbClr val="1A3A5C"/>
            </a:solidFill>
            <a:prstDash val="solid"/>
          </a:ln>
        </p:spPr>
      </p:sp>
      <p:sp>
        <p:nvSpPr>
          <p:cNvPr id="23" name="Text 21"/>
          <p:cNvSpPr/>
          <p:nvPr/>
        </p:nvSpPr>
        <p:spPr>
          <a:xfrm>
            <a:off x="749808" y="4361688"/>
            <a:ext cx="10692079" cy="274320"/>
          </a:xfrm>
          <a:prstGeom prst="rect">
            <a:avLst/>
          </a:prstGeom>
          <a:noFill/>
          <a:ln/>
        </p:spPr>
        <p:txBody>
          <a:bodyPr wrap="square" lIns="0" tIns="0" rIns="0" bIns="0" rtlCol="0" anchor="ctr"/>
          <a:lstStyle/>
          <a:p>
            <a:pPr indent="0" marL="0">
              <a:buNone/>
            </a:pPr>
            <a:r>
              <a:rPr lang="en-US" sz="1250" b="1" spc="50" kern="0" dirty="0">
                <a:solidFill>
                  <a:srgbClr val="1A3A5C"/>
                </a:solidFill>
                <a:latin typeface="Calibri" pitchFamily="34" charset="0"/>
                <a:ea typeface="Calibri" pitchFamily="34" charset="-122"/>
                <a:cs typeface="Calibri" pitchFamily="34" charset="-120"/>
              </a:rPr>
              <a:t>STABILITY, DEFINED PRECISELY</a:t>
            </a:r>
            <a:endParaRPr lang="en-US" sz="1250" dirty="0"/>
          </a:p>
        </p:txBody>
      </p:sp>
      <p:sp>
        <p:nvSpPr>
          <p:cNvPr id="24" name="Text 22"/>
          <p:cNvSpPr/>
          <p:nvPr/>
        </p:nvSpPr>
        <p:spPr>
          <a:xfrm>
            <a:off x="749808" y="4672584"/>
            <a:ext cx="10692079" cy="131673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A controller is STABLE if small perturbations lead to a BOUNDED error. It's STRICTLY STABLE if it actually returns to and stays on the reference path after a perturbation. As we'll see next, a pure P controller is stable but NOT strictly stable — a subtle but important distinction.</a:t>
            </a:r>
            <a:endParaRPr lang="en-US" sz="1300" dirty="0"/>
          </a:p>
        </p:txBody>
      </p:sp>
      <p:sp>
        <p:nvSpPr>
          <p:cNvPr id="25" name="Text 23"/>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26" name="Text 24"/>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27" name="Text 25"/>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26.5.3 CONTROLLERS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The Proportional (P) Controller</a:t>
            </a:r>
            <a:endParaRPr lang="en-US" sz="2700" dirty="0"/>
          </a:p>
        </p:txBody>
      </p:sp>
      <p:sp>
        <p:nvSpPr>
          <p:cNvPr id="4" name="Shape 2"/>
          <p:cNvSpPr/>
          <p:nvPr/>
        </p:nvSpPr>
        <p:spPr>
          <a:xfrm>
            <a:off x="548640" y="1417320"/>
            <a:ext cx="6212873" cy="822960"/>
          </a:xfrm>
          <a:prstGeom prst="roundRect">
            <a:avLst>
              <a:gd name="adj" fmla="val 7778"/>
            </a:avLst>
          </a:prstGeom>
          <a:solidFill>
            <a:srgbClr val="EEF2FF"/>
          </a:solidFill>
          <a:ln w="9525">
            <a:solidFill>
              <a:srgbClr val="4A6FA5"/>
            </a:solidFill>
            <a:prstDash val="solid"/>
          </a:ln>
        </p:spPr>
      </p:sp>
      <p:sp>
        <p:nvSpPr>
          <p:cNvPr id="5" name="Text 3"/>
          <p:cNvSpPr/>
          <p:nvPr/>
        </p:nvSpPr>
        <p:spPr>
          <a:xfrm>
            <a:off x="713232" y="1463040"/>
            <a:ext cx="1554480" cy="237744"/>
          </a:xfrm>
          <a:prstGeom prst="rect">
            <a:avLst/>
          </a:prstGeom>
          <a:noFill/>
          <a:ln/>
        </p:spPr>
        <p:txBody>
          <a:bodyPr wrap="square" lIns="0" tIns="0" rIns="0" bIns="0" rtlCol="0" anchor="ctr"/>
          <a:lstStyle/>
          <a:p>
            <a:pPr indent="0" marL="0">
              <a:buNone/>
            </a:pPr>
            <a:r>
              <a:rPr lang="en-US" sz="1050" b="1" spc="50" kern="0" dirty="0">
                <a:solidFill>
                  <a:srgbClr val="4A6FA5"/>
                </a:solidFill>
                <a:latin typeface="Calibri" pitchFamily="34" charset="0"/>
                <a:ea typeface="Calibri" pitchFamily="34" charset="-122"/>
                <a:cs typeface="Calibri" pitchFamily="34" charset="-120"/>
              </a:rPr>
              <a:t>GENERAL</a:t>
            </a:r>
            <a:endParaRPr lang="en-US" sz="1050" dirty="0"/>
          </a:p>
        </p:txBody>
      </p:sp>
      <p:sp>
        <p:nvSpPr>
          <p:cNvPr id="6" name="Text 4"/>
          <p:cNvSpPr/>
          <p:nvPr/>
        </p:nvSpPr>
        <p:spPr>
          <a:xfrm>
            <a:off x="713232" y="1691640"/>
            <a:ext cx="5883689"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u(t) = KP · (ξ(t) − qt) — push back against error, proportional to how large the error is.</a:t>
            </a:r>
            <a:endParaRPr lang="en-US" sz="1300" dirty="0"/>
          </a:p>
        </p:txBody>
      </p:sp>
      <p:sp>
        <p:nvSpPr>
          <p:cNvPr id="7" name="Shape 5"/>
          <p:cNvSpPr/>
          <p:nvPr/>
        </p:nvSpPr>
        <p:spPr>
          <a:xfrm>
            <a:off x="548640" y="2368296"/>
            <a:ext cx="6212873" cy="822960"/>
          </a:xfrm>
          <a:prstGeom prst="roundRect">
            <a:avLst>
              <a:gd name="adj" fmla="val 7778"/>
            </a:avLst>
          </a:prstGeom>
          <a:solidFill>
            <a:srgbClr val="FFF8E6"/>
          </a:solidFill>
          <a:ln w="9525">
            <a:solidFill>
              <a:srgbClr val="C8840A"/>
            </a:solidFill>
            <a:prstDash val="solid"/>
          </a:ln>
        </p:spPr>
      </p:sp>
      <p:sp>
        <p:nvSpPr>
          <p:cNvPr id="8" name="Text 6"/>
          <p:cNvSpPr/>
          <p:nvPr/>
        </p:nvSpPr>
        <p:spPr>
          <a:xfrm>
            <a:off x="713232" y="2414016"/>
            <a:ext cx="1554480" cy="237744"/>
          </a:xfrm>
          <a:prstGeom prst="rect">
            <a:avLst/>
          </a:prstGeom>
          <a:noFill/>
          <a:ln/>
        </p:spPr>
        <p:txBody>
          <a:bodyPr wrap="square" lIns="0" tIns="0" rIns="0" bIns="0" rtlCol="0" anchor="ctr"/>
          <a:lstStyle/>
          <a:p>
            <a:pPr indent="0" marL="0">
              <a:buNone/>
            </a:pPr>
            <a:r>
              <a:rPr lang="en-US" sz="1050" b="1" spc="50" kern="0" dirty="0">
                <a:solidFill>
                  <a:srgbClr val="C8840A"/>
                </a:solidFill>
                <a:latin typeface="Calibri" pitchFamily="34" charset="0"/>
                <a:ea typeface="Calibri" pitchFamily="34" charset="-122"/>
                <a:cs typeface="Calibri" pitchFamily="34" charset="-120"/>
              </a:rPr>
              <a:t>SUBSTITUTE</a:t>
            </a:r>
            <a:endParaRPr lang="en-US" sz="1050" dirty="0"/>
          </a:p>
        </p:txBody>
      </p:sp>
      <p:sp>
        <p:nvSpPr>
          <p:cNvPr id="9" name="Text 7"/>
          <p:cNvSpPr/>
          <p:nvPr/>
        </p:nvSpPr>
        <p:spPr>
          <a:xfrm>
            <a:off x="713232" y="2642616"/>
            <a:ext cx="5883689"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KP=1.0 (strong correction) and KP=0.1 (gentle correction) are both tried on the same smooth reference path.</a:t>
            </a:r>
            <a:endParaRPr lang="en-US" sz="1300" dirty="0"/>
          </a:p>
        </p:txBody>
      </p:sp>
      <p:sp>
        <p:nvSpPr>
          <p:cNvPr id="10" name="Shape 8"/>
          <p:cNvSpPr/>
          <p:nvPr/>
        </p:nvSpPr>
        <p:spPr>
          <a:xfrm>
            <a:off x="548640" y="3319272"/>
            <a:ext cx="6212873" cy="822960"/>
          </a:xfrm>
          <a:prstGeom prst="roundRect">
            <a:avLst>
              <a:gd name="adj" fmla="val 7778"/>
            </a:avLst>
          </a:prstGeom>
          <a:solidFill>
            <a:srgbClr val="EEF8EE"/>
          </a:solidFill>
          <a:ln w="9525">
            <a:solidFill>
              <a:srgbClr val="1B6B3A"/>
            </a:solidFill>
            <a:prstDash val="solid"/>
          </a:ln>
        </p:spPr>
      </p:sp>
      <p:sp>
        <p:nvSpPr>
          <p:cNvPr id="11" name="Text 9"/>
          <p:cNvSpPr/>
          <p:nvPr/>
        </p:nvSpPr>
        <p:spPr>
          <a:xfrm>
            <a:off x="713232" y="3364992"/>
            <a:ext cx="1554480" cy="237744"/>
          </a:xfrm>
          <a:prstGeom prst="rect">
            <a:avLst/>
          </a:prstGeom>
          <a:noFill/>
          <a:ln/>
        </p:spPr>
        <p:txBody>
          <a:bodyPr wrap="square" lIns="0" tIns="0" rIns="0" bIns="0" rtlCol="0" anchor="ctr"/>
          <a:lstStyle/>
          <a:p>
            <a:pPr indent="0" marL="0">
              <a:buNone/>
            </a:pPr>
            <a:r>
              <a:rPr lang="en-US" sz="1050" b="1" spc="50" kern="0" dirty="0">
                <a:solidFill>
                  <a:srgbClr val="1B6B3A"/>
                </a:solidFill>
                <a:latin typeface="Calibri" pitchFamily="34" charset="0"/>
                <a:ea typeface="Calibri" pitchFamily="34" charset="-122"/>
                <a:cs typeface="Calibri" pitchFamily="34" charset="-120"/>
              </a:rPr>
              <a:t>RESULT</a:t>
            </a:r>
            <a:endParaRPr lang="en-US" sz="1050" dirty="0"/>
          </a:p>
        </p:txBody>
      </p:sp>
      <p:sp>
        <p:nvSpPr>
          <p:cNvPr id="12" name="Text 10"/>
          <p:cNvSpPr/>
          <p:nvPr/>
        </p:nvSpPr>
        <p:spPr>
          <a:xfrm>
            <a:off x="713232" y="3593592"/>
            <a:ext cx="5883689"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BOTH oscillate — a P controller behaves like a spring, with no friction to damp it out. Stable, but NOT strictly stable.</a:t>
            </a:r>
            <a:endParaRPr lang="en-US" sz="1300" dirty="0"/>
          </a:p>
        </p:txBody>
      </p:sp>
      <p:sp>
        <p:nvSpPr>
          <p:cNvPr id="13" name="Shape 11"/>
          <p:cNvSpPr/>
          <p:nvPr/>
        </p:nvSpPr>
        <p:spPr>
          <a:xfrm>
            <a:off x="7035833" y="1417320"/>
            <a:ext cx="4607223" cy="3108960"/>
          </a:xfrm>
          <a:prstGeom prst="roundRect">
            <a:avLst>
              <a:gd name="adj" fmla="val 2647"/>
            </a:avLst>
          </a:prstGeom>
          <a:solidFill>
            <a:srgbClr val="FFF0EE"/>
          </a:solidFill>
          <a:ln/>
          <a:effectLst>
            <a:outerShdw sx="100000" sy="100000" kx="0" ky="0" algn="bl" rotWithShape="0" blurRad="76200" dist="25400" dir="5400000">
              <a:srgbClr val="1A3A5C">
                <a:alpha val="12000"/>
              </a:srgbClr>
            </a:outerShdw>
          </a:effectLst>
        </p:spPr>
      </p:sp>
      <p:sp>
        <p:nvSpPr>
          <p:cNvPr id="14" name="Text 12"/>
          <p:cNvSpPr/>
          <p:nvPr/>
        </p:nvSpPr>
        <p:spPr>
          <a:xfrm>
            <a:off x="7237001" y="1545336"/>
            <a:ext cx="4204887" cy="329184"/>
          </a:xfrm>
          <a:prstGeom prst="rect">
            <a:avLst/>
          </a:prstGeom>
          <a:noFill/>
          <a:ln/>
        </p:spPr>
        <p:txBody>
          <a:bodyPr wrap="square" lIns="0" tIns="0" rIns="0" bIns="0" rtlCol="0" anchor="ctr"/>
          <a:lstStyle/>
          <a:p>
            <a:pPr indent="0" marL="0">
              <a:buNone/>
            </a:pPr>
            <a:r>
              <a:rPr lang="en-US" sz="1450" b="1" dirty="0">
                <a:solidFill>
                  <a:srgbClr val="B5311A"/>
                </a:solidFill>
                <a:latin typeface="Calibri" pitchFamily="34" charset="0"/>
                <a:ea typeface="Calibri" pitchFamily="34" charset="-122"/>
                <a:cs typeface="Calibri" pitchFamily="34" charset="-120"/>
              </a:rPr>
              <a:t>Why lowering KP doesn't fix it</a:t>
            </a:r>
            <a:endParaRPr lang="en-US" sz="1450" dirty="0"/>
          </a:p>
        </p:txBody>
      </p:sp>
      <p:sp>
        <p:nvSpPr>
          <p:cNvPr id="15" name="Text 13"/>
          <p:cNvSpPr/>
          <p:nvPr/>
        </p:nvSpPr>
        <p:spPr>
          <a:xfrm>
            <a:off x="7237001" y="1929384"/>
            <a:ext cx="4204887" cy="2487168"/>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Intuition says a gentler gain = gentler correction.</a:t>
            </a:r>
            <a:endParaRPr lang="en-US" sz="1300" dirty="0"/>
          </a:p>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But without friction, a P controller is mathematically a spring — it just oscillates FOREVER around the target, forever.</a:t>
            </a:r>
            <a:endParaRPr lang="en-US" sz="1300" dirty="0"/>
          </a:p>
        </p:txBody>
      </p:sp>
      <p:sp>
        <p:nvSpPr>
          <p:cNvPr id="16" name="Text 14"/>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7" name="Text 15"/>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18" name="Text 16"/>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26.5.3 CONTROLLERS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The PD Controller: Adding Damping</a:t>
            </a:r>
            <a:endParaRPr lang="en-US" sz="2700" dirty="0"/>
          </a:p>
        </p:txBody>
      </p:sp>
      <p:sp>
        <p:nvSpPr>
          <p:cNvPr id="4" name="Shape 2"/>
          <p:cNvSpPr/>
          <p:nvPr/>
        </p:nvSpPr>
        <p:spPr>
          <a:xfrm>
            <a:off x="548640" y="1417320"/>
            <a:ext cx="11094415" cy="822960"/>
          </a:xfrm>
          <a:prstGeom prst="roundRect">
            <a:avLst>
              <a:gd name="adj" fmla="val 7778"/>
            </a:avLst>
          </a:prstGeom>
          <a:solidFill>
            <a:srgbClr val="EEF2FF"/>
          </a:solidFill>
          <a:ln w="9525">
            <a:solidFill>
              <a:srgbClr val="4A6FA5"/>
            </a:solidFill>
            <a:prstDash val="solid"/>
          </a:ln>
        </p:spPr>
      </p:sp>
      <p:sp>
        <p:nvSpPr>
          <p:cNvPr id="5" name="Text 3"/>
          <p:cNvSpPr/>
          <p:nvPr/>
        </p:nvSpPr>
        <p:spPr>
          <a:xfrm>
            <a:off x="713232" y="1463040"/>
            <a:ext cx="1554480" cy="237744"/>
          </a:xfrm>
          <a:prstGeom prst="rect">
            <a:avLst/>
          </a:prstGeom>
          <a:noFill/>
          <a:ln/>
        </p:spPr>
        <p:txBody>
          <a:bodyPr wrap="square" lIns="0" tIns="0" rIns="0" bIns="0" rtlCol="0" anchor="ctr"/>
          <a:lstStyle/>
          <a:p>
            <a:pPr indent="0" marL="0">
              <a:buNone/>
            </a:pPr>
            <a:r>
              <a:rPr lang="en-US" sz="1050" b="1" spc="50" kern="0" dirty="0">
                <a:solidFill>
                  <a:srgbClr val="4A6FA5"/>
                </a:solidFill>
                <a:latin typeface="Calibri" pitchFamily="34" charset="0"/>
                <a:ea typeface="Calibri" pitchFamily="34" charset="-122"/>
                <a:cs typeface="Calibri" pitchFamily="34" charset="-120"/>
              </a:rPr>
              <a:t>GENERAL</a:t>
            </a:r>
            <a:endParaRPr lang="en-US" sz="1050" dirty="0"/>
          </a:p>
        </p:txBody>
      </p:sp>
      <p:sp>
        <p:nvSpPr>
          <p:cNvPr id="6" name="Text 4"/>
          <p:cNvSpPr/>
          <p:nvPr/>
        </p:nvSpPr>
        <p:spPr>
          <a:xfrm>
            <a:off x="713232" y="1691640"/>
            <a:ext cx="10765231"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u(t) = KP(ξ(t) − qt) + KD(ξ̇(t) − q̇t) — proportional term PLUS a derivative term on the rate of change of the error.</a:t>
            </a:r>
            <a:endParaRPr lang="en-US" sz="1300" dirty="0"/>
          </a:p>
        </p:txBody>
      </p:sp>
      <p:sp>
        <p:nvSpPr>
          <p:cNvPr id="7" name="Shape 5"/>
          <p:cNvSpPr/>
          <p:nvPr/>
        </p:nvSpPr>
        <p:spPr>
          <a:xfrm>
            <a:off x="548640" y="2368296"/>
            <a:ext cx="11094415" cy="822960"/>
          </a:xfrm>
          <a:prstGeom prst="roundRect">
            <a:avLst>
              <a:gd name="adj" fmla="val 7778"/>
            </a:avLst>
          </a:prstGeom>
          <a:solidFill>
            <a:srgbClr val="FFF8E6"/>
          </a:solidFill>
          <a:ln w="9525">
            <a:solidFill>
              <a:srgbClr val="C8840A"/>
            </a:solidFill>
            <a:prstDash val="solid"/>
          </a:ln>
        </p:spPr>
      </p:sp>
      <p:sp>
        <p:nvSpPr>
          <p:cNvPr id="8" name="Text 6"/>
          <p:cNvSpPr/>
          <p:nvPr/>
        </p:nvSpPr>
        <p:spPr>
          <a:xfrm>
            <a:off x="713232" y="2414016"/>
            <a:ext cx="1554480" cy="237744"/>
          </a:xfrm>
          <a:prstGeom prst="rect">
            <a:avLst/>
          </a:prstGeom>
          <a:noFill/>
          <a:ln/>
        </p:spPr>
        <p:txBody>
          <a:bodyPr wrap="square" lIns="0" tIns="0" rIns="0" bIns="0" rtlCol="0" anchor="ctr"/>
          <a:lstStyle/>
          <a:p>
            <a:pPr indent="0" marL="0">
              <a:buNone/>
            </a:pPr>
            <a:r>
              <a:rPr lang="en-US" sz="1050" b="1" spc="50" kern="0" dirty="0">
                <a:solidFill>
                  <a:srgbClr val="C8840A"/>
                </a:solidFill>
                <a:latin typeface="Calibri" pitchFamily="34" charset="0"/>
                <a:ea typeface="Calibri" pitchFamily="34" charset="-122"/>
                <a:cs typeface="Calibri" pitchFamily="34" charset="-120"/>
              </a:rPr>
              <a:t>SUBSTITUTE</a:t>
            </a:r>
            <a:endParaRPr lang="en-US" sz="1050" dirty="0"/>
          </a:p>
        </p:txBody>
      </p:sp>
      <p:sp>
        <p:nvSpPr>
          <p:cNvPr id="9" name="Text 7"/>
          <p:cNvSpPr/>
          <p:nvPr/>
        </p:nvSpPr>
        <p:spPr>
          <a:xfrm>
            <a:off x="713232" y="2642616"/>
            <a:ext cx="10765231"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KP=0.3, KD=0.8 applied to the same reference path that made the P controller oscillate.</a:t>
            </a:r>
            <a:endParaRPr lang="en-US" sz="1300" dirty="0"/>
          </a:p>
        </p:txBody>
      </p:sp>
      <p:sp>
        <p:nvSpPr>
          <p:cNvPr id="10" name="Shape 8"/>
          <p:cNvSpPr/>
          <p:nvPr/>
        </p:nvSpPr>
        <p:spPr>
          <a:xfrm>
            <a:off x="548640" y="3319272"/>
            <a:ext cx="11094415" cy="822960"/>
          </a:xfrm>
          <a:prstGeom prst="roundRect">
            <a:avLst>
              <a:gd name="adj" fmla="val 7778"/>
            </a:avLst>
          </a:prstGeom>
          <a:solidFill>
            <a:srgbClr val="EEF8EE"/>
          </a:solidFill>
          <a:ln w="9525">
            <a:solidFill>
              <a:srgbClr val="1B6B3A"/>
            </a:solidFill>
            <a:prstDash val="solid"/>
          </a:ln>
        </p:spPr>
      </p:sp>
      <p:sp>
        <p:nvSpPr>
          <p:cNvPr id="11" name="Text 9"/>
          <p:cNvSpPr/>
          <p:nvPr/>
        </p:nvSpPr>
        <p:spPr>
          <a:xfrm>
            <a:off x="713232" y="3364992"/>
            <a:ext cx="1554480" cy="237744"/>
          </a:xfrm>
          <a:prstGeom prst="rect">
            <a:avLst/>
          </a:prstGeom>
          <a:noFill/>
          <a:ln/>
        </p:spPr>
        <p:txBody>
          <a:bodyPr wrap="square" lIns="0" tIns="0" rIns="0" bIns="0" rtlCol="0" anchor="ctr"/>
          <a:lstStyle/>
          <a:p>
            <a:pPr indent="0" marL="0">
              <a:buNone/>
            </a:pPr>
            <a:r>
              <a:rPr lang="en-US" sz="1050" b="1" spc="50" kern="0" dirty="0">
                <a:solidFill>
                  <a:srgbClr val="1B6B3A"/>
                </a:solidFill>
                <a:latin typeface="Calibri" pitchFamily="34" charset="0"/>
                <a:ea typeface="Calibri" pitchFamily="34" charset="-122"/>
                <a:cs typeface="Calibri" pitchFamily="34" charset="-120"/>
              </a:rPr>
              <a:t>RESULT</a:t>
            </a:r>
            <a:endParaRPr lang="en-US" sz="1050" dirty="0"/>
          </a:p>
        </p:txBody>
      </p:sp>
      <p:sp>
        <p:nvSpPr>
          <p:cNvPr id="12" name="Text 10"/>
          <p:cNvSpPr/>
          <p:nvPr/>
        </p:nvSpPr>
        <p:spPr>
          <a:xfrm>
            <a:off x="713232" y="3593592"/>
            <a:ext cx="10765231"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A smooth, non-oscillating approach to the path — STRICTLY stable. Intuition: the derivative term counteracts rapid error changes, damping the system exactly like a shock absorber next to the spring.</a:t>
            </a:r>
            <a:endParaRPr lang="en-US" sz="1300" dirty="0"/>
          </a:p>
        </p:txBody>
      </p:sp>
      <p:sp>
        <p:nvSpPr>
          <p:cNvPr id="13" name="Text 11"/>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4" name="Text 12"/>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15" name="Text 13"/>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26.5.3 CONTROLLERS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The PID Controller: Killing Persistent Bias</a:t>
            </a:r>
            <a:endParaRPr lang="en-US" sz="2700" dirty="0"/>
          </a:p>
        </p:txBody>
      </p:sp>
      <p:sp>
        <p:nvSpPr>
          <p:cNvPr id="4" name="Shape 2"/>
          <p:cNvSpPr/>
          <p:nvPr/>
        </p:nvSpPr>
        <p:spPr>
          <a:xfrm>
            <a:off x="548640" y="1417320"/>
            <a:ext cx="6656649" cy="822960"/>
          </a:xfrm>
          <a:prstGeom prst="roundRect">
            <a:avLst>
              <a:gd name="adj" fmla="val 7778"/>
            </a:avLst>
          </a:prstGeom>
          <a:solidFill>
            <a:srgbClr val="EEF2FF"/>
          </a:solidFill>
          <a:ln w="9525">
            <a:solidFill>
              <a:srgbClr val="4A6FA5"/>
            </a:solidFill>
            <a:prstDash val="solid"/>
          </a:ln>
        </p:spPr>
      </p:sp>
      <p:sp>
        <p:nvSpPr>
          <p:cNvPr id="5" name="Text 3"/>
          <p:cNvSpPr/>
          <p:nvPr/>
        </p:nvSpPr>
        <p:spPr>
          <a:xfrm>
            <a:off x="713232" y="1463040"/>
            <a:ext cx="1554480" cy="237744"/>
          </a:xfrm>
          <a:prstGeom prst="rect">
            <a:avLst/>
          </a:prstGeom>
          <a:noFill/>
          <a:ln/>
        </p:spPr>
        <p:txBody>
          <a:bodyPr wrap="square" lIns="0" tIns="0" rIns="0" bIns="0" rtlCol="0" anchor="ctr"/>
          <a:lstStyle/>
          <a:p>
            <a:pPr indent="0" marL="0">
              <a:buNone/>
            </a:pPr>
            <a:r>
              <a:rPr lang="en-US" sz="1050" b="1" spc="50" kern="0" dirty="0">
                <a:solidFill>
                  <a:srgbClr val="4A6FA5"/>
                </a:solidFill>
                <a:latin typeface="Calibri" pitchFamily="34" charset="0"/>
                <a:ea typeface="Calibri" pitchFamily="34" charset="-122"/>
                <a:cs typeface="Calibri" pitchFamily="34" charset="-120"/>
              </a:rPr>
              <a:t>GENERAL</a:t>
            </a:r>
            <a:endParaRPr lang="en-US" sz="1050" dirty="0"/>
          </a:p>
        </p:txBody>
      </p:sp>
      <p:sp>
        <p:nvSpPr>
          <p:cNvPr id="6" name="Text 4"/>
          <p:cNvSpPr/>
          <p:nvPr/>
        </p:nvSpPr>
        <p:spPr>
          <a:xfrm>
            <a:off x="713232" y="1691640"/>
            <a:ext cx="6327465"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u(t) = KP(ξ(t)−qt) + KI∫₀ᵗ(ξ(s)−qs)ds + KD(ξ̇(t)−q̇t) — add an integral term over accumulated past error.</a:t>
            </a:r>
            <a:endParaRPr lang="en-US" sz="1300" dirty="0"/>
          </a:p>
        </p:txBody>
      </p:sp>
      <p:sp>
        <p:nvSpPr>
          <p:cNvPr id="7" name="Shape 5"/>
          <p:cNvSpPr/>
          <p:nvPr/>
        </p:nvSpPr>
        <p:spPr>
          <a:xfrm>
            <a:off x="548640" y="2368296"/>
            <a:ext cx="6656649" cy="822960"/>
          </a:xfrm>
          <a:prstGeom prst="roundRect">
            <a:avLst>
              <a:gd name="adj" fmla="val 7778"/>
            </a:avLst>
          </a:prstGeom>
          <a:solidFill>
            <a:srgbClr val="FFF8E6"/>
          </a:solidFill>
          <a:ln w="9525">
            <a:solidFill>
              <a:srgbClr val="C8840A"/>
            </a:solidFill>
            <a:prstDash val="solid"/>
          </a:ln>
        </p:spPr>
      </p:sp>
      <p:sp>
        <p:nvSpPr>
          <p:cNvPr id="8" name="Text 6"/>
          <p:cNvSpPr/>
          <p:nvPr/>
        </p:nvSpPr>
        <p:spPr>
          <a:xfrm>
            <a:off x="713232" y="2414016"/>
            <a:ext cx="1554480" cy="237744"/>
          </a:xfrm>
          <a:prstGeom prst="rect">
            <a:avLst/>
          </a:prstGeom>
          <a:noFill/>
          <a:ln/>
        </p:spPr>
        <p:txBody>
          <a:bodyPr wrap="square" lIns="0" tIns="0" rIns="0" bIns="0" rtlCol="0" anchor="ctr"/>
          <a:lstStyle/>
          <a:p>
            <a:pPr indent="0" marL="0">
              <a:buNone/>
            </a:pPr>
            <a:r>
              <a:rPr lang="en-US" sz="1050" b="1" spc="50" kern="0" dirty="0">
                <a:solidFill>
                  <a:srgbClr val="C8840A"/>
                </a:solidFill>
                <a:latin typeface="Calibri" pitchFamily="34" charset="0"/>
                <a:ea typeface="Calibri" pitchFamily="34" charset="-122"/>
                <a:cs typeface="Calibri" pitchFamily="34" charset="-120"/>
              </a:rPr>
              <a:t>SUBSTITUTE</a:t>
            </a:r>
            <a:endParaRPr lang="en-US" sz="1050" dirty="0"/>
          </a:p>
        </p:txBody>
      </p:sp>
      <p:sp>
        <p:nvSpPr>
          <p:cNvPr id="9" name="Text 7"/>
          <p:cNvSpPr/>
          <p:nvPr/>
        </p:nvSpPr>
        <p:spPr>
          <a:xfrm>
            <a:off x="713232" y="2642616"/>
            <a:ext cx="6327465"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Example: an autonomous car on a banked road is systematically pulled to one side by an unmodeled force.</a:t>
            </a:r>
            <a:endParaRPr lang="en-US" sz="1300" dirty="0"/>
          </a:p>
        </p:txBody>
      </p:sp>
      <p:sp>
        <p:nvSpPr>
          <p:cNvPr id="10" name="Shape 8"/>
          <p:cNvSpPr/>
          <p:nvPr/>
        </p:nvSpPr>
        <p:spPr>
          <a:xfrm>
            <a:off x="548640" y="3319272"/>
            <a:ext cx="6656649" cy="822960"/>
          </a:xfrm>
          <a:prstGeom prst="roundRect">
            <a:avLst>
              <a:gd name="adj" fmla="val 7778"/>
            </a:avLst>
          </a:prstGeom>
          <a:solidFill>
            <a:srgbClr val="EEF8EE"/>
          </a:solidFill>
          <a:ln w="9525">
            <a:solidFill>
              <a:srgbClr val="1B6B3A"/>
            </a:solidFill>
            <a:prstDash val="solid"/>
          </a:ln>
        </p:spPr>
      </p:sp>
      <p:sp>
        <p:nvSpPr>
          <p:cNvPr id="11" name="Text 9"/>
          <p:cNvSpPr/>
          <p:nvPr/>
        </p:nvSpPr>
        <p:spPr>
          <a:xfrm>
            <a:off x="713232" y="3364992"/>
            <a:ext cx="1554480" cy="237744"/>
          </a:xfrm>
          <a:prstGeom prst="rect">
            <a:avLst/>
          </a:prstGeom>
          <a:noFill/>
          <a:ln/>
        </p:spPr>
        <p:txBody>
          <a:bodyPr wrap="square" lIns="0" tIns="0" rIns="0" bIns="0" rtlCol="0" anchor="ctr"/>
          <a:lstStyle/>
          <a:p>
            <a:pPr indent="0" marL="0">
              <a:buNone/>
            </a:pPr>
            <a:r>
              <a:rPr lang="en-US" sz="1050" b="1" spc="50" kern="0" dirty="0">
                <a:solidFill>
                  <a:srgbClr val="1B6B3A"/>
                </a:solidFill>
                <a:latin typeface="Calibri" pitchFamily="34" charset="0"/>
                <a:ea typeface="Calibri" pitchFamily="34" charset="-122"/>
                <a:cs typeface="Calibri" pitchFamily="34" charset="-120"/>
              </a:rPr>
              <a:t>RESULT</a:t>
            </a:r>
            <a:endParaRPr lang="en-US" sz="1050" dirty="0"/>
          </a:p>
        </p:txBody>
      </p:sp>
      <p:sp>
        <p:nvSpPr>
          <p:cNvPr id="12" name="Text 10"/>
          <p:cNvSpPr/>
          <p:nvPr/>
        </p:nvSpPr>
        <p:spPr>
          <a:xfrm>
            <a:off x="713232" y="3593592"/>
            <a:ext cx="6327465"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The integral term keeps growing as long as error persists, forcing the correction ever stronger until the systematic bias is finally driven to zero.</a:t>
            </a:r>
            <a:endParaRPr lang="en-US" sz="1300" dirty="0"/>
          </a:p>
        </p:txBody>
      </p:sp>
      <p:sp>
        <p:nvSpPr>
          <p:cNvPr id="13" name="Shape 11"/>
          <p:cNvSpPr/>
          <p:nvPr/>
        </p:nvSpPr>
        <p:spPr>
          <a:xfrm>
            <a:off x="7479609" y="1417320"/>
            <a:ext cx="4163446" cy="3108960"/>
          </a:xfrm>
          <a:prstGeom prst="roundRect">
            <a:avLst>
              <a:gd name="adj" fmla="val 2647"/>
            </a:avLst>
          </a:prstGeom>
          <a:solidFill>
            <a:srgbClr val="EEF8EE"/>
          </a:solidFill>
          <a:ln/>
          <a:effectLst>
            <a:outerShdw sx="100000" sy="100000" kx="0" ky="0" algn="bl" rotWithShape="0" blurRad="76200" dist="25400" dir="5400000">
              <a:srgbClr val="1A3A5C">
                <a:alpha val="12000"/>
              </a:srgbClr>
            </a:outerShdw>
          </a:effectLst>
        </p:spPr>
      </p:sp>
      <p:sp>
        <p:nvSpPr>
          <p:cNvPr id="14" name="Text 12"/>
          <p:cNvSpPr/>
          <p:nvPr/>
        </p:nvSpPr>
        <p:spPr>
          <a:xfrm>
            <a:off x="7680777" y="1545336"/>
            <a:ext cx="3761110" cy="329184"/>
          </a:xfrm>
          <a:prstGeom prst="rect">
            <a:avLst/>
          </a:prstGeom>
          <a:noFill/>
          <a:ln/>
        </p:spPr>
        <p:txBody>
          <a:bodyPr wrap="square" lIns="0" tIns="0" rIns="0" bIns="0" rtlCol="0" anchor="ctr"/>
          <a:lstStyle/>
          <a:p>
            <a:pPr indent="0" marL="0">
              <a:buNone/>
            </a:pPr>
            <a:r>
              <a:rPr lang="en-US" sz="1450" b="1" dirty="0">
                <a:solidFill>
                  <a:srgbClr val="1B6B3A"/>
                </a:solidFill>
                <a:latin typeface="Calibri" pitchFamily="34" charset="0"/>
                <a:ea typeface="Calibri" pitchFamily="34" charset="-122"/>
                <a:cs typeface="Calibri" pitchFamily="34" charset="-120"/>
              </a:rPr>
              <a:t>The mnemonic</a:t>
            </a:r>
            <a:endParaRPr lang="en-US" sz="1450" dirty="0"/>
          </a:p>
        </p:txBody>
      </p:sp>
      <p:sp>
        <p:nvSpPr>
          <p:cNvPr id="15" name="Text 13"/>
          <p:cNvSpPr/>
          <p:nvPr/>
        </p:nvSpPr>
        <p:spPr>
          <a:xfrm>
            <a:off x="7680777" y="1929384"/>
            <a:ext cx="3761110" cy="2487168"/>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P — try harder the farther away you are.</a:t>
            </a:r>
            <a:endParaRPr lang="en-US" sz="1350" dirty="0"/>
          </a:p>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D — try even harder if the error is INCREASING.</a:t>
            </a:r>
            <a:endParaRPr lang="en-US" sz="1350" dirty="0"/>
          </a:p>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I — try harder if you haven't made progress in a while.</a:t>
            </a:r>
            <a:endParaRPr lang="en-US" sz="1350" dirty="0"/>
          </a:p>
        </p:txBody>
      </p:sp>
      <p:sp>
        <p:nvSpPr>
          <p:cNvPr id="16" name="Text 14"/>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7" name="Text 15"/>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18" name="Text 16"/>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26.5.3 CONTROLLERS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Computed Torque Control: The Best of Both Worlds</a:t>
            </a:r>
            <a:endParaRPr lang="en-US" sz="2700" dirty="0"/>
          </a:p>
        </p:txBody>
      </p:sp>
      <p:sp>
        <p:nvSpPr>
          <p:cNvPr id="4" name="Shape 2"/>
          <p:cNvSpPr/>
          <p:nvPr/>
        </p:nvSpPr>
        <p:spPr>
          <a:xfrm>
            <a:off x="548640" y="1417320"/>
            <a:ext cx="11094415" cy="822960"/>
          </a:xfrm>
          <a:prstGeom prst="roundRect">
            <a:avLst>
              <a:gd name="adj" fmla="val 7778"/>
            </a:avLst>
          </a:prstGeom>
          <a:solidFill>
            <a:srgbClr val="EEF2FF"/>
          </a:solidFill>
          <a:ln w="9525">
            <a:solidFill>
              <a:srgbClr val="4A6FA5"/>
            </a:solidFill>
            <a:prstDash val="solid"/>
          </a:ln>
        </p:spPr>
      </p:sp>
      <p:sp>
        <p:nvSpPr>
          <p:cNvPr id="5" name="Text 3"/>
          <p:cNvSpPr/>
          <p:nvPr/>
        </p:nvSpPr>
        <p:spPr>
          <a:xfrm>
            <a:off x="713232" y="1463040"/>
            <a:ext cx="1554480" cy="237744"/>
          </a:xfrm>
          <a:prstGeom prst="rect">
            <a:avLst/>
          </a:prstGeom>
          <a:noFill/>
          <a:ln/>
        </p:spPr>
        <p:txBody>
          <a:bodyPr wrap="square" lIns="0" tIns="0" rIns="0" bIns="0" rtlCol="0" anchor="ctr"/>
          <a:lstStyle/>
          <a:p>
            <a:pPr indent="0" marL="0">
              <a:buNone/>
            </a:pPr>
            <a:r>
              <a:rPr lang="en-US" sz="1050" b="1" spc="50" kern="0" dirty="0">
                <a:solidFill>
                  <a:srgbClr val="4A6FA5"/>
                </a:solidFill>
                <a:latin typeface="Calibri" pitchFamily="34" charset="0"/>
                <a:ea typeface="Calibri" pitchFamily="34" charset="-122"/>
                <a:cs typeface="Calibri" pitchFamily="34" charset="-120"/>
              </a:rPr>
              <a:t>GENERAL</a:t>
            </a:r>
            <a:endParaRPr lang="en-US" sz="1050" dirty="0"/>
          </a:p>
        </p:txBody>
      </p:sp>
      <p:sp>
        <p:nvSpPr>
          <p:cNvPr id="6" name="Text 4"/>
          <p:cNvSpPr/>
          <p:nvPr/>
        </p:nvSpPr>
        <p:spPr>
          <a:xfrm>
            <a:off x="713232" y="1691640"/>
            <a:ext cx="10765231"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u(t) = f⁻¹(ξ(t),ξ̇(t),ξ̈(t)) + m(ξ(t))·[KP(ξ(t)−qt) + KD(ξ̇(t)−q̇t)]</a:t>
            </a:r>
            <a:endParaRPr lang="en-US" sz="1300" dirty="0"/>
          </a:p>
        </p:txBody>
      </p:sp>
      <p:sp>
        <p:nvSpPr>
          <p:cNvPr id="7" name="Shape 5"/>
          <p:cNvSpPr/>
          <p:nvPr/>
        </p:nvSpPr>
        <p:spPr>
          <a:xfrm>
            <a:off x="548640" y="2368296"/>
            <a:ext cx="11094415" cy="822960"/>
          </a:xfrm>
          <a:prstGeom prst="roundRect">
            <a:avLst>
              <a:gd name="adj" fmla="val 7778"/>
            </a:avLst>
          </a:prstGeom>
          <a:solidFill>
            <a:srgbClr val="FFF8E6"/>
          </a:solidFill>
          <a:ln w="9525">
            <a:solidFill>
              <a:srgbClr val="C8840A"/>
            </a:solidFill>
            <a:prstDash val="solid"/>
          </a:ln>
        </p:spPr>
      </p:sp>
      <p:sp>
        <p:nvSpPr>
          <p:cNvPr id="8" name="Text 6"/>
          <p:cNvSpPr/>
          <p:nvPr/>
        </p:nvSpPr>
        <p:spPr>
          <a:xfrm>
            <a:off x="713232" y="2414016"/>
            <a:ext cx="1554480" cy="237744"/>
          </a:xfrm>
          <a:prstGeom prst="rect">
            <a:avLst/>
          </a:prstGeom>
          <a:noFill/>
          <a:ln/>
        </p:spPr>
        <p:txBody>
          <a:bodyPr wrap="square" lIns="0" tIns="0" rIns="0" bIns="0" rtlCol="0" anchor="ctr"/>
          <a:lstStyle/>
          <a:p>
            <a:pPr indent="0" marL="0">
              <a:buNone/>
            </a:pPr>
            <a:r>
              <a:rPr lang="en-US" sz="1050" b="1" spc="50" kern="0" dirty="0">
                <a:solidFill>
                  <a:srgbClr val="C8840A"/>
                </a:solidFill>
                <a:latin typeface="Calibri" pitchFamily="34" charset="0"/>
                <a:ea typeface="Calibri" pitchFamily="34" charset="-122"/>
                <a:cs typeface="Calibri" pitchFamily="34" charset="-120"/>
              </a:rPr>
              <a:t>SUBSTITUTE</a:t>
            </a:r>
            <a:endParaRPr lang="en-US" sz="1050" dirty="0"/>
          </a:p>
        </p:txBody>
      </p:sp>
      <p:sp>
        <p:nvSpPr>
          <p:cNvPr id="9" name="Text 7"/>
          <p:cNvSpPr/>
          <p:nvPr/>
        </p:nvSpPr>
        <p:spPr>
          <a:xfrm>
            <a:off x="713232" y="2642616"/>
            <a:ext cx="10765231"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First term = feedforward: uses inverse dynamics to precompute the torque you'd need if the model were perfect. Second term = feedback: a PD correction for whatever the model got wrong, scaled by the inertia matrix m(q).</a:t>
            </a:r>
            <a:endParaRPr lang="en-US" sz="1300" dirty="0"/>
          </a:p>
        </p:txBody>
      </p:sp>
      <p:sp>
        <p:nvSpPr>
          <p:cNvPr id="10" name="Shape 8"/>
          <p:cNvSpPr/>
          <p:nvPr/>
        </p:nvSpPr>
        <p:spPr>
          <a:xfrm>
            <a:off x="548640" y="3319272"/>
            <a:ext cx="11094415" cy="822960"/>
          </a:xfrm>
          <a:prstGeom prst="roundRect">
            <a:avLst>
              <a:gd name="adj" fmla="val 7778"/>
            </a:avLst>
          </a:prstGeom>
          <a:solidFill>
            <a:srgbClr val="EEF8EE"/>
          </a:solidFill>
          <a:ln w="9525">
            <a:solidFill>
              <a:srgbClr val="1B6B3A"/>
            </a:solidFill>
            <a:prstDash val="solid"/>
          </a:ln>
        </p:spPr>
      </p:sp>
      <p:sp>
        <p:nvSpPr>
          <p:cNvPr id="11" name="Text 9"/>
          <p:cNvSpPr/>
          <p:nvPr/>
        </p:nvSpPr>
        <p:spPr>
          <a:xfrm>
            <a:off x="713232" y="3364992"/>
            <a:ext cx="1554480" cy="237744"/>
          </a:xfrm>
          <a:prstGeom prst="rect">
            <a:avLst/>
          </a:prstGeom>
          <a:noFill/>
          <a:ln/>
        </p:spPr>
        <p:txBody>
          <a:bodyPr wrap="square" lIns="0" tIns="0" rIns="0" bIns="0" rtlCol="0" anchor="ctr"/>
          <a:lstStyle/>
          <a:p>
            <a:pPr indent="0" marL="0">
              <a:buNone/>
            </a:pPr>
            <a:r>
              <a:rPr lang="en-US" sz="1050" b="1" spc="50" kern="0" dirty="0">
                <a:solidFill>
                  <a:srgbClr val="1B6B3A"/>
                </a:solidFill>
                <a:latin typeface="Calibri" pitchFamily="34" charset="0"/>
                <a:ea typeface="Calibri" pitchFamily="34" charset="-122"/>
                <a:cs typeface="Calibri" pitchFamily="34" charset="-120"/>
              </a:rPr>
              <a:t>RESULT</a:t>
            </a:r>
            <a:endParaRPr lang="en-US" sz="1050" dirty="0"/>
          </a:p>
        </p:txBody>
      </p:sp>
      <p:sp>
        <p:nvSpPr>
          <p:cNvPr id="12" name="Text 10"/>
          <p:cNvSpPr/>
          <p:nvPr/>
        </p:nvSpPr>
        <p:spPr>
          <a:xfrm>
            <a:off x="713232" y="3593592"/>
            <a:ext cx="10765231"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Combines open-loop model knowledge with closed-loop error correction — the gains effectively adapt as the robot's configuration changes.</a:t>
            </a:r>
            <a:endParaRPr lang="en-US" sz="1300" dirty="0"/>
          </a:p>
        </p:txBody>
      </p:sp>
      <p:sp>
        <p:nvSpPr>
          <p:cNvPr id="13" name="Text 11"/>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4" name="Text 12"/>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15" name="Text 13"/>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26.5.3 A CONCEPTUAL RESET</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Plans vs. Policies — Same Analogy, New Costume</a:t>
            </a:r>
            <a:endParaRPr lang="en-US" sz="2700" dirty="0"/>
          </a:p>
        </p:txBody>
      </p:sp>
      <p:sp>
        <p:nvSpPr>
          <p:cNvPr id="4" name="Text 2"/>
          <p:cNvSpPr/>
          <p:nvPr/>
        </p:nvSpPr>
        <p:spPr>
          <a:xfrm>
            <a:off x="548640" y="1417320"/>
            <a:ext cx="11094415" cy="4937760"/>
          </a:xfrm>
          <a:prstGeom prst="rect">
            <a:avLst/>
          </a:prstGeom>
          <a:noFill/>
          <a:ln/>
        </p:spPr>
        <p:txBody>
          <a:bodyPr wrap="square" lIns="0" tIns="0" rIns="0" bIns="0" rtlCol="0" anchor="t"/>
          <a:lstStyle/>
          <a:p>
            <a:pPr marL="228600" indent="-228600">
              <a:spcAft>
                <a:spcPts val="1000"/>
              </a:spcAft>
              <a:buSzPct val="100000"/>
              <a:buChar char="●"/>
            </a:pPr>
            <a:r>
              <a:rPr lang="en-US" sz="1450" b="1" dirty="0">
                <a:solidFill>
                  <a:srgbClr val="1F2A37"/>
                </a:solidFill>
                <a:latin typeface="Calibri" pitchFamily="34" charset="0"/>
                <a:ea typeface="Calibri" pitchFamily="34" charset="-122"/>
                <a:cs typeface="Calibri" pitchFamily="34" charset="-120"/>
              </a:rPr>
              <a:t>The underlying MDP here: states are dynamic states (q, q̇); actions are control torques.</a:t>
            </a:r>
            <a:endParaRPr lang="en-US" sz="1450" dirty="0"/>
          </a:p>
          <a:p>
            <a:pPr marL="228600" indent="-228600">
              <a:spcAft>
                <a:spcPts val="1000"/>
              </a:spcAft>
              <a:buSzPct val="100000"/>
              <a:buChar char="●"/>
            </a:pPr>
            <a:r>
              <a:rPr lang="en-US" sz="1450" dirty="0">
                <a:solidFill>
                  <a:srgbClr val="1F2A37"/>
                </a:solidFill>
                <a:latin typeface="Calibri" pitchFamily="34" charset="0"/>
                <a:ea typeface="Calibri" pitchFamily="34" charset="-122"/>
                <a:cs typeface="Calibri" pitchFamily="34" charset="-120"/>
              </a:rPr>
              <a:t>Our P/PD/PID/computed-torque control laws ARE policies — they say what to do from any state you might land in.</a:t>
            </a:r>
            <a:endParaRPr lang="en-US" sz="1450" dirty="0"/>
          </a:p>
          <a:p>
            <a:pPr marL="228600" indent="-228600">
              <a:spcAft>
                <a:spcPts val="1000"/>
              </a:spcAft>
              <a:buSzPct val="100000"/>
              <a:buChar char="●"/>
            </a:pPr>
            <a:r>
              <a:rPr lang="en-US" sz="1450" dirty="0">
                <a:solidFill>
                  <a:srgbClr val="1F2A37"/>
                </a:solidFill>
                <a:latin typeface="Calibri" pitchFamily="34" charset="0"/>
                <a:ea typeface="Calibri" pitchFamily="34" charset="-122"/>
                <a:cs typeface="Calibri" pitchFamily="34" charset="-120"/>
              </a:rPr>
              <a:t>But they're far from OPTIMAL policies, because the true dynamic-state MDP is continuous and high-dimensional — computationally intractable to solve exactly.</a:t>
            </a:r>
            <a:endParaRPr lang="en-US" sz="1450" dirty="0"/>
          </a:p>
          <a:p>
            <a:pPr marL="228600" indent="-228600">
              <a:spcAft>
                <a:spcPts val="1000"/>
              </a:spcAft>
              <a:buSzPct val="100000"/>
              <a:buChar char="●"/>
            </a:pPr>
            <a:r>
              <a:rPr lang="en-US" sz="1450" b="1" dirty="0">
                <a:solidFill>
                  <a:srgbClr val="C8840A"/>
                </a:solidFill>
                <a:latin typeface="Calibri" pitchFamily="34" charset="0"/>
                <a:ea typeface="Calibri" pitchFamily="34" charset="-122"/>
                <a:cs typeface="Calibri" pitchFamily="34" charset="-120"/>
              </a:rPr>
              <a:t>So instead we break the problem up: plan first in a simplified kinematic space (ignoring dynamics), THEN build a policy that tracks that plan and corrects for drift.</a:t>
            </a:r>
            <a:endParaRPr lang="en-US" sz="1450" dirty="0"/>
          </a:p>
          <a:p>
            <a:pPr lvl="1" marL="457200" indent="-228600">
              <a:spcAft>
                <a:spcPts val="1000"/>
              </a:spcAft>
              <a:buSzPct val="100000"/>
              <a:buChar char="–"/>
            </a:pPr>
            <a:r>
              <a:rPr lang="en-US" sz="1450" dirty="0">
                <a:solidFill>
                  <a:srgbClr val="1F2A37"/>
                </a:solidFill>
                <a:latin typeface="Calibri" pitchFamily="34" charset="0"/>
                <a:ea typeface="Calibri" pitchFamily="34" charset="-122"/>
                <a:cs typeface="Calibri" pitchFamily="34" charset="-120"/>
              </a:rPr>
              <a:t>Two sources of suboptimality: (1) planning without dynamics in mind, and (2) assuming the best response to drift is always “return to the original plan.”</a:t>
            </a:r>
            <a:endParaRPr lang="en-US" sz="1450" dirty="0"/>
          </a:p>
        </p:txBody>
      </p:sp>
      <p:sp>
        <p:nvSpPr>
          <p:cNvPr id="5" name="Text 3"/>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6" name="Text 4"/>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7" name="Text 5"/>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26.5.4 OPTIMAL CONTROL</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Doing It All at Once</a:t>
            </a:r>
            <a:endParaRPr lang="en-US" sz="2700" dirty="0"/>
          </a:p>
        </p:txBody>
      </p:sp>
      <p:sp>
        <p:nvSpPr>
          <p:cNvPr id="4" name="Shape 2"/>
          <p:cNvSpPr/>
          <p:nvPr/>
        </p:nvSpPr>
        <p:spPr>
          <a:xfrm>
            <a:off x="548640" y="1417320"/>
            <a:ext cx="11094415" cy="822960"/>
          </a:xfrm>
          <a:prstGeom prst="roundRect">
            <a:avLst>
              <a:gd name="adj" fmla="val 7778"/>
            </a:avLst>
          </a:prstGeom>
          <a:solidFill>
            <a:srgbClr val="EEF2FF"/>
          </a:solidFill>
          <a:ln w="9525">
            <a:solidFill>
              <a:srgbClr val="4A6FA5"/>
            </a:solidFill>
            <a:prstDash val="solid"/>
          </a:ln>
        </p:spPr>
      </p:sp>
      <p:sp>
        <p:nvSpPr>
          <p:cNvPr id="5" name="Text 3"/>
          <p:cNvSpPr/>
          <p:nvPr/>
        </p:nvSpPr>
        <p:spPr>
          <a:xfrm>
            <a:off x="713232" y="1463040"/>
            <a:ext cx="1554480" cy="237744"/>
          </a:xfrm>
          <a:prstGeom prst="rect">
            <a:avLst/>
          </a:prstGeom>
          <a:noFill/>
          <a:ln/>
        </p:spPr>
        <p:txBody>
          <a:bodyPr wrap="square" lIns="0" tIns="0" rIns="0" bIns="0" rtlCol="0" anchor="ctr"/>
          <a:lstStyle/>
          <a:p>
            <a:pPr indent="0" marL="0">
              <a:buNone/>
            </a:pPr>
            <a:r>
              <a:rPr lang="en-US" sz="1050" b="1" spc="50" kern="0" dirty="0">
                <a:solidFill>
                  <a:srgbClr val="4A6FA5"/>
                </a:solidFill>
                <a:latin typeface="Calibri" pitchFamily="34" charset="0"/>
                <a:ea typeface="Calibri" pitchFamily="34" charset="-122"/>
                <a:cs typeface="Calibri" pitchFamily="34" charset="-120"/>
              </a:rPr>
              <a:t>GENERAL</a:t>
            </a:r>
            <a:endParaRPr lang="en-US" sz="1050" dirty="0"/>
          </a:p>
        </p:txBody>
      </p:sp>
      <p:sp>
        <p:nvSpPr>
          <p:cNvPr id="6" name="Text 4"/>
          <p:cNvSpPr/>
          <p:nvPr/>
        </p:nvSpPr>
        <p:spPr>
          <a:xfrm>
            <a:off x="713232" y="1691640"/>
            <a:ext cx="10765231"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min over u(t) of ∫₀ᵀ J(x(t),u(t)) dt, subject to ẋ(t) = f(x(t),u(t)),  x(0)=xs,  x(T)=xg</a:t>
            </a:r>
            <a:endParaRPr lang="en-US" sz="1300" dirty="0"/>
          </a:p>
        </p:txBody>
      </p:sp>
      <p:sp>
        <p:nvSpPr>
          <p:cNvPr id="7" name="Shape 5"/>
          <p:cNvSpPr/>
          <p:nvPr/>
        </p:nvSpPr>
        <p:spPr>
          <a:xfrm>
            <a:off x="548640" y="2368296"/>
            <a:ext cx="11094415" cy="822960"/>
          </a:xfrm>
          <a:prstGeom prst="roundRect">
            <a:avLst>
              <a:gd name="adj" fmla="val 7778"/>
            </a:avLst>
          </a:prstGeom>
          <a:solidFill>
            <a:srgbClr val="FFF8E6"/>
          </a:solidFill>
          <a:ln w="9525">
            <a:solidFill>
              <a:srgbClr val="C8840A"/>
            </a:solidFill>
            <a:prstDash val="solid"/>
          </a:ln>
        </p:spPr>
      </p:sp>
      <p:sp>
        <p:nvSpPr>
          <p:cNvPr id="8" name="Text 6"/>
          <p:cNvSpPr/>
          <p:nvPr/>
        </p:nvSpPr>
        <p:spPr>
          <a:xfrm>
            <a:off x="713232" y="2414016"/>
            <a:ext cx="1554480" cy="237744"/>
          </a:xfrm>
          <a:prstGeom prst="rect">
            <a:avLst/>
          </a:prstGeom>
          <a:noFill/>
          <a:ln/>
        </p:spPr>
        <p:txBody>
          <a:bodyPr wrap="square" lIns="0" tIns="0" rIns="0" bIns="0" rtlCol="0" anchor="ctr"/>
          <a:lstStyle/>
          <a:p>
            <a:pPr indent="0" marL="0">
              <a:buNone/>
            </a:pPr>
            <a:r>
              <a:rPr lang="en-US" sz="1050" b="1" spc="50" kern="0" dirty="0">
                <a:solidFill>
                  <a:srgbClr val="C8840A"/>
                </a:solidFill>
                <a:latin typeface="Calibri" pitchFamily="34" charset="0"/>
                <a:ea typeface="Calibri" pitchFamily="34" charset="-122"/>
                <a:cs typeface="Calibri" pitchFamily="34" charset="-120"/>
              </a:rPr>
              <a:t>SUBSTITUTE</a:t>
            </a:r>
            <a:endParaRPr lang="en-US" sz="1050" dirty="0"/>
          </a:p>
        </p:txBody>
      </p:sp>
      <p:sp>
        <p:nvSpPr>
          <p:cNvPr id="9" name="Text 7"/>
          <p:cNvSpPr/>
          <p:nvPr/>
        </p:nvSpPr>
        <p:spPr>
          <a:xfrm>
            <a:off x="713232" y="2642616"/>
            <a:ext cx="10765231"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Instead of splitting into 'plan a kinematic path' then 'design a tracking policy,' optimize DIRECTLY over the sequence of torques u, with the dynamics baked in as a hard constraint.</a:t>
            </a:r>
            <a:endParaRPr lang="en-US" sz="1300" dirty="0"/>
          </a:p>
        </p:txBody>
      </p:sp>
      <p:sp>
        <p:nvSpPr>
          <p:cNvPr id="10" name="Shape 8"/>
          <p:cNvSpPr/>
          <p:nvPr/>
        </p:nvSpPr>
        <p:spPr>
          <a:xfrm>
            <a:off x="548640" y="3319272"/>
            <a:ext cx="11094415" cy="822960"/>
          </a:xfrm>
          <a:prstGeom prst="roundRect">
            <a:avLst>
              <a:gd name="adj" fmla="val 7778"/>
            </a:avLst>
          </a:prstGeom>
          <a:solidFill>
            <a:srgbClr val="EEF8EE"/>
          </a:solidFill>
          <a:ln w="9525">
            <a:solidFill>
              <a:srgbClr val="1B6B3A"/>
            </a:solidFill>
            <a:prstDash val="solid"/>
          </a:ln>
        </p:spPr>
      </p:sp>
      <p:sp>
        <p:nvSpPr>
          <p:cNvPr id="11" name="Text 9"/>
          <p:cNvSpPr/>
          <p:nvPr/>
        </p:nvSpPr>
        <p:spPr>
          <a:xfrm>
            <a:off x="713232" y="3364992"/>
            <a:ext cx="1554480" cy="237744"/>
          </a:xfrm>
          <a:prstGeom prst="rect">
            <a:avLst/>
          </a:prstGeom>
          <a:noFill/>
          <a:ln/>
        </p:spPr>
        <p:txBody>
          <a:bodyPr wrap="square" lIns="0" tIns="0" rIns="0" bIns="0" rtlCol="0" anchor="ctr"/>
          <a:lstStyle/>
          <a:p>
            <a:pPr indent="0" marL="0">
              <a:buNone/>
            </a:pPr>
            <a:r>
              <a:rPr lang="en-US" sz="1050" b="1" spc="50" kern="0" dirty="0">
                <a:solidFill>
                  <a:srgbClr val="1B6B3A"/>
                </a:solidFill>
                <a:latin typeface="Calibri" pitchFamily="34" charset="0"/>
                <a:ea typeface="Calibri" pitchFamily="34" charset="-122"/>
                <a:cs typeface="Calibri" pitchFamily="34" charset="-120"/>
              </a:rPr>
              <a:t>RESULT</a:t>
            </a:r>
            <a:endParaRPr lang="en-US" sz="1050" dirty="0"/>
          </a:p>
        </p:txBody>
      </p:sp>
      <p:sp>
        <p:nvSpPr>
          <p:cNvPr id="12" name="Text 10"/>
          <p:cNvSpPr/>
          <p:nvPr/>
        </p:nvSpPr>
        <p:spPr>
          <a:xfrm>
            <a:off x="713232" y="3593592"/>
            <a:ext cx="10765231"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One unified optimization, closer to what we saw in the search (Ch. 3) and MDP (Ch. 16) chapters — a sequence of actions if dynamics are known, or a policy if not.</a:t>
            </a:r>
            <a:endParaRPr lang="en-US" sz="1300" dirty="0"/>
          </a:p>
        </p:txBody>
      </p:sp>
      <p:sp>
        <p:nvSpPr>
          <p:cNvPr id="13" name="Text 11"/>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4" name="Text 12"/>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15" name="Text 13"/>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26.5.4 OPTIMAL CONTROL</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The Linear Quadratic Regulator (LQR)</a:t>
            </a:r>
            <a:endParaRPr lang="en-US" sz="2700" dirty="0"/>
          </a:p>
        </p:txBody>
      </p:sp>
      <p:sp>
        <p:nvSpPr>
          <p:cNvPr id="4" name="Shape 2"/>
          <p:cNvSpPr/>
          <p:nvPr/>
        </p:nvSpPr>
        <p:spPr>
          <a:xfrm>
            <a:off x="548640" y="1417320"/>
            <a:ext cx="11094415" cy="1417320"/>
          </a:xfrm>
          <a:prstGeom prst="roundRect">
            <a:avLst>
              <a:gd name="adj" fmla="val 5161"/>
            </a:avLst>
          </a:prstGeom>
          <a:solidFill>
            <a:srgbClr val="EEF8EE"/>
          </a:solidFill>
          <a:ln w="12700">
            <a:solidFill>
              <a:srgbClr val="1B6B3A"/>
            </a:solidFill>
            <a:prstDash val="solid"/>
          </a:ln>
        </p:spPr>
      </p:sp>
      <p:sp>
        <p:nvSpPr>
          <p:cNvPr id="5" name="Text 3"/>
          <p:cNvSpPr/>
          <p:nvPr/>
        </p:nvSpPr>
        <p:spPr>
          <a:xfrm>
            <a:off x="749808" y="1527048"/>
            <a:ext cx="10692079" cy="274320"/>
          </a:xfrm>
          <a:prstGeom prst="rect">
            <a:avLst/>
          </a:prstGeom>
          <a:noFill/>
          <a:ln/>
        </p:spPr>
        <p:txBody>
          <a:bodyPr wrap="square" lIns="0" tIns="0" rIns="0" bIns="0" rtlCol="0" anchor="ctr"/>
          <a:lstStyle/>
          <a:p>
            <a:pPr indent="0" marL="0">
              <a:buNone/>
            </a:pPr>
            <a:r>
              <a:rPr lang="en-US" sz="1250" b="1" spc="50" kern="0" dirty="0">
                <a:solidFill>
                  <a:srgbClr val="1B6B3A"/>
                </a:solidFill>
                <a:latin typeface="Calibri" pitchFamily="34" charset="0"/>
                <a:ea typeface="Calibri" pitchFamily="34" charset="-122"/>
                <a:cs typeface="Calibri" pitchFamily="34" charset="-120"/>
              </a:rPr>
              <a:t>THE MAGIC CASE</a:t>
            </a:r>
            <a:endParaRPr lang="en-US" sz="1250" dirty="0"/>
          </a:p>
        </p:txBody>
      </p:sp>
      <p:sp>
        <p:nvSpPr>
          <p:cNvPr id="6" name="Text 4"/>
          <p:cNvSpPr/>
          <p:nvPr/>
        </p:nvSpPr>
        <p:spPr>
          <a:xfrm>
            <a:off x="749808" y="1837944"/>
            <a:ext cx="10692079" cy="905256"/>
          </a:xfrm>
          <a:prstGeom prst="rect">
            <a:avLst/>
          </a:prstGeom>
          <a:noFill/>
          <a:ln/>
        </p:spPr>
        <p:txBody>
          <a:bodyPr wrap="square" lIns="0" tIns="0" rIns="0" bIns="0" rtlCol="0" anchor="t"/>
          <a:lstStyle/>
          <a:p>
            <a:pPr indent="0" marL="0">
              <a:lnSpc>
                <a:spcPct val="118000"/>
              </a:lnSpc>
              <a:buNone/>
            </a:pPr>
            <a:r>
              <a:rPr lang="en-US" sz="1500" dirty="0">
                <a:solidFill>
                  <a:srgbClr val="1F2A37"/>
                </a:solidFill>
                <a:latin typeface="Calibri" pitchFamily="34" charset="0"/>
                <a:ea typeface="Calibri" pitchFamily="34" charset="-122"/>
                <a:cs typeface="Calibri" pitchFamily="34" charset="-120"/>
              </a:rPr>
              <a:t>When the cost J is QUADRATIC (xᵀQx + uᵀRu) and the dynamics f are LINEAR (ẋ = Ax + Bu), the optimal policy has a closed form — NO value iteration, NO policy iteration, NO local optimization needed at all.</a:t>
            </a:r>
            <a:endParaRPr lang="en-US" sz="1500" dirty="0"/>
          </a:p>
        </p:txBody>
      </p:sp>
      <p:sp>
        <p:nvSpPr>
          <p:cNvPr id="7" name="Text 5"/>
          <p:cNvSpPr/>
          <p:nvPr/>
        </p:nvSpPr>
        <p:spPr>
          <a:xfrm>
            <a:off x="548640" y="3063240"/>
            <a:ext cx="11094415" cy="2468880"/>
          </a:xfrm>
          <a:prstGeom prst="rect">
            <a:avLst/>
          </a:prstGeom>
          <a:noFill/>
          <a:ln/>
        </p:spPr>
        <p:txBody>
          <a:bodyPr wrap="square" lIns="0" tIns="0" rIns="0" bIns="0" rtlCol="0" anchor="t"/>
          <a:lstStyle/>
          <a:p>
            <a:pPr marL="228600" indent="-228600">
              <a:spcAft>
                <a:spcPts val="1000"/>
              </a:spcAft>
              <a:buSzPct val="100000"/>
              <a:buChar char="●"/>
            </a:pPr>
            <a:r>
              <a:rPr lang="en-US" sz="1500" b="1" dirty="0">
                <a:solidFill>
                  <a:srgbClr val="1F2A37"/>
                </a:solidFill>
                <a:latin typeface="Calibri" pitchFamily="34" charset="0"/>
                <a:ea typeface="Calibri" pitchFamily="34" charset="-122"/>
                <a:cs typeface="Calibri" pitchFamily="34" charset="-120"/>
              </a:rPr>
              <a:t>The optimal value function ("cost to go") is quadratic; the optimal policy is exactly linear: u = −Kx.</a:t>
            </a:r>
            <a:endParaRPr lang="en-US" sz="1500" dirty="0"/>
          </a:p>
          <a:p>
            <a:pPr lvl="1" marL="4572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Finding K requires solving one algebraic Riccati equation — a single, direct calculation.</a:t>
            </a:r>
            <a:endParaRPr lang="en-US" sz="1500" dirty="0"/>
          </a:p>
          <a:p>
            <a:pPr lvl="1" marL="4572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Real problems rarely have exactly quadratic costs and linear dynamics — but LQR is used constantly anyway, because it's so cheap and reliable.</a:t>
            </a:r>
            <a:endParaRPr lang="en-US" sz="1500" dirty="0"/>
          </a:p>
        </p:txBody>
      </p:sp>
      <p:sp>
        <p:nvSpPr>
          <p:cNvPr id="8" name="Text 6"/>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9" name="Text 7"/>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10" name="Text 8"/>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26.5.4 OPTIMAL CONTROL</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ILQR: Bootstrapping LQR for Real Problems</a:t>
            </a:r>
            <a:endParaRPr lang="en-US" sz="2700" dirty="0"/>
          </a:p>
        </p:txBody>
      </p:sp>
      <p:sp>
        <p:nvSpPr>
          <p:cNvPr id="4" name="Text 2"/>
          <p:cNvSpPr/>
          <p:nvPr/>
        </p:nvSpPr>
        <p:spPr>
          <a:xfrm>
            <a:off x="548640" y="1417320"/>
            <a:ext cx="11094415" cy="4937760"/>
          </a:xfrm>
          <a:prstGeom prst="rect">
            <a:avLst/>
          </a:prstGeom>
          <a:noFill/>
          <a:ln/>
        </p:spPr>
        <p:txBody>
          <a:bodyPr wrap="square" lIns="0" tIns="0" rIns="0" bIns="0" rtlCol="0" anchor="t"/>
          <a:lstStyle/>
          <a:p>
            <a:pPr marL="228600" indent="-228600">
              <a:spcAft>
                <a:spcPts val="1000"/>
              </a:spcAft>
              <a:buSzPct val="100000"/>
              <a:buChar char="●"/>
            </a:pPr>
            <a:r>
              <a:rPr lang="en-US" sz="1600" b="1" dirty="0">
                <a:solidFill>
                  <a:srgbClr val="1F2A37"/>
                </a:solidFill>
                <a:latin typeface="Calibri" pitchFamily="34" charset="0"/>
                <a:ea typeface="Calibri" pitchFamily="34" charset="-122"/>
                <a:cs typeface="Calibri" pitchFamily="34" charset="-120"/>
              </a:rPr>
              <a:t>Iterative LQR (ILQR): start with some initial solution.</a:t>
            </a:r>
            <a:endParaRPr lang="en-US" sz="1600" dirty="0"/>
          </a:p>
          <a:p>
            <a:pPr lvl="1" marL="457200" indent="-228600">
              <a:spcAft>
                <a:spcPts val="1000"/>
              </a:spcAft>
              <a:buSzPct val="100000"/>
              <a:buChar char="–"/>
            </a:pPr>
            <a:r>
              <a:rPr lang="en-US" sz="1600" dirty="0">
                <a:solidFill>
                  <a:srgbClr val="1F2A37"/>
                </a:solidFill>
                <a:latin typeface="Calibri" pitchFamily="34" charset="0"/>
                <a:ea typeface="Calibri" pitchFamily="34" charset="-122"/>
                <a:cs typeface="Calibri" pitchFamily="34" charset="-120"/>
              </a:rPr>
              <a:t>At every iteration: compute a LINEAR approximation of the dynamics, and a QUADRATIC approximation of the cost, around the current trajectory.</a:t>
            </a:r>
            <a:endParaRPr lang="en-US" sz="1600" dirty="0"/>
          </a:p>
          <a:p>
            <a:pPr lvl="1" marL="457200" indent="-228600">
              <a:spcAft>
                <a:spcPts val="1000"/>
              </a:spcAft>
              <a:buSzPct val="100000"/>
              <a:buChar char="–"/>
            </a:pPr>
            <a:r>
              <a:rPr lang="en-US" sz="1600" dirty="0">
                <a:solidFill>
                  <a:srgbClr val="1F2A37"/>
                </a:solidFill>
                <a:latin typeface="Calibri" pitchFamily="34" charset="0"/>
                <a:ea typeface="Calibri" pitchFamily="34" charset="-122"/>
                <a:cs typeface="Calibri" pitchFamily="34" charset="-120"/>
              </a:rPr>
              <a:t>Solve THAT local LQR problem exactly, to get an improved trajectory.</a:t>
            </a:r>
            <a:endParaRPr lang="en-US" sz="1600" dirty="0"/>
          </a:p>
          <a:p>
            <a:pPr lvl="1" marL="457200" indent="-228600">
              <a:spcAft>
                <a:spcPts val="1000"/>
              </a:spcAft>
              <a:buSzPct val="100000"/>
              <a:buChar char="–"/>
            </a:pPr>
            <a:r>
              <a:rPr lang="en-US" sz="1600" dirty="0">
                <a:solidFill>
                  <a:srgbClr val="1F2A37"/>
                </a:solidFill>
                <a:latin typeface="Calibri" pitchFamily="34" charset="0"/>
                <a:ea typeface="Calibri" pitchFamily="34" charset="-122"/>
                <a:cs typeface="Calibri" pitchFamily="34" charset="-120"/>
              </a:rPr>
              <a:t>Repeat — each iteration should nudge you closer to a genuinely good, if not perfectly optimal, trajectory.</a:t>
            </a:r>
            <a:endParaRPr lang="en-US" sz="1600" dirty="0"/>
          </a:p>
        </p:txBody>
      </p:sp>
      <p:sp>
        <p:nvSpPr>
          <p:cNvPr id="5" name="Shape 3"/>
          <p:cNvSpPr/>
          <p:nvPr/>
        </p:nvSpPr>
        <p:spPr>
          <a:xfrm>
            <a:off x="548640" y="4572000"/>
            <a:ext cx="11094415" cy="1371600"/>
          </a:xfrm>
          <a:prstGeom prst="roundRect">
            <a:avLst>
              <a:gd name="adj" fmla="val 5333"/>
            </a:avLst>
          </a:prstGeom>
          <a:solidFill>
            <a:srgbClr val="FFF8E6"/>
          </a:solidFill>
          <a:ln w="12700">
            <a:solidFill>
              <a:srgbClr val="C8840A"/>
            </a:solidFill>
            <a:prstDash val="solid"/>
          </a:ln>
        </p:spPr>
      </p:sp>
      <p:sp>
        <p:nvSpPr>
          <p:cNvPr id="6" name="Text 4"/>
          <p:cNvSpPr/>
          <p:nvPr/>
        </p:nvSpPr>
        <p:spPr>
          <a:xfrm>
            <a:off x="749808" y="4681728"/>
            <a:ext cx="10692079" cy="274320"/>
          </a:xfrm>
          <a:prstGeom prst="rect">
            <a:avLst/>
          </a:prstGeom>
          <a:noFill/>
          <a:ln/>
        </p:spPr>
        <p:txBody>
          <a:bodyPr wrap="square" lIns="0" tIns="0" rIns="0" bIns="0" rtlCol="0" anchor="ctr"/>
          <a:lstStyle/>
          <a:p>
            <a:pPr indent="0" marL="0">
              <a:buNone/>
            </a:pPr>
            <a:r>
              <a:rPr lang="en-US" sz="1250" b="1" spc="50" kern="0" dirty="0">
                <a:solidFill>
                  <a:srgbClr val="C8840A"/>
                </a:solidFill>
                <a:latin typeface="Calibri" pitchFamily="34" charset="0"/>
                <a:ea typeface="Calibri" pitchFamily="34" charset="-122"/>
                <a:cs typeface="Calibri" pitchFamily="34" charset="-120"/>
              </a:rPr>
              <a:t>REAL-WORLD ANCHOR</a:t>
            </a:r>
            <a:endParaRPr lang="en-US" sz="1250" dirty="0"/>
          </a:p>
        </p:txBody>
      </p:sp>
      <p:sp>
        <p:nvSpPr>
          <p:cNvPr id="7" name="Text 5"/>
          <p:cNvSpPr/>
          <p:nvPr/>
        </p:nvSpPr>
        <p:spPr>
          <a:xfrm>
            <a:off x="749808" y="4992624"/>
            <a:ext cx="10692079" cy="85953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ILQR-style methods sit at the core of much of modern legged-robot and manipulator control, including work that let simplified humanoid robots learn to walk and robot arms learn to hit a baseball.</a:t>
            </a:r>
            <a:endParaRPr lang="en-US" sz="1300" dirty="0"/>
          </a:p>
        </p:txBody>
      </p:sp>
      <p:sp>
        <p:nvSpPr>
          <p:cNvPr id="8" name="Text 6"/>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9" name="Text 7"/>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10" name="Text 8"/>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26.5 WRAP-UP</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Wren's Complete Motion Stack</a:t>
            </a:r>
            <a:endParaRPr lang="en-US" sz="2700" dirty="0"/>
          </a:p>
        </p:txBody>
      </p:sp>
      <p:sp>
        <p:nvSpPr>
          <p:cNvPr id="4" name="Shape 2"/>
          <p:cNvSpPr/>
          <p:nvPr/>
        </p:nvSpPr>
        <p:spPr>
          <a:xfrm>
            <a:off x="548640" y="1417320"/>
            <a:ext cx="11094415" cy="4297680"/>
          </a:xfrm>
          <a:prstGeom prst="roundRect">
            <a:avLst>
              <a:gd name="adj" fmla="val 1915"/>
            </a:avLst>
          </a:prstGeom>
          <a:solidFill>
            <a:srgbClr val="EEF8EE"/>
          </a:solidFill>
          <a:ln/>
          <a:effectLst>
            <a:outerShdw sx="100000" sy="100000" kx="0" ky="0" algn="bl" rotWithShape="0" blurRad="76200" dist="25400" dir="5400000">
              <a:srgbClr val="1A3A5C">
                <a:alpha val="12000"/>
              </a:srgbClr>
            </a:outerShdw>
          </a:effectLst>
        </p:spPr>
      </p:sp>
      <p:sp>
        <p:nvSpPr>
          <p:cNvPr id="5" name="Text 3"/>
          <p:cNvSpPr/>
          <p:nvPr/>
        </p:nvSpPr>
        <p:spPr>
          <a:xfrm>
            <a:off x="749808" y="1545336"/>
            <a:ext cx="10692079" cy="329184"/>
          </a:xfrm>
          <a:prstGeom prst="rect">
            <a:avLst/>
          </a:prstGeom>
          <a:noFill/>
          <a:ln/>
        </p:spPr>
        <p:txBody>
          <a:bodyPr wrap="square" lIns="0" tIns="0" rIns="0" bIns="0" rtlCol="0" anchor="ctr"/>
          <a:lstStyle/>
          <a:p>
            <a:pPr indent="0" marL="0">
              <a:buNone/>
            </a:pPr>
            <a:r>
              <a:rPr lang="en-US" sz="1450" b="1" dirty="0">
                <a:solidFill>
                  <a:srgbClr val="1B6B3A"/>
                </a:solidFill>
                <a:latin typeface="Calibri" pitchFamily="34" charset="0"/>
                <a:ea typeface="Calibri" pitchFamily="34" charset="-122"/>
                <a:cs typeface="Calibri" pitchFamily="34" charset="-120"/>
              </a:rPr>
              <a:t>One consolidated picture</a:t>
            </a:r>
            <a:endParaRPr lang="en-US" sz="1450" dirty="0"/>
          </a:p>
        </p:txBody>
      </p:sp>
      <p:sp>
        <p:nvSpPr>
          <p:cNvPr id="6" name="Text 4"/>
          <p:cNvSpPr/>
          <p:nvPr/>
        </p:nvSpPr>
        <p:spPr>
          <a:xfrm>
            <a:off x="749808" y="1929384"/>
            <a:ext cx="10692079" cy="3675888"/>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1. Task planning already decided: 'deliver tray to Maria Santos's room.'</a:t>
            </a:r>
            <a:endParaRPr lang="en-US" sz="1350" dirty="0"/>
          </a:p>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2. Wren's configuration space is 3D — (x, y, θ) for its wheeled base — and it uses a bidirectional RRT to find a collision-free path around a housekeeping cart parked in the hallway.</a:t>
            </a:r>
            <a:endParaRPr lang="en-US" sz="1350" dirty="0"/>
          </a:p>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3. That geometric path is retimed into a real trajectory ξ(t), accounting for Wren's maximum safe hallway speed near patients.</a:t>
            </a:r>
            <a:endParaRPr lang="en-US" sz="1350" dirty="0"/>
          </a:p>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4. A PID controller tracks that trajectory in real time, correcting for wheel slip on the linoleum floor exactly the way our P/PD/PID diagrams showed.</a:t>
            </a:r>
            <a:endParaRPr lang="en-US" sz="1350" dirty="0"/>
          </a:p>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5. If Wren were built for smoother, more precise tracking, an ILQR-based controller could unify steps 3 and 4 into one optimization.</a:t>
            </a:r>
            <a:endParaRPr lang="en-US" sz="1350" dirty="0"/>
          </a:p>
        </p:txBody>
      </p:sp>
      <p:sp>
        <p:nvSpPr>
          <p:cNvPr id="7" name="Text 5"/>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8" name="Text 6"/>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26.5 Planning &amp; Control</a:t>
            </a:r>
            <a:endParaRPr lang="en-US" sz="900" dirty="0"/>
          </a:p>
        </p:txBody>
      </p:sp>
      <p:sp>
        <p:nvSpPr>
          <p:cNvPr id="9" name="Text 7"/>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3A5C"/>
          </a:solidFill>
          <a:ln/>
        </p:spPr>
      </p:sp>
      <p:sp>
        <p:nvSpPr>
          <p:cNvPr id="3" name="Shape 1"/>
          <p:cNvSpPr/>
          <p:nvPr/>
        </p:nvSpPr>
        <p:spPr>
          <a:xfrm>
            <a:off x="9692640" y="2377440"/>
            <a:ext cx="5120640" cy="5120640"/>
          </a:xfrm>
          <a:prstGeom prst="ellipse">
            <a:avLst/>
          </a:prstGeom>
          <a:solidFill>
            <a:srgbClr val="132B45"/>
          </a:solidFill>
          <a:ln/>
        </p:spPr>
      </p:sp>
      <p:sp>
        <p:nvSpPr>
          <p:cNvPr id="4" name="Text 2"/>
          <p:cNvSpPr/>
          <p:nvPr/>
        </p:nvSpPr>
        <p:spPr>
          <a:xfrm>
            <a:off x="822960" y="1463040"/>
            <a:ext cx="3657600" cy="1554480"/>
          </a:xfrm>
          <a:prstGeom prst="rect">
            <a:avLst/>
          </a:prstGeom>
          <a:noFill/>
          <a:ln/>
        </p:spPr>
        <p:txBody>
          <a:bodyPr wrap="square" lIns="0" tIns="0" rIns="0" bIns="0" rtlCol="0" anchor="ctr"/>
          <a:lstStyle/>
          <a:p>
            <a:pPr indent="0" marL="0">
              <a:buNone/>
            </a:pPr>
            <a:r>
              <a:rPr lang="en-US" sz="8400" b="1" dirty="0">
                <a:solidFill>
                  <a:srgbClr val="E8960C"/>
                </a:solidFill>
                <a:latin typeface="Calibri" pitchFamily="34" charset="0"/>
                <a:ea typeface="Calibri" pitchFamily="34" charset="-122"/>
                <a:cs typeface="Calibri" pitchFamily="34" charset="-120"/>
              </a:rPr>
              <a:t>26.6</a:t>
            </a:r>
            <a:endParaRPr lang="en-US" sz="8400" dirty="0"/>
          </a:p>
        </p:txBody>
      </p:sp>
      <p:sp>
        <p:nvSpPr>
          <p:cNvPr id="5" name="Text 3"/>
          <p:cNvSpPr/>
          <p:nvPr/>
        </p:nvSpPr>
        <p:spPr>
          <a:xfrm>
            <a:off x="822960" y="2971800"/>
            <a:ext cx="9875520" cy="105156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Planning Uncertain Movements</a:t>
            </a:r>
            <a:endParaRPr lang="en-US" sz="3800" dirty="0"/>
          </a:p>
        </p:txBody>
      </p:sp>
      <p:sp>
        <p:nvSpPr>
          <p:cNvPr id="6" name="Text 4"/>
          <p:cNvSpPr/>
          <p:nvPr/>
        </p:nvSpPr>
        <p:spPr>
          <a:xfrm>
            <a:off x="822960" y="3977640"/>
            <a:ext cx="8778240" cy="82296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When the most-likely-state trick isn't good enough.</a:t>
            </a:r>
            <a:endParaRPr lang="en-US" sz="1600" dirty="0"/>
          </a:p>
        </p:txBody>
      </p:sp>
      <p:sp>
        <p:nvSpPr>
          <p:cNvPr id="7" name="Shape 5"/>
          <p:cNvSpPr/>
          <p:nvPr/>
        </p:nvSpPr>
        <p:spPr>
          <a:xfrm>
            <a:off x="868680" y="4956048"/>
            <a:ext cx="82296" cy="82296"/>
          </a:xfrm>
          <a:prstGeom prst="ellipse">
            <a:avLst/>
          </a:prstGeom>
          <a:solidFill>
            <a:srgbClr val="E8960C"/>
          </a:solidFill>
          <a:ln/>
        </p:spPr>
      </p:sp>
      <p:sp>
        <p:nvSpPr>
          <p:cNvPr id="8" name="Text 6"/>
          <p:cNvSpPr/>
          <p:nvPr/>
        </p:nvSpPr>
        <p:spPr>
          <a:xfrm>
            <a:off x="1097280" y="4837176"/>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Online replanning and Model Predictive Control (MPC)</a:t>
            </a:r>
            <a:endParaRPr lang="en-US" sz="1350" dirty="0"/>
          </a:p>
        </p:txBody>
      </p:sp>
      <p:sp>
        <p:nvSpPr>
          <p:cNvPr id="9" name="Shape 7"/>
          <p:cNvSpPr/>
          <p:nvPr/>
        </p:nvSpPr>
        <p:spPr>
          <a:xfrm>
            <a:off x="868680" y="5285232"/>
            <a:ext cx="82296" cy="82296"/>
          </a:xfrm>
          <a:prstGeom prst="ellipse">
            <a:avLst/>
          </a:prstGeom>
          <a:solidFill>
            <a:srgbClr val="E8960C"/>
          </a:solidFill>
          <a:ln/>
        </p:spPr>
      </p:sp>
      <p:sp>
        <p:nvSpPr>
          <p:cNvPr id="10" name="Text 8"/>
          <p:cNvSpPr/>
          <p:nvPr/>
        </p:nvSpPr>
        <p:spPr>
          <a:xfrm>
            <a:off x="1097280" y="5166360"/>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Information-gathering actions and the value of information</a:t>
            </a:r>
            <a:endParaRPr lang="en-US" sz="1350" dirty="0"/>
          </a:p>
        </p:txBody>
      </p:sp>
      <p:sp>
        <p:nvSpPr>
          <p:cNvPr id="11" name="Shape 9"/>
          <p:cNvSpPr/>
          <p:nvPr/>
        </p:nvSpPr>
        <p:spPr>
          <a:xfrm>
            <a:off x="868680" y="5614416"/>
            <a:ext cx="82296" cy="82296"/>
          </a:xfrm>
          <a:prstGeom prst="ellipse">
            <a:avLst/>
          </a:prstGeom>
          <a:solidFill>
            <a:srgbClr val="E8960C"/>
          </a:solidFill>
          <a:ln/>
        </p:spPr>
      </p:sp>
      <p:sp>
        <p:nvSpPr>
          <p:cNvPr id="12" name="Text 10"/>
          <p:cNvSpPr/>
          <p:nvPr/>
        </p:nvSpPr>
        <p:spPr>
          <a:xfrm>
            <a:off x="1097280" y="5495544"/>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Guarded movements and coastal navigation</a:t>
            </a:r>
            <a:endParaRPr lang="en-US" sz="1350" dirty="0"/>
          </a:p>
        </p:txBody>
      </p:sp>
      <p:sp>
        <p:nvSpPr>
          <p:cNvPr id="13" name="Text 11"/>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4" name="Text 12"/>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Planning Uncertain Movements</a:t>
            </a:r>
            <a:endParaRPr lang="en-US" sz="900" dirty="0"/>
          </a:p>
        </p:txBody>
      </p:sp>
      <p:sp>
        <p:nvSpPr>
          <p:cNvPr id="15" name="Text 13"/>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26.6 UNCERTAIN MOVEMENTS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Where Determinism Quietly Breaks Down</a:t>
            </a:r>
            <a:endParaRPr lang="en-US" sz="2700" dirty="0"/>
          </a:p>
        </p:txBody>
      </p:sp>
      <p:sp>
        <p:nvSpPr>
          <p:cNvPr id="4" name="Text 2"/>
          <p:cNvSpPr/>
          <p:nvPr/>
        </p:nvSpPr>
        <p:spPr>
          <a:xfrm>
            <a:off x="548640" y="1417320"/>
            <a:ext cx="11094415" cy="4937760"/>
          </a:xfrm>
          <a:prstGeom prst="rect">
            <a:avLst/>
          </a:prstGeom>
          <a:noFill/>
          <a:ln/>
        </p:spPr>
        <p:txBody>
          <a:bodyPr wrap="square" lIns="0" tIns="0" rIns="0" bIns="0" rtlCol="0" anchor="t"/>
          <a:lstStyle/>
          <a:p>
            <a:pPr marL="228600" indent="-228600">
              <a:spcAft>
                <a:spcPts val="1000"/>
              </a:spcAft>
              <a:buSzPct val="100000"/>
              <a:buChar char="●"/>
            </a:pPr>
            <a:r>
              <a:rPr lang="en-US" sz="1550" b="1" dirty="0">
                <a:solidFill>
                  <a:srgbClr val="1F2A37"/>
                </a:solidFill>
                <a:latin typeface="Calibri" pitchFamily="34" charset="0"/>
                <a:ea typeface="Calibri" pitchFamily="34" charset="-122"/>
                <a:cs typeface="Calibri" pitchFamily="34" charset="-120"/>
              </a:rPr>
              <a:t>Uncertainty in robotics comes from partial observability AND stochastic (or unmodeled) action effects.</a:t>
            </a:r>
            <a:endParaRPr lang="en-US" sz="1550" dirty="0"/>
          </a:p>
          <a:p>
            <a:pPr marL="228600" indent="-228600">
              <a:spcAft>
                <a:spcPts val="1000"/>
              </a:spcAft>
              <a:buSzPct val="100000"/>
              <a:buChar char="●"/>
            </a:pPr>
            <a:r>
              <a:rPr lang="en-US" sz="1550" dirty="0">
                <a:solidFill>
                  <a:srgbClr val="1F2A37"/>
                </a:solidFill>
                <a:latin typeface="Calibri" pitchFamily="34" charset="0"/>
                <a:ea typeface="Calibri" pitchFamily="34" charset="-122"/>
                <a:cs typeface="Calibri" pitchFamily="34" charset="-120"/>
              </a:rPr>
              <a:t>Even approximation algorithms like particle filtering introduce their own error — you don't get an exact belief state, even in a perfectly modeled world.</a:t>
            </a:r>
            <a:endParaRPr lang="en-US" sz="1550" dirty="0"/>
          </a:p>
          <a:p>
            <a:pPr marL="228600" indent="-228600">
              <a:spcAft>
                <a:spcPts val="1000"/>
              </a:spcAft>
              <a:buSzPct val="100000"/>
              <a:buChar char="●"/>
            </a:pPr>
            <a:r>
              <a:rPr lang="en-US" sz="1550" b="1" dirty="0">
                <a:solidFill>
                  <a:srgbClr val="1F2A37"/>
                </a:solidFill>
                <a:latin typeface="Calibri" pitchFamily="34" charset="0"/>
                <a:ea typeface="Calibri" pitchFamily="34" charset="-122"/>
                <a:cs typeface="Calibri" pitchFamily="34" charset="-120"/>
              </a:rPr>
              <a:t>Most robots today cope with two deterministic shortcuts:</a:t>
            </a:r>
            <a:endParaRPr lang="en-US" sz="1550" dirty="0"/>
          </a:p>
          <a:p>
            <a:pPr lvl="1" marL="457200" indent="-228600">
              <a:spcAft>
                <a:spcPts val="1000"/>
              </a:spcAft>
              <a:buSzPct val="100000"/>
              <a:buChar char="–"/>
            </a:pPr>
            <a:r>
              <a:rPr lang="en-US" sz="1550" dirty="0">
                <a:solidFill>
                  <a:srgbClr val="1F2A37"/>
                </a:solidFill>
                <a:latin typeface="Calibri" pitchFamily="34" charset="0"/>
                <a:ea typeface="Calibri" pitchFamily="34" charset="-122"/>
                <a:cs typeface="Calibri" pitchFamily="34" charset="-120"/>
              </a:rPr>
              <a:t>Discretize the continuous space (visibility graphs, cell decomposition — Section 26.5).</a:t>
            </a:r>
            <a:endParaRPr lang="en-US" sz="1550" dirty="0"/>
          </a:p>
          <a:p>
            <a:pPr lvl="1" marL="457200" indent="-228600">
              <a:spcAft>
                <a:spcPts val="1000"/>
              </a:spcAft>
              <a:buSzPct val="100000"/>
              <a:buChar char="–"/>
            </a:pPr>
            <a:r>
              <a:rPr lang="en-US" sz="1550" dirty="0">
                <a:solidFill>
                  <a:srgbClr val="1F2A37"/>
                </a:solidFill>
                <a:latin typeface="Calibri" pitchFamily="34" charset="0"/>
                <a:ea typeface="Calibri" pitchFamily="34" charset="-122"/>
                <a:cs typeface="Calibri" pitchFamily="34" charset="-120"/>
              </a:rPr>
              <a:t>Pick the single MOST LIKELY state from the belief distribution, and just plan as if that's the true state.</a:t>
            </a:r>
            <a:endParaRPr lang="en-US" sz="1550" dirty="0"/>
          </a:p>
        </p:txBody>
      </p:sp>
      <p:sp>
        <p:nvSpPr>
          <p:cNvPr id="5" name="Shape 3"/>
          <p:cNvSpPr/>
          <p:nvPr/>
        </p:nvSpPr>
        <p:spPr>
          <a:xfrm>
            <a:off x="548640" y="5212080"/>
            <a:ext cx="11094415" cy="960120"/>
          </a:xfrm>
          <a:prstGeom prst="roundRect">
            <a:avLst>
              <a:gd name="adj" fmla="val 7619"/>
            </a:avLst>
          </a:prstGeom>
          <a:solidFill>
            <a:srgbClr val="FFF0EE"/>
          </a:solidFill>
          <a:ln w="12700">
            <a:solidFill>
              <a:srgbClr val="B5311A"/>
            </a:solidFill>
            <a:prstDash val="solid"/>
          </a:ln>
        </p:spPr>
      </p:sp>
      <p:sp>
        <p:nvSpPr>
          <p:cNvPr id="6" name="Text 4"/>
          <p:cNvSpPr/>
          <p:nvPr/>
        </p:nvSpPr>
        <p:spPr>
          <a:xfrm>
            <a:off x="749808" y="5321808"/>
            <a:ext cx="10692079" cy="274320"/>
          </a:xfrm>
          <a:prstGeom prst="rect">
            <a:avLst/>
          </a:prstGeom>
          <a:noFill/>
          <a:ln/>
        </p:spPr>
        <p:txBody>
          <a:bodyPr wrap="square" lIns="0" tIns="0" rIns="0" bIns="0" rtlCol="0" anchor="ctr"/>
          <a:lstStyle/>
          <a:p>
            <a:pPr indent="0" marL="0">
              <a:buNone/>
            </a:pPr>
            <a:r>
              <a:rPr lang="en-US" sz="1250" b="1" spc="50" kern="0" dirty="0">
                <a:solidFill>
                  <a:srgbClr val="B5311A"/>
                </a:solidFill>
                <a:latin typeface="Calibri" pitchFamily="34" charset="0"/>
                <a:ea typeface="Calibri" pitchFamily="34" charset="-122"/>
                <a:cs typeface="Calibri" pitchFamily="34" charset="-120"/>
              </a:rPr>
              <a:t>THE RISK</a:t>
            </a:r>
            <a:endParaRPr lang="en-US" sz="1250" dirty="0"/>
          </a:p>
        </p:txBody>
      </p:sp>
      <p:sp>
        <p:nvSpPr>
          <p:cNvPr id="7" name="Text 5"/>
          <p:cNvSpPr/>
          <p:nvPr/>
        </p:nvSpPr>
        <p:spPr>
          <a:xfrm>
            <a:off x="749808" y="5632704"/>
            <a:ext cx="10692079" cy="44805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The most-likely-state shortcut is fast, but throws away the shape of your uncertainty entirely — sometimes the safest action depends on the SPREAD of possibilities, not just the single best guess.</a:t>
            </a:r>
            <a:endParaRPr lang="en-US" sz="1300" dirty="0"/>
          </a:p>
        </p:txBody>
      </p:sp>
      <p:sp>
        <p:nvSpPr>
          <p:cNvPr id="8" name="Text 6"/>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9" name="Text 7"/>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26.6 Uncertain Movements</a:t>
            </a:r>
            <a:endParaRPr lang="en-US" sz="900" dirty="0"/>
          </a:p>
        </p:txBody>
      </p:sp>
      <p:sp>
        <p:nvSpPr>
          <p:cNvPr id="10" name="Text 8"/>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26.6 UNCERTAIN MOVEMENTS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Online Replanning: Model Predictive Control</a:t>
            </a:r>
            <a:endParaRPr lang="en-US" sz="2700" dirty="0"/>
          </a:p>
        </p:txBody>
      </p:sp>
      <p:sp>
        <p:nvSpPr>
          <p:cNvPr id="4" name="Shape 2"/>
          <p:cNvSpPr/>
          <p:nvPr/>
        </p:nvSpPr>
        <p:spPr>
          <a:xfrm>
            <a:off x="548640" y="1417320"/>
            <a:ext cx="11094415" cy="1234440"/>
          </a:xfrm>
          <a:prstGeom prst="roundRect">
            <a:avLst>
              <a:gd name="adj" fmla="val 5926"/>
            </a:avLst>
          </a:prstGeom>
          <a:solidFill>
            <a:srgbClr val="EEF2FF"/>
          </a:solidFill>
          <a:ln w="12700">
            <a:solidFill>
              <a:srgbClr val="4A6FA5"/>
            </a:solidFill>
            <a:prstDash val="solid"/>
          </a:ln>
        </p:spPr>
      </p:sp>
      <p:sp>
        <p:nvSpPr>
          <p:cNvPr id="5" name="Text 3"/>
          <p:cNvSpPr/>
          <p:nvPr/>
        </p:nvSpPr>
        <p:spPr>
          <a:xfrm>
            <a:off x="749808" y="1527048"/>
            <a:ext cx="10692079" cy="274320"/>
          </a:xfrm>
          <a:prstGeom prst="rect">
            <a:avLst/>
          </a:prstGeom>
          <a:noFill/>
          <a:ln/>
        </p:spPr>
        <p:txBody>
          <a:bodyPr wrap="square" lIns="0" tIns="0" rIns="0" bIns="0" rtlCol="0" anchor="ctr"/>
          <a:lstStyle/>
          <a:p>
            <a:pPr indent="0" marL="0">
              <a:buNone/>
            </a:pPr>
            <a:r>
              <a:rPr lang="en-US" sz="1250" b="1" spc="50" kern="0" dirty="0">
                <a:solidFill>
                  <a:srgbClr val="4A6FA5"/>
                </a:solidFill>
                <a:latin typeface="Calibri" pitchFamily="34" charset="0"/>
                <a:ea typeface="Calibri" pitchFamily="34" charset="-122"/>
                <a:cs typeface="Calibri" pitchFamily="34" charset="-120"/>
              </a:rPr>
              <a:t>THE CORE IDEA</a:t>
            </a:r>
            <a:endParaRPr lang="en-US" sz="1250" dirty="0"/>
          </a:p>
        </p:txBody>
      </p:sp>
      <p:sp>
        <p:nvSpPr>
          <p:cNvPr id="6" name="Text 4"/>
          <p:cNvSpPr/>
          <p:nvPr/>
        </p:nvSpPr>
        <p:spPr>
          <a:xfrm>
            <a:off x="749808" y="1837944"/>
            <a:ext cx="10692079" cy="722376"/>
          </a:xfrm>
          <a:prstGeom prst="rect">
            <a:avLst/>
          </a:prstGeom>
          <a:noFill/>
          <a:ln/>
        </p:spPr>
        <p:txBody>
          <a:bodyPr wrap="square" lIns="0" tIns="0" rIns="0" bIns="0" rtlCol="0" anchor="t"/>
          <a:lstStyle/>
          <a:p>
            <a:pPr indent="0" marL="0">
              <a:lnSpc>
                <a:spcPct val="118000"/>
              </a:lnSpc>
              <a:buNone/>
            </a:pPr>
            <a:r>
              <a:rPr lang="en-US" sz="1450" dirty="0">
                <a:solidFill>
                  <a:srgbClr val="1F2A37"/>
                </a:solidFill>
                <a:latin typeface="Calibri" pitchFamily="34" charset="0"/>
                <a:ea typeface="Calibri" pitchFamily="34" charset="-122"/>
                <a:cs typeface="Calibri" pitchFamily="34" charset="-120"/>
              </a:rPr>
              <a:t>Instead of committing to one long deterministic plan, plan for only a SHORT horizon — then replan from scratch at every single time step, using whatever new information just arrived.</a:t>
            </a:r>
            <a:endParaRPr lang="en-US" sz="1450" dirty="0"/>
          </a:p>
        </p:txBody>
      </p:sp>
      <p:sp>
        <p:nvSpPr>
          <p:cNvPr id="7" name="Text 5"/>
          <p:cNvSpPr/>
          <p:nvPr/>
        </p:nvSpPr>
        <p:spPr>
          <a:xfrm>
            <a:off x="548640" y="2880360"/>
            <a:ext cx="11094415" cy="219456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Effectively becomes a policy: at every step, run a planner, take only its FIRST action, then throw the rest of the plan away and replan.</a:t>
            </a:r>
            <a:endParaRPr lang="en-US" sz="1500" dirty="0"/>
          </a:p>
          <a:p>
            <a:pPr marL="2286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If new information arrives, or you end up somewhere unexpected — that's fine. You're about to replan anyway.</a:t>
            </a:r>
            <a:endParaRPr lang="en-US" sz="1500" dirty="0"/>
          </a:p>
          <a:p>
            <a:pPr marL="2286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Closely related to real-time search and game-playing algorithms (recall iterative deepening / limited-horizon minimax from earlier chapters).</a:t>
            </a:r>
            <a:endParaRPr lang="en-US" sz="1500" dirty="0"/>
          </a:p>
        </p:txBody>
      </p:sp>
      <p:sp>
        <p:nvSpPr>
          <p:cNvPr id="8" name="Shape 6"/>
          <p:cNvSpPr/>
          <p:nvPr/>
        </p:nvSpPr>
        <p:spPr>
          <a:xfrm>
            <a:off x="548640" y="5166360"/>
            <a:ext cx="11094415" cy="960120"/>
          </a:xfrm>
          <a:prstGeom prst="roundRect">
            <a:avLst>
              <a:gd name="adj" fmla="val 7619"/>
            </a:avLst>
          </a:prstGeom>
          <a:solidFill>
            <a:srgbClr val="FFF8E6"/>
          </a:solidFill>
          <a:ln w="12700">
            <a:solidFill>
              <a:srgbClr val="C8840A"/>
            </a:solidFill>
            <a:prstDash val="solid"/>
          </a:ln>
        </p:spPr>
      </p:sp>
      <p:sp>
        <p:nvSpPr>
          <p:cNvPr id="9" name="Text 7"/>
          <p:cNvSpPr/>
          <p:nvPr/>
        </p:nvSpPr>
        <p:spPr>
          <a:xfrm>
            <a:off x="749808" y="5276088"/>
            <a:ext cx="10692079" cy="274320"/>
          </a:xfrm>
          <a:prstGeom prst="rect">
            <a:avLst/>
          </a:prstGeom>
          <a:noFill/>
          <a:ln/>
        </p:spPr>
        <p:txBody>
          <a:bodyPr wrap="square" lIns="0" tIns="0" rIns="0" bIns="0" rtlCol="0" anchor="ctr"/>
          <a:lstStyle/>
          <a:p>
            <a:pPr indent="0" marL="0">
              <a:buNone/>
            </a:pPr>
            <a:r>
              <a:rPr lang="en-US" sz="1250" b="1" spc="50" kern="0" dirty="0">
                <a:solidFill>
                  <a:srgbClr val="C8840A"/>
                </a:solidFill>
                <a:latin typeface="Calibri" pitchFamily="34" charset="0"/>
                <a:ea typeface="Calibri" pitchFamily="34" charset="-122"/>
                <a:cs typeface="Calibri" pitchFamily="34" charset="-120"/>
              </a:rPr>
              <a:t>REAL-WORLD ANCHOR</a:t>
            </a:r>
            <a:endParaRPr lang="en-US" sz="1250" dirty="0"/>
          </a:p>
        </p:txBody>
      </p:sp>
      <p:sp>
        <p:nvSpPr>
          <p:cNvPr id="10" name="Text 8"/>
          <p:cNvSpPr/>
          <p:nvPr/>
        </p:nvSpPr>
        <p:spPr>
          <a:xfrm>
            <a:off x="749808" y="5586984"/>
            <a:ext cx="10692079" cy="44805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This is exactly what Waymo and Tesla's Autopilot are doing dozens of times per second on the highway — a short-horizon plan, executed for one instant, then thrown away and recomputed from scratch.</a:t>
            </a:r>
            <a:endParaRPr lang="en-US" sz="1300" dirty="0"/>
          </a:p>
        </p:txBody>
      </p:sp>
      <p:sp>
        <p:nvSpPr>
          <p:cNvPr id="11" name="Text 9"/>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2" name="Text 10"/>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26.6 Uncertain Movements</a:t>
            </a:r>
            <a:endParaRPr lang="en-US" sz="900" dirty="0"/>
          </a:p>
        </p:txBody>
      </p:sp>
      <p:sp>
        <p:nvSpPr>
          <p:cNvPr id="13" name="Text 11"/>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26.6 UNCERTAIN MOVEMENTS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The Value of Information Strikes Back</a:t>
            </a:r>
            <a:endParaRPr lang="en-US" sz="2700" dirty="0"/>
          </a:p>
        </p:txBody>
      </p:sp>
      <p:sp>
        <p:nvSpPr>
          <p:cNvPr id="4" name="Text 2"/>
          <p:cNvSpPr/>
          <p:nvPr/>
        </p:nvSpPr>
        <p:spPr>
          <a:xfrm>
            <a:off x="548640" y="1417320"/>
            <a:ext cx="11094415" cy="4937760"/>
          </a:xfrm>
          <a:prstGeom prst="rect">
            <a:avLst/>
          </a:prstGeom>
          <a:noFill/>
          <a:ln/>
        </p:spPr>
        <p:txBody>
          <a:bodyPr wrap="square" lIns="0" tIns="0" rIns="0" bIns="0" rtlCol="0" anchor="t"/>
          <a:lstStyle/>
          <a:p>
            <a:pPr marL="228600" indent="-228600">
              <a:spcAft>
                <a:spcPts val="1000"/>
              </a:spcAft>
              <a:buSzPct val="100000"/>
              <a:buChar char="●"/>
            </a:pPr>
            <a:r>
              <a:rPr lang="en-US" sz="1500" b="1" dirty="0">
                <a:solidFill>
                  <a:srgbClr val="1F2A37"/>
                </a:solidFill>
                <a:latin typeface="Calibri" pitchFamily="34" charset="0"/>
                <a:ea typeface="Calibri" pitchFamily="34" charset="-122"/>
                <a:cs typeface="Calibri" pitchFamily="34" charset="-120"/>
              </a:rPr>
              <a:t>Planning with only 'what I currently know' is really solving a fresh MDP at every step — that's separating estimation from control.</a:t>
            </a:r>
            <a:endParaRPr lang="en-US" sz="1500" dirty="0"/>
          </a:p>
          <a:p>
            <a:pPr marL="2286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But the true structure is a POMDP: the robot could take actions specifically to reduce uncertainty about the future.</a:t>
            </a:r>
            <a:endParaRPr lang="en-US" sz="1500" dirty="0"/>
          </a:p>
          <a:p>
            <a:pPr marL="228600" indent="-228600">
              <a:spcAft>
                <a:spcPts val="1000"/>
              </a:spcAft>
              <a:buSzPct val="100000"/>
              <a:buChar char="●"/>
            </a:pPr>
            <a:r>
              <a:rPr lang="en-US" sz="1500" b="1" dirty="0">
                <a:solidFill>
                  <a:srgbClr val="B5311A"/>
                </a:solidFill>
                <a:latin typeface="Calibri" pitchFamily="34" charset="0"/>
                <a:ea typeface="Calibri" pitchFamily="34" charset="-122"/>
                <a:cs typeface="Calibri" pitchFamily="34" charset="-120"/>
              </a:rPr>
              <a:t>A robot planning from its current belief, and never accounting for future information it might gain, will never take an action that looks suboptimal right now but pays off hugely in information later.</a:t>
            </a:r>
            <a:endParaRPr lang="en-US" sz="1500" dirty="0"/>
          </a:p>
          <a:p>
            <a:pPr lvl="1" marL="4572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Example: a navigation robot could detour to a landmark just to firm up its position estimate — even if that landmark is 'out of the way' according to its current, incomplete knowledge.</a:t>
            </a:r>
            <a:endParaRPr lang="en-US" sz="1500" dirty="0"/>
          </a:p>
        </p:txBody>
      </p:sp>
      <p:sp>
        <p:nvSpPr>
          <p:cNvPr id="5" name="Text 3"/>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6" name="Text 4"/>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26.6 Uncertain Movements</a:t>
            </a:r>
            <a:endParaRPr lang="en-US" sz="900" dirty="0"/>
          </a:p>
        </p:txBody>
      </p:sp>
      <p:sp>
        <p:nvSpPr>
          <p:cNvPr id="7" name="Text 5"/>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26.6 UNCERTAIN MOVEMENTS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Guarded Movements: Engineering Around Uncertainty</a:t>
            </a:r>
            <a:endParaRPr lang="en-US" sz="2700" dirty="0"/>
          </a:p>
        </p:txBody>
      </p:sp>
      <p:sp>
        <p:nvSpPr>
          <p:cNvPr id="4" name="Shape 2"/>
          <p:cNvSpPr/>
          <p:nvPr/>
        </p:nvSpPr>
        <p:spPr>
          <a:xfrm>
            <a:off x="548640" y="1417320"/>
            <a:ext cx="5364328" cy="2651760"/>
          </a:xfrm>
          <a:prstGeom prst="rect">
            <a:avLst/>
          </a:prstGeom>
          <a:solidFill>
            <a:srgbClr val="F4F7FB"/>
          </a:solidFill>
          <a:ln w="15875">
            <a:solidFill>
              <a:srgbClr val="D7DEE8"/>
            </a:solidFill>
            <a:prstDash val="solid"/>
          </a:ln>
        </p:spPr>
      </p:sp>
      <p:sp>
        <p:nvSpPr>
          <p:cNvPr id="5" name="Text 3"/>
          <p:cNvSpPr/>
          <p:nvPr/>
        </p:nvSpPr>
        <p:spPr>
          <a:xfrm>
            <a:off x="640080" y="1472184"/>
            <a:ext cx="5181448" cy="201168"/>
          </a:xfrm>
          <a:prstGeom prst="rect">
            <a:avLst/>
          </a:prstGeom>
          <a:noFill/>
          <a:ln/>
        </p:spPr>
        <p:txBody>
          <a:bodyPr wrap="square" lIns="0" tIns="0" rIns="0" bIns="0" rtlCol="0" anchor="t"/>
          <a:lstStyle/>
          <a:p>
            <a:pPr algn="l" indent="0" marL="0">
              <a:buNone/>
            </a:pPr>
            <a:r>
              <a:rPr lang="en-US" sz="1100" b="1" dirty="0">
                <a:solidFill>
                  <a:srgbClr val="1A3A5C"/>
                </a:solidFill>
                <a:latin typeface="Calibri" pitchFamily="34" charset="0"/>
                <a:ea typeface="Calibri" pitchFamily="34" charset="-122"/>
                <a:cs typeface="Calibri" pitchFamily="34" charset="-120"/>
              </a:rPr>
              <a:t>Step 1 — move toward the surface</a:t>
            </a:r>
            <a:endParaRPr lang="en-US" sz="1100" dirty="0"/>
          </a:p>
        </p:txBody>
      </p:sp>
      <p:sp>
        <p:nvSpPr>
          <p:cNvPr id="6" name="Shape 4"/>
          <p:cNvSpPr/>
          <p:nvPr/>
        </p:nvSpPr>
        <p:spPr>
          <a:xfrm>
            <a:off x="731520" y="3406140"/>
            <a:ext cx="1716585" cy="109728"/>
          </a:xfrm>
          <a:prstGeom prst="rect">
            <a:avLst/>
          </a:prstGeom>
          <a:solidFill>
            <a:srgbClr val="51606F"/>
          </a:solidFill>
          <a:ln w="15875">
            <a:solidFill>
              <a:srgbClr val="51606F"/>
            </a:solidFill>
            <a:prstDash val="solid"/>
          </a:ln>
        </p:spPr>
      </p:sp>
      <p:sp>
        <p:nvSpPr>
          <p:cNvPr id="7" name="Shape 5"/>
          <p:cNvSpPr/>
          <p:nvPr/>
        </p:nvSpPr>
        <p:spPr>
          <a:xfrm>
            <a:off x="2984538" y="3406140"/>
            <a:ext cx="1931158" cy="109728"/>
          </a:xfrm>
          <a:prstGeom prst="rect">
            <a:avLst/>
          </a:prstGeom>
          <a:solidFill>
            <a:srgbClr val="51606F"/>
          </a:solidFill>
          <a:ln w="15875">
            <a:solidFill>
              <a:srgbClr val="51606F"/>
            </a:solidFill>
            <a:prstDash val="solid"/>
          </a:ln>
        </p:spPr>
      </p:sp>
      <p:sp>
        <p:nvSpPr>
          <p:cNvPr id="8" name="Text 6"/>
          <p:cNvSpPr/>
          <p:nvPr/>
        </p:nvSpPr>
        <p:spPr>
          <a:xfrm>
            <a:off x="2448105" y="3387852"/>
            <a:ext cx="536433" cy="146304"/>
          </a:xfrm>
          <a:prstGeom prst="rect">
            <a:avLst/>
          </a:prstGeom>
          <a:noFill/>
          <a:ln/>
        </p:spPr>
        <p:txBody>
          <a:bodyPr wrap="square" lIns="0" tIns="0" rIns="0" bIns="0" rtlCol="0" anchor="t"/>
          <a:lstStyle/>
          <a:p>
            <a:pPr algn="l" indent="0" marL="0">
              <a:buNone/>
            </a:pPr>
            <a:endParaRPr lang="en-US" sz="1100" dirty="0"/>
          </a:p>
        </p:txBody>
      </p:sp>
      <p:sp>
        <p:nvSpPr>
          <p:cNvPr id="9" name="Shape 7"/>
          <p:cNvSpPr/>
          <p:nvPr/>
        </p:nvSpPr>
        <p:spPr>
          <a:xfrm>
            <a:off x="2098502" y="3026664"/>
            <a:ext cx="118872" cy="118872"/>
          </a:xfrm>
          <a:prstGeom prst="ellipse">
            <a:avLst/>
          </a:prstGeom>
          <a:solidFill>
            <a:srgbClr val="1A3A5C"/>
          </a:solidFill>
          <a:ln/>
        </p:spPr>
      </p:sp>
      <p:sp>
        <p:nvSpPr>
          <p:cNvPr id="10" name="Shape 8"/>
          <p:cNvSpPr/>
          <p:nvPr/>
        </p:nvSpPr>
        <p:spPr>
          <a:xfrm flipH="1">
            <a:off x="1993346" y="3086100"/>
            <a:ext cx="164592" cy="301752"/>
          </a:xfrm>
          <a:prstGeom prst="line">
            <a:avLst/>
          </a:prstGeom>
          <a:noFill/>
          <a:ln w="15875">
            <a:solidFill>
              <a:srgbClr val="C8840A"/>
            </a:solidFill>
            <a:prstDash val="solid"/>
            <a:headEnd type="none"/>
            <a:tailEnd type="triangle"/>
          </a:ln>
        </p:spPr>
      </p:sp>
      <p:sp>
        <p:nvSpPr>
          <p:cNvPr id="11" name="Shape 9"/>
          <p:cNvSpPr/>
          <p:nvPr/>
        </p:nvSpPr>
        <p:spPr>
          <a:xfrm>
            <a:off x="2157938" y="3086100"/>
            <a:ext cx="45720" cy="301752"/>
          </a:xfrm>
          <a:prstGeom prst="line">
            <a:avLst/>
          </a:prstGeom>
          <a:noFill/>
          <a:ln w="15875">
            <a:solidFill>
              <a:srgbClr val="C8840A"/>
            </a:solidFill>
            <a:prstDash val="solid"/>
            <a:headEnd type="none"/>
            <a:tailEnd type="triangle"/>
          </a:ln>
        </p:spPr>
      </p:sp>
      <p:sp>
        <p:nvSpPr>
          <p:cNvPr id="12" name="Shape 10"/>
          <p:cNvSpPr/>
          <p:nvPr/>
        </p:nvSpPr>
        <p:spPr>
          <a:xfrm flipH="1">
            <a:off x="2103074" y="3086100"/>
            <a:ext cx="54864" cy="301752"/>
          </a:xfrm>
          <a:prstGeom prst="line">
            <a:avLst/>
          </a:prstGeom>
          <a:noFill/>
          <a:ln w="28575">
            <a:solidFill>
              <a:srgbClr val="1B6B3A"/>
            </a:solidFill>
            <a:prstDash val="solid"/>
            <a:headEnd type="none"/>
            <a:tailEnd type="triangle"/>
          </a:ln>
        </p:spPr>
      </p:sp>
      <p:sp>
        <p:nvSpPr>
          <p:cNvPr id="13" name="Shape 11"/>
          <p:cNvSpPr/>
          <p:nvPr/>
        </p:nvSpPr>
        <p:spPr>
          <a:xfrm>
            <a:off x="6278728" y="1417320"/>
            <a:ext cx="5364328" cy="2651760"/>
          </a:xfrm>
          <a:prstGeom prst="rect">
            <a:avLst/>
          </a:prstGeom>
          <a:solidFill>
            <a:srgbClr val="F4F7FB"/>
          </a:solidFill>
          <a:ln w="15875">
            <a:solidFill>
              <a:srgbClr val="D7DEE8"/>
            </a:solidFill>
            <a:prstDash val="solid"/>
          </a:ln>
        </p:spPr>
      </p:sp>
      <p:sp>
        <p:nvSpPr>
          <p:cNvPr id="14" name="Text 12"/>
          <p:cNvSpPr/>
          <p:nvPr/>
        </p:nvSpPr>
        <p:spPr>
          <a:xfrm>
            <a:off x="6370168" y="1472184"/>
            <a:ext cx="5181448" cy="201168"/>
          </a:xfrm>
          <a:prstGeom prst="rect">
            <a:avLst/>
          </a:prstGeom>
          <a:noFill/>
          <a:ln/>
        </p:spPr>
        <p:txBody>
          <a:bodyPr wrap="square" lIns="0" tIns="0" rIns="0" bIns="0" rtlCol="0" anchor="t"/>
          <a:lstStyle/>
          <a:p>
            <a:pPr algn="l" indent="0" marL="0">
              <a:buNone/>
            </a:pPr>
            <a:r>
              <a:rPr lang="en-US" sz="1100" b="1" dirty="0">
                <a:solidFill>
                  <a:srgbClr val="1A3A5C"/>
                </a:solidFill>
                <a:latin typeface="Calibri" pitchFamily="34" charset="0"/>
                <a:ea typeface="Calibri" pitchFamily="34" charset="-122"/>
                <a:cs typeface="Calibri" pitchFamily="34" charset="-120"/>
              </a:rPr>
              <a:t>Step 2 — slide into the hole</a:t>
            </a:r>
            <a:endParaRPr lang="en-US" sz="1100" dirty="0"/>
          </a:p>
        </p:txBody>
      </p:sp>
      <p:sp>
        <p:nvSpPr>
          <p:cNvPr id="15" name="Shape 13"/>
          <p:cNvSpPr/>
          <p:nvPr/>
        </p:nvSpPr>
        <p:spPr>
          <a:xfrm>
            <a:off x="6461608" y="3406140"/>
            <a:ext cx="1716585" cy="109728"/>
          </a:xfrm>
          <a:prstGeom prst="rect">
            <a:avLst/>
          </a:prstGeom>
          <a:solidFill>
            <a:srgbClr val="51606F"/>
          </a:solidFill>
          <a:ln w="15875">
            <a:solidFill>
              <a:srgbClr val="51606F"/>
            </a:solidFill>
            <a:prstDash val="solid"/>
          </a:ln>
        </p:spPr>
      </p:sp>
      <p:sp>
        <p:nvSpPr>
          <p:cNvPr id="16" name="Shape 14"/>
          <p:cNvSpPr/>
          <p:nvPr/>
        </p:nvSpPr>
        <p:spPr>
          <a:xfrm>
            <a:off x="8714625" y="3406140"/>
            <a:ext cx="1931158" cy="109728"/>
          </a:xfrm>
          <a:prstGeom prst="rect">
            <a:avLst/>
          </a:prstGeom>
          <a:solidFill>
            <a:srgbClr val="51606F"/>
          </a:solidFill>
          <a:ln w="15875">
            <a:solidFill>
              <a:srgbClr val="51606F"/>
            </a:solidFill>
            <a:prstDash val="solid"/>
          </a:ln>
        </p:spPr>
      </p:sp>
      <p:sp>
        <p:nvSpPr>
          <p:cNvPr id="17" name="Text 15"/>
          <p:cNvSpPr/>
          <p:nvPr/>
        </p:nvSpPr>
        <p:spPr>
          <a:xfrm>
            <a:off x="8178192" y="3387852"/>
            <a:ext cx="536433" cy="146304"/>
          </a:xfrm>
          <a:prstGeom prst="rect">
            <a:avLst/>
          </a:prstGeom>
          <a:noFill/>
          <a:ln/>
        </p:spPr>
        <p:txBody>
          <a:bodyPr wrap="square" lIns="0" tIns="0" rIns="0" bIns="0" rtlCol="0" anchor="t"/>
          <a:lstStyle/>
          <a:p>
            <a:pPr algn="l" indent="0" marL="0">
              <a:buNone/>
            </a:pPr>
            <a:endParaRPr lang="en-US" sz="1100" dirty="0"/>
          </a:p>
        </p:txBody>
      </p:sp>
      <p:sp>
        <p:nvSpPr>
          <p:cNvPr id="18" name="Shape 16"/>
          <p:cNvSpPr/>
          <p:nvPr/>
        </p:nvSpPr>
        <p:spPr>
          <a:xfrm>
            <a:off x="8472309" y="3026664"/>
            <a:ext cx="118872" cy="118872"/>
          </a:xfrm>
          <a:prstGeom prst="ellipse">
            <a:avLst/>
          </a:prstGeom>
          <a:solidFill>
            <a:srgbClr val="1A3A5C"/>
          </a:solidFill>
          <a:ln/>
        </p:spPr>
      </p:sp>
      <p:sp>
        <p:nvSpPr>
          <p:cNvPr id="19" name="Shape 17"/>
          <p:cNvSpPr/>
          <p:nvPr/>
        </p:nvSpPr>
        <p:spPr>
          <a:xfrm flipH="1">
            <a:off x="8367153" y="3086100"/>
            <a:ext cx="164592" cy="301752"/>
          </a:xfrm>
          <a:prstGeom prst="line">
            <a:avLst/>
          </a:prstGeom>
          <a:noFill/>
          <a:ln w="15875">
            <a:solidFill>
              <a:srgbClr val="C8840A"/>
            </a:solidFill>
            <a:prstDash val="solid"/>
            <a:headEnd type="none"/>
            <a:tailEnd type="triangle"/>
          </a:ln>
        </p:spPr>
      </p:sp>
      <p:sp>
        <p:nvSpPr>
          <p:cNvPr id="20" name="Shape 18"/>
          <p:cNvSpPr/>
          <p:nvPr/>
        </p:nvSpPr>
        <p:spPr>
          <a:xfrm>
            <a:off x="8531745" y="3086100"/>
            <a:ext cx="320040" cy="301752"/>
          </a:xfrm>
          <a:prstGeom prst="line">
            <a:avLst/>
          </a:prstGeom>
          <a:noFill/>
          <a:ln w="15875">
            <a:solidFill>
              <a:srgbClr val="C8840A"/>
            </a:solidFill>
            <a:prstDash val="solid"/>
            <a:headEnd type="none"/>
            <a:tailEnd type="triangle"/>
          </a:ln>
        </p:spPr>
      </p:sp>
      <p:sp>
        <p:nvSpPr>
          <p:cNvPr id="21" name="Shape 19"/>
          <p:cNvSpPr/>
          <p:nvPr/>
        </p:nvSpPr>
        <p:spPr>
          <a:xfrm>
            <a:off x="8531745" y="3086100"/>
            <a:ext cx="164592" cy="301752"/>
          </a:xfrm>
          <a:prstGeom prst="line">
            <a:avLst/>
          </a:prstGeom>
          <a:noFill/>
          <a:ln w="28575">
            <a:solidFill>
              <a:srgbClr val="1B6B3A"/>
            </a:solidFill>
            <a:prstDash val="solid"/>
            <a:headEnd type="none"/>
            <a:tailEnd type="triangle"/>
          </a:ln>
        </p:spPr>
      </p:sp>
      <p:sp>
        <p:nvSpPr>
          <p:cNvPr id="22" name="Text 20"/>
          <p:cNvSpPr/>
          <p:nvPr/>
        </p:nvSpPr>
        <p:spPr>
          <a:xfrm>
            <a:off x="548640" y="4251960"/>
            <a:ext cx="11094415" cy="1920240"/>
          </a:xfrm>
          <a:prstGeom prst="rect">
            <a:avLst/>
          </a:prstGeom>
          <a:noFill/>
          <a:ln/>
        </p:spPr>
        <p:txBody>
          <a:bodyPr wrap="square" lIns="0" tIns="0" rIns="0" bIns="0" rtlCol="0" anchor="t"/>
          <a:lstStyle/>
          <a:p>
            <a:pPr marL="228600" indent="-228600">
              <a:spcAft>
                <a:spcPts val="1000"/>
              </a:spcAft>
              <a:buSzPct val="100000"/>
              <a:buChar char="●"/>
            </a:pPr>
            <a:r>
              <a:rPr lang="en-US" sz="1450" b="1" dirty="0">
                <a:solidFill>
                  <a:srgbClr val="1F2A37"/>
                </a:solidFill>
                <a:latin typeface="Calibri" pitchFamily="34" charset="0"/>
                <a:ea typeface="Calibri" pitchFamily="34" charset="-122"/>
                <a:cs typeface="Calibri" pitchFamily="34" charset="-120"/>
              </a:rPr>
              <a:t>A guarded movement = a motion command + a termination condition (a predicate on sensor values that says when to stop).</a:t>
            </a:r>
            <a:endParaRPr lang="en-US" sz="1450" dirty="0"/>
          </a:p>
          <a:p>
            <a:pPr marL="228600" indent="-228600">
              <a:spcAft>
                <a:spcPts val="1000"/>
              </a:spcAft>
              <a:buSzPct val="100000"/>
              <a:buChar char="●"/>
            </a:pPr>
            <a:r>
              <a:rPr lang="en-US" sz="1450" dirty="0">
                <a:solidFill>
                  <a:srgbClr val="1F2A37"/>
                </a:solidFill>
                <a:latin typeface="Calibri" pitchFamily="34" charset="0"/>
                <a:ea typeface="Calibri" pitchFamily="34" charset="-122"/>
                <a:cs typeface="Calibri" pitchFamily="34" charset="-120"/>
              </a:rPr>
              <a:t>Peg-in-hole example: moving straight down risks landing on either side of the hole, with no way to tell which — but a SEQUENCE of guarded moves can guarantee success.</a:t>
            </a:r>
            <a:endParaRPr lang="en-US" sz="1450" dirty="0"/>
          </a:p>
        </p:txBody>
      </p:sp>
      <p:sp>
        <p:nvSpPr>
          <p:cNvPr id="23" name="Text 21"/>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24" name="Text 22"/>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26.6 Uncertain Movements</a:t>
            </a:r>
            <a:endParaRPr lang="en-US" sz="900" dirty="0"/>
          </a:p>
        </p:txBody>
      </p:sp>
      <p:sp>
        <p:nvSpPr>
          <p:cNvPr id="25" name="Text 23"/>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26.6 UNCERTAIN MOVEMENTS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Coastal Navigation &amp; Explicit Information Gain</a:t>
            </a:r>
            <a:endParaRPr lang="en-US" sz="2700" dirty="0"/>
          </a:p>
        </p:txBody>
      </p:sp>
      <p:sp>
        <p:nvSpPr>
          <p:cNvPr id="4" name="Text 2"/>
          <p:cNvSpPr/>
          <p:nvPr/>
        </p:nvSpPr>
        <p:spPr>
          <a:xfrm>
            <a:off x="548640" y="1417320"/>
            <a:ext cx="11094415" cy="4937760"/>
          </a:xfrm>
          <a:prstGeom prst="rect">
            <a:avLst/>
          </a:prstGeom>
          <a:noFill/>
          <a:ln/>
        </p:spPr>
        <p:txBody>
          <a:bodyPr wrap="square" lIns="0" tIns="0" rIns="0" bIns="0" rtlCol="0" anchor="t"/>
          <a:lstStyle/>
          <a:p>
            <a:pPr marL="228600" indent="-228600">
              <a:spcAft>
                <a:spcPts val="1000"/>
              </a:spcAft>
              <a:buSzPct val="100000"/>
              <a:buChar char="●"/>
            </a:pPr>
            <a:r>
              <a:rPr lang="en-US" sz="1600" b="1" dirty="0">
                <a:solidFill>
                  <a:srgbClr val="1F2A37"/>
                </a:solidFill>
                <a:latin typeface="Calibri" pitchFamily="34" charset="0"/>
                <a:ea typeface="Calibri" pitchFamily="34" charset="-122"/>
                <a:cs typeface="Calibri" pitchFamily="34" charset="-120"/>
              </a:rPr>
              <a:t>Coastal navigation heuristic: bias the cost function to keep the robot near known landmarks — even if that's not the geometrically shortest route.</a:t>
            </a:r>
            <a:endParaRPr lang="en-US" sz="1600" dirty="0"/>
          </a:p>
          <a:p>
            <a:pPr marL="228600" indent="-228600">
              <a:spcAft>
                <a:spcPts val="1000"/>
              </a:spcAft>
              <a:buSzPct val="100000"/>
              <a:buChar char="●"/>
            </a:pPr>
            <a:r>
              <a:rPr lang="en-US" sz="1600" dirty="0">
                <a:solidFill>
                  <a:srgbClr val="1F2A37"/>
                </a:solidFill>
                <a:latin typeface="Calibri" pitchFamily="34" charset="0"/>
                <a:ea typeface="Calibri" pitchFamily="34" charset="-122"/>
                <a:cs typeface="Calibri" pitchFamily="34" charset="-120"/>
              </a:rPr>
              <a:t>More general version: add the expected information gain (reduction of belief entropy) directly as a term in the cost function.</a:t>
            </a:r>
            <a:endParaRPr lang="en-US" sz="1600" dirty="0"/>
          </a:p>
          <a:p>
            <a:pPr marL="228600" indent="-228600">
              <a:spcAft>
                <a:spcPts val="1000"/>
              </a:spcAft>
              <a:buSzPct val="100000"/>
              <a:buChar char="●"/>
            </a:pPr>
            <a:r>
              <a:rPr lang="en-US" sz="1600" b="1" dirty="0">
                <a:solidFill>
                  <a:srgbClr val="1B6B3A"/>
                </a:solidFill>
                <a:latin typeface="Calibri" pitchFamily="34" charset="0"/>
                <a:ea typeface="Calibri" pitchFamily="34" charset="-122"/>
                <a:cs typeface="Calibri" pitchFamily="34" charset="-120"/>
              </a:rPr>
              <a:t>Advantage: the robot INVENTS its own information-gathering behavior, instead of relying on a human-scripted heuristic like 'stay near landmarks.'</a:t>
            </a:r>
            <a:endParaRPr lang="en-US" sz="1600" dirty="0"/>
          </a:p>
          <a:p>
            <a:pPr lvl="1" marL="457200" indent="-228600">
              <a:spcAft>
                <a:spcPts val="1000"/>
              </a:spcAft>
              <a:buSzPct val="100000"/>
              <a:buChar char="–"/>
            </a:pPr>
            <a:r>
              <a:rPr lang="en-US" sz="1600" dirty="0">
                <a:solidFill>
                  <a:srgbClr val="1F2A37"/>
                </a:solidFill>
                <a:latin typeface="Calibri" pitchFamily="34" charset="0"/>
                <a:ea typeface="Calibri" pitchFamily="34" charset="-122"/>
                <a:cs typeface="Calibri" pitchFamily="34" charset="-120"/>
              </a:rPr>
              <a:t>Cost: computationally harder — you're explicitly reasoning about future belief states, not just future physical states.</a:t>
            </a:r>
            <a:endParaRPr lang="en-US" sz="1600" dirty="0"/>
          </a:p>
        </p:txBody>
      </p:sp>
      <p:sp>
        <p:nvSpPr>
          <p:cNvPr id="5" name="Text 3"/>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6" name="Text 4"/>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26.6 Uncertain Movements</a:t>
            </a:r>
            <a:endParaRPr lang="en-US" sz="900" dirty="0"/>
          </a:p>
        </p:txBody>
      </p:sp>
      <p:sp>
        <p:nvSpPr>
          <p:cNvPr id="7" name="Text 5"/>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65</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3A5C"/>
          </a:solidFill>
          <a:ln/>
        </p:spPr>
      </p:sp>
      <p:sp>
        <p:nvSpPr>
          <p:cNvPr id="3" name="Shape 1"/>
          <p:cNvSpPr/>
          <p:nvPr/>
        </p:nvSpPr>
        <p:spPr>
          <a:xfrm>
            <a:off x="9692640" y="2377440"/>
            <a:ext cx="5120640" cy="5120640"/>
          </a:xfrm>
          <a:prstGeom prst="ellipse">
            <a:avLst/>
          </a:prstGeom>
          <a:solidFill>
            <a:srgbClr val="132B45"/>
          </a:solidFill>
          <a:ln/>
        </p:spPr>
      </p:sp>
      <p:sp>
        <p:nvSpPr>
          <p:cNvPr id="4" name="Text 2"/>
          <p:cNvSpPr/>
          <p:nvPr/>
        </p:nvSpPr>
        <p:spPr>
          <a:xfrm>
            <a:off x="822960" y="1463040"/>
            <a:ext cx="3657600" cy="1554480"/>
          </a:xfrm>
          <a:prstGeom prst="rect">
            <a:avLst/>
          </a:prstGeom>
          <a:noFill/>
          <a:ln/>
        </p:spPr>
        <p:txBody>
          <a:bodyPr wrap="square" lIns="0" tIns="0" rIns="0" bIns="0" rtlCol="0" anchor="ctr"/>
          <a:lstStyle/>
          <a:p>
            <a:pPr indent="0" marL="0">
              <a:buNone/>
            </a:pPr>
            <a:r>
              <a:rPr lang="en-US" sz="8400" b="1" dirty="0">
                <a:solidFill>
                  <a:srgbClr val="E8960C"/>
                </a:solidFill>
                <a:latin typeface="Calibri" pitchFamily="34" charset="0"/>
                <a:ea typeface="Calibri" pitchFamily="34" charset="-122"/>
                <a:cs typeface="Calibri" pitchFamily="34" charset="-120"/>
              </a:rPr>
              <a:t>26.7</a:t>
            </a:r>
            <a:endParaRPr lang="en-US" sz="8400" dirty="0"/>
          </a:p>
        </p:txBody>
      </p:sp>
      <p:sp>
        <p:nvSpPr>
          <p:cNvPr id="5" name="Text 3"/>
          <p:cNvSpPr/>
          <p:nvPr/>
        </p:nvSpPr>
        <p:spPr>
          <a:xfrm>
            <a:off x="822960" y="2971800"/>
            <a:ext cx="9875520" cy="105156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Reinforcement Learning in Robotics</a:t>
            </a:r>
            <a:endParaRPr lang="en-US" sz="3800" dirty="0"/>
          </a:p>
        </p:txBody>
      </p:sp>
      <p:sp>
        <p:nvSpPr>
          <p:cNvPr id="6" name="Text 4"/>
          <p:cNvSpPr/>
          <p:nvPr/>
        </p:nvSpPr>
        <p:spPr>
          <a:xfrm>
            <a:off x="822960" y="3977640"/>
            <a:ext cx="8778240" cy="82296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What happens when you don't have a dynamics model to begin with.</a:t>
            </a:r>
            <a:endParaRPr lang="en-US" sz="1600" dirty="0"/>
          </a:p>
        </p:txBody>
      </p:sp>
      <p:sp>
        <p:nvSpPr>
          <p:cNvPr id="7" name="Shape 5"/>
          <p:cNvSpPr/>
          <p:nvPr/>
        </p:nvSpPr>
        <p:spPr>
          <a:xfrm>
            <a:off x="868680" y="4956048"/>
            <a:ext cx="82296" cy="82296"/>
          </a:xfrm>
          <a:prstGeom prst="ellipse">
            <a:avLst/>
          </a:prstGeom>
          <a:solidFill>
            <a:srgbClr val="E8960C"/>
          </a:solidFill>
          <a:ln/>
        </p:spPr>
      </p:sp>
      <p:sp>
        <p:nvSpPr>
          <p:cNvPr id="8" name="Text 6"/>
          <p:cNvSpPr/>
          <p:nvPr/>
        </p:nvSpPr>
        <p:spPr>
          <a:xfrm>
            <a:off x="1097280" y="4837176"/>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Why real-world RL is uniquely hard: continuous spaces, real time, real consequences</a:t>
            </a:r>
            <a:endParaRPr lang="en-US" sz="1350" dirty="0"/>
          </a:p>
        </p:txBody>
      </p:sp>
      <p:sp>
        <p:nvSpPr>
          <p:cNvPr id="9" name="Shape 7"/>
          <p:cNvSpPr/>
          <p:nvPr/>
        </p:nvSpPr>
        <p:spPr>
          <a:xfrm>
            <a:off x="868680" y="5285232"/>
            <a:ext cx="82296" cy="82296"/>
          </a:xfrm>
          <a:prstGeom prst="ellipse">
            <a:avLst/>
          </a:prstGeom>
          <a:solidFill>
            <a:srgbClr val="E8960C"/>
          </a:solidFill>
          <a:ln/>
        </p:spPr>
      </p:sp>
      <p:sp>
        <p:nvSpPr>
          <p:cNvPr id="10" name="Text 8"/>
          <p:cNvSpPr/>
          <p:nvPr/>
        </p:nvSpPr>
        <p:spPr>
          <a:xfrm>
            <a:off x="1097280" y="5166360"/>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Exploiting models: sim-to-real transfer and domain randomization</a:t>
            </a:r>
            <a:endParaRPr lang="en-US" sz="1350" dirty="0"/>
          </a:p>
        </p:txBody>
      </p:sp>
      <p:sp>
        <p:nvSpPr>
          <p:cNvPr id="11" name="Shape 9"/>
          <p:cNvSpPr/>
          <p:nvPr/>
        </p:nvSpPr>
        <p:spPr>
          <a:xfrm>
            <a:off x="868680" y="5614416"/>
            <a:ext cx="82296" cy="82296"/>
          </a:xfrm>
          <a:prstGeom prst="ellipse">
            <a:avLst/>
          </a:prstGeom>
          <a:solidFill>
            <a:srgbClr val="E8960C"/>
          </a:solidFill>
          <a:ln/>
        </p:spPr>
      </p:sp>
      <p:sp>
        <p:nvSpPr>
          <p:cNvPr id="12" name="Text 10"/>
          <p:cNvSpPr/>
          <p:nvPr/>
        </p:nvSpPr>
        <p:spPr>
          <a:xfrm>
            <a:off x="1097280" y="5495544"/>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Exploiting other information: motion primitives and transfer learning</a:t>
            </a:r>
            <a:endParaRPr lang="en-US" sz="1350" dirty="0"/>
          </a:p>
        </p:txBody>
      </p:sp>
      <p:sp>
        <p:nvSpPr>
          <p:cNvPr id="13" name="Text 11"/>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4" name="Text 12"/>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Reinforcement Learning in Robotics</a:t>
            </a:r>
            <a:endParaRPr lang="en-US" sz="900" dirty="0"/>
          </a:p>
        </p:txBody>
      </p:sp>
      <p:sp>
        <p:nvSpPr>
          <p:cNvPr id="15" name="Text 13"/>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26.7 RL IN ROBOTICS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Why RL in Robotics Is Uniquely Hard</a:t>
            </a:r>
            <a:endParaRPr lang="en-US" sz="2700" dirty="0"/>
          </a:p>
        </p:txBody>
      </p:sp>
      <p:sp>
        <p:nvSpPr>
          <p:cNvPr id="4" name="Shape 2"/>
          <p:cNvSpPr/>
          <p:nvPr/>
        </p:nvSpPr>
        <p:spPr>
          <a:xfrm>
            <a:off x="548640" y="1417320"/>
            <a:ext cx="5364328" cy="4206240"/>
          </a:xfrm>
          <a:prstGeom prst="roundRect">
            <a:avLst>
              <a:gd name="adj" fmla="val 1957"/>
            </a:avLst>
          </a:prstGeom>
          <a:solidFill>
            <a:srgbClr val="EEF2FF"/>
          </a:solidFill>
          <a:ln/>
          <a:effectLst>
            <a:outerShdw sx="100000" sy="100000" kx="0" ky="0" algn="bl" rotWithShape="0" blurRad="76200" dist="25400" dir="5400000">
              <a:srgbClr val="1A3A5C">
                <a:alpha val="12000"/>
              </a:srgbClr>
            </a:outerShdw>
          </a:effectLst>
        </p:spPr>
      </p:sp>
      <p:sp>
        <p:nvSpPr>
          <p:cNvPr id="5" name="Text 3"/>
          <p:cNvSpPr/>
          <p:nvPr/>
        </p:nvSpPr>
        <p:spPr>
          <a:xfrm>
            <a:off x="749808" y="1545336"/>
            <a:ext cx="4961992" cy="329184"/>
          </a:xfrm>
          <a:prstGeom prst="rect">
            <a:avLst/>
          </a:prstGeom>
          <a:noFill/>
          <a:ln/>
        </p:spPr>
        <p:txBody>
          <a:bodyPr wrap="square" lIns="0" tIns="0" rIns="0" bIns="0" rtlCol="0" anchor="ctr"/>
          <a:lstStyle/>
          <a:p>
            <a:pPr indent="0" marL="0">
              <a:buNone/>
            </a:pPr>
            <a:r>
              <a:rPr lang="en-US" sz="1450" b="1" dirty="0">
                <a:solidFill>
                  <a:srgbClr val="4A6FA5"/>
                </a:solidFill>
                <a:latin typeface="Calibri" pitchFamily="34" charset="0"/>
                <a:ea typeface="Calibri" pitchFamily="34" charset="-122"/>
                <a:cs typeface="Calibri" pitchFamily="34" charset="-120"/>
              </a:rPr>
              <a:t>Continuous spaces</a:t>
            </a:r>
            <a:endParaRPr lang="en-US" sz="1450" dirty="0"/>
          </a:p>
        </p:txBody>
      </p:sp>
      <p:sp>
        <p:nvSpPr>
          <p:cNvPr id="6" name="Text 4"/>
          <p:cNvSpPr/>
          <p:nvPr/>
        </p:nvSpPr>
        <p:spPr>
          <a:xfrm>
            <a:off x="749808" y="1929384"/>
            <a:ext cx="4961992" cy="3584448"/>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Handled via discretization, or (more commonly) function approximation — features or deep neural networks.</a:t>
            </a:r>
            <a:endParaRPr lang="en-US" sz="1350" dirty="0"/>
          </a:p>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Neural nets skip manual feature engineering, but need far more data to train.</a:t>
            </a:r>
            <a:endParaRPr lang="en-US" sz="1350" dirty="0"/>
          </a:p>
        </p:txBody>
      </p:sp>
      <p:sp>
        <p:nvSpPr>
          <p:cNvPr id="7" name="Shape 5"/>
          <p:cNvSpPr/>
          <p:nvPr/>
        </p:nvSpPr>
        <p:spPr>
          <a:xfrm>
            <a:off x="6278728" y="1417320"/>
            <a:ext cx="5364328" cy="4206240"/>
          </a:xfrm>
          <a:prstGeom prst="roundRect">
            <a:avLst>
              <a:gd name="adj" fmla="val 1957"/>
            </a:avLst>
          </a:prstGeom>
          <a:solidFill>
            <a:srgbClr val="FFF0EE"/>
          </a:solidFill>
          <a:ln/>
          <a:effectLst>
            <a:outerShdw sx="100000" sy="100000" kx="0" ky="0" algn="bl" rotWithShape="0" blurRad="76200" dist="25400" dir="5400000">
              <a:srgbClr val="1A3A5C">
                <a:alpha val="12000"/>
              </a:srgbClr>
            </a:outerShdw>
          </a:effectLst>
        </p:spPr>
      </p:sp>
      <p:sp>
        <p:nvSpPr>
          <p:cNvPr id="8" name="Text 6"/>
          <p:cNvSpPr/>
          <p:nvPr/>
        </p:nvSpPr>
        <p:spPr>
          <a:xfrm>
            <a:off x="6479896" y="1545336"/>
            <a:ext cx="4961992" cy="329184"/>
          </a:xfrm>
          <a:prstGeom prst="rect">
            <a:avLst/>
          </a:prstGeom>
          <a:noFill/>
          <a:ln/>
        </p:spPr>
        <p:txBody>
          <a:bodyPr wrap="square" lIns="0" tIns="0" rIns="0" bIns="0" rtlCol="0" anchor="ctr"/>
          <a:lstStyle/>
          <a:p>
            <a:pPr indent="0" marL="0">
              <a:buNone/>
            </a:pPr>
            <a:r>
              <a:rPr lang="en-US" sz="1450" b="1" dirty="0">
                <a:solidFill>
                  <a:srgbClr val="B5311A"/>
                </a:solidFill>
                <a:latin typeface="Calibri" pitchFamily="34" charset="0"/>
                <a:ea typeface="Calibri" pitchFamily="34" charset="-122"/>
                <a:cs typeface="Calibri" pitchFamily="34" charset="-120"/>
              </a:rPr>
              <a:t>Real time, real consequences</a:t>
            </a:r>
            <a:endParaRPr lang="en-US" sz="1450" dirty="0"/>
          </a:p>
        </p:txBody>
      </p:sp>
      <p:sp>
        <p:nvSpPr>
          <p:cNvPr id="9" name="Text 7"/>
          <p:cNvSpPr/>
          <p:nvPr/>
        </p:nvSpPr>
        <p:spPr>
          <a:xfrm>
            <a:off x="6479896" y="1929384"/>
            <a:ext cx="4961992" cy="3584448"/>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Simulated Go/chess training runs millions of games in hours. The real world refuses to move faster than one second per second.</a:t>
            </a:r>
            <a:endParaRPr lang="en-US" sz="1350" dirty="0"/>
          </a:p>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Real actions can permanently break things — no “undo.”</a:t>
            </a:r>
            <a:endParaRPr lang="en-US" sz="1350" dirty="0"/>
          </a:p>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Central challenge: minimize sample complexity — the number of real-world interactions needed to learn the task.</a:t>
            </a:r>
            <a:endParaRPr lang="en-US" sz="1350" dirty="0"/>
          </a:p>
        </p:txBody>
      </p:sp>
      <p:sp>
        <p:nvSpPr>
          <p:cNvPr id="10" name="Text 8"/>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1" name="Text 9"/>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26.7 RL in Robotics</a:t>
            </a:r>
            <a:endParaRPr lang="en-US" sz="900" dirty="0"/>
          </a:p>
        </p:txBody>
      </p:sp>
      <p:sp>
        <p:nvSpPr>
          <p:cNvPr id="12" name="Text 10"/>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67</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26.7.1 EXPLOITING MODELS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Model-Based RL and Its Variants</a:t>
            </a:r>
            <a:endParaRPr lang="en-US" sz="2700" dirty="0"/>
          </a:p>
        </p:txBody>
      </p:sp>
      <p:sp>
        <p:nvSpPr>
          <p:cNvPr id="4" name="Text 2"/>
          <p:cNvSpPr/>
          <p:nvPr/>
        </p:nvSpPr>
        <p:spPr>
          <a:xfrm>
            <a:off x="548640" y="1417320"/>
            <a:ext cx="11094415" cy="4937760"/>
          </a:xfrm>
          <a:prstGeom prst="rect">
            <a:avLst/>
          </a:prstGeom>
          <a:noFill/>
          <a:ln/>
        </p:spPr>
        <p:txBody>
          <a:bodyPr wrap="square" lIns="0" tIns="0" rIns="0" bIns="0" rtlCol="0" anchor="t"/>
          <a:lstStyle/>
          <a:p>
            <a:pPr marL="228600" indent="-228600">
              <a:spcAft>
                <a:spcPts val="1000"/>
              </a:spcAft>
              <a:buSzPct val="100000"/>
              <a:buChar char="●"/>
            </a:pPr>
            <a:r>
              <a:rPr lang="en-US" sz="1600" b="1" dirty="0">
                <a:solidFill>
                  <a:srgbClr val="1F2A37"/>
                </a:solidFill>
                <a:latin typeface="Calibri" pitchFamily="34" charset="0"/>
                <a:ea typeface="Calibri" pitchFamily="34" charset="-122"/>
                <a:cs typeface="Calibri" pitchFamily="34" charset="-120"/>
              </a:rPr>
              <a:t>Model-based RL: alternate between fitting dynamics parameters and computing a better policy from the fitted model.</a:t>
            </a:r>
            <a:endParaRPr lang="en-US" sz="1600" dirty="0"/>
          </a:p>
          <a:p>
            <a:pPr lvl="1" marL="457200" indent="-228600">
              <a:spcAft>
                <a:spcPts val="1000"/>
              </a:spcAft>
              <a:buSzPct val="100000"/>
              <a:buChar char="–"/>
            </a:pPr>
            <a:r>
              <a:rPr lang="en-US" sz="1600" dirty="0">
                <a:solidFill>
                  <a:srgbClr val="1F2A37"/>
                </a:solidFill>
                <a:latin typeface="Calibri" pitchFamily="34" charset="0"/>
                <a:ea typeface="Calibri" pitchFamily="34" charset="-122"/>
                <a:cs typeface="Calibri" pitchFamily="34" charset="-120"/>
              </a:rPr>
              <a:t>Even an imperfect physics model helps — researchers learn an ERROR TERM on top of the equations to compensate for what physics got wrong.</a:t>
            </a:r>
            <a:endParaRPr lang="en-US" sz="1600" dirty="0"/>
          </a:p>
          <a:p>
            <a:pPr lvl="1" marL="457200" indent="-228600">
              <a:spcAft>
                <a:spcPts val="1000"/>
              </a:spcAft>
              <a:buSzPct val="100000"/>
              <a:buChar char="–"/>
            </a:pPr>
            <a:r>
              <a:rPr lang="en-US" sz="1600" dirty="0">
                <a:solidFill>
                  <a:srgbClr val="1F2A37"/>
                </a:solidFill>
                <a:latin typeface="Calibri" pitchFamily="34" charset="0"/>
                <a:ea typeface="Calibri" pitchFamily="34" charset="-122"/>
                <a:cs typeface="Calibri" pitchFamily="34" charset="-120"/>
              </a:rPr>
              <a:t>Or skip the equations entirely: fit locally linear models, each valid in one small region of state space — this has successfully taught robots to master complex dynamic tasks like juggling.</a:t>
            </a:r>
            <a:endParaRPr lang="en-US" sz="1600" dirty="0"/>
          </a:p>
        </p:txBody>
      </p:sp>
      <p:sp>
        <p:nvSpPr>
          <p:cNvPr id="5" name="Shape 3"/>
          <p:cNvSpPr/>
          <p:nvPr/>
        </p:nvSpPr>
        <p:spPr>
          <a:xfrm>
            <a:off x="548640" y="4160520"/>
            <a:ext cx="11094415" cy="1828800"/>
          </a:xfrm>
          <a:prstGeom prst="roundRect">
            <a:avLst>
              <a:gd name="adj" fmla="val 4000"/>
            </a:avLst>
          </a:prstGeom>
          <a:solidFill>
            <a:srgbClr val="FFF0EE"/>
          </a:solidFill>
          <a:ln w="12700">
            <a:solidFill>
              <a:srgbClr val="B5311A"/>
            </a:solidFill>
            <a:prstDash val="solid"/>
          </a:ln>
        </p:spPr>
      </p:sp>
      <p:sp>
        <p:nvSpPr>
          <p:cNvPr id="6" name="Text 4"/>
          <p:cNvSpPr/>
          <p:nvPr/>
        </p:nvSpPr>
        <p:spPr>
          <a:xfrm>
            <a:off x="749808" y="4270248"/>
            <a:ext cx="10692079" cy="274320"/>
          </a:xfrm>
          <a:prstGeom prst="rect">
            <a:avLst/>
          </a:prstGeom>
          <a:noFill/>
          <a:ln/>
        </p:spPr>
        <p:txBody>
          <a:bodyPr wrap="square" lIns="0" tIns="0" rIns="0" bIns="0" rtlCol="0" anchor="ctr"/>
          <a:lstStyle/>
          <a:p>
            <a:pPr indent="0" marL="0">
              <a:buNone/>
            </a:pPr>
            <a:r>
              <a:rPr lang="en-US" sz="1250" b="1" spc="50" kern="0" dirty="0">
                <a:solidFill>
                  <a:srgbClr val="B5311A"/>
                </a:solidFill>
                <a:latin typeface="Calibri" pitchFamily="34" charset="0"/>
                <a:ea typeface="Calibri" pitchFamily="34" charset="-122"/>
                <a:cs typeface="Calibri" pitchFamily="34" charset="-120"/>
              </a:rPr>
              <a:t>SAFE EXPLORATION</a:t>
            </a:r>
            <a:endParaRPr lang="en-US" sz="1250" dirty="0"/>
          </a:p>
        </p:txBody>
      </p:sp>
      <p:sp>
        <p:nvSpPr>
          <p:cNvPr id="7" name="Text 5"/>
          <p:cNvSpPr/>
          <p:nvPr/>
        </p:nvSpPr>
        <p:spPr>
          <a:xfrm>
            <a:off x="749808" y="4581144"/>
            <a:ext cx="10692079" cy="131673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Reducing samples is important, but reducing samples in DANGEROUS states matters even more — we don't want a robot falling off cliffs or breaking mugs while it learns. An approximate model, WITH quantified uncertainty, can constrain which actions the robot is even allowed to try.</a:t>
            </a:r>
            <a:endParaRPr lang="en-US" sz="1300" dirty="0"/>
          </a:p>
        </p:txBody>
      </p:sp>
      <p:sp>
        <p:nvSpPr>
          <p:cNvPr id="8" name="Text 6"/>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9" name="Text 7"/>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26.7 RL in Robotics</a:t>
            </a:r>
            <a:endParaRPr lang="en-US" sz="900" dirty="0"/>
          </a:p>
        </p:txBody>
      </p:sp>
      <p:sp>
        <p:nvSpPr>
          <p:cNvPr id="10" name="Text 8"/>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68</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26.7.1 EXPLOITING MODELS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Sim-to-Real Transfer &amp; Domain Randomization</a:t>
            </a:r>
            <a:endParaRPr lang="en-US" sz="2700" dirty="0"/>
          </a:p>
        </p:txBody>
      </p:sp>
      <p:sp>
        <p:nvSpPr>
          <p:cNvPr id="4" name="Shape 2"/>
          <p:cNvSpPr/>
          <p:nvPr/>
        </p:nvSpPr>
        <p:spPr>
          <a:xfrm>
            <a:off x="548640" y="1417320"/>
            <a:ext cx="11094415" cy="1051560"/>
          </a:xfrm>
          <a:prstGeom prst="roundRect">
            <a:avLst>
              <a:gd name="adj" fmla="val 6957"/>
            </a:avLst>
          </a:prstGeom>
          <a:solidFill>
            <a:srgbClr val="EEF2FF"/>
          </a:solidFill>
          <a:ln w="12700">
            <a:solidFill>
              <a:srgbClr val="4A6FA5"/>
            </a:solidFill>
            <a:prstDash val="solid"/>
          </a:ln>
        </p:spPr>
      </p:sp>
      <p:sp>
        <p:nvSpPr>
          <p:cNvPr id="5" name="Text 3"/>
          <p:cNvSpPr/>
          <p:nvPr/>
        </p:nvSpPr>
        <p:spPr>
          <a:xfrm>
            <a:off x="749808" y="1527048"/>
            <a:ext cx="10692079" cy="274320"/>
          </a:xfrm>
          <a:prstGeom prst="rect">
            <a:avLst/>
          </a:prstGeom>
          <a:noFill/>
          <a:ln/>
        </p:spPr>
        <p:txBody>
          <a:bodyPr wrap="square" lIns="0" tIns="0" rIns="0" bIns="0" rtlCol="0" anchor="ctr"/>
          <a:lstStyle/>
          <a:p>
            <a:pPr indent="0" marL="0">
              <a:buNone/>
            </a:pPr>
            <a:r>
              <a:rPr lang="en-US" sz="1250" b="1" spc="50" kern="0" dirty="0">
                <a:solidFill>
                  <a:srgbClr val="4A6FA5"/>
                </a:solidFill>
                <a:latin typeface="Calibri" pitchFamily="34" charset="0"/>
                <a:ea typeface="Calibri" pitchFamily="34" charset="-122"/>
                <a:cs typeface="Calibri" pitchFamily="34" charset="-120"/>
              </a:rPr>
              <a:t>THE SIM-TO-REAL PROBLEM</a:t>
            </a:r>
            <a:endParaRPr lang="en-US" sz="1250" dirty="0"/>
          </a:p>
        </p:txBody>
      </p:sp>
      <p:sp>
        <p:nvSpPr>
          <p:cNvPr id="6" name="Text 4"/>
          <p:cNvSpPr/>
          <p:nvPr/>
        </p:nvSpPr>
        <p:spPr>
          <a:xfrm>
            <a:off x="749808" y="1837944"/>
            <a:ext cx="10692079" cy="539496"/>
          </a:xfrm>
          <a:prstGeom prst="rect">
            <a:avLst/>
          </a:prstGeom>
          <a:noFill/>
          <a:ln/>
        </p:spPr>
        <p:txBody>
          <a:bodyPr wrap="square" lIns="0" tIns="0" rIns="0" bIns="0" rtlCol="0" anchor="t"/>
          <a:lstStyle/>
          <a:p>
            <a:pPr indent="0" marL="0">
              <a:lnSpc>
                <a:spcPct val="118000"/>
              </a:lnSpc>
              <a:buNone/>
            </a:pPr>
            <a:r>
              <a:rPr lang="en-US" sz="1450" dirty="0">
                <a:solidFill>
                  <a:srgbClr val="1F2A37"/>
                </a:solidFill>
                <a:latin typeface="Calibri" pitchFamily="34" charset="0"/>
                <a:ea typeface="Calibri" pitchFamily="34" charset="-122"/>
                <a:cs typeface="Calibri" pitchFamily="34" charset="-120"/>
              </a:rPr>
              <a:t>Train in a fast, cheap simulator; deploy in the slow, expensive, unforgiving real world. The gap between the two is an active area of research.</a:t>
            </a:r>
            <a:endParaRPr lang="en-US" sz="1450" dirty="0"/>
          </a:p>
        </p:txBody>
      </p:sp>
      <p:sp>
        <p:nvSpPr>
          <p:cNvPr id="7" name="Text 5"/>
          <p:cNvSpPr/>
          <p:nvPr/>
        </p:nvSpPr>
        <p:spPr>
          <a:xfrm>
            <a:off x="548640" y="2788920"/>
            <a:ext cx="11094415" cy="201168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Add noise to the simulated model during training — makes the resulting policy more robust to model imperfections.</a:t>
            </a:r>
            <a:endParaRPr lang="en-US" sz="1500" dirty="0"/>
          </a:p>
          <a:p>
            <a:pPr marL="228600" indent="-228600">
              <a:spcAft>
                <a:spcPts val="1000"/>
              </a:spcAft>
              <a:buSzPct val="100000"/>
              <a:buChar char="●"/>
            </a:pPr>
            <a:r>
              <a:rPr lang="en-US" sz="1500" b="1" dirty="0">
                <a:solidFill>
                  <a:srgbClr val="C8840A"/>
                </a:solidFill>
                <a:latin typeface="Calibri" pitchFamily="34" charset="0"/>
                <a:ea typeface="Calibri" pitchFamily="34" charset="-122"/>
                <a:cs typeface="Calibri" pitchFamily="34" charset="-120"/>
              </a:rPr>
              <a:t>Domain randomization: train across many DIFFERENT simulated parameter settings (friction, damping, even lighting/visual textures) so the policy generalizes rather than overfitting to one exact simulator.</a:t>
            </a:r>
            <a:endParaRPr lang="en-US" sz="1500" dirty="0"/>
          </a:p>
        </p:txBody>
      </p:sp>
      <p:sp>
        <p:nvSpPr>
          <p:cNvPr id="8" name="Shape 6"/>
          <p:cNvSpPr/>
          <p:nvPr/>
        </p:nvSpPr>
        <p:spPr>
          <a:xfrm>
            <a:off x="548640" y="4937760"/>
            <a:ext cx="11094415" cy="1188720"/>
          </a:xfrm>
          <a:prstGeom prst="roundRect">
            <a:avLst>
              <a:gd name="adj" fmla="val 6154"/>
            </a:avLst>
          </a:prstGeom>
          <a:solidFill>
            <a:srgbClr val="EEF8EE"/>
          </a:solidFill>
          <a:ln w="12700">
            <a:solidFill>
              <a:srgbClr val="1B6B3A"/>
            </a:solidFill>
            <a:prstDash val="solid"/>
          </a:ln>
        </p:spPr>
      </p:sp>
      <p:sp>
        <p:nvSpPr>
          <p:cNvPr id="9" name="Text 7"/>
          <p:cNvSpPr/>
          <p:nvPr/>
        </p:nvSpPr>
        <p:spPr>
          <a:xfrm>
            <a:off x="749808" y="5047488"/>
            <a:ext cx="10692079" cy="274320"/>
          </a:xfrm>
          <a:prstGeom prst="rect">
            <a:avLst/>
          </a:prstGeom>
          <a:noFill/>
          <a:ln/>
        </p:spPr>
        <p:txBody>
          <a:bodyPr wrap="square" lIns="0" tIns="0" rIns="0" bIns="0" rtlCol="0" anchor="ctr"/>
          <a:lstStyle/>
          <a:p>
            <a:pPr indent="0" marL="0">
              <a:buNone/>
            </a:pPr>
            <a:r>
              <a:rPr lang="en-US" sz="1250" b="1" spc="50" kern="0" dirty="0">
                <a:solidFill>
                  <a:srgbClr val="1B6B3A"/>
                </a:solidFill>
                <a:latin typeface="Calibri" pitchFamily="34" charset="0"/>
                <a:ea typeface="Calibri" pitchFamily="34" charset="-122"/>
                <a:cs typeface="Calibri" pitchFamily="34" charset="-120"/>
              </a:rPr>
              <a:t>CASE STUDY</a:t>
            </a:r>
            <a:endParaRPr lang="en-US" sz="1250" dirty="0"/>
          </a:p>
        </p:txBody>
      </p:sp>
      <p:sp>
        <p:nvSpPr>
          <p:cNvPr id="10" name="Text 8"/>
          <p:cNvSpPr/>
          <p:nvPr/>
        </p:nvSpPr>
        <p:spPr>
          <a:xfrm>
            <a:off x="749808" y="5358384"/>
            <a:ext cx="10692079" cy="67665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OpenAI's dexterous-hand project trained a policy across thousands of randomized simulations — varying friction, lighting, object size — then deployed the SAME policy directly on a physical robot hand with real cameras and range finders, and it worked.</a:t>
            </a:r>
            <a:endParaRPr lang="en-US" sz="1300" dirty="0"/>
          </a:p>
        </p:txBody>
      </p:sp>
      <p:sp>
        <p:nvSpPr>
          <p:cNvPr id="11" name="Text 9"/>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2" name="Text 10"/>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26.7 RL in Robotics</a:t>
            </a:r>
            <a:endParaRPr lang="en-US" sz="900" dirty="0"/>
          </a:p>
        </p:txBody>
      </p:sp>
      <p:sp>
        <p:nvSpPr>
          <p:cNvPr id="13" name="Text 11"/>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69</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26.7.1–26.7.2 THE BROADER TOOLKIT</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Hybrid Methods &amp; Exploiting Other Information</a:t>
            </a:r>
            <a:endParaRPr lang="en-US" sz="2700" dirty="0"/>
          </a:p>
        </p:txBody>
      </p:sp>
      <p:sp>
        <p:nvSpPr>
          <p:cNvPr id="4" name="Shape 2"/>
          <p:cNvSpPr/>
          <p:nvPr/>
        </p:nvSpPr>
        <p:spPr>
          <a:xfrm>
            <a:off x="548640" y="1417320"/>
            <a:ext cx="5364328" cy="4297680"/>
          </a:xfrm>
          <a:prstGeom prst="roundRect">
            <a:avLst>
              <a:gd name="adj" fmla="val 1915"/>
            </a:avLst>
          </a:prstGeom>
          <a:solidFill>
            <a:srgbClr val="EEF2FF"/>
          </a:solidFill>
          <a:ln/>
          <a:effectLst>
            <a:outerShdw sx="100000" sy="100000" kx="0" ky="0" algn="bl" rotWithShape="0" blurRad="76200" dist="25400" dir="5400000">
              <a:srgbClr val="1A3A5C">
                <a:alpha val="12000"/>
              </a:srgbClr>
            </a:outerShdw>
          </a:effectLst>
        </p:spPr>
      </p:sp>
      <p:sp>
        <p:nvSpPr>
          <p:cNvPr id="5" name="Text 3"/>
          <p:cNvSpPr/>
          <p:nvPr/>
        </p:nvSpPr>
        <p:spPr>
          <a:xfrm>
            <a:off x="749808" y="1545336"/>
            <a:ext cx="4961992" cy="329184"/>
          </a:xfrm>
          <a:prstGeom prst="rect">
            <a:avLst/>
          </a:prstGeom>
          <a:noFill/>
          <a:ln/>
        </p:spPr>
        <p:txBody>
          <a:bodyPr wrap="square" lIns="0" tIns="0" rIns="0" bIns="0" rtlCol="0" anchor="ctr"/>
          <a:lstStyle/>
          <a:p>
            <a:pPr indent="0" marL="0">
              <a:buNone/>
            </a:pPr>
            <a:r>
              <a:rPr lang="en-US" sz="1450" b="1" dirty="0">
                <a:solidFill>
                  <a:srgbClr val="4A6FA5"/>
                </a:solidFill>
                <a:latin typeface="Calibri" pitchFamily="34" charset="0"/>
                <a:ea typeface="Calibri" pitchFamily="34" charset="-122"/>
                <a:cs typeface="Calibri" pitchFamily="34" charset="-120"/>
              </a:rPr>
              <a:t>Hybrid model-based/model-free</a:t>
            </a:r>
            <a:endParaRPr lang="en-US" sz="1450" dirty="0"/>
          </a:p>
        </p:txBody>
      </p:sp>
      <p:sp>
        <p:nvSpPr>
          <p:cNvPr id="6" name="Text 4"/>
          <p:cNvSpPr/>
          <p:nvPr/>
        </p:nvSpPr>
        <p:spPr>
          <a:xfrm>
            <a:off x="749808" y="1929384"/>
            <a:ext cx="4961992" cy="3675888"/>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Dyna architecture: improve the policy TWO ways at once — directly from experience (model-free), and by fitting a model then planning with it (model-based).</a:t>
            </a:r>
            <a:endParaRPr lang="en-US" sz="1300" dirty="0"/>
          </a:p>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End-to-end deep RL: policy maps raw pixels directly to torques, skipping feature engineering entirely — enabled the first deep RL demonstration on a real physical robot.</a:t>
            </a:r>
            <a:endParaRPr lang="en-US" sz="1300" dirty="0"/>
          </a:p>
        </p:txBody>
      </p:sp>
      <p:sp>
        <p:nvSpPr>
          <p:cNvPr id="7" name="Shape 5"/>
          <p:cNvSpPr/>
          <p:nvPr/>
        </p:nvSpPr>
        <p:spPr>
          <a:xfrm>
            <a:off x="6278728" y="1417320"/>
            <a:ext cx="5364328" cy="4297680"/>
          </a:xfrm>
          <a:prstGeom prst="roundRect">
            <a:avLst>
              <a:gd name="adj" fmla="val 1915"/>
            </a:avLst>
          </a:prstGeom>
          <a:solidFill>
            <a:srgbClr val="EEF8EE"/>
          </a:solidFill>
          <a:ln/>
          <a:effectLst>
            <a:outerShdw sx="100000" sy="100000" kx="0" ky="0" algn="bl" rotWithShape="0" blurRad="76200" dist="25400" dir="5400000">
              <a:srgbClr val="1A3A5C">
                <a:alpha val="12000"/>
              </a:srgbClr>
            </a:outerShdw>
          </a:effectLst>
        </p:spPr>
      </p:sp>
      <p:sp>
        <p:nvSpPr>
          <p:cNvPr id="8" name="Text 6"/>
          <p:cNvSpPr/>
          <p:nvPr/>
        </p:nvSpPr>
        <p:spPr>
          <a:xfrm>
            <a:off x="6479896" y="1545336"/>
            <a:ext cx="4961992" cy="329184"/>
          </a:xfrm>
          <a:prstGeom prst="rect">
            <a:avLst/>
          </a:prstGeom>
          <a:noFill/>
          <a:ln/>
        </p:spPr>
        <p:txBody>
          <a:bodyPr wrap="square" lIns="0" tIns="0" rIns="0" bIns="0" rtlCol="0" anchor="ctr"/>
          <a:lstStyle/>
          <a:p>
            <a:pPr indent="0" marL="0">
              <a:buNone/>
            </a:pPr>
            <a:r>
              <a:rPr lang="en-US" sz="1450" b="1" dirty="0">
                <a:solidFill>
                  <a:srgbClr val="1B6B3A"/>
                </a:solidFill>
                <a:latin typeface="Calibri" pitchFamily="34" charset="0"/>
                <a:ea typeface="Calibri" pitchFamily="34" charset="-122"/>
                <a:cs typeface="Calibri" pitchFamily="34" charset="-120"/>
              </a:rPr>
              <a:t>26.7.2 — Exploiting other info</a:t>
            </a:r>
            <a:endParaRPr lang="en-US" sz="1450" dirty="0"/>
          </a:p>
        </p:txBody>
      </p:sp>
      <p:sp>
        <p:nvSpPr>
          <p:cNvPr id="9" name="Text 7"/>
          <p:cNvSpPr/>
          <p:nvPr/>
        </p:nvSpPr>
        <p:spPr>
          <a:xfrm>
            <a:off x="6479896" y="1929384"/>
            <a:ext cx="4961992" cy="3675888"/>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Motion primitives: reuse a parameterized SKILL library (e.g., 'pass the ball to (x,y)') instead of reinventing low-level actions each time — learns faster, but restricts what's learnable.</a:t>
            </a:r>
            <a:endParaRPr lang="en-US" sz="1300" dirty="0"/>
          </a:p>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Metalearning / transfer learning: reuse experience from other, related tasks instead of starting from zero.</a:t>
            </a:r>
            <a:endParaRPr lang="en-US" sz="1300" dirty="0"/>
          </a:p>
        </p:txBody>
      </p:sp>
      <p:sp>
        <p:nvSpPr>
          <p:cNvPr id="10" name="Text 8"/>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1" name="Text 9"/>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26.7 RL in Robotics</a:t>
            </a:r>
            <a:endParaRPr lang="en-US" sz="900" dirty="0"/>
          </a:p>
        </p:txBody>
      </p:sp>
      <p:sp>
        <p:nvSpPr>
          <p:cNvPr id="12" name="Text 10"/>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70</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3A5C"/>
          </a:solidFill>
          <a:ln/>
        </p:spPr>
      </p:sp>
      <p:sp>
        <p:nvSpPr>
          <p:cNvPr id="3" name="Shape 1"/>
          <p:cNvSpPr/>
          <p:nvPr/>
        </p:nvSpPr>
        <p:spPr>
          <a:xfrm>
            <a:off x="9692640" y="2377440"/>
            <a:ext cx="5120640" cy="5120640"/>
          </a:xfrm>
          <a:prstGeom prst="ellipse">
            <a:avLst/>
          </a:prstGeom>
          <a:solidFill>
            <a:srgbClr val="132B45"/>
          </a:solidFill>
          <a:ln/>
        </p:spPr>
      </p:sp>
      <p:sp>
        <p:nvSpPr>
          <p:cNvPr id="4" name="Text 2"/>
          <p:cNvSpPr/>
          <p:nvPr/>
        </p:nvSpPr>
        <p:spPr>
          <a:xfrm>
            <a:off x="822960" y="1463040"/>
            <a:ext cx="3657600" cy="1554480"/>
          </a:xfrm>
          <a:prstGeom prst="rect">
            <a:avLst/>
          </a:prstGeom>
          <a:noFill/>
          <a:ln/>
        </p:spPr>
        <p:txBody>
          <a:bodyPr wrap="square" lIns="0" tIns="0" rIns="0" bIns="0" rtlCol="0" anchor="ctr"/>
          <a:lstStyle/>
          <a:p>
            <a:pPr indent="0" marL="0">
              <a:buNone/>
            </a:pPr>
            <a:r>
              <a:rPr lang="en-US" sz="8400" b="1" dirty="0">
                <a:solidFill>
                  <a:srgbClr val="E8960C"/>
                </a:solidFill>
                <a:latin typeface="Calibri" pitchFamily="34" charset="0"/>
                <a:ea typeface="Calibri" pitchFamily="34" charset="-122"/>
                <a:cs typeface="Calibri" pitchFamily="34" charset="-120"/>
              </a:rPr>
              <a:t>26.8</a:t>
            </a:r>
            <a:endParaRPr lang="en-US" sz="8400" dirty="0"/>
          </a:p>
        </p:txBody>
      </p:sp>
      <p:sp>
        <p:nvSpPr>
          <p:cNvPr id="5" name="Text 3"/>
          <p:cNvSpPr/>
          <p:nvPr/>
        </p:nvSpPr>
        <p:spPr>
          <a:xfrm>
            <a:off x="822960" y="2971800"/>
            <a:ext cx="9875520" cy="105156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Humans and Robots</a:t>
            </a:r>
            <a:endParaRPr lang="en-US" sz="3800" dirty="0"/>
          </a:p>
        </p:txBody>
      </p:sp>
      <p:sp>
        <p:nvSpPr>
          <p:cNvPr id="6" name="Text 4"/>
          <p:cNvSpPr/>
          <p:nvPr/>
        </p:nvSpPr>
        <p:spPr>
          <a:xfrm>
            <a:off x="822960" y="3977640"/>
            <a:ext cx="8778240" cy="82296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Most robots don't work in isolation — they work around, and for, us.</a:t>
            </a:r>
            <a:endParaRPr lang="en-US" sz="1600" dirty="0"/>
          </a:p>
        </p:txBody>
      </p:sp>
      <p:sp>
        <p:nvSpPr>
          <p:cNvPr id="7" name="Shape 5"/>
          <p:cNvSpPr/>
          <p:nvPr/>
        </p:nvSpPr>
        <p:spPr>
          <a:xfrm>
            <a:off x="868680" y="4956048"/>
            <a:ext cx="82296" cy="82296"/>
          </a:xfrm>
          <a:prstGeom prst="ellipse">
            <a:avLst/>
          </a:prstGeom>
          <a:solidFill>
            <a:srgbClr val="E8960C"/>
          </a:solidFill>
          <a:ln/>
        </p:spPr>
      </p:sp>
      <p:sp>
        <p:nvSpPr>
          <p:cNvPr id="8" name="Text 6"/>
          <p:cNvSpPr/>
          <p:nvPr/>
        </p:nvSpPr>
        <p:spPr>
          <a:xfrm>
            <a:off x="1097280" y="4837176"/>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Coordination as a continuous, incomplete-information game</a:t>
            </a:r>
            <a:endParaRPr lang="en-US" sz="1350" dirty="0"/>
          </a:p>
        </p:txBody>
      </p:sp>
      <p:sp>
        <p:nvSpPr>
          <p:cNvPr id="9" name="Shape 7"/>
          <p:cNvSpPr/>
          <p:nvPr/>
        </p:nvSpPr>
        <p:spPr>
          <a:xfrm>
            <a:off x="868680" y="5285232"/>
            <a:ext cx="82296" cy="82296"/>
          </a:xfrm>
          <a:prstGeom prst="ellipse">
            <a:avLst/>
          </a:prstGeom>
          <a:solidFill>
            <a:srgbClr val="E8960C"/>
          </a:solidFill>
          <a:ln/>
        </p:spPr>
      </p:sp>
      <p:sp>
        <p:nvSpPr>
          <p:cNvPr id="10" name="Text 8"/>
          <p:cNvSpPr/>
          <p:nvPr/>
        </p:nvSpPr>
        <p:spPr>
          <a:xfrm>
            <a:off x="1097280" y="5166360"/>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Predicting human action via the Boltzmann-rational model</a:t>
            </a:r>
            <a:endParaRPr lang="en-US" sz="1350" dirty="0"/>
          </a:p>
        </p:txBody>
      </p:sp>
      <p:sp>
        <p:nvSpPr>
          <p:cNvPr id="11" name="Shape 9"/>
          <p:cNvSpPr/>
          <p:nvPr/>
        </p:nvSpPr>
        <p:spPr>
          <a:xfrm>
            <a:off x="868680" y="5614416"/>
            <a:ext cx="82296" cy="82296"/>
          </a:xfrm>
          <a:prstGeom prst="ellipse">
            <a:avLst/>
          </a:prstGeom>
          <a:solidFill>
            <a:srgbClr val="E8960C"/>
          </a:solidFill>
          <a:ln/>
        </p:spPr>
      </p:sp>
      <p:sp>
        <p:nvSpPr>
          <p:cNvPr id="12" name="Text 10"/>
          <p:cNvSpPr/>
          <p:nvPr/>
        </p:nvSpPr>
        <p:spPr>
          <a:xfrm>
            <a:off x="1097280" y="5495544"/>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Learning what humans want: preference learning and imitation</a:t>
            </a:r>
            <a:endParaRPr lang="en-US" sz="1350" dirty="0"/>
          </a:p>
        </p:txBody>
      </p:sp>
      <p:sp>
        <p:nvSpPr>
          <p:cNvPr id="13" name="Text 11"/>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4" name="Text 12"/>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Humans and Robots</a:t>
            </a:r>
            <a:endParaRPr lang="en-US" sz="900" dirty="0"/>
          </a:p>
        </p:txBody>
      </p:sp>
      <p:sp>
        <p:nvSpPr>
          <p:cNvPr id="15" name="Text 13"/>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71</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26.8 HUMANS AND ROBOTS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Two Complementary Challenges</a:t>
            </a:r>
            <a:endParaRPr lang="en-US" sz="2700" dirty="0"/>
          </a:p>
        </p:txBody>
      </p:sp>
      <p:sp>
        <p:nvSpPr>
          <p:cNvPr id="4" name="Shape 2"/>
          <p:cNvSpPr/>
          <p:nvPr/>
        </p:nvSpPr>
        <p:spPr>
          <a:xfrm>
            <a:off x="548640" y="1417320"/>
            <a:ext cx="5364328" cy="4206240"/>
          </a:xfrm>
          <a:prstGeom prst="roundRect">
            <a:avLst>
              <a:gd name="adj" fmla="val 1957"/>
            </a:avLst>
          </a:prstGeom>
          <a:solidFill>
            <a:srgbClr val="EEF2FF"/>
          </a:solidFill>
          <a:ln/>
          <a:effectLst>
            <a:outerShdw sx="100000" sy="100000" kx="0" ky="0" algn="bl" rotWithShape="0" blurRad="76200" dist="25400" dir="5400000">
              <a:srgbClr val="1A3A5C">
                <a:alpha val="12000"/>
              </a:srgbClr>
            </a:outerShdw>
          </a:effectLst>
        </p:spPr>
      </p:sp>
      <p:sp>
        <p:nvSpPr>
          <p:cNvPr id="5" name="Text 3"/>
          <p:cNvSpPr/>
          <p:nvPr/>
        </p:nvSpPr>
        <p:spPr>
          <a:xfrm>
            <a:off x="749808" y="1545336"/>
            <a:ext cx="4961992" cy="329184"/>
          </a:xfrm>
          <a:prstGeom prst="rect">
            <a:avLst/>
          </a:prstGeom>
          <a:noFill/>
          <a:ln/>
        </p:spPr>
        <p:txBody>
          <a:bodyPr wrap="square" lIns="0" tIns="0" rIns="0" bIns="0" rtlCol="0" anchor="ctr"/>
          <a:lstStyle/>
          <a:p>
            <a:pPr indent="0" marL="0">
              <a:buNone/>
            </a:pPr>
            <a:r>
              <a:rPr lang="en-US" sz="1450" b="1" dirty="0">
                <a:solidFill>
                  <a:srgbClr val="4A6FA5"/>
                </a:solidFill>
                <a:latin typeface="Calibri" pitchFamily="34" charset="0"/>
                <a:ea typeface="Calibri" pitchFamily="34" charset="-122"/>
                <a:cs typeface="Calibri" pitchFamily="34" charset="-120"/>
              </a:rPr>
              <a:t>1. Coordination</a:t>
            </a:r>
            <a:endParaRPr lang="en-US" sz="1450" dirty="0"/>
          </a:p>
        </p:txBody>
      </p:sp>
      <p:sp>
        <p:nvSpPr>
          <p:cNvPr id="6" name="Text 4"/>
          <p:cNvSpPr/>
          <p:nvPr/>
        </p:nvSpPr>
        <p:spPr>
          <a:xfrm>
            <a:off x="749808" y="1929384"/>
            <a:ext cx="4961992" cy="3584448"/>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Optimizing reward while people act in the SAME environment, given a clearly defined reward function.</a:t>
            </a:r>
            <a:endParaRPr lang="en-US" sz="1350" dirty="0"/>
          </a:p>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When robot and human share a goal, coordination becomes collaboration.</a:t>
            </a:r>
            <a:endParaRPr lang="en-US" sz="1350" dirty="0"/>
          </a:p>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Highway merges, hallway passing, stop-sign right turns near cyclists.</a:t>
            </a:r>
            <a:endParaRPr lang="en-US" sz="1350" dirty="0"/>
          </a:p>
        </p:txBody>
      </p:sp>
      <p:sp>
        <p:nvSpPr>
          <p:cNvPr id="7" name="Shape 5"/>
          <p:cNvSpPr/>
          <p:nvPr/>
        </p:nvSpPr>
        <p:spPr>
          <a:xfrm>
            <a:off x="6278728" y="1417320"/>
            <a:ext cx="5364328" cy="4206240"/>
          </a:xfrm>
          <a:prstGeom prst="roundRect">
            <a:avLst>
              <a:gd name="adj" fmla="val 1957"/>
            </a:avLst>
          </a:prstGeom>
          <a:solidFill>
            <a:srgbClr val="FFF8E6"/>
          </a:solidFill>
          <a:ln/>
          <a:effectLst>
            <a:outerShdw sx="100000" sy="100000" kx="0" ky="0" algn="bl" rotWithShape="0" blurRad="76200" dist="25400" dir="5400000">
              <a:srgbClr val="1A3A5C">
                <a:alpha val="12000"/>
              </a:srgbClr>
            </a:outerShdw>
          </a:effectLst>
        </p:spPr>
      </p:sp>
      <p:sp>
        <p:nvSpPr>
          <p:cNvPr id="8" name="Text 6"/>
          <p:cNvSpPr/>
          <p:nvPr/>
        </p:nvSpPr>
        <p:spPr>
          <a:xfrm>
            <a:off x="6479896" y="1545336"/>
            <a:ext cx="4961992" cy="329184"/>
          </a:xfrm>
          <a:prstGeom prst="rect">
            <a:avLst/>
          </a:prstGeom>
          <a:noFill/>
          <a:ln/>
        </p:spPr>
        <p:txBody>
          <a:bodyPr wrap="square" lIns="0" tIns="0" rIns="0" bIns="0" rtlCol="0" anchor="ctr"/>
          <a:lstStyle/>
          <a:p>
            <a:pPr indent="0" marL="0">
              <a:buNone/>
            </a:pPr>
            <a:r>
              <a:rPr lang="en-US" sz="1450" b="1" dirty="0">
                <a:solidFill>
                  <a:srgbClr val="C8840A"/>
                </a:solidFill>
                <a:latin typeface="Calibri" pitchFamily="34" charset="0"/>
                <a:ea typeface="Calibri" pitchFamily="34" charset="-122"/>
                <a:cs typeface="Calibri" pitchFamily="34" charset="-120"/>
              </a:rPr>
              <a:t>2. Learning what people want</a:t>
            </a:r>
            <a:endParaRPr lang="en-US" sz="1450" dirty="0"/>
          </a:p>
        </p:txBody>
      </p:sp>
      <p:sp>
        <p:nvSpPr>
          <p:cNvPr id="9" name="Text 7"/>
          <p:cNvSpPr/>
          <p:nvPr/>
        </p:nvSpPr>
        <p:spPr>
          <a:xfrm>
            <a:off x="6479896" y="1929384"/>
            <a:ext cx="4961992" cy="3584448"/>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Figuring out the right reward function (or policy) in the first place — itself an interaction problem.</a:t>
            </a:r>
            <a:endParaRPr lang="en-US" sz="1350" dirty="0"/>
          </a:p>
          <a:p>
            <a:pPr marL="177800" indent="-177800">
              <a:spcAft>
                <a:spcPts val="500"/>
              </a:spcAft>
              <a:buSzPct val="100000"/>
              <a:buChar char="●"/>
            </a:pPr>
            <a:r>
              <a:rPr lang="en-US" sz="1350" dirty="0">
                <a:solidFill>
                  <a:srgbClr val="1F2A37"/>
                </a:solidFill>
                <a:latin typeface="Calibri" pitchFamily="34" charset="0"/>
                <a:ea typeface="Calibri" pitchFamily="34" charset="-122"/>
                <a:cs typeface="Calibri" pitchFamily="34" charset="-120"/>
              </a:rPr>
              <a:t>If the robot's reward doesn't incentivize what people actually want, coordination is optimizing the wrong thing entirely.</a:t>
            </a:r>
            <a:endParaRPr lang="en-US" sz="1350" dirty="0"/>
          </a:p>
        </p:txBody>
      </p:sp>
      <p:sp>
        <p:nvSpPr>
          <p:cNvPr id="10" name="Text 8"/>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1" name="Text 9"/>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26.8 Humans and Robots</a:t>
            </a:r>
            <a:endParaRPr lang="en-US" sz="900" dirty="0"/>
          </a:p>
        </p:txBody>
      </p:sp>
      <p:sp>
        <p:nvSpPr>
          <p:cNvPr id="12" name="Text 10"/>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72</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26.8.1 COORDINATION</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Coordination as a Game</a:t>
            </a:r>
            <a:endParaRPr lang="en-US" sz="2700" dirty="0"/>
          </a:p>
        </p:txBody>
      </p:sp>
      <p:sp>
        <p:nvSpPr>
          <p:cNvPr id="4" name="Shape 2"/>
          <p:cNvSpPr/>
          <p:nvPr/>
        </p:nvSpPr>
        <p:spPr>
          <a:xfrm>
            <a:off x="731520" y="2331720"/>
            <a:ext cx="2194560" cy="822960"/>
          </a:xfrm>
          <a:prstGeom prst="roundRect">
            <a:avLst>
              <a:gd name="adj" fmla="val 6667"/>
            </a:avLst>
          </a:prstGeom>
          <a:solidFill>
            <a:srgbClr val="EEF2FF"/>
          </a:solidFill>
          <a:ln w="15875">
            <a:solidFill>
              <a:srgbClr val="4A6FA5"/>
            </a:solidFill>
            <a:prstDash val="solid"/>
          </a:ln>
        </p:spPr>
      </p:sp>
      <p:sp>
        <p:nvSpPr>
          <p:cNvPr id="5" name="Text 3"/>
          <p:cNvSpPr/>
          <p:nvPr/>
        </p:nvSpPr>
        <p:spPr>
          <a:xfrm>
            <a:off x="731520" y="2331720"/>
            <a:ext cx="2194560" cy="822960"/>
          </a:xfrm>
          <a:prstGeom prst="rect">
            <a:avLst/>
          </a:prstGeom>
          <a:noFill/>
          <a:ln/>
        </p:spPr>
        <p:txBody>
          <a:bodyPr wrap="square" lIns="25400" tIns="25400" rIns="25400" bIns="25400" rtlCol="0" anchor="ctr"/>
          <a:lstStyle/>
          <a:p>
            <a:pPr algn="ctr" indent="0" marL="0">
              <a:buNone/>
            </a:pPr>
            <a:r>
              <a:rPr lang="en-US" sz="1200" b="1" dirty="0">
                <a:solidFill>
                  <a:srgbClr val="1A3A5C"/>
                </a:solidFill>
                <a:latin typeface="Calibri" pitchFamily="34" charset="0"/>
                <a:ea typeface="Calibri" pitchFamily="34" charset="-122"/>
                <a:cs typeface="Calibri" pitchFamily="34" charset="-120"/>
              </a:rPr>
              <a:t>ROBOT</a:t>
            </a:r>
            <a:endParaRPr lang="en-US" sz="1200" dirty="0"/>
          </a:p>
          <a:p>
            <a:pPr algn="ctr" indent="0" marL="0">
              <a:buNone/>
            </a:pPr>
            <a:r>
              <a:rPr lang="en-US" sz="1200" b="1" dirty="0">
                <a:solidFill>
                  <a:srgbClr val="1A3A5C"/>
                </a:solidFill>
                <a:latin typeface="Calibri" pitchFamily="34" charset="0"/>
                <a:ea typeface="Calibri" pitchFamily="34" charset="-122"/>
                <a:cs typeface="Calibri" pitchFamily="34" charset="-120"/>
              </a:rPr>
              <a:t>state xR, action uR</a:t>
            </a:r>
            <a:endParaRPr lang="en-US" sz="1200" dirty="0"/>
          </a:p>
        </p:txBody>
      </p:sp>
      <p:sp>
        <p:nvSpPr>
          <p:cNvPr id="6" name="Shape 4"/>
          <p:cNvSpPr/>
          <p:nvPr/>
        </p:nvSpPr>
        <p:spPr>
          <a:xfrm>
            <a:off x="9265615" y="2331720"/>
            <a:ext cx="2194560" cy="822960"/>
          </a:xfrm>
          <a:prstGeom prst="roundRect">
            <a:avLst>
              <a:gd name="adj" fmla="val 6667"/>
            </a:avLst>
          </a:prstGeom>
          <a:solidFill>
            <a:srgbClr val="FFF8E6"/>
          </a:solidFill>
          <a:ln w="15875">
            <a:solidFill>
              <a:srgbClr val="C8840A"/>
            </a:solidFill>
            <a:prstDash val="solid"/>
          </a:ln>
        </p:spPr>
      </p:sp>
      <p:sp>
        <p:nvSpPr>
          <p:cNvPr id="7" name="Text 5"/>
          <p:cNvSpPr/>
          <p:nvPr/>
        </p:nvSpPr>
        <p:spPr>
          <a:xfrm>
            <a:off x="9265615" y="2331720"/>
            <a:ext cx="2194560" cy="822960"/>
          </a:xfrm>
          <a:prstGeom prst="rect">
            <a:avLst/>
          </a:prstGeom>
          <a:noFill/>
          <a:ln/>
        </p:spPr>
        <p:txBody>
          <a:bodyPr wrap="square" lIns="25400" tIns="25400" rIns="25400" bIns="25400" rtlCol="0" anchor="ctr"/>
          <a:lstStyle/>
          <a:p>
            <a:pPr algn="ctr" indent="0" marL="0">
              <a:buNone/>
            </a:pPr>
            <a:r>
              <a:rPr lang="en-US" sz="1200" b="1" dirty="0">
                <a:solidFill>
                  <a:srgbClr val="C8840A"/>
                </a:solidFill>
                <a:latin typeface="Calibri" pitchFamily="34" charset="0"/>
                <a:ea typeface="Calibri" pitchFamily="34" charset="-122"/>
                <a:cs typeface="Calibri" pitchFamily="34" charset="-120"/>
              </a:rPr>
              <a:t>HUMAN</a:t>
            </a:r>
            <a:endParaRPr lang="en-US" sz="1200" dirty="0"/>
          </a:p>
          <a:p>
            <a:pPr algn="ctr" indent="0" marL="0">
              <a:buNone/>
            </a:pPr>
            <a:r>
              <a:rPr lang="en-US" sz="1200" b="1" dirty="0">
                <a:solidFill>
                  <a:srgbClr val="C8840A"/>
                </a:solidFill>
                <a:latin typeface="Calibri" pitchFamily="34" charset="0"/>
                <a:ea typeface="Calibri" pitchFamily="34" charset="-122"/>
                <a:cs typeface="Calibri" pitchFamily="34" charset="-120"/>
              </a:rPr>
              <a:t>state xH, action uH</a:t>
            </a:r>
            <a:endParaRPr lang="en-US" sz="1200" dirty="0"/>
          </a:p>
        </p:txBody>
      </p:sp>
      <p:sp>
        <p:nvSpPr>
          <p:cNvPr id="8" name="Shape 6"/>
          <p:cNvSpPr/>
          <p:nvPr/>
        </p:nvSpPr>
        <p:spPr>
          <a:xfrm>
            <a:off x="2926080" y="2606040"/>
            <a:ext cx="6339535" cy="914"/>
          </a:xfrm>
          <a:prstGeom prst="line">
            <a:avLst/>
          </a:prstGeom>
          <a:noFill/>
          <a:ln w="19050">
            <a:solidFill>
              <a:srgbClr val="51606F"/>
            </a:solidFill>
            <a:prstDash val="solid"/>
            <a:headEnd type="none"/>
            <a:tailEnd type="triangle"/>
          </a:ln>
        </p:spPr>
      </p:sp>
      <p:sp>
        <p:nvSpPr>
          <p:cNvPr id="9" name="Shape 7"/>
          <p:cNvSpPr/>
          <p:nvPr/>
        </p:nvSpPr>
        <p:spPr>
          <a:xfrm flipH="1">
            <a:off x="2926080" y="2926080"/>
            <a:ext cx="6339535" cy="914"/>
          </a:xfrm>
          <a:prstGeom prst="line">
            <a:avLst/>
          </a:prstGeom>
          <a:noFill/>
          <a:ln w="19050">
            <a:solidFill>
              <a:srgbClr val="51606F"/>
            </a:solidFill>
            <a:prstDash val="solid"/>
            <a:headEnd type="none"/>
            <a:tailEnd type="triangle"/>
          </a:ln>
        </p:spPr>
      </p:sp>
      <p:sp>
        <p:nvSpPr>
          <p:cNvPr id="10" name="Shape 8"/>
          <p:cNvSpPr/>
          <p:nvPr/>
        </p:nvSpPr>
        <p:spPr>
          <a:xfrm>
            <a:off x="4724248" y="1508760"/>
            <a:ext cx="2743200" cy="502920"/>
          </a:xfrm>
          <a:prstGeom prst="roundRect">
            <a:avLst>
              <a:gd name="adj" fmla="val 10909"/>
            </a:avLst>
          </a:prstGeom>
          <a:solidFill>
            <a:srgbClr val="EEF8EE"/>
          </a:solidFill>
          <a:ln w="15875">
            <a:solidFill>
              <a:srgbClr val="1B6B3A"/>
            </a:solidFill>
            <a:prstDash val="solid"/>
          </a:ln>
        </p:spPr>
      </p:sp>
      <p:sp>
        <p:nvSpPr>
          <p:cNvPr id="11" name="Text 9"/>
          <p:cNvSpPr/>
          <p:nvPr/>
        </p:nvSpPr>
        <p:spPr>
          <a:xfrm>
            <a:off x="4724248" y="1508760"/>
            <a:ext cx="2743200" cy="502920"/>
          </a:xfrm>
          <a:prstGeom prst="rect">
            <a:avLst/>
          </a:prstGeom>
          <a:noFill/>
          <a:ln/>
        </p:spPr>
        <p:txBody>
          <a:bodyPr wrap="square" lIns="25400" tIns="25400" rIns="25400" bIns="25400" rtlCol="0" anchor="ctr"/>
          <a:lstStyle/>
          <a:p>
            <a:pPr algn="ctr" indent="0" marL="0">
              <a:buNone/>
            </a:pPr>
            <a:r>
              <a:rPr lang="en-US" sz="1100" b="1" dirty="0">
                <a:solidFill>
                  <a:srgbClr val="1B6B3A"/>
                </a:solidFill>
                <a:latin typeface="Calibri" pitchFamily="34" charset="0"/>
                <a:ea typeface="Calibri" pitchFamily="34" charset="-122"/>
                <a:cs typeface="Calibri" pitchFamily="34" charset="-120"/>
              </a:rPr>
              <a:t>shared world state x = (xR, xH)</a:t>
            </a:r>
            <a:endParaRPr lang="en-US" sz="1100" dirty="0"/>
          </a:p>
        </p:txBody>
      </p:sp>
      <p:sp>
        <p:nvSpPr>
          <p:cNvPr id="12" name="Text 10"/>
          <p:cNvSpPr/>
          <p:nvPr/>
        </p:nvSpPr>
        <p:spPr>
          <a:xfrm>
            <a:off x="4724248" y="3246120"/>
            <a:ext cx="2743200" cy="274320"/>
          </a:xfrm>
          <a:prstGeom prst="rect">
            <a:avLst/>
          </a:prstGeom>
          <a:noFill/>
          <a:ln/>
        </p:spPr>
        <p:txBody>
          <a:bodyPr wrap="square" lIns="0" tIns="0" rIns="0" bIns="0" rtlCol="0" anchor="t"/>
          <a:lstStyle/>
          <a:p>
            <a:pPr algn="ctr" indent="0" marL="0">
              <a:buNone/>
            </a:pPr>
            <a:r>
              <a:rPr lang="en-US" sz="1200" b="1" dirty="0">
                <a:solidFill>
                  <a:srgbClr val="51606F"/>
                </a:solidFill>
                <a:latin typeface="Calibri" pitchFamily="34" charset="0"/>
                <a:ea typeface="Calibri" pitchFamily="34" charset="-122"/>
                <a:cs typeface="Calibri" pitchFamily="34" charset="-120"/>
              </a:rPr>
              <a:t>JR(x,uR,uH)         JH(x,uH,uR)</a:t>
            </a:r>
            <a:endParaRPr lang="en-US" sz="1200" dirty="0"/>
          </a:p>
        </p:txBody>
      </p:sp>
      <p:sp>
        <p:nvSpPr>
          <p:cNvPr id="13" name="Text 11"/>
          <p:cNvSpPr/>
          <p:nvPr/>
        </p:nvSpPr>
        <p:spPr>
          <a:xfrm>
            <a:off x="731520" y="3749040"/>
            <a:ext cx="10728655" cy="274320"/>
          </a:xfrm>
          <a:prstGeom prst="rect">
            <a:avLst/>
          </a:prstGeom>
          <a:noFill/>
          <a:ln/>
        </p:spPr>
        <p:txBody>
          <a:bodyPr wrap="square" lIns="0" tIns="0" rIns="0" bIns="0" rtlCol="0" anchor="t"/>
          <a:lstStyle/>
          <a:p>
            <a:pPr algn="ctr" indent="0" marL="0">
              <a:buNone/>
            </a:pPr>
            <a:r>
              <a:rPr lang="en-US" sz="1050" i="1" dirty="0">
                <a:solidFill>
                  <a:srgbClr val="51606F"/>
                </a:solidFill>
                <a:latin typeface="Calibri" pitchFamily="34" charset="0"/>
                <a:ea typeface="Calibri" pitchFamily="34" charset="-122"/>
                <a:cs typeface="Calibri" pitchFamily="34" charset="-120"/>
              </a:rPr>
              <a:t>each agent's cost depends on BOTH agents' actions — a continuous, incomplete-information game</a:t>
            </a:r>
            <a:endParaRPr lang="en-US" sz="1050" dirty="0"/>
          </a:p>
        </p:txBody>
      </p:sp>
      <p:sp>
        <p:nvSpPr>
          <p:cNvPr id="14" name="Text 12"/>
          <p:cNvSpPr/>
          <p:nvPr/>
        </p:nvSpPr>
        <p:spPr>
          <a:xfrm>
            <a:off x="548640" y="4343400"/>
            <a:ext cx="11094415" cy="1920240"/>
          </a:xfrm>
          <a:prstGeom prst="rect">
            <a:avLst/>
          </a:prstGeom>
          <a:noFill/>
          <a:ln/>
        </p:spPr>
        <p:txBody>
          <a:bodyPr wrap="square" lIns="0" tIns="0" rIns="0" bIns="0" rtlCol="0" anchor="t"/>
          <a:lstStyle/>
          <a:p>
            <a:pPr marL="228600" indent="-228600">
              <a:spcAft>
                <a:spcPts val="1000"/>
              </a:spcAft>
              <a:buSzPct val="100000"/>
              <a:buChar char="●"/>
            </a:pPr>
            <a:r>
              <a:rPr lang="en-US" sz="1350" b="1" dirty="0">
                <a:solidFill>
                  <a:srgbClr val="1F2A37"/>
                </a:solidFill>
                <a:latin typeface="Calibri" pitchFamily="34" charset="0"/>
                <a:ea typeface="Calibri" pitchFamily="34" charset="-122"/>
                <a:cs typeface="Calibri" pitchFamily="34" charset="-120"/>
              </a:rPr>
              <a:t>Model the human as an approximately rational agent, incentivized by some objective — NOT necessarily a perfectly optimal one.</a:t>
            </a:r>
            <a:endParaRPr lang="en-US" sz="1350" dirty="0"/>
          </a:p>
          <a:p>
            <a:pPr marL="228600" indent="-228600">
              <a:spcAft>
                <a:spcPts val="1000"/>
              </a:spcAft>
              <a:buSzPct val="100000"/>
              <a:buChar char="●"/>
            </a:pPr>
            <a:r>
              <a:rPr lang="en-US" sz="1350" dirty="0">
                <a:solidFill>
                  <a:srgbClr val="1F2A37"/>
                </a:solidFill>
                <a:latin typeface="Calibri" pitchFamily="34" charset="0"/>
                <a:ea typeface="Calibri" pitchFamily="34" charset="-122"/>
                <a:cs typeface="Calibri" pitchFamily="34" charset="-120"/>
              </a:rPr>
              <a:t>Three real complications: (1) incomplete information — neither side fully knows the other's objective; (2) continuous state/action spaces (harder than the discrete games of Ch. 6); (3) humans aren't always well-modeled as solving the game perfectly at all — 'what do you think I think you think...' gets computationally hopeless fast.</a:t>
            </a:r>
            <a:endParaRPr lang="en-US" sz="1350" dirty="0"/>
          </a:p>
        </p:txBody>
      </p:sp>
      <p:sp>
        <p:nvSpPr>
          <p:cNvPr id="15" name="Text 13"/>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6" name="Text 14"/>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26.8 Humans and Robots</a:t>
            </a:r>
            <a:endParaRPr lang="en-US" sz="900" dirty="0"/>
          </a:p>
        </p:txBody>
      </p:sp>
      <p:sp>
        <p:nvSpPr>
          <p:cNvPr id="17" name="Text 15"/>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73</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26.8.1 COORDINATION</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Predicting Human Action: Noisy Rationality</a:t>
            </a:r>
            <a:endParaRPr lang="en-US" sz="2700" dirty="0"/>
          </a:p>
        </p:txBody>
      </p:sp>
      <p:sp>
        <p:nvSpPr>
          <p:cNvPr id="4" name="Shape 2"/>
          <p:cNvSpPr/>
          <p:nvPr/>
        </p:nvSpPr>
        <p:spPr>
          <a:xfrm>
            <a:off x="548640" y="1417320"/>
            <a:ext cx="6434761" cy="822960"/>
          </a:xfrm>
          <a:prstGeom prst="roundRect">
            <a:avLst>
              <a:gd name="adj" fmla="val 7778"/>
            </a:avLst>
          </a:prstGeom>
          <a:solidFill>
            <a:srgbClr val="EEF2FF"/>
          </a:solidFill>
          <a:ln w="9525">
            <a:solidFill>
              <a:srgbClr val="4A6FA5"/>
            </a:solidFill>
            <a:prstDash val="solid"/>
          </a:ln>
        </p:spPr>
      </p:sp>
      <p:sp>
        <p:nvSpPr>
          <p:cNvPr id="5" name="Text 3"/>
          <p:cNvSpPr/>
          <p:nvPr/>
        </p:nvSpPr>
        <p:spPr>
          <a:xfrm>
            <a:off x="713232" y="1463040"/>
            <a:ext cx="1554480" cy="237744"/>
          </a:xfrm>
          <a:prstGeom prst="rect">
            <a:avLst/>
          </a:prstGeom>
          <a:noFill/>
          <a:ln/>
        </p:spPr>
        <p:txBody>
          <a:bodyPr wrap="square" lIns="0" tIns="0" rIns="0" bIns="0" rtlCol="0" anchor="ctr"/>
          <a:lstStyle/>
          <a:p>
            <a:pPr indent="0" marL="0">
              <a:buNone/>
            </a:pPr>
            <a:r>
              <a:rPr lang="en-US" sz="1050" b="1" spc="50" kern="0" dirty="0">
                <a:solidFill>
                  <a:srgbClr val="4A6FA5"/>
                </a:solidFill>
                <a:latin typeface="Calibri" pitchFamily="34" charset="0"/>
                <a:ea typeface="Calibri" pitchFamily="34" charset="-122"/>
                <a:cs typeface="Calibri" pitchFamily="34" charset="-120"/>
              </a:rPr>
              <a:t>GENERAL</a:t>
            </a:r>
            <a:endParaRPr lang="en-US" sz="1050" dirty="0"/>
          </a:p>
        </p:txBody>
      </p:sp>
      <p:sp>
        <p:nvSpPr>
          <p:cNvPr id="6" name="Text 4"/>
          <p:cNvSpPr/>
          <p:nvPr/>
        </p:nvSpPr>
        <p:spPr>
          <a:xfrm>
            <a:off x="713232" y="1691640"/>
            <a:ext cx="6105577"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P(uH | x, JH) ∝ e^(−Q(x,uH;JH)) — a Boltzmann / softmax model over the human's actions.</a:t>
            </a:r>
            <a:endParaRPr lang="en-US" sz="1300" dirty="0"/>
          </a:p>
        </p:txBody>
      </p:sp>
      <p:sp>
        <p:nvSpPr>
          <p:cNvPr id="7" name="Shape 5"/>
          <p:cNvSpPr/>
          <p:nvPr/>
        </p:nvSpPr>
        <p:spPr>
          <a:xfrm>
            <a:off x="548640" y="2368296"/>
            <a:ext cx="6434761" cy="822960"/>
          </a:xfrm>
          <a:prstGeom prst="roundRect">
            <a:avLst>
              <a:gd name="adj" fmla="val 7778"/>
            </a:avLst>
          </a:prstGeom>
          <a:solidFill>
            <a:srgbClr val="FFF8E6"/>
          </a:solidFill>
          <a:ln w="9525">
            <a:solidFill>
              <a:srgbClr val="C8840A"/>
            </a:solidFill>
            <a:prstDash val="solid"/>
          </a:ln>
        </p:spPr>
      </p:sp>
      <p:sp>
        <p:nvSpPr>
          <p:cNvPr id="8" name="Text 6"/>
          <p:cNvSpPr/>
          <p:nvPr/>
        </p:nvSpPr>
        <p:spPr>
          <a:xfrm>
            <a:off x="713232" y="2414016"/>
            <a:ext cx="1554480" cy="237744"/>
          </a:xfrm>
          <a:prstGeom prst="rect">
            <a:avLst/>
          </a:prstGeom>
          <a:noFill/>
          <a:ln/>
        </p:spPr>
        <p:txBody>
          <a:bodyPr wrap="square" lIns="0" tIns="0" rIns="0" bIns="0" rtlCol="0" anchor="ctr"/>
          <a:lstStyle/>
          <a:p>
            <a:pPr indent="0" marL="0">
              <a:buNone/>
            </a:pPr>
            <a:r>
              <a:rPr lang="en-US" sz="1050" b="1" spc="50" kern="0" dirty="0">
                <a:solidFill>
                  <a:srgbClr val="C8840A"/>
                </a:solidFill>
                <a:latin typeface="Calibri" pitchFamily="34" charset="0"/>
                <a:ea typeface="Calibri" pitchFamily="34" charset="-122"/>
                <a:cs typeface="Calibri" pitchFamily="34" charset="-120"/>
              </a:rPr>
              <a:t>SUBSTITUTE</a:t>
            </a:r>
            <a:endParaRPr lang="en-US" sz="1050" dirty="0"/>
          </a:p>
        </p:txBody>
      </p:sp>
      <p:sp>
        <p:nvSpPr>
          <p:cNvPr id="9" name="Text 7"/>
          <p:cNvSpPr/>
          <p:nvPr/>
        </p:nvSpPr>
        <p:spPr>
          <a:xfrm>
            <a:off x="713232" y="2642616"/>
            <a:ext cx="6105577"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Q(x,uH;JH) is the cost-to-go if the human takes action uH given objective JH. Lower cost-to-go → exponentially higher probability of that action.</a:t>
            </a:r>
            <a:endParaRPr lang="en-US" sz="1300" dirty="0"/>
          </a:p>
        </p:txBody>
      </p:sp>
      <p:sp>
        <p:nvSpPr>
          <p:cNvPr id="10" name="Shape 8"/>
          <p:cNvSpPr/>
          <p:nvPr/>
        </p:nvSpPr>
        <p:spPr>
          <a:xfrm>
            <a:off x="548640" y="3319272"/>
            <a:ext cx="6434761" cy="822960"/>
          </a:xfrm>
          <a:prstGeom prst="roundRect">
            <a:avLst>
              <a:gd name="adj" fmla="val 7778"/>
            </a:avLst>
          </a:prstGeom>
          <a:solidFill>
            <a:srgbClr val="EEF8EE"/>
          </a:solidFill>
          <a:ln w="9525">
            <a:solidFill>
              <a:srgbClr val="1B6B3A"/>
            </a:solidFill>
            <a:prstDash val="solid"/>
          </a:ln>
        </p:spPr>
      </p:sp>
      <p:sp>
        <p:nvSpPr>
          <p:cNvPr id="11" name="Text 9"/>
          <p:cNvSpPr/>
          <p:nvPr/>
        </p:nvSpPr>
        <p:spPr>
          <a:xfrm>
            <a:off x="713232" y="3364992"/>
            <a:ext cx="1554480" cy="237744"/>
          </a:xfrm>
          <a:prstGeom prst="rect">
            <a:avLst/>
          </a:prstGeom>
          <a:noFill/>
          <a:ln/>
        </p:spPr>
        <p:txBody>
          <a:bodyPr wrap="square" lIns="0" tIns="0" rIns="0" bIns="0" rtlCol="0" anchor="ctr"/>
          <a:lstStyle/>
          <a:p>
            <a:pPr indent="0" marL="0">
              <a:buNone/>
            </a:pPr>
            <a:r>
              <a:rPr lang="en-US" sz="1050" b="1" spc="50" kern="0" dirty="0">
                <a:solidFill>
                  <a:srgbClr val="1B6B3A"/>
                </a:solidFill>
                <a:latin typeface="Calibri" pitchFamily="34" charset="0"/>
                <a:ea typeface="Calibri" pitchFamily="34" charset="-122"/>
                <a:cs typeface="Calibri" pitchFamily="34" charset="-120"/>
              </a:rPr>
              <a:t>RESULT</a:t>
            </a:r>
            <a:endParaRPr lang="en-US" sz="1050" dirty="0"/>
          </a:p>
        </p:txBody>
      </p:sp>
      <p:sp>
        <p:nvSpPr>
          <p:cNvPr id="12" name="Text 10"/>
          <p:cNvSpPr/>
          <p:nvPr/>
        </p:nvSpPr>
        <p:spPr>
          <a:xfrm>
            <a:off x="713232" y="3593592"/>
            <a:ext cx="6105577"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The human is modeled as NOISILY optimal — likely to take good actions, but not assumed perfectly rational, and not assumed to be reasoning about the robot at all.</a:t>
            </a:r>
            <a:endParaRPr lang="en-US" sz="1300" dirty="0"/>
          </a:p>
        </p:txBody>
      </p:sp>
      <p:sp>
        <p:nvSpPr>
          <p:cNvPr id="13" name="Shape 11"/>
          <p:cNvSpPr/>
          <p:nvPr/>
        </p:nvSpPr>
        <p:spPr>
          <a:xfrm>
            <a:off x="7257721" y="1417320"/>
            <a:ext cx="4385334" cy="3108960"/>
          </a:xfrm>
          <a:prstGeom prst="roundRect">
            <a:avLst>
              <a:gd name="adj" fmla="val 2647"/>
            </a:avLst>
          </a:prstGeom>
          <a:solidFill>
            <a:srgbClr val="FFF8E6"/>
          </a:solidFill>
          <a:ln/>
          <a:effectLst>
            <a:outerShdw sx="100000" sy="100000" kx="0" ky="0" algn="bl" rotWithShape="0" blurRad="76200" dist="25400" dir="5400000">
              <a:srgbClr val="1A3A5C">
                <a:alpha val="12000"/>
              </a:srgbClr>
            </a:outerShdw>
          </a:effectLst>
        </p:spPr>
      </p:sp>
      <p:sp>
        <p:nvSpPr>
          <p:cNvPr id="14" name="Text 12"/>
          <p:cNvSpPr/>
          <p:nvPr/>
        </p:nvSpPr>
        <p:spPr>
          <a:xfrm>
            <a:off x="7458889" y="1545336"/>
            <a:ext cx="3982998" cy="329184"/>
          </a:xfrm>
          <a:prstGeom prst="rect">
            <a:avLst/>
          </a:prstGeom>
          <a:noFill/>
          <a:ln/>
        </p:spPr>
        <p:txBody>
          <a:bodyPr wrap="square" lIns="0" tIns="0" rIns="0" bIns="0" rtlCol="0" anchor="ctr"/>
          <a:lstStyle/>
          <a:p>
            <a:pPr indent="0" marL="0">
              <a:buNone/>
            </a:pPr>
            <a:r>
              <a:rPr lang="en-US" sz="1450" b="1" dirty="0">
                <a:solidFill>
                  <a:srgbClr val="C8840A"/>
                </a:solidFill>
                <a:latin typeface="Calibri" pitchFamily="34" charset="0"/>
                <a:ea typeface="Calibri" pitchFamily="34" charset="-122"/>
                <a:cs typeface="Calibri" pitchFamily="34" charset="-120"/>
              </a:rPr>
              <a:t>Updating the belief</a:t>
            </a:r>
            <a:endParaRPr lang="en-US" sz="1450" dirty="0"/>
          </a:p>
        </p:txBody>
      </p:sp>
      <p:sp>
        <p:nvSpPr>
          <p:cNvPr id="15" name="Text 13"/>
          <p:cNvSpPr/>
          <p:nvPr/>
        </p:nvSpPr>
        <p:spPr>
          <a:xfrm>
            <a:off x="7458889" y="1929384"/>
            <a:ext cx="3982998" cy="2487168"/>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b'(JH) ∝ b(JH) · P(uH | x, JH)</a:t>
            </a:r>
            <a:endParaRPr lang="en-US" sz="1300" dirty="0"/>
          </a:p>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Each observed human action is evidence about their TRUE, unknown objective.</a:t>
            </a:r>
            <a:endParaRPr lang="en-US" sz="1300" dirty="0"/>
          </a:p>
        </p:txBody>
      </p:sp>
      <p:sp>
        <p:nvSpPr>
          <p:cNvPr id="16" name="Text 14"/>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7" name="Text 15"/>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26.8 Humans and Robots</a:t>
            </a:r>
            <a:endParaRPr lang="en-US" sz="900" dirty="0"/>
          </a:p>
        </p:txBody>
      </p:sp>
      <p:sp>
        <p:nvSpPr>
          <p:cNvPr id="18" name="Text 16"/>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74</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26.8.1 COORDINATION</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Belief Updating in Action</a:t>
            </a:r>
            <a:endParaRPr lang="en-US" sz="2700" dirty="0"/>
          </a:p>
        </p:txBody>
      </p:sp>
      <p:sp>
        <p:nvSpPr>
          <p:cNvPr id="4" name="Shape 2"/>
          <p:cNvSpPr/>
          <p:nvPr/>
        </p:nvSpPr>
        <p:spPr>
          <a:xfrm>
            <a:off x="548640" y="1417320"/>
            <a:ext cx="11094415" cy="2926080"/>
          </a:xfrm>
          <a:prstGeom prst="rect">
            <a:avLst/>
          </a:prstGeom>
          <a:solidFill>
            <a:srgbClr val="F4F7FB"/>
          </a:solidFill>
          <a:ln w="15875">
            <a:solidFill>
              <a:srgbClr val="D7DEE8"/>
            </a:solidFill>
            <a:prstDash val="solid"/>
          </a:ln>
        </p:spPr>
      </p:sp>
      <p:sp>
        <p:nvSpPr>
          <p:cNvPr id="5" name="Shape 3"/>
          <p:cNvSpPr/>
          <p:nvPr/>
        </p:nvSpPr>
        <p:spPr>
          <a:xfrm>
            <a:off x="1436193" y="1709928"/>
            <a:ext cx="2218883" cy="320040"/>
          </a:xfrm>
          <a:prstGeom prst="roundRect">
            <a:avLst>
              <a:gd name="adj" fmla="val 17143"/>
            </a:avLst>
          </a:prstGeom>
          <a:solidFill>
            <a:srgbClr val="EEF8EE"/>
          </a:solidFill>
          <a:ln w="15875">
            <a:solidFill>
              <a:srgbClr val="1B6B3A"/>
            </a:solidFill>
            <a:prstDash val="solid"/>
          </a:ln>
        </p:spPr>
      </p:sp>
      <p:sp>
        <p:nvSpPr>
          <p:cNvPr id="6" name="Text 4"/>
          <p:cNvSpPr/>
          <p:nvPr/>
        </p:nvSpPr>
        <p:spPr>
          <a:xfrm>
            <a:off x="1436193" y="1709928"/>
            <a:ext cx="2218883" cy="320040"/>
          </a:xfrm>
          <a:prstGeom prst="rect">
            <a:avLst/>
          </a:prstGeom>
          <a:noFill/>
          <a:ln/>
        </p:spPr>
        <p:txBody>
          <a:bodyPr wrap="square" lIns="25400" tIns="25400" rIns="25400" bIns="25400" rtlCol="0" anchor="ctr"/>
          <a:lstStyle/>
          <a:p>
            <a:pPr algn="ctr" indent="0" marL="0">
              <a:buNone/>
            </a:pPr>
            <a:r>
              <a:rPr lang="en-US" sz="1000" b="1" dirty="0">
                <a:solidFill>
                  <a:srgbClr val="1B6B3A"/>
                </a:solidFill>
                <a:latin typeface="Calibri" pitchFamily="34" charset="0"/>
                <a:ea typeface="Calibri" pitchFamily="34" charset="-122"/>
                <a:cs typeface="Calibri" pitchFamily="34" charset="-120"/>
              </a:rPr>
              <a:t>window</a:t>
            </a:r>
            <a:endParaRPr lang="en-US" sz="1000" dirty="0"/>
          </a:p>
        </p:txBody>
      </p:sp>
      <p:sp>
        <p:nvSpPr>
          <p:cNvPr id="7" name="Shape 5"/>
          <p:cNvSpPr/>
          <p:nvPr/>
        </p:nvSpPr>
        <p:spPr>
          <a:xfrm>
            <a:off x="1436193" y="3611880"/>
            <a:ext cx="2218883" cy="320040"/>
          </a:xfrm>
          <a:prstGeom prst="roundRect">
            <a:avLst>
              <a:gd name="adj" fmla="val 17143"/>
            </a:avLst>
          </a:prstGeom>
          <a:solidFill>
            <a:srgbClr val="FFF0EE"/>
          </a:solidFill>
          <a:ln w="15875">
            <a:solidFill>
              <a:srgbClr val="B5311A"/>
            </a:solidFill>
            <a:prstDash val="solid"/>
          </a:ln>
        </p:spPr>
      </p:sp>
      <p:sp>
        <p:nvSpPr>
          <p:cNvPr id="8" name="Text 6"/>
          <p:cNvSpPr/>
          <p:nvPr/>
        </p:nvSpPr>
        <p:spPr>
          <a:xfrm>
            <a:off x="1436193" y="3611880"/>
            <a:ext cx="2218883" cy="320040"/>
          </a:xfrm>
          <a:prstGeom prst="rect">
            <a:avLst/>
          </a:prstGeom>
          <a:noFill/>
          <a:ln/>
        </p:spPr>
        <p:txBody>
          <a:bodyPr wrap="square" lIns="25400" tIns="25400" rIns="25400" bIns="25400" rtlCol="0" anchor="ctr"/>
          <a:lstStyle/>
          <a:p>
            <a:pPr algn="ctr" indent="0" marL="0">
              <a:buNone/>
            </a:pPr>
            <a:r>
              <a:rPr lang="en-US" sz="1000" b="1" dirty="0">
                <a:solidFill>
                  <a:srgbClr val="B5311A"/>
                </a:solidFill>
                <a:latin typeface="Calibri" pitchFamily="34" charset="0"/>
                <a:ea typeface="Calibri" pitchFamily="34" charset="-122"/>
                <a:cs typeface="Calibri" pitchFamily="34" charset="-120"/>
              </a:rPr>
              <a:t>kitchen</a:t>
            </a:r>
            <a:endParaRPr lang="en-US" sz="1000" dirty="0"/>
          </a:p>
        </p:txBody>
      </p:sp>
      <p:sp>
        <p:nvSpPr>
          <p:cNvPr id="9" name="Shape 7"/>
          <p:cNvSpPr/>
          <p:nvPr/>
        </p:nvSpPr>
        <p:spPr>
          <a:xfrm flipV="1">
            <a:off x="4098853" y="3026664"/>
            <a:ext cx="332832" cy="146304"/>
          </a:xfrm>
          <a:prstGeom prst="line">
            <a:avLst/>
          </a:prstGeom>
          <a:noFill/>
          <a:ln w="31750">
            <a:solidFill>
              <a:srgbClr val="1A3A5C"/>
            </a:solidFill>
            <a:prstDash val="solid"/>
            <a:headEnd type="none"/>
            <a:tailEnd type="triangle"/>
          </a:ln>
        </p:spPr>
      </p:sp>
      <p:sp>
        <p:nvSpPr>
          <p:cNvPr id="10" name="Shape 8"/>
          <p:cNvSpPr/>
          <p:nvPr/>
        </p:nvSpPr>
        <p:spPr>
          <a:xfrm flipV="1">
            <a:off x="4431685" y="2880360"/>
            <a:ext cx="1109442" cy="146304"/>
          </a:xfrm>
          <a:prstGeom prst="line">
            <a:avLst/>
          </a:prstGeom>
          <a:noFill/>
          <a:ln w="31750">
            <a:solidFill>
              <a:srgbClr val="1A3A5C"/>
            </a:solidFill>
            <a:prstDash val="solid"/>
            <a:headEnd type="none"/>
            <a:tailEnd type="triangle"/>
          </a:ln>
        </p:spPr>
      </p:sp>
      <p:sp>
        <p:nvSpPr>
          <p:cNvPr id="11" name="Shape 9"/>
          <p:cNvSpPr/>
          <p:nvPr/>
        </p:nvSpPr>
        <p:spPr>
          <a:xfrm flipV="1">
            <a:off x="5541127" y="2646274"/>
            <a:ext cx="1109442" cy="234086"/>
          </a:xfrm>
          <a:prstGeom prst="line">
            <a:avLst/>
          </a:prstGeom>
          <a:noFill/>
          <a:ln w="31750">
            <a:solidFill>
              <a:srgbClr val="1A3A5C"/>
            </a:solidFill>
            <a:prstDash val="solid"/>
            <a:headEnd type="none"/>
            <a:tailEnd type="triangle"/>
          </a:ln>
        </p:spPr>
      </p:sp>
      <p:sp>
        <p:nvSpPr>
          <p:cNvPr id="12" name="Shape 10"/>
          <p:cNvSpPr/>
          <p:nvPr/>
        </p:nvSpPr>
        <p:spPr>
          <a:xfrm flipV="1">
            <a:off x="6650568" y="2353666"/>
            <a:ext cx="887553" cy="292608"/>
          </a:xfrm>
          <a:prstGeom prst="line">
            <a:avLst/>
          </a:prstGeom>
          <a:noFill/>
          <a:ln w="31750">
            <a:solidFill>
              <a:srgbClr val="1A3A5C"/>
            </a:solidFill>
            <a:prstDash val="solid"/>
            <a:headEnd type="none"/>
            <a:tailEnd type="triangle"/>
          </a:ln>
        </p:spPr>
      </p:sp>
      <p:sp>
        <p:nvSpPr>
          <p:cNvPr id="13" name="Shape 11"/>
          <p:cNvSpPr/>
          <p:nvPr/>
        </p:nvSpPr>
        <p:spPr>
          <a:xfrm>
            <a:off x="7483258" y="2298802"/>
            <a:ext cx="109728" cy="109728"/>
          </a:xfrm>
          <a:prstGeom prst="ellipse">
            <a:avLst/>
          </a:prstGeom>
          <a:solidFill>
            <a:srgbClr val="1A3A5C"/>
          </a:solidFill>
          <a:ln/>
        </p:spPr>
      </p:sp>
      <p:sp>
        <p:nvSpPr>
          <p:cNvPr id="14" name="Text 12"/>
          <p:cNvSpPr/>
          <p:nvPr/>
        </p:nvSpPr>
        <p:spPr>
          <a:xfrm>
            <a:off x="7611274" y="2262226"/>
            <a:ext cx="1463040" cy="219456"/>
          </a:xfrm>
          <a:prstGeom prst="rect">
            <a:avLst/>
          </a:prstGeom>
          <a:noFill/>
          <a:ln/>
        </p:spPr>
        <p:txBody>
          <a:bodyPr wrap="square" lIns="0" tIns="0" rIns="0" bIns="0" rtlCol="0" anchor="t"/>
          <a:lstStyle/>
          <a:p>
            <a:pPr algn="l" indent="0" marL="0">
              <a:buNone/>
            </a:pPr>
            <a:r>
              <a:rPr lang="en-US" sz="950" b="1" dirty="0">
                <a:solidFill>
                  <a:srgbClr val="51606F"/>
                </a:solidFill>
                <a:latin typeface="Calibri" pitchFamily="34" charset="0"/>
                <a:ea typeface="Calibri" pitchFamily="34" charset="-122"/>
                <a:cs typeface="Calibri" pitchFamily="34" charset="-120"/>
              </a:rPr>
              <a:t>human so far</a:t>
            </a:r>
            <a:endParaRPr lang="en-US" sz="950" dirty="0"/>
          </a:p>
        </p:txBody>
      </p:sp>
      <p:sp>
        <p:nvSpPr>
          <p:cNvPr id="15" name="Shape 13"/>
          <p:cNvSpPr/>
          <p:nvPr/>
        </p:nvSpPr>
        <p:spPr>
          <a:xfrm flipH="1" flipV="1">
            <a:off x="2545635" y="2236622"/>
            <a:ext cx="4992487" cy="117043"/>
          </a:xfrm>
          <a:prstGeom prst="line">
            <a:avLst/>
          </a:prstGeom>
          <a:noFill/>
          <a:ln w="25400">
            <a:solidFill>
              <a:srgbClr val="1B6B3A"/>
            </a:solidFill>
            <a:prstDash val="dash"/>
            <a:headEnd type="none"/>
            <a:tailEnd type="triangle"/>
          </a:ln>
        </p:spPr>
      </p:sp>
      <p:sp>
        <p:nvSpPr>
          <p:cNvPr id="16" name="Text 14"/>
          <p:cNvSpPr/>
          <p:nvPr/>
        </p:nvSpPr>
        <p:spPr>
          <a:xfrm>
            <a:off x="4986406" y="1768450"/>
            <a:ext cx="5547208" cy="219456"/>
          </a:xfrm>
          <a:prstGeom prst="rect">
            <a:avLst/>
          </a:prstGeom>
          <a:noFill/>
          <a:ln/>
        </p:spPr>
        <p:txBody>
          <a:bodyPr wrap="square" lIns="0" tIns="0" rIns="0" bIns="0" rtlCol="0" anchor="t"/>
          <a:lstStyle/>
          <a:p>
            <a:pPr algn="l" indent="0" marL="0">
              <a:buNone/>
            </a:pPr>
            <a:r>
              <a:rPr lang="en-US" sz="1000" i="1" dirty="0">
                <a:solidFill>
                  <a:srgbClr val="1B6B3A"/>
                </a:solidFill>
                <a:latin typeface="Calibri" pitchFamily="34" charset="0"/>
                <a:ea typeface="Calibri" pitchFamily="34" charset="-122"/>
                <a:cs typeface="Calibri" pitchFamily="34" charset="-120"/>
              </a:rPr>
              <a:t>P(goal = window) ↑ as path bends up</a:t>
            </a:r>
            <a:endParaRPr lang="en-US" sz="1000" dirty="0"/>
          </a:p>
        </p:txBody>
      </p:sp>
      <p:sp>
        <p:nvSpPr>
          <p:cNvPr id="17" name="Text 15"/>
          <p:cNvSpPr/>
          <p:nvPr/>
        </p:nvSpPr>
        <p:spPr>
          <a:xfrm>
            <a:off x="548640" y="4526280"/>
            <a:ext cx="11094415" cy="1737360"/>
          </a:xfrm>
          <a:prstGeom prst="rect">
            <a:avLst/>
          </a:prstGeom>
          <a:noFill/>
          <a:ln/>
        </p:spPr>
        <p:txBody>
          <a:bodyPr wrap="square" lIns="0" tIns="0" rIns="0" bIns="0" rtlCol="0" anchor="t"/>
          <a:lstStyle/>
          <a:p>
            <a:pPr marL="228600" indent="-228600">
              <a:spcAft>
                <a:spcPts val="1000"/>
              </a:spcAft>
              <a:buSzPct val="100000"/>
              <a:buChar char="●"/>
            </a:pPr>
            <a:r>
              <a:rPr lang="en-US" sz="1450" dirty="0">
                <a:solidFill>
                  <a:srgbClr val="1F2A37"/>
                </a:solidFill>
                <a:latin typeface="Calibri" pitchFamily="34" charset="0"/>
                <a:ea typeface="Calibri" pitchFamily="34" charset="-122"/>
                <a:cs typeface="Calibri" pitchFamily="34" charset="-120"/>
              </a:rPr>
              <a:t>As the human's path bends toward the window, the robot's belief shifts — window becomes more probable, kitchen less so, PURELY from the shape of the path so far.</a:t>
            </a:r>
            <a:endParaRPr lang="en-US" sz="1450" dirty="0"/>
          </a:p>
          <a:p>
            <a:pPr marL="228600" indent="-228600">
              <a:spcAft>
                <a:spcPts val="1000"/>
              </a:spcAft>
              <a:buSzPct val="100000"/>
              <a:buChar char="●"/>
            </a:pPr>
            <a:r>
              <a:rPr lang="en-US" sz="1450" b="1" dirty="0">
                <a:solidFill>
                  <a:srgbClr val="1B6B3A"/>
                </a:solidFill>
                <a:latin typeface="Calibri" pitchFamily="34" charset="0"/>
                <a:ea typeface="Calibri" pitchFamily="34" charset="-122"/>
                <a:cs typeface="Calibri" pitchFamily="34" charset="-120"/>
              </a:rPr>
              <a:t>Once the robot can predict likely future human actions, it has effectively reduced the whole game back down to an ordinary MDP it already knows how to solve.</a:t>
            </a:r>
            <a:endParaRPr lang="en-US" sz="1450" dirty="0"/>
          </a:p>
        </p:txBody>
      </p:sp>
      <p:sp>
        <p:nvSpPr>
          <p:cNvPr id="18" name="Text 16"/>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9" name="Text 17"/>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26.8 Humans and Robots</a:t>
            </a:r>
            <a:endParaRPr lang="en-US" sz="900" dirty="0"/>
          </a:p>
        </p:txBody>
      </p:sp>
      <p:sp>
        <p:nvSpPr>
          <p:cNvPr id="20" name="Text 18"/>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75</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26.8.1 COORDINATION</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When the Robot's OWN Actions Shape the Human's</a:t>
            </a:r>
            <a:endParaRPr lang="en-US" sz="2700" dirty="0"/>
          </a:p>
        </p:txBody>
      </p:sp>
      <p:sp>
        <p:nvSpPr>
          <p:cNvPr id="4" name="Text 2"/>
          <p:cNvSpPr/>
          <p:nvPr/>
        </p:nvSpPr>
        <p:spPr>
          <a:xfrm>
            <a:off x="548640" y="1417320"/>
            <a:ext cx="11094415" cy="4937760"/>
          </a:xfrm>
          <a:prstGeom prst="rect">
            <a:avLst/>
          </a:prstGeom>
          <a:noFill/>
          <a:ln/>
        </p:spPr>
        <p:txBody>
          <a:bodyPr wrap="square" lIns="0" tIns="0" rIns="0" bIns="0" rtlCol="0" anchor="t"/>
          <a:lstStyle/>
          <a:p>
            <a:pPr marL="228600" indent="-228600">
              <a:spcAft>
                <a:spcPts val="1000"/>
              </a:spcAft>
              <a:buSzPct val="100000"/>
              <a:buChar char="●"/>
            </a:pPr>
            <a:r>
              <a:rPr lang="en-US" sz="1550" b="1" dirty="0">
                <a:solidFill>
                  <a:srgbClr val="B5311A"/>
                </a:solidFill>
                <a:latin typeface="Calibri" pitchFamily="34" charset="0"/>
                <a:ea typeface="Calibri" pitchFamily="34" charset="-122"/>
                <a:cs typeface="Calibri" pitchFamily="34" charset="-120"/>
              </a:rPr>
              <a:t>Splitting prediction from action loses something important: the robot no longer understands that ITS actions can influence what the person does.</a:t>
            </a:r>
            <a:endParaRPr lang="en-US" sz="1550" dirty="0"/>
          </a:p>
          <a:p>
            <a:pPr lvl="1" marL="457200" indent="-228600">
              <a:spcAft>
                <a:spcPts val="1000"/>
              </a:spcAft>
              <a:buSzPct val="100000"/>
              <a:buChar char="–"/>
            </a:pPr>
            <a:r>
              <a:rPr lang="en-US" sz="1550" dirty="0">
                <a:solidFill>
                  <a:srgbClr val="1F2A37"/>
                </a:solidFill>
                <a:latin typeface="Calibri" pitchFamily="34" charset="0"/>
                <a:ea typeface="Calibri" pitchFamily="34" charset="-122"/>
                <a:cs typeface="Calibri" pitchFamily="34" charset="-120"/>
              </a:rPr>
              <a:t>A purely reactive car might wait a long time for another car to leave its target lane.</a:t>
            </a:r>
            <a:endParaRPr lang="en-US" sz="1550" dirty="0"/>
          </a:p>
          <a:p>
            <a:pPr lvl="1" marL="457200" indent="-228600">
              <a:spcAft>
                <a:spcPts val="1000"/>
              </a:spcAft>
              <a:buSzPct val="100000"/>
              <a:buChar char="–"/>
            </a:pPr>
            <a:r>
              <a:rPr lang="en-US" sz="1550" dirty="0">
                <a:solidFill>
                  <a:srgbClr val="1B6B3A"/>
                </a:solidFill>
                <a:latin typeface="Calibri" pitchFamily="34" charset="0"/>
                <a:ea typeface="Calibri" pitchFamily="34" charset="-122"/>
                <a:cs typeface="Calibri" pitchFamily="34" charset="-120"/>
              </a:rPr>
              <a:t>A car that reasons jointly about prediction AND action realizes: nudging assertively into the lane can cause the OTHER driver to slow down and make room.</a:t>
            </a:r>
            <a:endParaRPr lang="en-US" sz="1550" dirty="0"/>
          </a:p>
          <a:p>
            <a:pPr lvl="1" marL="457200" indent="-228600">
              <a:spcAft>
                <a:spcPts val="1000"/>
              </a:spcAft>
              <a:buSzPct val="100000"/>
              <a:buChar char="–"/>
            </a:pPr>
            <a:r>
              <a:rPr lang="en-US" sz="1550" dirty="0">
                <a:solidFill>
                  <a:srgbClr val="1F2A37"/>
                </a:solidFill>
                <a:latin typeface="Calibri" pitchFamily="34" charset="0"/>
                <a:ea typeface="Calibri" pitchFamily="34" charset="-122"/>
                <a:cs typeface="Calibri" pitchFamily="34" charset="-120"/>
              </a:rPr>
              <a:t>Same idea at an intersection: a car can inch backward slightly, making it MORE likely a waiting pedestrian proceeds faster through the crosswalk.</a:t>
            </a:r>
            <a:endParaRPr lang="en-US" sz="1550" dirty="0"/>
          </a:p>
        </p:txBody>
      </p:sp>
      <p:sp>
        <p:nvSpPr>
          <p:cNvPr id="5" name="Shape 3"/>
          <p:cNvSpPr/>
          <p:nvPr/>
        </p:nvSpPr>
        <p:spPr>
          <a:xfrm>
            <a:off x="548640" y="5120640"/>
            <a:ext cx="11094415" cy="914400"/>
          </a:xfrm>
          <a:prstGeom prst="roundRect">
            <a:avLst>
              <a:gd name="adj" fmla="val 8000"/>
            </a:avLst>
          </a:prstGeom>
          <a:solidFill>
            <a:srgbClr val="EEF2FF"/>
          </a:solidFill>
          <a:ln w="12700">
            <a:solidFill>
              <a:srgbClr val="4A6FA5"/>
            </a:solidFill>
            <a:prstDash val="solid"/>
          </a:ln>
        </p:spPr>
      </p:sp>
      <p:sp>
        <p:nvSpPr>
          <p:cNvPr id="6" name="Text 4"/>
          <p:cNvSpPr/>
          <p:nvPr/>
        </p:nvSpPr>
        <p:spPr>
          <a:xfrm>
            <a:off x="749808" y="5230368"/>
            <a:ext cx="10692079" cy="274320"/>
          </a:xfrm>
          <a:prstGeom prst="rect">
            <a:avLst/>
          </a:prstGeom>
          <a:noFill/>
          <a:ln/>
        </p:spPr>
        <p:txBody>
          <a:bodyPr wrap="square" lIns="0" tIns="0" rIns="0" bIns="0" rtlCol="0" anchor="ctr"/>
          <a:lstStyle/>
          <a:p>
            <a:pPr indent="0" marL="0">
              <a:buNone/>
            </a:pPr>
            <a:r>
              <a:rPr lang="en-US" sz="1250" b="1" spc="50" kern="0" dirty="0">
                <a:solidFill>
                  <a:srgbClr val="4A6FA5"/>
                </a:solidFill>
                <a:latin typeface="Calibri" pitchFamily="34" charset="0"/>
                <a:ea typeface="Calibri" pitchFamily="34" charset="-122"/>
                <a:cs typeface="Calibri" pitchFamily="34" charset="-120"/>
              </a:rPr>
              <a:t>SUBSUMPTION PREVIEW</a:t>
            </a:r>
            <a:endParaRPr lang="en-US" sz="1250" dirty="0"/>
          </a:p>
        </p:txBody>
      </p:sp>
      <p:sp>
        <p:nvSpPr>
          <p:cNvPr id="7" name="Text 5"/>
          <p:cNvSpPr/>
          <p:nvPr/>
        </p:nvSpPr>
        <p:spPr>
          <a:xfrm>
            <a:off x="749808" y="5541264"/>
            <a:ext cx="10692079" cy="40233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This kind of proactive, socially-aware behavior is exactly what a purely reactive controller (Section 26.9) would struggle to produce — it requires reasoning explicitly about the other agent.</a:t>
            </a:r>
            <a:endParaRPr lang="en-US" sz="1300" dirty="0"/>
          </a:p>
        </p:txBody>
      </p:sp>
      <p:sp>
        <p:nvSpPr>
          <p:cNvPr id="8" name="Text 6"/>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9" name="Text 7"/>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26.8 Humans and Robots</a:t>
            </a:r>
            <a:endParaRPr lang="en-US" sz="900" dirty="0"/>
          </a:p>
        </p:txBody>
      </p:sp>
      <p:sp>
        <p:nvSpPr>
          <p:cNvPr id="10" name="Text 8"/>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76</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26.8.1 COORDINATION</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Collaboration: When Goals Actually Align</a:t>
            </a:r>
            <a:endParaRPr lang="en-US" sz="2700" dirty="0"/>
          </a:p>
        </p:txBody>
      </p:sp>
      <p:sp>
        <p:nvSpPr>
          <p:cNvPr id="4" name="Shape 2"/>
          <p:cNvSpPr/>
          <p:nvPr/>
        </p:nvSpPr>
        <p:spPr>
          <a:xfrm>
            <a:off x="548640" y="1417320"/>
            <a:ext cx="11094415" cy="1097280"/>
          </a:xfrm>
          <a:prstGeom prst="roundRect">
            <a:avLst>
              <a:gd name="adj" fmla="val 6667"/>
            </a:avLst>
          </a:prstGeom>
          <a:solidFill>
            <a:srgbClr val="EEF8EE"/>
          </a:solidFill>
          <a:ln w="12700">
            <a:solidFill>
              <a:srgbClr val="1B6B3A"/>
            </a:solidFill>
            <a:prstDash val="solid"/>
          </a:ln>
        </p:spPr>
      </p:sp>
      <p:sp>
        <p:nvSpPr>
          <p:cNvPr id="5" name="Text 3"/>
          <p:cNvSpPr/>
          <p:nvPr/>
        </p:nvSpPr>
        <p:spPr>
          <a:xfrm>
            <a:off x="749808" y="1527048"/>
            <a:ext cx="10692079" cy="274320"/>
          </a:xfrm>
          <a:prstGeom prst="rect">
            <a:avLst/>
          </a:prstGeom>
          <a:noFill/>
          <a:ln/>
        </p:spPr>
        <p:txBody>
          <a:bodyPr wrap="square" lIns="0" tIns="0" rIns="0" bIns="0" rtlCol="0" anchor="ctr"/>
          <a:lstStyle/>
          <a:p>
            <a:pPr indent="0" marL="0">
              <a:buNone/>
            </a:pPr>
            <a:r>
              <a:rPr lang="en-US" sz="1250" b="1" spc="50" kern="0" dirty="0">
                <a:solidFill>
                  <a:srgbClr val="1B6B3A"/>
                </a:solidFill>
                <a:latin typeface="Calibri" pitchFamily="34" charset="0"/>
                <a:ea typeface="Calibri" pitchFamily="34" charset="-122"/>
                <a:cs typeface="Calibri" pitchFamily="34" charset="-120"/>
              </a:rPr>
              <a:t>THE SPECIAL CASE</a:t>
            </a:r>
            <a:endParaRPr lang="en-US" sz="1250" dirty="0"/>
          </a:p>
        </p:txBody>
      </p:sp>
      <p:sp>
        <p:nvSpPr>
          <p:cNvPr id="6" name="Text 4"/>
          <p:cNvSpPr/>
          <p:nvPr/>
        </p:nvSpPr>
        <p:spPr>
          <a:xfrm>
            <a:off x="749808" y="1837944"/>
            <a:ext cx="10692079" cy="585216"/>
          </a:xfrm>
          <a:prstGeom prst="rect">
            <a:avLst/>
          </a:prstGeom>
          <a:noFill/>
          <a:ln/>
        </p:spPr>
        <p:txBody>
          <a:bodyPr wrap="square" lIns="0" tIns="0" rIns="0" bIns="0" rtlCol="0" anchor="t"/>
          <a:lstStyle/>
          <a:p>
            <a:pPr indent="0" marL="0">
              <a:lnSpc>
                <a:spcPct val="118000"/>
              </a:lnSpc>
              <a:buNone/>
            </a:pPr>
            <a:r>
              <a:rPr lang="en-US" sz="1450" dirty="0">
                <a:solidFill>
                  <a:srgbClr val="1F2A37"/>
                </a:solidFill>
                <a:latin typeface="Calibri" pitchFamily="34" charset="0"/>
                <a:ea typeface="Calibri" pitchFamily="34" charset="-122"/>
                <a:cs typeface="Calibri" pitchFamily="34" charset="-120"/>
              </a:rPr>
              <a:t>When JH = JR — human and robot share the same objective — define a JOINT agent whose actions are (uH, uR) pairs, and solve one ordinary planning problem for both of them at once.</a:t>
            </a:r>
            <a:endParaRPr lang="en-US" sz="1450" dirty="0"/>
          </a:p>
        </p:txBody>
      </p:sp>
      <p:sp>
        <p:nvSpPr>
          <p:cNvPr id="7" name="Text 5"/>
          <p:cNvSpPr/>
          <p:nvPr/>
        </p:nvSpPr>
        <p:spPr>
          <a:xfrm>
            <a:off x="548640" y="1417320"/>
            <a:ext cx="11094415" cy="4937760"/>
          </a:xfrm>
          <a:prstGeom prst="rect">
            <a:avLst/>
          </a:prstGeom>
          <a:noFill/>
          <a:ln/>
        </p:spPr>
        <p:txBody>
          <a:bodyPr wrap="square" lIns="0" tIns="0" rIns="0" bIns="0" rtlCol="0" anchor="t"/>
          <a:lstStyle/>
          <a:p>
            <a:pPr marL="228600" indent="-228600">
              <a:spcAft>
                <a:spcPts val="1000"/>
              </a:spcAft>
              <a:buSzPct val="100000"/>
              <a:buChar char="●"/>
            </a:pPr>
            <a:r>
              <a:rPr lang="en-US" sz="1400" b="1" dirty="0">
                <a:solidFill>
                  <a:srgbClr val="B5311A"/>
                </a:solidFill>
                <a:latin typeface="Calibri" pitchFamily="34" charset="0"/>
                <a:ea typeface="Calibri" pitchFamily="34" charset="-122"/>
                <a:cs typeface="Calibri" pitchFamily="34" charset="-120"/>
              </a:rPr>
              <a:t>Works beautifully IF people were perfectly optimal. They aren't — people have minds of their own.</a:t>
            </a:r>
            <a:endParaRPr lang="en-US" sz="1400" dirty="0"/>
          </a:p>
          <a:p>
            <a:pPr marL="228600" indent="-228600">
              <a:spcAft>
                <a:spcPts val="1000"/>
              </a:spcAft>
              <a:buSzPct val="100000"/>
              <a:buChar char="●"/>
            </a:pPr>
            <a:r>
              <a:rPr lang="en-US" sz="1400" dirty="0">
                <a:solidFill>
                  <a:srgbClr val="1F2A37"/>
                </a:solidFill>
                <a:latin typeface="Calibri" pitchFamily="34" charset="0"/>
                <a:ea typeface="Calibri" pitchFamily="34" charset="-122"/>
                <a:cs typeface="Calibri" pitchFamily="34" charset="-120"/>
              </a:rPr>
              <a:t>Fix: Model Predictive Control again. Compute the joint plan, execute the robot's part, replan the instant the human deviates.</a:t>
            </a:r>
            <a:endParaRPr lang="en-US" sz="1400" dirty="0"/>
          </a:p>
          <a:p>
            <a:pPr marL="228600" indent="-228600">
              <a:spcAft>
                <a:spcPts val="1000"/>
              </a:spcAft>
              <a:buSzPct val="100000"/>
              <a:buChar char="●"/>
            </a:pPr>
            <a:r>
              <a:rPr lang="en-US" sz="1400" dirty="0">
                <a:solidFill>
                  <a:srgbClr val="C8840A"/>
                </a:solidFill>
                <a:latin typeface="Calibri" pitchFamily="34" charset="0"/>
                <a:ea typeface="Calibri" pitchFamily="34" charset="-122"/>
                <a:cs typeface="Calibri" pitchFamily="34" charset="-120"/>
              </a:rPr>
              <a:t>Waffle-making example: the optimal joint plan sends you to the fridge and the robot to the flour. You unexpectedly head for the flour instead — the MPC robot instantly recomputes and grabs the waffle iron, adapting to what you're actually doing rather than what the plan said you'd do.</a:t>
            </a:r>
            <a:endParaRPr lang="en-US" sz="1400" dirty="0"/>
          </a:p>
        </p:txBody>
      </p:sp>
      <p:sp>
        <p:nvSpPr>
          <p:cNvPr id="8" name="Text 6"/>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9" name="Text 7"/>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26.8 Humans and Robots</a:t>
            </a:r>
            <a:endParaRPr lang="en-US" sz="900" dirty="0"/>
          </a:p>
        </p:txBody>
      </p:sp>
      <p:sp>
        <p:nvSpPr>
          <p:cNvPr id="10" name="Text 8"/>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77</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26.8.1 COORDINATION</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Humans as Black-Box Agents</a:t>
            </a:r>
            <a:endParaRPr lang="en-US" sz="2700" dirty="0"/>
          </a:p>
        </p:txBody>
      </p:sp>
      <p:sp>
        <p:nvSpPr>
          <p:cNvPr id="4" name="Text 2"/>
          <p:cNvSpPr/>
          <p:nvPr/>
        </p:nvSpPr>
        <p:spPr>
          <a:xfrm>
            <a:off x="548640" y="1417320"/>
            <a:ext cx="11094415" cy="4937760"/>
          </a:xfrm>
          <a:prstGeom prst="rect">
            <a:avLst/>
          </a:prstGeom>
          <a:noFill/>
          <a:ln/>
        </p:spPr>
        <p:txBody>
          <a:bodyPr wrap="square" lIns="0" tIns="0" rIns="0" bIns="0" rtlCol="0" anchor="t"/>
          <a:lstStyle/>
          <a:p>
            <a:pPr marL="228600" indent="-228600">
              <a:spcAft>
                <a:spcPts val="1000"/>
              </a:spcAft>
              <a:buSzPct val="100000"/>
              <a:buChar char="●"/>
            </a:pPr>
            <a:r>
              <a:rPr lang="en-US" sz="1500" b="1" dirty="0">
                <a:solidFill>
                  <a:srgbClr val="1F2A37"/>
                </a:solidFill>
                <a:latin typeface="Calibri" pitchFamily="34" charset="0"/>
                <a:ea typeface="Calibri" pitchFamily="34" charset="-122"/>
                <a:cs typeface="Calibri" pitchFamily="34" charset="-120"/>
              </a:rPr>
              <a:t>Alternative to modeling humans as objective-driven agents: treat the human as an unknown agent whose policy πH just 'messes with' the environment's dynamics.</a:t>
            </a:r>
            <a:endParaRPr lang="en-US" sz="1500" dirty="0"/>
          </a:p>
          <a:p>
            <a:pPr marL="2286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The robot doesn't need to know πH explicitly — it treats the problem as acting in an MDP with unknown dynamics (same framing as Ch. 23 and Section 26.7).</a:t>
            </a:r>
            <a:endParaRPr lang="en-US" sz="1500" dirty="0"/>
          </a:p>
          <a:p>
            <a:pPr lvl="1" marL="4572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Robot fits a model of πH directly from human interaction data — used successfully at the task level, e.g., learning what actions people take in response to the robot's during a screw-placement assembly task.</a:t>
            </a:r>
            <a:endParaRPr lang="en-US" sz="1500" dirty="0"/>
          </a:p>
          <a:p>
            <a:pPr lvl="1" marL="457200" indent="-2286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Or go fully model-free: start with an initial policy/value function and improve it over time via trial and error.</a:t>
            </a:r>
            <a:endParaRPr lang="en-US" sz="1500" dirty="0"/>
          </a:p>
        </p:txBody>
      </p:sp>
      <p:sp>
        <p:nvSpPr>
          <p:cNvPr id="5" name="Text 3"/>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6" name="Text 4"/>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26.8 Humans and Robots</a:t>
            </a:r>
            <a:endParaRPr lang="en-US" sz="900" dirty="0"/>
          </a:p>
        </p:txBody>
      </p:sp>
      <p:sp>
        <p:nvSpPr>
          <p:cNvPr id="7" name="Text 5"/>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78</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26.8.2 LEARNING WHAT HUMANS WANT</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Preference Learning: Inferring the Cost Function</a:t>
            </a:r>
            <a:endParaRPr lang="en-US" sz="2700" dirty="0"/>
          </a:p>
        </p:txBody>
      </p:sp>
      <p:sp>
        <p:nvSpPr>
          <p:cNvPr id="4" name="Text 2"/>
          <p:cNvSpPr/>
          <p:nvPr/>
        </p:nvSpPr>
        <p:spPr>
          <a:xfrm>
            <a:off x="548640" y="1417320"/>
            <a:ext cx="11094415" cy="4937760"/>
          </a:xfrm>
          <a:prstGeom prst="rect">
            <a:avLst/>
          </a:prstGeom>
          <a:noFill/>
          <a:ln/>
        </p:spPr>
        <p:txBody>
          <a:bodyPr wrap="square" lIns="0" tIns="0" rIns="0" bIns="0" rtlCol="0" anchor="t"/>
          <a:lstStyle/>
          <a:p>
            <a:pPr marL="228600" indent="-228600">
              <a:spcAft>
                <a:spcPts val="1000"/>
              </a:spcAft>
              <a:buSzPct val="100000"/>
              <a:buChar char="●"/>
            </a:pPr>
            <a:r>
              <a:rPr lang="en-US" sz="1600" b="1" dirty="0">
                <a:solidFill>
                  <a:srgbClr val="1F2A37"/>
                </a:solidFill>
                <a:latin typeface="Calibri" pitchFamily="34" charset="0"/>
                <a:ea typeface="Calibri" pitchFamily="34" charset="-122"/>
                <a:cs typeface="Calibri" pitchFamily="34" charset="-120"/>
              </a:rPr>
              <a:t>Reuse the EXACT same trick from prediction — but for a different purpose.</a:t>
            </a:r>
            <a:endParaRPr lang="en-US" sz="1600" dirty="0"/>
          </a:p>
          <a:p>
            <a:pPr lvl="1" marL="457200" indent="-228600">
              <a:spcAft>
                <a:spcPts val="1000"/>
              </a:spcAft>
              <a:buSzPct val="100000"/>
              <a:buChar char="–"/>
            </a:pPr>
            <a:r>
              <a:rPr lang="en-US" sz="1600" dirty="0">
                <a:solidFill>
                  <a:srgbClr val="1F2A37"/>
                </a:solidFill>
                <a:latin typeface="Calibri" pitchFamily="34" charset="0"/>
                <a:ea typeface="Calibri" pitchFamily="34" charset="-122"/>
                <a:cs typeface="Calibri" pitchFamily="34" charset="-120"/>
              </a:rPr>
              <a:t>Before: assume noisy-rational human actions to PREDICT what they'll do next.</a:t>
            </a:r>
            <a:endParaRPr lang="en-US" sz="1600" dirty="0"/>
          </a:p>
          <a:p>
            <a:pPr lvl="1" marL="457200" indent="-228600">
              <a:spcAft>
                <a:spcPts val="1000"/>
              </a:spcAft>
              <a:buSzPct val="100000"/>
              <a:buChar char="–"/>
            </a:pPr>
            <a:r>
              <a:rPr lang="en-US" sz="1600" dirty="0">
                <a:solidFill>
                  <a:srgbClr val="1B6B3A"/>
                </a:solidFill>
                <a:latin typeface="Calibri" pitchFamily="34" charset="0"/>
                <a:ea typeface="Calibri" pitchFamily="34" charset="-122"/>
                <a:cs typeface="Calibri" pitchFamily="34" charset="-120"/>
              </a:rPr>
              <a:t>Now: assume noisy-rational human DEMONSTRATIONS to infer WHAT COST FUNCTION explains those actions — then adopt that cost function as the robot's own.</a:t>
            </a:r>
            <a:endParaRPr lang="en-US" sz="1600" dirty="0"/>
          </a:p>
        </p:txBody>
      </p:sp>
      <p:sp>
        <p:nvSpPr>
          <p:cNvPr id="5" name="Shape 3"/>
          <p:cNvSpPr/>
          <p:nvPr/>
        </p:nvSpPr>
        <p:spPr>
          <a:xfrm>
            <a:off x="548640" y="3703320"/>
            <a:ext cx="11094415" cy="2286000"/>
          </a:xfrm>
          <a:prstGeom prst="roundRect">
            <a:avLst>
              <a:gd name="adj" fmla="val 3200"/>
            </a:avLst>
          </a:prstGeom>
          <a:solidFill>
            <a:srgbClr val="FFF8E6"/>
          </a:solidFill>
          <a:ln w="12700">
            <a:solidFill>
              <a:srgbClr val="C8840A"/>
            </a:solidFill>
            <a:prstDash val="solid"/>
          </a:ln>
        </p:spPr>
      </p:sp>
      <p:sp>
        <p:nvSpPr>
          <p:cNvPr id="6" name="Text 4"/>
          <p:cNvSpPr/>
          <p:nvPr/>
        </p:nvSpPr>
        <p:spPr>
          <a:xfrm>
            <a:off x="749808" y="3813048"/>
            <a:ext cx="10692079" cy="274320"/>
          </a:xfrm>
          <a:prstGeom prst="rect">
            <a:avLst/>
          </a:prstGeom>
          <a:noFill/>
          <a:ln/>
        </p:spPr>
        <p:txBody>
          <a:bodyPr wrap="square" lIns="0" tIns="0" rIns="0" bIns="0" rtlCol="0" anchor="ctr"/>
          <a:lstStyle/>
          <a:p>
            <a:pPr indent="0" marL="0">
              <a:buNone/>
            </a:pPr>
            <a:r>
              <a:rPr lang="en-US" sz="1250" b="1" spc="50" kern="0" dirty="0">
                <a:solidFill>
                  <a:srgbClr val="C8840A"/>
                </a:solidFill>
                <a:latin typeface="Calibri" pitchFamily="34" charset="0"/>
                <a:ea typeface="Calibri" pitchFamily="34" charset="-122"/>
                <a:cs typeface="Calibri" pitchFamily="34" charset="-120"/>
              </a:rPr>
              <a:t>WORKED EXAMPLE (FIG. 26.29)</a:t>
            </a:r>
            <a:endParaRPr lang="en-US" sz="1250" dirty="0"/>
          </a:p>
        </p:txBody>
      </p:sp>
      <p:sp>
        <p:nvSpPr>
          <p:cNvPr id="7" name="Text 5"/>
          <p:cNvSpPr/>
          <p:nvPr/>
        </p:nvSpPr>
        <p:spPr>
          <a:xfrm>
            <a:off x="749808" y="4123944"/>
            <a:ext cx="10692079" cy="177393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A person drives a demonstration vehicle staying carefully on a dirt road, avoiding the grassy shoulder. The robot infers a cost function that penalizes leaving the road — and when placed in a BRAND NEW scene it's never seen, it correctly plans a path that also stays on the road there, because it learned the underlying PREFERENCE, not just the one demonstrated path.</a:t>
            </a:r>
            <a:endParaRPr lang="en-US" sz="1300" dirty="0"/>
          </a:p>
        </p:txBody>
      </p:sp>
      <p:sp>
        <p:nvSpPr>
          <p:cNvPr id="8" name="Text 6"/>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9" name="Text 7"/>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26.8 Humans and Robots</a:t>
            </a:r>
            <a:endParaRPr lang="en-US" sz="900" dirty="0"/>
          </a:p>
        </p:txBody>
      </p:sp>
      <p:sp>
        <p:nvSpPr>
          <p:cNvPr id="10" name="Text 8"/>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79</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26.8.2 LEARNING WHAT HUMANS WANT</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Imitation Learning: Skip the Cost Function Entirely</a:t>
            </a:r>
            <a:endParaRPr lang="en-US" sz="2700" dirty="0"/>
          </a:p>
        </p:txBody>
      </p:sp>
      <p:sp>
        <p:nvSpPr>
          <p:cNvPr id="4" name="Shape 2"/>
          <p:cNvSpPr/>
          <p:nvPr/>
        </p:nvSpPr>
        <p:spPr>
          <a:xfrm>
            <a:off x="548640" y="1417320"/>
            <a:ext cx="5364328" cy="4206240"/>
          </a:xfrm>
          <a:prstGeom prst="roundRect">
            <a:avLst>
              <a:gd name="adj" fmla="val 1957"/>
            </a:avLst>
          </a:prstGeom>
          <a:solidFill>
            <a:srgbClr val="EEF2FF"/>
          </a:solidFill>
          <a:ln/>
          <a:effectLst>
            <a:outerShdw sx="100000" sy="100000" kx="0" ky="0" algn="bl" rotWithShape="0" blurRad="76200" dist="25400" dir="5400000">
              <a:srgbClr val="1A3A5C">
                <a:alpha val="12000"/>
              </a:srgbClr>
            </a:outerShdw>
          </a:effectLst>
        </p:spPr>
      </p:sp>
      <p:sp>
        <p:nvSpPr>
          <p:cNvPr id="5" name="Text 3"/>
          <p:cNvSpPr/>
          <p:nvPr/>
        </p:nvSpPr>
        <p:spPr>
          <a:xfrm>
            <a:off x="749808" y="1545336"/>
            <a:ext cx="4961992" cy="329184"/>
          </a:xfrm>
          <a:prstGeom prst="rect">
            <a:avLst/>
          </a:prstGeom>
          <a:noFill/>
          <a:ln/>
        </p:spPr>
        <p:txBody>
          <a:bodyPr wrap="square" lIns="0" tIns="0" rIns="0" bIns="0" rtlCol="0" anchor="ctr"/>
          <a:lstStyle/>
          <a:p>
            <a:pPr indent="0" marL="0">
              <a:buNone/>
            </a:pPr>
            <a:r>
              <a:rPr lang="en-US" sz="1450" b="1" dirty="0">
                <a:solidFill>
                  <a:srgbClr val="4A6FA5"/>
                </a:solidFill>
                <a:latin typeface="Calibri" pitchFamily="34" charset="0"/>
                <a:ea typeface="Calibri" pitchFamily="34" charset="-122"/>
                <a:cs typeface="Calibri" pitchFamily="34" charset="-120"/>
              </a:rPr>
              <a:t>Behavioral cloning</a:t>
            </a:r>
            <a:endParaRPr lang="en-US" sz="1450" dirty="0"/>
          </a:p>
        </p:txBody>
      </p:sp>
      <p:sp>
        <p:nvSpPr>
          <p:cNvPr id="6" name="Text 4"/>
          <p:cNvSpPr/>
          <p:nvPr/>
        </p:nvSpPr>
        <p:spPr>
          <a:xfrm>
            <a:off x="749808" y="1929384"/>
            <a:ext cx="4961992" cy="3584448"/>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Treat demonstrations as labeled data: D = {(xi, ui)}, then run ordinary supervised learning to fit a policy π: x → u.</a:t>
            </a:r>
            <a:endParaRPr lang="en-US" sz="1300" dirty="0"/>
          </a:p>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Challenge: generalization. The robot has no CAUSAL understanding of why an action was labeled optimal — it might fail on states just slightly off the demonstrated path.</a:t>
            </a:r>
            <a:endParaRPr lang="en-US" sz="1300" dirty="0"/>
          </a:p>
        </p:txBody>
      </p:sp>
      <p:sp>
        <p:nvSpPr>
          <p:cNvPr id="7" name="Shape 5"/>
          <p:cNvSpPr/>
          <p:nvPr/>
        </p:nvSpPr>
        <p:spPr>
          <a:xfrm>
            <a:off x="6278728" y="1417320"/>
            <a:ext cx="5364328" cy="4206240"/>
          </a:xfrm>
          <a:prstGeom prst="roundRect">
            <a:avLst>
              <a:gd name="adj" fmla="val 1957"/>
            </a:avLst>
          </a:prstGeom>
          <a:solidFill>
            <a:srgbClr val="FFF0EE"/>
          </a:solidFill>
          <a:ln/>
          <a:effectLst>
            <a:outerShdw sx="100000" sy="100000" kx="0" ky="0" algn="bl" rotWithShape="0" blurRad="76200" dist="25400" dir="5400000">
              <a:srgbClr val="1A3A5C">
                <a:alpha val="12000"/>
              </a:srgbClr>
            </a:outerShdw>
          </a:effectLst>
        </p:spPr>
      </p:sp>
      <p:sp>
        <p:nvSpPr>
          <p:cNvPr id="8" name="Text 6"/>
          <p:cNvSpPr/>
          <p:nvPr/>
        </p:nvSpPr>
        <p:spPr>
          <a:xfrm>
            <a:off x="6479896" y="1545336"/>
            <a:ext cx="4961992" cy="329184"/>
          </a:xfrm>
          <a:prstGeom prst="rect">
            <a:avLst/>
          </a:prstGeom>
          <a:noFill/>
          <a:ln/>
        </p:spPr>
        <p:txBody>
          <a:bodyPr wrap="square" lIns="0" tIns="0" rIns="0" bIns="0" rtlCol="0" anchor="ctr"/>
          <a:lstStyle/>
          <a:p>
            <a:pPr indent="0" marL="0">
              <a:buNone/>
            </a:pPr>
            <a:r>
              <a:rPr lang="en-US" sz="1450" b="1" dirty="0">
                <a:solidFill>
                  <a:srgbClr val="B5311A"/>
                </a:solidFill>
                <a:latin typeface="Calibri" pitchFamily="34" charset="0"/>
                <a:ea typeface="Calibri" pitchFamily="34" charset="-122"/>
                <a:cs typeface="Calibri" pitchFamily="34" charset="-120"/>
              </a:rPr>
              <a:t>The ALVINN case study</a:t>
            </a:r>
            <a:endParaRPr lang="en-US" sz="1450" dirty="0"/>
          </a:p>
        </p:txBody>
      </p:sp>
      <p:sp>
        <p:nvSpPr>
          <p:cNvPr id="9" name="Text 7"/>
          <p:cNvSpPr/>
          <p:nvPr/>
        </p:nvSpPr>
        <p:spPr>
          <a:xfrm>
            <a:off x="6479896" y="1929384"/>
            <a:ext cx="4961992" cy="3584448"/>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Even starting exactly on the demonstrated path, small policy errors nudge the car slightly off it.</a:t>
            </a:r>
            <a:endParaRPr lang="en-US" sz="1300" dirty="0"/>
          </a:p>
          <a:p>
            <a:pPr marL="177800" indent="-177800">
              <a:spcAft>
                <a:spcPts val="500"/>
              </a:spcAft>
              <a:buSzPct val="100000"/>
              <a:buChar char="●"/>
            </a:pPr>
            <a:r>
              <a:rPr lang="en-US" sz="1300" dirty="0">
                <a:solidFill>
                  <a:srgbClr val="1F2A37"/>
                </a:solidFill>
                <a:latin typeface="Calibri" pitchFamily="34" charset="0"/>
                <a:ea typeface="Calibri" pitchFamily="34" charset="-122"/>
                <a:cs typeface="Calibri" pitchFamily="34" charset="-120"/>
              </a:rPr>
              <a:t>Off the path, π has even LESS training data to draw on — errors compound, and the car drifts further and further away.</a:t>
            </a:r>
            <a:endParaRPr lang="en-US" sz="1300" dirty="0"/>
          </a:p>
        </p:txBody>
      </p:sp>
      <p:sp>
        <p:nvSpPr>
          <p:cNvPr id="10" name="Text 8"/>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1" name="Text 9"/>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26.8 Humans and Robots</a:t>
            </a:r>
            <a:endParaRPr lang="en-US" sz="900" dirty="0"/>
          </a:p>
        </p:txBody>
      </p:sp>
      <p:sp>
        <p:nvSpPr>
          <p:cNvPr id="12" name="Text 10"/>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80</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26.8.2 LEARNING WHAT HUMANS WANT</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DAGGER: Fixing the Compounding-Error Problem</a:t>
            </a:r>
            <a:endParaRPr lang="en-US" sz="2700" dirty="0"/>
          </a:p>
        </p:txBody>
      </p:sp>
      <p:sp>
        <p:nvSpPr>
          <p:cNvPr id="4" name="Shape 2"/>
          <p:cNvSpPr/>
          <p:nvPr/>
        </p:nvSpPr>
        <p:spPr>
          <a:xfrm>
            <a:off x="548640" y="1417320"/>
            <a:ext cx="11094415" cy="822960"/>
          </a:xfrm>
          <a:prstGeom prst="roundRect">
            <a:avLst>
              <a:gd name="adj" fmla="val 7778"/>
            </a:avLst>
          </a:prstGeom>
          <a:solidFill>
            <a:srgbClr val="EEF2FF"/>
          </a:solidFill>
          <a:ln w="9525">
            <a:solidFill>
              <a:srgbClr val="4A6FA5"/>
            </a:solidFill>
            <a:prstDash val="solid"/>
          </a:ln>
        </p:spPr>
      </p:sp>
      <p:sp>
        <p:nvSpPr>
          <p:cNvPr id="5" name="Text 3"/>
          <p:cNvSpPr/>
          <p:nvPr/>
        </p:nvSpPr>
        <p:spPr>
          <a:xfrm>
            <a:off x="713232" y="1463040"/>
            <a:ext cx="1554480" cy="237744"/>
          </a:xfrm>
          <a:prstGeom prst="rect">
            <a:avLst/>
          </a:prstGeom>
          <a:noFill/>
          <a:ln/>
        </p:spPr>
        <p:txBody>
          <a:bodyPr wrap="square" lIns="0" tIns="0" rIns="0" bIns="0" rtlCol="0" anchor="ctr"/>
          <a:lstStyle/>
          <a:p>
            <a:pPr indent="0" marL="0">
              <a:buNone/>
            </a:pPr>
            <a:r>
              <a:rPr lang="en-US" sz="1050" b="1" spc="50" kern="0" dirty="0">
                <a:solidFill>
                  <a:srgbClr val="4A6FA5"/>
                </a:solidFill>
                <a:latin typeface="Calibri" pitchFamily="34" charset="0"/>
                <a:ea typeface="Calibri" pitchFamily="34" charset="-122"/>
                <a:cs typeface="Calibri" pitchFamily="34" charset="-120"/>
              </a:rPr>
              <a:t>GENERAL</a:t>
            </a:r>
            <a:endParaRPr lang="en-US" sz="1050" dirty="0"/>
          </a:p>
        </p:txBody>
      </p:sp>
      <p:sp>
        <p:nvSpPr>
          <p:cNvPr id="6" name="Text 4"/>
          <p:cNvSpPr/>
          <p:nvPr/>
        </p:nvSpPr>
        <p:spPr>
          <a:xfrm>
            <a:off x="713232" y="1691640"/>
            <a:ext cx="10765231"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Start from a human expert demonstration. Learn policy π1. Roll it out to generate new data D — including states OFF the original demonstrated path.</a:t>
            </a:r>
            <a:endParaRPr lang="en-US" sz="1300" dirty="0"/>
          </a:p>
        </p:txBody>
      </p:sp>
      <p:sp>
        <p:nvSpPr>
          <p:cNvPr id="7" name="Shape 5"/>
          <p:cNvSpPr/>
          <p:nvPr/>
        </p:nvSpPr>
        <p:spPr>
          <a:xfrm>
            <a:off x="548640" y="2368296"/>
            <a:ext cx="11094415" cy="822960"/>
          </a:xfrm>
          <a:prstGeom prst="roundRect">
            <a:avLst>
              <a:gd name="adj" fmla="val 7778"/>
            </a:avLst>
          </a:prstGeom>
          <a:solidFill>
            <a:srgbClr val="FFF8E6"/>
          </a:solidFill>
          <a:ln w="9525">
            <a:solidFill>
              <a:srgbClr val="C8840A"/>
            </a:solidFill>
            <a:prstDash val="solid"/>
          </a:ln>
        </p:spPr>
      </p:sp>
      <p:sp>
        <p:nvSpPr>
          <p:cNvPr id="8" name="Text 6"/>
          <p:cNvSpPr/>
          <p:nvPr/>
        </p:nvSpPr>
        <p:spPr>
          <a:xfrm>
            <a:off x="713232" y="2414016"/>
            <a:ext cx="1554480" cy="237744"/>
          </a:xfrm>
          <a:prstGeom prst="rect">
            <a:avLst/>
          </a:prstGeom>
          <a:noFill/>
          <a:ln/>
        </p:spPr>
        <p:txBody>
          <a:bodyPr wrap="square" lIns="0" tIns="0" rIns="0" bIns="0" rtlCol="0" anchor="ctr"/>
          <a:lstStyle/>
          <a:p>
            <a:pPr indent="0" marL="0">
              <a:buNone/>
            </a:pPr>
            <a:r>
              <a:rPr lang="en-US" sz="1050" b="1" spc="50" kern="0" dirty="0">
                <a:solidFill>
                  <a:srgbClr val="C8840A"/>
                </a:solidFill>
                <a:latin typeface="Calibri" pitchFamily="34" charset="0"/>
                <a:ea typeface="Calibri" pitchFamily="34" charset="-122"/>
                <a:cs typeface="Calibri" pitchFamily="34" charset="-120"/>
              </a:rPr>
              <a:t>SUBSTITUTE</a:t>
            </a:r>
            <a:endParaRPr lang="en-US" sz="1050" dirty="0"/>
          </a:p>
        </p:txBody>
      </p:sp>
      <p:sp>
        <p:nvSpPr>
          <p:cNvPr id="9" name="Text 7"/>
          <p:cNvSpPr/>
          <p:nvPr/>
        </p:nvSpPr>
        <p:spPr>
          <a:xfrm>
            <a:off x="713232" y="2642616"/>
            <a:ext cx="10765231"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Ask the human expert what THEY would have done at every state visited during that rollout, and add those labels to D.</a:t>
            </a:r>
            <a:endParaRPr lang="en-US" sz="1300" dirty="0"/>
          </a:p>
        </p:txBody>
      </p:sp>
      <p:sp>
        <p:nvSpPr>
          <p:cNvPr id="10" name="Shape 8"/>
          <p:cNvSpPr/>
          <p:nvPr/>
        </p:nvSpPr>
        <p:spPr>
          <a:xfrm>
            <a:off x="548640" y="3319272"/>
            <a:ext cx="11094415" cy="822960"/>
          </a:xfrm>
          <a:prstGeom prst="roundRect">
            <a:avLst>
              <a:gd name="adj" fmla="val 7778"/>
            </a:avLst>
          </a:prstGeom>
          <a:solidFill>
            <a:srgbClr val="EEF8EE"/>
          </a:solidFill>
          <a:ln w="9525">
            <a:solidFill>
              <a:srgbClr val="1B6B3A"/>
            </a:solidFill>
            <a:prstDash val="solid"/>
          </a:ln>
        </p:spPr>
      </p:sp>
      <p:sp>
        <p:nvSpPr>
          <p:cNvPr id="11" name="Text 9"/>
          <p:cNvSpPr/>
          <p:nvPr/>
        </p:nvSpPr>
        <p:spPr>
          <a:xfrm>
            <a:off x="713232" y="3364992"/>
            <a:ext cx="1554480" cy="237744"/>
          </a:xfrm>
          <a:prstGeom prst="rect">
            <a:avLst/>
          </a:prstGeom>
          <a:noFill/>
          <a:ln/>
        </p:spPr>
        <p:txBody>
          <a:bodyPr wrap="square" lIns="0" tIns="0" rIns="0" bIns="0" rtlCol="0" anchor="ctr"/>
          <a:lstStyle/>
          <a:p>
            <a:pPr indent="0" marL="0">
              <a:buNone/>
            </a:pPr>
            <a:r>
              <a:rPr lang="en-US" sz="1050" b="1" spc="50" kern="0" dirty="0">
                <a:solidFill>
                  <a:srgbClr val="1B6B3A"/>
                </a:solidFill>
                <a:latin typeface="Calibri" pitchFamily="34" charset="0"/>
                <a:ea typeface="Calibri" pitchFamily="34" charset="-122"/>
                <a:cs typeface="Calibri" pitchFamily="34" charset="-120"/>
              </a:rPr>
              <a:t>RESULT</a:t>
            </a:r>
            <a:endParaRPr lang="en-US" sz="1050" dirty="0"/>
          </a:p>
        </p:txBody>
      </p:sp>
      <p:sp>
        <p:nvSpPr>
          <p:cNvPr id="12" name="Text 10"/>
          <p:cNvSpPr/>
          <p:nvPr/>
        </p:nvSpPr>
        <p:spPr>
          <a:xfrm>
            <a:off x="713232" y="3593592"/>
            <a:ext cx="10765231" cy="493776"/>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Train π2 on ALL data gathered so far (original + new). Repeat: πn generates data, human labels it, πn+1 is trained on everything. The robot learns to correct its own mistakes as they happen.</a:t>
            </a:r>
            <a:endParaRPr lang="en-US" sz="1300" dirty="0"/>
          </a:p>
        </p:txBody>
      </p:sp>
      <p:sp>
        <p:nvSpPr>
          <p:cNvPr id="13" name="Text 11"/>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4" name="Text 12"/>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26.8 Humans and Robots</a:t>
            </a:r>
            <a:endParaRPr lang="en-US" sz="900" dirty="0"/>
          </a:p>
        </p:txBody>
      </p:sp>
      <p:sp>
        <p:nvSpPr>
          <p:cNvPr id="15" name="Text 13"/>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81</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26.8.2 LEARNING WHAT HUMANS WANT</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The Correspondence Problem &amp; Teaching Interfaces</a:t>
            </a:r>
            <a:endParaRPr lang="en-US" sz="2700" dirty="0"/>
          </a:p>
        </p:txBody>
      </p:sp>
      <p:sp>
        <p:nvSpPr>
          <p:cNvPr id="4" name="Text 2"/>
          <p:cNvSpPr/>
          <p:nvPr/>
        </p:nvSpPr>
        <p:spPr>
          <a:xfrm>
            <a:off x="548640" y="1417320"/>
            <a:ext cx="11094415" cy="493776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1F2A37"/>
                </a:solidFill>
                <a:latin typeface="Calibri" pitchFamily="34" charset="0"/>
                <a:ea typeface="Calibri" pitchFamily="34" charset="-122"/>
                <a:cs typeface="Calibri" pitchFamily="34" charset="-120"/>
              </a:rPr>
              <a:t>For a car or helicopter, human demonstration uses the SAME actions the robot itself takes: accelerate, brake, steer.</a:t>
            </a:r>
            <a:endParaRPr lang="en-US" sz="1600" dirty="0"/>
          </a:p>
          <a:p>
            <a:pPr marL="228600" indent="-228600">
              <a:spcAft>
                <a:spcPts val="1000"/>
              </a:spcAft>
              <a:buSzPct val="100000"/>
              <a:buChar char="●"/>
            </a:pPr>
            <a:r>
              <a:rPr lang="en-US" sz="1600" b="1" dirty="0">
                <a:solidFill>
                  <a:srgbClr val="C8840A"/>
                </a:solidFill>
                <a:latin typeface="Calibri" pitchFamily="34" charset="0"/>
                <a:ea typeface="Calibri" pitchFamily="34" charset="-122"/>
                <a:cs typeface="Calibri" pitchFamily="34" charset="-120"/>
              </a:rPr>
              <a:t>For a task like clearing a kitchen table — what actions does a human even demonstrate with?</a:t>
            </a:r>
            <a:endParaRPr lang="en-US" sz="16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11094415" cy="914400"/>
        </p:xfrm>
        <a:graphic>
          <a:graphicData uri="http://schemas.openxmlformats.org/drawingml/2006/table">
            <a:tbl>
              <a:tblPr/>
              <a:tblGrid>
                <a:gridCol w="2468880"/>
                <a:gridCol w="4206240"/>
                <a:gridCol w="4419295"/>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Approach</a:t>
                      </a:r>
                      <a:endParaRPr lang="en-US" sz="13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How it works</a:t>
                      </a:r>
                      <a:endParaRPr lang="en-US" sz="13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The catch</a:t>
                      </a:r>
                      <a:endParaRPr lang="en-US" sz="13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Human demonstrates with THEIR OWN body</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Natural for the end user</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The correspondence problem: mapping a 5-finger human grasp onto a 2-finger robot gripper is genuinely hard</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Kinesthetic teaching</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Human physically guides the robot's own effectors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Hard to coordinate many joints at once — researchers use keyframes instead of continuous motion</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Visual programming</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Place special blocks to select objects &amp; specify high-level actions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Requires a pre-built primitive library</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7" name="Text 4"/>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26.8 Humans and Robots</a:t>
            </a:r>
            <a:endParaRPr lang="en-US" sz="900" dirty="0"/>
          </a:p>
        </p:txBody>
      </p:sp>
      <p:sp>
        <p:nvSpPr>
          <p:cNvPr id="8" name="Text 5"/>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82</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26.8 WRAP-UP</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Nurse Priya Teaches Wren a Preference</a:t>
            </a:r>
            <a:endParaRPr lang="en-US" sz="2700" dirty="0"/>
          </a:p>
        </p:txBody>
      </p:sp>
      <p:sp>
        <p:nvSpPr>
          <p:cNvPr id="4" name="Shape 2"/>
          <p:cNvSpPr/>
          <p:nvPr/>
        </p:nvSpPr>
        <p:spPr>
          <a:xfrm>
            <a:off x="548640" y="1417320"/>
            <a:ext cx="11094415" cy="4206240"/>
          </a:xfrm>
          <a:prstGeom prst="roundRect">
            <a:avLst>
              <a:gd name="adj" fmla="val 1957"/>
            </a:avLst>
          </a:prstGeom>
          <a:solidFill>
            <a:srgbClr val="EEF8EE"/>
          </a:solidFill>
          <a:ln/>
          <a:effectLst>
            <a:outerShdw sx="100000" sy="100000" kx="0" ky="0" algn="bl" rotWithShape="0" blurRad="76200" dist="25400" dir="5400000">
              <a:srgbClr val="1A3A5C">
                <a:alpha val="12000"/>
              </a:srgbClr>
            </a:outerShdw>
          </a:effectLst>
        </p:spPr>
      </p:sp>
      <p:sp>
        <p:nvSpPr>
          <p:cNvPr id="5" name="Text 3"/>
          <p:cNvSpPr/>
          <p:nvPr/>
        </p:nvSpPr>
        <p:spPr>
          <a:xfrm>
            <a:off x="749808" y="1545336"/>
            <a:ext cx="10692079" cy="329184"/>
          </a:xfrm>
          <a:prstGeom prst="rect">
            <a:avLst/>
          </a:prstGeom>
          <a:noFill/>
          <a:ln/>
        </p:spPr>
        <p:txBody>
          <a:bodyPr wrap="square" lIns="0" tIns="0" rIns="0" bIns="0" rtlCol="0" anchor="ctr"/>
          <a:lstStyle/>
          <a:p>
            <a:pPr indent="0" marL="0">
              <a:buNone/>
            </a:pPr>
            <a:r>
              <a:rPr lang="en-US" sz="1450" b="1" dirty="0">
                <a:solidFill>
                  <a:srgbClr val="1B6B3A"/>
                </a:solidFill>
                <a:latin typeface="Calibri" pitchFamily="34" charset="0"/>
                <a:ea typeface="Calibri" pitchFamily="34" charset="-122"/>
                <a:cs typeface="Calibri" pitchFamily="34" charset="-120"/>
              </a:rPr>
              <a:t>Kinesthetic correction at Northgate</a:t>
            </a:r>
            <a:endParaRPr lang="en-US" sz="1450" dirty="0"/>
          </a:p>
        </p:txBody>
      </p:sp>
      <p:sp>
        <p:nvSpPr>
          <p:cNvPr id="6" name="Text 4"/>
          <p:cNvSpPr/>
          <p:nvPr/>
        </p:nvSpPr>
        <p:spPr>
          <a:xfrm>
            <a:off x="749808" y="1929384"/>
            <a:ext cx="10692079" cy="358444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37"/>
                </a:solidFill>
                <a:latin typeface="Calibri" pitchFamily="34" charset="0"/>
                <a:ea typeface="Calibri" pitchFamily="34" charset="-122"/>
                <a:cs typeface="Calibri" pitchFamily="34" charset="-120"/>
              </a:rPr>
              <a:t>Wren's default hallway path hugs the center of the corridor — geometrically efficient, but it clips a bit too close to the nurses' station counter.</a:t>
            </a:r>
            <a:endParaRPr lang="en-US" sz="1400" dirty="0"/>
          </a:p>
          <a:p>
            <a:pPr marL="177800" indent="-177800">
              <a:spcAft>
                <a:spcPts val="500"/>
              </a:spcAft>
              <a:buSzPct val="100000"/>
              <a:buChar char="●"/>
            </a:pPr>
            <a:r>
              <a:rPr lang="en-US" sz="1400" dirty="0">
                <a:solidFill>
                  <a:srgbClr val="1F2A37"/>
                </a:solidFill>
                <a:latin typeface="Calibri" pitchFamily="34" charset="0"/>
                <a:ea typeface="Calibri" pitchFamily="34" charset="-122"/>
                <a:cs typeface="Calibri" pitchFamily="34" charset="-120"/>
              </a:rPr>
              <a:t>Nurse Priya gently pushes Wren's base a few inches away from the counter as it passes — a kinesthetic correction, physically guiding the robot's own effector.</a:t>
            </a:r>
            <a:endParaRPr lang="en-US" sz="1400" dirty="0"/>
          </a:p>
          <a:p>
            <a:pPr marL="177800" indent="-177800">
              <a:spcAft>
                <a:spcPts val="500"/>
              </a:spcAft>
              <a:buSzPct val="100000"/>
              <a:buChar char="●"/>
            </a:pPr>
            <a:r>
              <a:rPr lang="en-US" sz="1400" dirty="0">
                <a:solidFill>
                  <a:srgbClr val="1F2A37"/>
                </a:solidFill>
                <a:latin typeface="Calibri" pitchFamily="34" charset="0"/>
                <a:ea typeface="Calibri" pitchFamily="34" charset="-122"/>
                <a:cs typeface="Calibri" pitchFamily="34" charset="-120"/>
              </a:rPr>
              <a:t>Wren's onboard system treats this as a demonstration signal: it updates its inferred cost function to penalize passing close to that counter, exactly as in the dirt-road example.</a:t>
            </a:r>
            <a:endParaRPr lang="en-US" sz="1400" dirty="0"/>
          </a:p>
          <a:p>
            <a:pPr marL="177800" indent="-177800">
              <a:spcAft>
                <a:spcPts val="500"/>
              </a:spcAft>
              <a:buSzPct val="100000"/>
              <a:buChar char="●"/>
            </a:pPr>
            <a:r>
              <a:rPr lang="en-US" sz="1400" dirty="0">
                <a:solidFill>
                  <a:srgbClr val="1F2A37"/>
                </a:solidFill>
                <a:latin typeface="Calibri" pitchFamily="34" charset="0"/>
                <a:ea typeface="Calibri" pitchFamily="34" charset="-122"/>
                <a:cs typeface="Calibri" pitchFamily="34" charset="-120"/>
              </a:rPr>
              <a:t>Next time, Wren plans its own path — unprompted — to stay further from the counter, without anyone reprogramming a single line of code.</a:t>
            </a:r>
            <a:endParaRPr lang="en-US" sz="1400" dirty="0"/>
          </a:p>
        </p:txBody>
      </p:sp>
      <p:sp>
        <p:nvSpPr>
          <p:cNvPr id="7" name="Text 5"/>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8" name="Text 6"/>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26.8 Humans and Robots</a:t>
            </a:r>
            <a:endParaRPr lang="en-US" sz="900" dirty="0"/>
          </a:p>
        </p:txBody>
      </p:sp>
      <p:sp>
        <p:nvSpPr>
          <p:cNvPr id="9" name="Text 7"/>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83</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3A5C"/>
          </a:solidFill>
          <a:ln/>
        </p:spPr>
      </p:sp>
      <p:sp>
        <p:nvSpPr>
          <p:cNvPr id="3" name="Shape 1"/>
          <p:cNvSpPr/>
          <p:nvPr/>
        </p:nvSpPr>
        <p:spPr>
          <a:xfrm>
            <a:off x="9692640" y="2377440"/>
            <a:ext cx="5120640" cy="5120640"/>
          </a:xfrm>
          <a:prstGeom prst="ellipse">
            <a:avLst/>
          </a:prstGeom>
          <a:solidFill>
            <a:srgbClr val="132B45"/>
          </a:solidFill>
          <a:ln/>
        </p:spPr>
      </p:sp>
      <p:sp>
        <p:nvSpPr>
          <p:cNvPr id="4" name="Text 2"/>
          <p:cNvSpPr/>
          <p:nvPr/>
        </p:nvSpPr>
        <p:spPr>
          <a:xfrm>
            <a:off x="822960" y="1463040"/>
            <a:ext cx="3657600" cy="1554480"/>
          </a:xfrm>
          <a:prstGeom prst="rect">
            <a:avLst/>
          </a:prstGeom>
          <a:noFill/>
          <a:ln/>
        </p:spPr>
        <p:txBody>
          <a:bodyPr wrap="square" lIns="0" tIns="0" rIns="0" bIns="0" rtlCol="0" anchor="ctr"/>
          <a:lstStyle/>
          <a:p>
            <a:pPr indent="0" marL="0">
              <a:buNone/>
            </a:pPr>
            <a:r>
              <a:rPr lang="en-US" sz="8400" b="1" dirty="0">
                <a:solidFill>
                  <a:srgbClr val="E8960C"/>
                </a:solidFill>
                <a:latin typeface="Calibri" pitchFamily="34" charset="0"/>
                <a:ea typeface="Calibri" pitchFamily="34" charset="-122"/>
                <a:cs typeface="Calibri" pitchFamily="34" charset="-120"/>
              </a:rPr>
              <a:t>26.9</a:t>
            </a:r>
            <a:endParaRPr lang="en-US" sz="8400" dirty="0"/>
          </a:p>
        </p:txBody>
      </p:sp>
      <p:sp>
        <p:nvSpPr>
          <p:cNvPr id="5" name="Text 3"/>
          <p:cNvSpPr/>
          <p:nvPr/>
        </p:nvSpPr>
        <p:spPr>
          <a:xfrm>
            <a:off x="822960" y="2971800"/>
            <a:ext cx="9875520" cy="105156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Alternative Robotic Frameworks</a:t>
            </a:r>
            <a:endParaRPr lang="en-US" sz="3800" dirty="0"/>
          </a:p>
        </p:txBody>
      </p:sp>
      <p:sp>
        <p:nvSpPr>
          <p:cNvPr id="6" name="Text 4"/>
          <p:cNvSpPr/>
          <p:nvPr/>
        </p:nvSpPr>
        <p:spPr>
          <a:xfrm>
            <a:off x="822960" y="3977640"/>
            <a:ext cx="8778240" cy="82296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Not every good robot controller comes from modeling the world and planning.</a:t>
            </a:r>
            <a:endParaRPr lang="en-US" sz="1600" dirty="0"/>
          </a:p>
        </p:txBody>
      </p:sp>
      <p:sp>
        <p:nvSpPr>
          <p:cNvPr id="7" name="Shape 5"/>
          <p:cNvSpPr/>
          <p:nvPr/>
        </p:nvSpPr>
        <p:spPr>
          <a:xfrm>
            <a:off x="868680" y="4956048"/>
            <a:ext cx="82296" cy="82296"/>
          </a:xfrm>
          <a:prstGeom prst="ellipse">
            <a:avLst/>
          </a:prstGeom>
          <a:solidFill>
            <a:srgbClr val="E8960C"/>
          </a:solidFill>
          <a:ln/>
        </p:spPr>
      </p:sp>
      <p:sp>
        <p:nvSpPr>
          <p:cNvPr id="8" name="Text 6"/>
          <p:cNvSpPr/>
          <p:nvPr/>
        </p:nvSpPr>
        <p:spPr>
          <a:xfrm>
            <a:off x="1097280" y="4837176"/>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Reactive controllers: reflex agents with state</a:t>
            </a:r>
            <a:endParaRPr lang="en-US" sz="1350" dirty="0"/>
          </a:p>
        </p:txBody>
      </p:sp>
      <p:sp>
        <p:nvSpPr>
          <p:cNvPr id="9" name="Shape 7"/>
          <p:cNvSpPr/>
          <p:nvPr/>
        </p:nvSpPr>
        <p:spPr>
          <a:xfrm>
            <a:off x="868680" y="5285232"/>
            <a:ext cx="82296" cy="82296"/>
          </a:xfrm>
          <a:prstGeom prst="ellipse">
            <a:avLst/>
          </a:prstGeom>
          <a:solidFill>
            <a:srgbClr val="E8960C"/>
          </a:solidFill>
          <a:ln/>
        </p:spPr>
      </p:sp>
      <p:sp>
        <p:nvSpPr>
          <p:cNvPr id="10" name="Text 8"/>
          <p:cNvSpPr/>
          <p:nvPr/>
        </p:nvSpPr>
        <p:spPr>
          <a:xfrm>
            <a:off x="1097280" y="5166360"/>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The subsumption architecture: composing behavior bottom-up</a:t>
            </a:r>
            <a:endParaRPr lang="en-US" sz="1350" dirty="0"/>
          </a:p>
        </p:txBody>
      </p:sp>
      <p:sp>
        <p:nvSpPr>
          <p:cNvPr id="11" name="Shape 9"/>
          <p:cNvSpPr/>
          <p:nvPr/>
        </p:nvSpPr>
        <p:spPr>
          <a:xfrm>
            <a:off x="868680" y="5614416"/>
            <a:ext cx="82296" cy="82296"/>
          </a:xfrm>
          <a:prstGeom prst="ellipse">
            <a:avLst/>
          </a:prstGeom>
          <a:solidFill>
            <a:srgbClr val="E8960C"/>
          </a:solidFill>
          <a:ln/>
        </p:spPr>
      </p:sp>
      <p:sp>
        <p:nvSpPr>
          <p:cNvPr id="12" name="Text 10"/>
          <p:cNvSpPr/>
          <p:nvPr/>
        </p:nvSpPr>
        <p:spPr>
          <a:xfrm>
            <a:off x="1097280" y="5495544"/>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Where reactive control shines, and where it breaks down</a:t>
            </a:r>
            <a:endParaRPr lang="en-US" sz="1350" dirty="0"/>
          </a:p>
        </p:txBody>
      </p:sp>
      <p:sp>
        <p:nvSpPr>
          <p:cNvPr id="13" name="Text 11"/>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4" name="Text 12"/>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Alternative Robotic Frameworks</a:t>
            </a:r>
            <a:endParaRPr lang="en-US" sz="900" dirty="0"/>
          </a:p>
        </p:txBody>
      </p:sp>
      <p:sp>
        <p:nvSpPr>
          <p:cNvPr id="15" name="Text 13"/>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84</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26.9 ALTERNATIVE FRAMEWORKS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Deliberative vs. Reactive Robotics</a:t>
            </a:r>
            <a:endParaRPr lang="en-US" sz="2700" dirty="0"/>
          </a:p>
        </p:txBody>
      </p:sp>
      <p:sp>
        <p:nvSpPr>
          <p:cNvPr id="4" name="Shape 2"/>
          <p:cNvSpPr/>
          <p:nvPr/>
        </p:nvSpPr>
        <p:spPr>
          <a:xfrm>
            <a:off x="548640" y="1417320"/>
            <a:ext cx="5364328" cy="4206240"/>
          </a:xfrm>
          <a:prstGeom prst="roundRect">
            <a:avLst>
              <a:gd name="adj" fmla="val 1957"/>
            </a:avLst>
          </a:prstGeom>
          <a:solidFill>
            <a:srgbClr val="EEF2FF"/>
          </a:solidFill>
          <a:ln/>
          <a:effectLst>
            <a:outerShdw sx="100000" sy="100000" kx="0" ky="0" algn="bl" rotWithShape="0" blurRad="76200" dist="25400" dir="5400000">
              <a:srgbClr val="1A3A5C">
                <a:alpha val="12000"/>
              </a:srgbClr>
            </a:outerShdw>
          </a:effectLst>
        </p:spPr>
      </p:sp>
      <p:sp>
        <p:nvSpPr>
          <p:cNvPr id="5" name="Text 3"/>
          <p:cNvSpPr/>
          <p:nvPr/>
        </p:nvSpPr>
        <p:spPr>
          <a:xfrm>
            <a:off x="749808" y="1545336"/>
            <a:ext cx="4961992" cy="329184"/>
          </a:xfrm>
          <a:prstGeom prst="rect">
            <a:avLst/>
          </a:prstGeom>
          <a:noFill/>
          <a:ln/>
        </p:spPr>
        <p:txBody>
          <a:bodyPr wrap="square" lIns="0" tIns="0" rIns="0" bIns="0" rtlCol="0" anchor="ctr"/>
          <a:lstStyle/>
          <a:p>
            <a:pPr indent="0" marL="0">
              <a:buNone/>
            </a:pPr>
            <a:r>
              <a:rPr lang="en-US" sz="1450" b="1" dirty="0">
                <a:solidFill>
                  <a:srgbClr val="4A6FA5"/>
                </a:solidFill>
                <a:latin typeface="Calibri" pitchFamily="34" charset="0"/>
                <a:ea typeface="Calibri" pitchFamily="34" charset="-122"/>
                <a:cs typeface="Calibri" pitchFamily="34" charset="-120"/>
              </a:rPr>
              <a:t>Deliberative (everything so far)</a:t>
            </a:r>
            <a:endParaRPr lang="en-US" sz="1450" dirty="0"/>
          </a:p>
        </p:txBody>
      </p:sp>
      <p:sp>
        <p:nvSpPr>
          <p:cNvPr id="6" name="Text 4"/>
          <p:cNvSpPr/>
          <p:nvPr/>
        </p:nvSpPr>
        <p:spPr>
          <a:xfrm>
            <a:off x="749808" y="1929384"/>
            <a:ext cx="4961992" cy="358444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37"/>
                </a:solidFill>
                <a:latin typeface="Calibri" pitchFamily="34" charset="0"/>
                <a:ea typeface="Calibri" pitchFamily="34" charset="-122"/>
                <a:cs typeface="Calibri" pitchFamily="34" charset="-120"/>
              </a:rPr>
              <a:t>Define or learn a reward/cost function.</a:t>
            </a:r>
            <a:endParaRPr lang="en-US" sz="1400" dirty="0"/>
          </a:p>
          <a:p>
            <a:pPr marL="177800" indent="-177800">
              <a:spcAft>
                <a:spcPts val="500"/>
              </a:spcAft>
              <a:buSzPct val="100000"/>
              <a:buChar char="●"/>
            </a:pPr>
            <a:r>
              <a:rPr lang="en-US" sz="1400" dirty="0">
                <a:solidFill>
                  <a:srgbClr val="1F2A37"/>
                </a:solidFill>
                <a:latin typeface="Calibri" pitchFamily="34" charset="0"/>
                <a:ea typeface="Calibri" pitchFamily="34" charset="-122"/>
                <a:cs typeface="Calibri" pitchFamily="34" charset="-120"/>
              </a:rPr>
              <a:t>Have the robot OPTIMIZE it, via planning or learning.</a:t>
            </a:r>
            <a:endParaRPr lang="en-US" sz="1400" dirty="0"/>
          </a:p>
          <a:p>
            <a:pPr marL="177800" indent="-177800">
              <a:spcAft>
                <a:spcPts val="500"/>
              </a:spcAft>
              <a:buSzPct val="100000"/>
              <a:buChar char="●"/>
            </a:pPr>
            <a:r>
              <a:rPr lang="en-US" sz="1400" dirty="0">
                <a:solidFill>
                  <a:srgbClr val="1F2A37"/>
                </a:solidFill>
                <a:latin typeface="Calibri" pitchFamily="34" charset="0"/>
                <a:ea typeface="Calibri" pitchFamily="34" charset="-122"/>
                <a:cs typeface="Calibri" pitchFamily="34" charset="-120"/>
              </a:rPr>
              <a:t>Sections 26.3 through 26.8 — all deliberative.</a:t>
            </a:r>
            <a:endParaRPr lang="en-US" sz="1400" dirty="0"/>
          </a:p>
        </p:txBody>
      </p:sp>
      <p:sp>
        <p:nvSpPr>
          <p:cNvPr id="7" name="Shape 5"/>
          <p:cNvSpPr/>
          <p:nvPr/>
        </p:nvSpPr>
        <p:spPr>
          <a:xfrm>
            <a:off x="6278728" y="1417320"/>
            <a:ext cx="5364328" cy="4206240"/>
          </a:xfrm>
          <a:prstGeom prst="roundRect">
            <a:avLst>
              <a:gd name="adj" fmla="val 1957"/>
            </a:avLst>
          </a:prstGeom>
          <a:solidFill>
            <a:srgbClr val="FFF8E6"/>
          </a:solidFill>
          <a:ln/>
          <a:effectLst>
            <a:outerShdw sx="100000" sy="100000" kx="0" ky="0" algn="bl" rotWithShape="0" blurRad="76200" dist="25400" dir="5400000">
              <a:srgbClr val="1A3A5C">
                <a:alpha val="12000"/>
              </a:srgbClr>
            </a:outerShdw>
          </a:effectLst>
        </p:spPr>
      </p:sp>
      <p:sp>
        <p:nvSpPr>
          <p:cNvPr id="8" name="Text 6"/>
          <p:cNvSpPr/>
          <p:nvPr/>
        </p:nvSpPr>
        <p:spPr>
          <a:xfrm>
            <a:off x="6479896" y="1545336"/>
            <a:ext cx="4961992" cy="329184"/>
          </a:xfrm>
          <a:prstGeom prst="rect">
            <a:avLst/>
          </a:prstGeom>
          <a:noFill/>
          <a:ln/>
        </p:spPr>
        <p:txBody>
          <a:bodyPr wrap="square" lIns="0" tIns="0" rIns="0" bIns="0" rtlCol="0" anchor="ctr"/>
          <a:lstStyle/>
          <a:p>
            <a:pPr indent="0" marL="0">
              <a:buNone/>
            </a:pPr>
            <a:r>
              <a:rPr lang="en-US" sz="1450" b="1" dirty="0">
                <a:solidFill>
                  <a:srgbClr val="C8840A"/>
                </a:solidFill>
                <a:latin typeface="Calibri" pitchFamily="34" charset="0"/>
                <a:ea typeface="Calibri" pitchFamily="34" charset="-122"/>
                <a:cs typeface="Calibri" pitchFamily="34" charset="-120"/>
              </a:rPr>
              <a:t>Reactive</a:t>
            </a:r>
            <a:endParaRPr lang="en-US" sz="1450" dirty="0"/>
          </a:p>
        </p:txBody>
      </p:sp>
      <p:sp>
        <p:nvSpPr>
          <p:cNvPr id="9" name="Text 7"/>
          <p:cNvSpPr/>
          <p:nvPr/>
        </p:nvSpPr>
        <p:spPr>
          <a:xfrm>
            <a:off x="6479896" y="1929384"/>
            <a:ext cx="4961992" cy="3584448"/>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37"/>
                </a:solidFill>
                <a:latin typeface="Calibri" pitchFamily="34" charset="0"/>
                <a:ea typeface="Calibri" pitchFamily="34" charset="-122"/>
                <a:cs typeface="Calibri" pitchFamily="34" charset="-120"/>
              </a:rPr>
              <a:t>Skip modeling the world and planning entirely.</a:t>
            </a:r>
            <a:endParaRPr lang="en-US" sz="1400" dirty="0"/>
          </a:p>
          <a:p>
            <a:pPr marL="177800" indent="-177800">
              <a:spcAft>
                <a:spcPts val="500"/>
              </a:spcAft>
              <a:buSzPct val="100000"/>
              <a:buChar char="●"/>
            </a:pPr>
            <a:r>
              <a:rPr lang="en-US" sz="1400" dirty="0">
                <a:solidFill>
                  <a:srgbClr val="1F2A37"/>
                </a:solidFill>
                <a:latin typeface="Calibri" pitchFamily="34" charset="0"/>
                <a:ea typeface="Calibri" pitchFamily="34" charset="-122"/>
                <a:cs typeface="Calibri" pitchFamily="34" charset="-120"/>
              </a:rPr>
              <a:t>The robot is a REFLEX agent: directly map sensor readings to actions.</a:t>
            </a:r>
            <a:endParaRPr lang="en-US" sz="1400" dirty="0"/>
          </a:p>
          <a:p>
            <a:pPr marL="177800" indent="-177800">
              <a:spcAft>
                <a:spcPts val="500"/>
              </a:spcAft>
              <a:buSzPct val="100000"/>
              <a:buChar char="●"/>
            </a:pPr>
            <a:r>
              <a:rPr lang="en-US" sz="1400" dirty="0">
                <a:solidFill>
                  <a:srgbClr val="1F2A37"/>
                </a:solidFill>
                <a:latin typeface="Calibri" pitchFamily="34" charset="0"/>
                <a:ea typeface="Calibri" pitchFamily="34" charset="-122"/>
                <a:cs typeface="Calibri" pitchFamily="34" charset="-120"/>
              </a:rPr>
              <a:t>Sometimes it's just easier to build a good direct policy than to build an accurate world model.</a:t>
            </a:r>
            <a:endParaRPr lang="en-US" sz="1400" dirty="0"/>
          </a:p>
        </p:txBody>
      </p:sp>
      <p:sp>
        <p:nvSpPr>
          <p:cNvPr id="10" name="Text 8"/>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1" name="Text 9"/>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26.9 Alternative Frameworks</a:t>
            </a:r>
            <a:endParaRPr lang="en-US" sz="900" dirty="0"/>
          </a:p>
        </p:txBody>
      </p:sp>
      <p:sp>
        <p:nvSpPr>
          <p:cNvPr id="12" name="Text 10"/>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85</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26.9.1 REACTIVE CONTROLLERS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Genghis the Hexapod: A Reflex Agent With State</a:t>
            </a:r>
            <a:endParaRPr lang="en-US" sz="2700" dirty="0"/>
          </a:p>
        </p:txBody>
      </p:sp>
      <p:sp>
        <p:nvSpPr>
          <p:cNvPr id="4" name="Shape 2"/>
          <p:cNvSpPr/>
          <p:nvPr/>
        </p:nvSpPr>
        <p:spPr>
          <a:xfrm>
            <a:off x="961187" y="3497580"/>
            <a:ext cx="1371600" cy="640080"/>
          </a:xfrm>
          <a:prstGeom prst="roundRect">
            <a:avLst>
              <a:gd name="adj" fmla="val 8571"/>
            </a:avLst>
          </a:prstGeom>
          <a:solidFill>
            <a:srgbClr val="EEF2FF"/>
          </a:solidFill>
          <a:ln w="15875">
            <a:solidFill>
              <a:srgbClr val="4A6FA5"/>
            </a:solidFill>
            <a:prstDash val="solid"/>
          </a:ln>
        </p:spPr>
      </p:sp>
      <p:sp>
        <p:nvSpPr>
          <p:cNvPr id="5" name="Text 3"/>
          <p:cNvSpPr/>
          <p:nvPr/>
        </p:nvSpPr>
        <p:spPr>
          <a:xfrm>
            <a:off x="961187" y="3497580"/>
            <a:ext cx="1371600" cy="640080"/>
          </a:xfrm>
          <a:prstGeom prst="rect">
            <a:avLst/>
          </a:prstGeom>
          <a:noFill/>
          <a:ln/>
        </p:spPr>
        <p:txBody>
          <a:bodyPr wrap="square" lIns="25400" tIns="25400" rIns="25400" bIns="25400" rtlCol="0" anchor="ctr"/>
          <a:lstStyle/>
          <a:p>
            <a:pPr algn="ctr" indent="0" marL="0">
              <a:buNone/>
            </a:pPr>
            <a:r>
              <a:rPr lang="en-US" sz="1050" b="1" dirty="0">
                <a:solidFill>
                  <a:srgbClr val="1A3A5C"/>
                </a:solidFill>
                <a:latin typeface="Calibri" pitchFamily="34" charset="0"/>
                <a:ea typeface="Calibri" pitchFamily="34" charset="-122"/>
                <a:cs typeface="Calibri" pitchFamily="34" charset="-120"/>
              </a:rPr>
              <a:t>S1</a:t>
            </a:r>
            <a:endParaRPr lang="en-US" sz="1050" dirty="0"/>
          </a:p>
          <a:p>
            <a:pPr algn="ctr" indent="0" marL="0">
              <a:buNone/>
            </a:pPr>
            <a:r>
              <a:rPr lang="en-US" sz="1050" b="1" dirty="0">
                <a:solidFill>
                  <a:srgbClr val="1A3A5C"/>
                </a:solidFill>
                <a:latin typeface="Calibri" pitchFamily="34" charset="0"/>
                <a:ea typeface="Calibri" pitchFamily="34" charset="-122"/>
                <a:cs typeface="Calibri" pitchFamily="34" charset="-120"/>
              </a:rPr>
              <a:t>set down</a:t>
            </a:r>
            <a:endParaRPr lang="en-US" sz="1050" dirty="0"/>
          </a:p>
        </p:txBody>
      </p:sp>
      <p:sp>
        <p:nvSpPr>
          <p:cNvPr id="6" name="Shape 4"/>
          <p:cNvSpPr/>
          <p:nvPr/>
        </p:nvSpPr>
        <p:spPr>
          <a:xfrm>
            <a:off x="2913804" y="3497580"/>
            <a:ext cx="1371600" cy="640080"/>
          </a:xfrm>
          <a:prstGeom prst="roundRect">
            <a:avLst>
              <a:gd name="adj" fmla="val 8571"/>
            </a:avLst>
          </a:prstGeom>
          <a:solidFill>
            <a:srgbClr val="EEF2FF"/>
          </a:solidFill>
          <a:ln w="15875">
            <a:solidFill>
              <a:srgbClr val="4A6FA5"/>
            </a:solidFill>
            <a:prstDash val="solid"/>
          </a:ln>
        </p:spPr>
      </p:sp>
      <p:sp>
        <p:nvSpPr>
          <p:cNvPr id="7" name="Text 5"/>
          <p:cNvSpPr/>
          <p:nvPr/>
        </p:nvSpPr>
        <p:spPr>
          <a:xfrm>
            <a:off x="2913804" y="3497580"/>
            <a:ext cx="1371600" cy="640080"/>
          </a:xfrm>
          <a:prstGeom prst="rect">
            <a:avLst/>
          </a:prstGeom>
          <a:noFill/>
          <a:ln/>
        </p:spPr>
        <p:txBody>
          <a:bodyPr wrap="square" lIns="25400" tIns="25400" rIns="25400" bIns="25400" rtlCol="0" anchor="ctr"/>
          <a:lstStyle/>
          <a:p>
            <a:pPr algn="ctr" indent="0" marL="0">
              <a:buNone/>
            </a:pPr>
            <a:r>
              <a:rPr lang="en-US" sz="1050" b="1" dirty="0">
                <a:solidFill>
                  <a:srgbClr val="1A3A5C"/>
                </a:solidFill>
                <a:latin typeface="Calibri" pitchFamily="34" charset="0"/>
                <a:ea typeface="Calibri" pitchFamily="34" charset="-122"/>
                <a:cs typeface="Calibri" pitchFamily="34" charset="-120"/>
              </a:rPr>
              <a:t>S2</a:t>
            </a:r>
            <a:endParaRPr lang="en-US" sz="1050" dirty="0"/>
          </a:p>
          <a:p>
            <a:pPr algn="ctr" indent="0" marL="0">
              <a:buNone/>
            </a:pPr>
            <a:r>
              <a:rPr lang="en-US" sz="1050" b="1" dirty="0">
                <a:solidFill>
                  <a:srgbClr val="1A3A5C"/>
                </a:solidFill>
                <a:latin typeface="Calibri" pitchFamily="34" charset="0"/>
                <a:ea typeface="Calibri" pitchFamily="34" charset="-122"/>
                <a:cs typeface="Calibri" pitchFamily="34" charset="-120"/>
              </a:rPr>
              <a:t>push backward</a:t>
            </a:r>
            <a:endParaRPr lang="en-US" sz="1050" dirty="0"/>
          </a:p>
        </p:txBody>
      </p:sp>
      <p:sp>
        <p:nvSpPr>
          <p:cNvPr id="8" name="Shape 6"/>
          <p:cNvSpPr/>
          <p:nvPr/>
        </p:nvSpPr>
        <p:spPr>
          <a:xfrm>
            <a:off x="4866421" y="3497580"/>
            <a:ext cx="1371600" cy="640080"/>
          </a:xfrm>
          <a:prstGeom prst="roundRect">
            <a:avLst>
              <a:gd name="adj" fmla="val 8571"/>
            </a:avLst>
          </a:prstGeom>
          <a:solidFill>
            <a:srgbClr val="EEF2FF"/>
          </a:solidFill>
          <a:ln w="15875">
            <a:solidFill>
              <a:srgbClr val="4A6FA5"/>
            </a:solidFill>
            <a:prstDash val="solid"/>
          </a:ln>
        </p:spPr>
      </p:sp>
      <p:sp>
        <p:nvSpPr>
          <p:cNvPr id="9" name="Text 7"/>
          <p:cNvSpPr/>
          <p:nvPr/>
        </p:nvSpPr>
        <p:spPr>
          <a:xfrm>
            <a:off x="4866421" y="3497580"/>
            <a:ext cx="1371600" cy="640080"/>
          </a:xfrm>
          <a:prstGeom prst="rect">
            <a:avLst/>
          </a:prstGeom>
          <a:noFill/>
          <a:ln/>
        </p:spPr>
        <p:txBody>
          <a:bodyPr wrap="square" lIns="25400" tIns="25400" rIns="25400" bIns="25400" rtlCol="0" anchor="ctr"/>
          <a:lstStyle/>
          <a:p>
            <a:pPr algn="ctr" indent="0" marL="0">
              <a:buNone/>
            </a:pPr>
            <a:r>
              <a:rPr lang="en-US" sz="1050" b="1" dirty="0">
                <a:solidFill>
                  <a:srgbClr val="1A3A5C"/>
                </a:solidFill>
                <a:latin typeface="Calibri" pitchFamily="34" charset="0"/>
                <a:ea typeface="Calibri" pitchFamily="34" charset="-122"/>
                <a:cs typeface="Calibri" pitchFamily="34" charset="-120"/>
              </a:rPr>
              <a:t>S3</a:t>
            </a:r>
            <a:endParaRPr lang="en-US" sz="1050" dirty="0"/>
          </a:p>
          <a:p>
            <a:pPr algn="ctr" indent="0" marL="0">
              <a:buNone/>
            </a:pPr>
            <a:r>
              <a:rPr lang="en-US" sz="1050" b="1" dirty="0">
                <a:solidFill>
                  <a:srgbClr val="1A3A5C"/>
                </a:solidFill>
                <a:latin typeface="Calibri" pitchFamily="34" charset="0"/>
                <a:ea typeface="Calibri" pitchFamily="34" charset="-122"/>
                <a:cs typeface="Calibri" pitchFamily="34" charset="-120"/>
              </a:rPr>
              <a:t>lift up</a:t>
            </a:r>
            <a:endParaRPr lang="en-US" sz="1050" dirty="0"/>
          </a:p>
        </p:txBody>
      </p:sp>
      <p:sp>
        <p:nvSpPr>
          <p:cNvPr id="10" name="Shape 8"/>
          <p:cNvSpPr/>
          <p:nvPr/>
        </p:nvSpPr>
        <p:spPr>
          <a:xfrm>
            <a:off x="2913804" y="1737360"/>
            <a:ext cx="1371600" cy="640080"/>
          </a:xfrm>
          <a:prstGeom prst="roundRect">
            <a:avLst>
              <a:gd name="adj" fmla="val 8571"/>
            </a:avLst>
          </a:prstGeom>
          <a:solidFill>
            <a:srgbClr val="EEF2FF"/>
          </a:solidFill>
          <a:ln w="15875">
            <a:solidFill>
              <a:srgbClr val="4A6FA5"/>
            </a:solidFill>
            <a:prstDash val="solid"/>
          </a:ln>
        </p:spPr>
      </p:sp>
      <p:sp>
        <p:nvSpPr>
          <p:cNvPr id="11" name="Text 9"/>
          <p:cNvSpPr/>
          <p:nvPr/>
        </p:nvSpPr>
        <p:spPr>
          <a:xfrm>
            <a:off x="2913804" y="1737360"/>
            <a:ext cx="1371600" cy="640080"/>
          </a:xfrm>
          <a:prstGeom prst="rect">
            <a:avLst/>
          </a:prstGeom>
          <a:noFill/>
          <a:ln/>
        </p:spPr>
        <p:txBody>
          <a:bodyPr wrap="square" lIns="25400" tIns="25400" rIns="25400" bIns="25400" rtlCol="0" anchor="ctr"/>
          <a:lstStyle/>
          <a:p>
            <a:pPr algn="ctr" indent="0" marL="0">
              <a:buNone/>
            </a:pPr>
            <a:r>
              <a:rPr lang="en-US" sz="1050" b="1" dirty="0">
                <a:solidFill>
                  <a:srgbClr val="1A3A5C"/>
                </a:solidFill>
                <a:latin typeface="Calibri" pitchFamily="34" charset="0"/>
                <a:ea typeface="Calibri" pitchFamily="34" charset="-122"/>
                <a:cs typeface="Calibri" pitchFamily="34" charset="-120"/>
              </a:rPr>
              <a:t>S4</a:t>
            </a:r>
            <a:endParaRPr lang="en-US" sz="1050" dirty="0"/>
          </a:p>
          <a:p>
            <a:pPr algn="ctr" indent="0" marL="0">
              <a:buNone/>
            </a:pPr>
            <a:r>
              <a:rPr lang="en-US" sz="1050" b="1" dirty="0">
                <a:solidFill>
                  <a:srgbClr val="1A3A5C"/>
                </a:solidFill>
                <a:latin typeface="Calibri" pitchFamily="34" charset="0"/>
                <a:ea typeface="Calibri" pitchFamily="34" charset="-122"/>
                <a:cs typeface="Calibri" pitchFamily="34" charset="-120"/>
              </a:rPr>
              <a:t>move forward</a:t>
            </a:r>
            <a:endParaRPr lang="en-US" sz="1050" dirty="0"/>
          </a:p>
        </p:txBody>
      </p:sp>
      <p:sp>
        <p:nvSpPr>
          <p:cNvPr id="12" name="Shape 10"/>
          <p:cNvSpPr/>
          <p:nvPr/>
        </p:nvSpPr>
        <p:spPr>
          <a:xfrm>
            <a:off x="2332787" y="3817620"/>
            <a:ext cx="581017" cy="914"/>
          </a:xfrm>
          <a:prstGeom prst="line">
            <a:avLst/>
          </a:prstGeom>
          <a:noFill/>
          <a:ln w="22225">
            <a:solidFill>
              <a:srgbClr val="51606F"/>
            </a:solidFill>
            <a:prstDash val="solid"/>
            <a:headEnd type="none"/>
            <a:tailEnd type="triangle"/>
          </a:ln>
        </p:spPr>
      </p:sp>
      <p:sp>
        <p:nvSpPr>
          <p:cNvPr id="13" name="Shape 11"/>
          <p:cNvSpPr/>
          <p:nvPr/>
        </p:nvSpPr>
        <p:spPr>
          <a:xfrm>
            <a:off x="4285404" y="3817620"/>
            <a:ext cx="581017" cy="914"/>
          </a:xfrm>
          <a:prstGeom prst="line">
            <a:avLst/>
          </a:prstGeom>
          <a:noFill/>
          <a:ln w="22225">
            <a:solidFill>
              <a:srgbClr val="51606F"/>
            </a:solidFill>
            <a:prstDash val="solid"/>
            <a:headEnd type="none"/>
            <a:tailEnd type="triangle"/>
          </a:ln>
        </p:spPr>
      </p:sp>
      <p:sp>
        <p:nvSpPr>
          <p:cNvPr id="14" name="Shape 12"/>
          <p:cNvSpPr/>
          <p:nvPr/>
        </p:nvSpPr>
        <p:spPr>
          <a:xfrm flipH="1" flipV="1">
            <a:off x="4376844" y="2194560"/>
            <a:ext cx="1175377" cy="1303020"/>
          </a:xfrm>
          <a:prstGeom prst="line">
            <a:avLst/>
          </a:prstGeom>
          <a:noFill/>
          <a:ln w="22225">
            <a:solidFill>
              <a:srgbClr val="51606F"/>
            </a:solidFill>
            <a:prstDash val="solid"/>
            <a:headEnd type="none"/>
            <a:tailEnd type="triangle"/>
          </a:ln>
        </p:spPr>
      </p:sp>
      <p:sp>
        <p:nvSpPr>
          <p:cNvPr id="15" name="Shape 13"/>
          <p:cNvSpPr/>
          <p:nvPr/>
        </p:nvSpPr>
        <p:spPr>
          <a:xfrm flipH="1">
            <a:off x="1646987" y="2103120"/>
            <a:ext cx="1175377" cy="1394460"/>
          </a:xfrm>
          <a:prstGeom prst="line">
            <a:avLst/>
          </a:prstGeom>
          <a:noFill/>
          <a:ln w="25400">
            <a:solidFill>
              <a:srgbClr val="1B6B3A"/>
            </a:solidFill>
            <a:prstDash val="dash"/>
            <a:headEnd type="none"/>
            <a:tailEnd type="triangle"/>
          </a:ln>
        </p:spPr>
      </p:sp>
      <p:sp>
        <p:nvSpPr>
          <p:cNvPr id="16" name="Text 14"/>
          <p:cNvSpPr/>
          <p:nvPr/>
        </p:nvSpPr>
        <p:spPr>
          <a:xfrm>
            <a:off x="2319444" y="1554480"/>
            <a:ext cx="2560320" cy="182880"/>
          </a:xfrm>
          <a:prstGeom prst="rect">
            <a:avLst/>
          </a:prstGeom>
          <a:noFill/>
          <a:ln/>
        </p:spPr>
        <p:txBody>
          <a:bodyPr wrap="square" lIns="0" tIns="0" rIns="0" bIns="0" rtlCol="0" anchor="t"/>
          <a:lstStyle/>
          <a:p>
            <a:pPr algn="ctr" indent="0" marL="0">
              <a:buNone/>
            </a:pPr>
            <a:r>
              <a:rPr lang="en-US" sz="950" i="1" dirty="0">
                <a:solidFill>
                  <a:srgbClr val="1B6B3A"/>
                </a:solidFill>
                <a:latin typeface="Calibri" pitchFamily="34" charset="0"/>
                <a:ea typeface="Calibri" pitchFamily="34" charset="-122"/>
                <a:cs typeface="Calibri" pitchFamily="34" charset="-120"/>
              </a:rPr>
              <a:t>no — swing succeeds</a:t>
            </a:r>
            <a:endParaRPr lang="en-US" sz="950" dirty="0"/>
          </a:p>
        </p:txBody>
      </p:sp>
      <p:sp>
        <p:nvSpPr>
          <p:cNvPr id="17" name="Shape 15"/>
          <p:cNvSpPr/>
          <p:nvPr/>
        </p:nvSpPr>
        <p:spPr>
          <a:xfrm>
            <a:off x="3599604" y="2377440"/>
            <a:ext cx="914" cy="320040"/>
          </a:xfrm>
          <a:prstGeom prst="line">
            <a:avLst/>
          </a:prstGeom>
          <a:noFill/>
          <a:ln w="25400">
            <a:solidFill>
              <a:srgbClr val="B5311A"/>
            </a:solidFill>
            <a:prstDash val="solid"/>
            <a:headEnd type="none"/>
            <a:tailEnd type="triangle"/>
          </a:ln>
        </p:spPr>
      </p:sp>
      <p:sp>
        <p:nvSpPr>
          <p:cNvPr id="18" name="Text 16"/>
          <p:cNvSpPr/>
          <p:nvPr/>
        </p:nvSpPr>
        <p:spPr>
          <a:xfrm>
            <a:off x="2593764" y="2715768"/>
            <a:ext cx="2011680" cy="274320"/>
          </a:xfrm>
          <a:prstGeom prst="rect">
            <a:avLst/>
          </a:prstGeom>
          <a:noFill/>
          <a:ln/>
        </p:spPr>
        <p:txBody>
          <a:bodyPr wrap="square" lIns="0" tIns="0" rIns="0" bIns="0" rtlCol="0" anchor="t"/>
          <a:lstStyle/>
          <a:p>
            <a:pPr algn="ctr" indent="0" marL="0">
              <a:buNone/>
            </a:pPr>
            <a:r>
              <a:rPr lang="en-US" sz="1000" b="1" dirty="0">
                <a:solidFill>
                  <a:srgbClr val="B5311A"/>
                </a:solidFill>
                <a:latin typeface="Calibri" pitchFamily="34" charset="0"/>
                <a:ea typeface="Calibri" pitchFamily="34" charset="-122"/>
                <a:cs typeface="Calibri" pitchFamily="34" charset="-120"/>
              </a:rPr>
              <a:t>stuck? → retract, lift higher, retry</a:t>
            </a:r>
            <a:endParaRPr lang="en-US" sz="1000" dirty="0"/>
          </a:p>
        </p:txBody>
      </p:sp>
      <p:sp>
        <p:nvSpPr>
          <p:cNvPr id="19" name="Shape 17"/>
          <p:cNvSpPr/>
          <p:nvPr/>
        </p:nvSpPr>
        <p:spPr>
          <a:xfrm>
            <a:off x="6924888" y="1417320"/>
            <a:ext cx="4718167" cy="3200400"/>
          </a:xfrm>
          <a:prstGeom prst="roundRect">
            <a:avLst>
              <a:gd name="adj" fmla="val 2571"/>
            </a:avLst>
          </a:prstGeom>
          <a:solidFill>
            <a:srgbClr val="FFF0EE"/>
          </a:solidFill>
          <a:ln/>
          <a:effectLst>
            <a:outerShdw sx="100000" sy="100000" kx="0" ky="0" algn="bl" rotWithShape="0" blurRad="76200" dist="25400" dir="5400000">
              <a:srgbClr val="1A3A5C">
                <a:alpha val="12000"/>
              </a:srgbClr>
            </a:outerShdw>
          </a:effectLst>
        </p:spPr>
      </p:sp>
      <p:sp>
        <p:nvSpPr>
          <p:cNvPr id="20" name="Text 18"/>
          <p:cNvSpPr/>
          <p:nvPr/>
        </p:nvSpPr>
        <p:spPr>
          <a:xfrm>
            <a:off x="7126056" y="1545336"/>
            <a:ext cx="4315831" cy="329184"/>
          </a:xfrm>
          <a:prstGeom prst="rect">
            <a:avLst/>
          </a:prstGeom>
          <a:noFill/>
          <a:ln/>
        </p:spPr>
        <p:txBody>
          <a:bodyPr wrap="square" lIns="0" tIns="0" rIns="0" bIns="0" rtlCol="0" anchor="ctr"/>
          <a:lstStyle/>
          <a:p>
            <a:pPr indent="0" marL="0">
              <a:buNone/>
            </a:pPr>
            <a:r>
              <a:rPr lang="en-US" sz="1450" b="1" dirty="0">
                <a:solidFill>
                  <a:srgbClr val="B5311A"/>
                </a:solidFill>
                <a:latin typeface="Calibri" pitchFamily="34" charset="0"/>
                <a:ea typeface="Calibri" pitchFamily="34" charset="-122"/>
                <a:cs typeface="Calibri" pitchFamily="34" charset="-120"/>
              </a:rPr>
              <a:t>Why not just plan?</a:t>
            </a:r>
            <a:endParaRPr lang="en-US" sz="1450" dirty="0"/>
          </a:p>
        </p:txBody>
      </p:sp>
      <p:sp>
        <p:nvSpPr>
          <p:cNvPr id="21" name="Text 19"/>
          <p:cNvSpPr/>
          <p:nvPr/>
        </p:nvSpPr>
        <p:spPr>
          <a:xfrm>
            <a:off x="7126056" y="1929384"/>
            <a:ext cx="4315831" cy="2578608"/>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6 legs × 2 motors each = 12 DOF for the legs alone, plus 6 more for position/orientation = 18-dimensional C-space.</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Sensors are too weak for accurate terrain models anyway.</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Even fast computers hit the curse of dimensionality here.</a:t>
            </a:r>
            <a:endParaRPr lang="en-US" sz="1250" dirty="0"/>
          </a:p>
        </p:txBody>
      </p:sp>
      <p:sp>
        <p:nvSpPr>
          <p:cNvPr id="22" name="Shape 20"/>
          <p:cNvSpPr/>
          <p:nvPr/>
        </p:nvSpPr>
        <p:spPr>
          <a:xfrm>
            <a:off x="548640" y="5257800"/>
            <a:ext cx="11094415" cy="914400"/>
          </a:xfrm>
          <a:prstGeom prst="roundRect">
            <a:avLst>
              <a:gd name="adj" fmla="val 8000"/>
            </a:avLst>
          </a:prstGeom>
          <a:solidFill>
            <a:srgbClr val="FFF8E6"/>
          </a:solidFill>
          <a:ln w="12700">
            <a:solidFill>
              <a:srgbClr val="C8840A"/>
            </a:solidFill>
            <a:prstDash val="solid"/>
          </a:ln>
        </p:spPr>
      </p:sp>
      <p:sp>
        <p:nvSpPr>
          <p:cNvPr id="23" name="Text 21"/>
          <p:cNvSpPr/>
          <p:nvPr/>
        </p:nvSpPr>
        <p:spPr>
          <a:xfrm>
            <a:off x="749808" y="5367528"/>
            <a:ext cx="10692079" cy="274320"/>
          </a:xfrm>
          <a:prstGeom prst="rect">
            <a:avLst/>
          </a:prstGeom>
          <a:noFill/>
          <a:ln/>
        </p:spPr>
        <p:txBody>
          <a:bodyPr wrap="square" lIns="0" tIns="0" rIns="0" bIns="0" rtlCol="0" anchor="ctr"/>
          <a:lstStyle/>
          <a:p>
            <a:pPr indent="0" marL="0">
              <a:buNone/>
            </a:pPr>
            <a:r>
              <a:rPr lang="en-US" sz="1250" b="1" spc="50" kern="0" dirty="0">
                <a:solidFill>
                  <a:srgbClr val="C8840A"/>
                </a:solidFill>
                <a:latin typeface="Calibri" pitchFamily="34" charset="0"/>
                <a:ea typeface="Calibri" pitchFamily="34" charset="-122"/>
                <a:cs typeface="Calibri" pitchFamily="34" charset="-120"/>
              </a:rPr>
              <a:t>THE RULE</a:t>
            </a:r>
            <a:endParaRPr lang="en-US" sz="1250" dirty="0"/>
          </a:p>
        </p:txBody>
      </p:sp>
      <p:sp>
        <p:nvSpPr>
          <p:cNvPr id="24" name="Text 22"/>
          <p:cNvSpPr/>
          <p:nvPr/>
        </p:nvSpPr>
        <p:spPr>
          <a:xfrm>
            <a:off x="749808" y="5678424"/>
            <a:ext cx="10692079" cy="40233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Choose a gait (e.g., move 3 legs, then the other 3). If a leg's forward swing gets blocked: retract it, lift it a bit higher, and try again. No terrain model required at all.</a:t>
            </a:r>
            <a:endParaRPr lang="en-US" sz="1300" dirty="0"/>
          </a:p>
        </p:txBody>
      </p:sp>
      <p:sp>
        <p:nvSpPr>
          <p:cNvPr id="25" name="Text 23"/>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26" name="Text 24"/>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26.9 Alternative Frameworks</a:t>
            </a:r>
            <a:endParaRPr lang="en-US" sz="900" dirty="0"/>
          </a:p>
        </p:txBody>
      </p:sp>
      <p:sp>
        <p:nvSpPr>
          <p:cNvPr id="27" name="Text 25"/>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86</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26.9.2 SUBSUMPTION ARCHITECTURE</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Composing Reflexes Bottom-Up</a:t>
            </a:r>
            <a:endParaRPr lang="en-US" sz="2700" dirty="0"/>
          </a:p>
        </p:txBody>
      </p:sp>
      <p:sp>
        <p:nvSpPr>
          <p:cNvPr id="4" name="Text 2"/>
          <p:cNvSpPr/>
          <p:nvPr/>
        </p:nvSpPr>
        <p:spPr>
          <a:xfrm>
            <a:off x="548640" y="1417320"/>
            <a:ext cx="11094415" cy="4937760"/>
          </a:xfrm>
          <a:prstGeom prst="rect">
            <a:avLst/>
          </a:prstGeom>
          <a:noFill/>
          <a:ln/>
        </p:spPr>
        <p:txBody>
          <a:bodyPr wrap="square" lIns="0" tIns="0" rIns="0" bIns="0" rtlCol="0" anchor="t"/>
          <a:lstStyle/>
          <a:p>
            <a:pPr marL="228600" indent="-228600">
              <a:spcAft>
                <a:spcPts val="1000"/>
              </a:spcAft>
              <a:buSzPct val="100000"/>
              <a:buChar char="●"/>
            </a:pPr>
            <a:r>
              <a:rPr lang="en-US" sz="1550" b="1" dirty="0">
                <a:solidFill>
                  <a:srgbClr val="1F2A37"/>
                </a:solidFill>
                <a:latin typeface="Calibri" pitchFamily="34" charset="0"/>
                <a:ea typeface="Calibri" pitchFamily="34" charset="-122"/>
                <a:cs typeface="Calibri" pitchFamily="34" charset="-120"/>
              </a:rPr>
              <a:t>Augmented Finite State Machines (AFSMs): finite-state machines with sensor-conditioned transitions, message-passing arcs, and internal timers (clocks).</a:t>
            </a:r>
            <a:endParaRPr lang="en-US" sz="1550" dirty="0"/>
          </a:p>
          <a:p>
            <a:pPr marL="228600" indent="-228600">
              <a:spcAft>
                <a:spcPts val="1000"/>
              </a:spcAft>
              <a:buSzPct val="100000"/>
              <a:buChar char="●"/>
            </a:pPr>
            <a:r>
              <a:rPr lang="en-US" sz="1550" dirty="0">
                <a:solidFill>
                  <a:srgbClr val="1F2A37"/>
                </a:solidFill>
                <a:latin typeface="Calibri" pitchFamily="34" charset="0"/>
                <a:ea typeface="Calibri" pitchFamily="34" charset="-122"/>
                <a:cs typeface="Calibri" pitchFamily="34" charset="-120"/>
              </a:rPr>
              <a:t>The subsumption architecture (Brooks, 1986) provides primitives for SYNCHRONIZING multiple AFSMs and combining conflicting outputs.</a:t>
            </a:r>
            <a:endParaRPr lang="en-US" sz="1550" dirty="0"/>
          </a:p>
          <a:p>
            <a:pPr marL="228600" indent="-228600">
              <a:spcAft>
                <a:spcPts val="1000"/>
              </a:spcAft>
              <a:buSzPct val="100000"/>
              <a:buChar char="●"/>
            </a:pPr>
            <a:r>
              <a:rPr lang="en-US" sz="1550" dirty="0">
                <a:solidFill>
                  <a:srgbClr val="1F2A37"/>
                </a:solidFill>
                <a:latin typeface="Calibri" pitchFamily="34" charset="0"/>
                <a:ea typeface="Calibri" pitchFamily="34" charset="-122"/>
                <a:cs typeface="Calibri" pitchFamily="34" charset="-120"/>
              </a:rPr>
              <a:t>Composition strategy: start with one AFSM per leg, add an AFSM to coordinate all six legs together, then layer higher-level behaviors like collision avoidance on top.</a:t>
            </a:r>
            <a:endParaRPr lang="en-US" sz="1550" dirty="0"/>
          </a:p>
        </p:txBody>
      </p:sp>
      <p:sp>
        <p:nvSpPr>
          <p:cNvPr id="5" name="Shape 3"/>
          <p:cNvSpPr/>
          <p:nvPr/>
        </p:nvSpPr>
        <p:spPr>
          <a:xfrm>
            <a:off x="548640" y="4846320"/>
            <a:ext cx="11094415" cy="1234440"/>
          </a:xfrm>
          <a:prstGeom prst="roundRect">
            <a:avLst>
              <a:gd name="adj" fmla="val 5926"/>
            </a:avLst>
          </a:prstGeom>
          <a:solidFill>
            <a:srgbClr val="EEF8EE"/>
          </a:solidFill>
          <a:ln w="12700">
            <a:solidFill>
              <a:srgbClr val="1B6B3A"/>
            </a:solidFill>
            <a:prstDash val="solid"/>
          </a:ln>
        </p:spPr>
      </p:sp>
      <p:sp>
        <p:nvSpPr>
          <p:cNvPr id="6" name="Text 4"/>
          <p:cNvSpPr/>
          <p:nvPr/>
        </p:nvSpPr>
        <p:spPr>
          <a:xfrm>
            <a:off x="749808" y="4956048"/>
            <a:ext cx="10692079" cy="274320"/>
          </a:xfrm>
          <a:prstGeom prst="rect">
            <a:avLst/>
          </a:prstGeom>
          <a:noFill/>
          <a:ln/>
        </p:spPr>
        <p:txBody>
          <a:bodyPr wrap="square" lIns="0" tIns="0" rIns="0" bIns="0" rtlCol="0" anchor="ctr"/>
          <a:lstStyle/>
          <a:p>
            <a:pPr indent="0" marL="0">
              <a:buNone/>
            </a:pPr>
            <a:r>
              <a:rPr lang="en-US" sz="1250" b="1" spc="50" kern="0" dirty="0">
                <a:solidFill>
                  <a:srgbClr val="1B6B3A"/>
                </a:solidFill>
                <a:latin typeface="Calibri" pitchFamily="34" charset="0"/>
                <a:ea typeface="Calibri" pitchFamily="34" charset="-122"/>
                <a:cs typeface="Calibri" pitchFamily="34" charset="-120"/>
              </a:rPr>
              <a:t>WHY THIS IS GENUINELY IMPRESSIVE</a:t>
            </a:r>
            <a:endParaRPr lang="en-US" sz="1250" dirty="0"/>
          </a:p>
        </p:txBody>
      </p:sp>
      <p:sp>
        <p:nvSpPr>
          <p:cNvPr id="7" name="Text 5"/>
          <p:cNvSpPr/>
          <p:nvPr/>
        </p:nvSpPr>
        <p:spPr>
          <a:xfrm>
            <a:off x="749808" y="5266944"/>
            <a:ext cx="10692079" cy="72237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Producing Genghis's walking behavior with configuration-space path planning would demand an accurate 18-dimensional terrain model AND handle stochastic effects like sliding on a slope. Subsumption sidesteps all of it — bottom-up composition of simple reflexes instead.</a:t>
            </a:r>
            <a:endParaRPr lang="en-US" sz="1300" dirty="0"/>
          </a:p>
        </p:txBody>
      </p:sp>
      <p:sp>
        <p:nvSpPr>
          <p:cNvPr id="8" name="Text 6"/>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9" name="Text 7"/>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26.9 Alternative Frameworks</a:t>
            </a:r>
            <a:endParaRPr lang="en-US" sz="900" dirty="0"/>
          </a:p>
        </p:txBody>
      </p:sp>
      <p:sp>
        <p:nvSpPr>
          <p:cNvPr id="10" name="Text 8"/>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87</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26.9.2 SUBSUMPTION ARCHITECTURE</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Where Subsumption Struggles</a:t>
            </a:r>
            <a:endParaRPr lang="en-US" sz="2700" dirty="0"/>
          </a:p>
        </p:txBody>
      </p:sp>
      <p:sp>
        <p:nvSpPr>
          <p:cNvPr id="4" name="Text 2"/>
          <p:cNvSpPr/>
          <p:nvPr/>
        </p:nvSpPr>
        <p:spPr>
          <a:xfrm>
            <a:off x="548640" y="1417320"/>
            <a:ext cx="11094415" cy="4937760"/>
          </a:xfrm>
          <a:prstGeom prst="rect">
            <a:avLst/>
          </a:prstGeom>
          <a:noFill/>
          <a:ln/>
        </p:spPr>
        <p:txBody>
          <a:bodyPr wrap="square" lIns="0" tIns="0" rIns="0" bIns="0" rtlCol="0" anchor="t"/>
          <a:lstStyle/>
          <a:p>
            <a:pPr marL="228600" indent="-228600">
              <a:spcAft>
                <a:spcPts val="1000"/>
              </a:spcAft>
              <a:buSzPct val="100000"/>
              <a:buChar char="●"/>
            </a:pPr>
            <a:r>
              <a:rPr lang="en-US" sz="1600" b="1" dirty="0">
                <a:solidFill>
                  <a:srgbClr val="1F2A37"/>
                </a:solidFill>
                <a:latin typeface="Calibri" pitchFamily="34" charset="0"/>
                <a:ea typeface="Calibri" pitchFamily="34" charset="-122"/>
                <a:cs typeface="Calibri" pitchFamily="34" charset="-120"/>
              </a:rPr>
              <a:t>Problem 1 — brittle to unreliable sensors: AFSMs are driven by raw sensor input; if sensor data needs nontrivial integration over time, subsumption tends to fail.</a:t>
            </a:r>
            <a:endParaRPr lang="en-US" sz="1600" dirty="0"/>
          </a:p>
          <a:p>
            <a:pPr marL="228600" indent="-228600">
              <a:spcAft>
                <a:spcPts val="1000"/>
              </a:spcAft>
              <a:buSzPct val="100000"/>
              <a:buChar char="●"/>
            </a:pPr>
            <a:r>
              <a:rPr lang="en-US" sz="1600" b="1" dirty="0">
                <a:solidFill>
                  <a:srgbClr val="1F2A37"/>
                </a:solidFill>
                <a:latin typeface="Calibri" pitchFamily="34" charset="0"/>
                <a:ea typeface="Calibri" pitchFamily="34" charset="-122"/>
                <a:cs typeface="Calibri" pitchFamily="34" charset="-120"/>
              </a:rPr>
              <a:t>Problem 2 — no notion of changing goals: a subsumption robot usually does exactly one task, with no natural way to reprogram it for a new goal.</a:t>
            </a:r>
            <a:endParaRPr lang="en-US" sz="1600" dirty="0"/>
          </a:p>
          <a:p>
            <a:pPr marL="228600" indent="-228600">
              <a:spcAft>
                <a:spcPts val="1000"/>
              </a:spcAft>
              <a:buSzPct val="100000"/>
              <a:buChar char="●"/>
            </a:pPr>
            <a:r>
              <a:rPr lang="en-US" sz="1600" b="1" dirty="0">
                <a:solidFill>
                  <a:srgbClr val="B5311A"/>
                </a:solidFill>
                <a:latin typeface="Calibri" pitchFamily="34" charset="0"/>
                <a:ea typeface="Calibri" pitchFamily="34" charset="-122"/>
                <a:cs typeface="Calibri" pitchFamily="34" charset="-120"/>
              </a:rPr>
              <a:t>Problem 3 — combinatorial explosion of conditions: a real policy for even one 'simple' maneuver can require considering many interacting factors.</a:t>
            </a:r>
            <a:endParaRPr lang="en-US" sz="1600" dirty="0"/>
          </a:p>
        </p:txBody>
      </p:sp>
      <p:sp>
        <p:nvSpPr>
          <p:cNvPr id="5" name="Shape 3"/>
          <p:cNvSpPr/>
          <p:nvPr/>
        </p:nvSpPr>
        <p:spPr>
          <a:xfrm>
            <a:off x="548640" y="4160520"/>
            <a:ext cx="11094415" cy="1828800"/>
          </a:xfrm>
          <a:prstGeom prst="roundRect">
            <a:avLst>
              <a:gd name="adj" fmla="val 4000"/>
            </a:avLst>
          </a:prstGeom>
          <a:solidFill>
            <a:srgbClr val="FFF8E6"/>
          </a:solidFill>
          <a:ln w="12700">
            <a:solidFill>
              <a:srgbClr val="C8840A"/>
            </a:solidFill>
            <a:prstDash val="solid"/>
          </a:ln>
        </p:spPr>
      </p:sp>
      <p:sp>
        <p:nvSpPr>
          <p:cNvPr id="6" name="Text 4"/>
          <p:cNvSpPr/>
          <p:nvPr/>
        </p:nvSpPr>
        <p:spPr>
          <a:xfrm>
            <a:off x="749808" y="4270248"/>
            <a:ext cx="10692079" cy="274320"/>
          </a:xfrm>
          <a:prstGeom prst="rect">
            <a:avLst/>
          </a:prstGeom>
          <a:noFill/>
          <a:ln/>
        </p:spPr>
        <p:txBody>
          <a:bodyPr wrap="square" lIns="0" tIns="0" rIns="0" bIns="0" rtlCol="0" anchor="ctr"/>
          <a:lstStyle/>
          <a:p>
            <a:pPr indent="0" marL="0">
              <a:buNone/>
            </a:pPr>
            <a:r>
              <a:rPr lang="en-US" sz="1250" b="1" spc="50" kern="0" dirty="0">
                <a:solidFill>
                  <a:srgbClr val="C8840A"/>
                </a:solidFill>
                <a:latin typeface="Calibri" pitchFamily="34" charset="0"/>
                <a:ea typeface="Calibri" pitchFamily="34" charset="-122"/>
                <a:cs typeface="Calibri" pitchFamily="34" charset="-120"/>
              </a:rPr>
              <a:t>WORKED EXAMPLE — THE LANE CHANGE THAT WON'T STAY SIMPLE</a:t>
            </a:r>
            <a:endParaRPr lang="en-US" sz="1250" dirty="0"/>
          </a:p>
        </p:txBody>
      </p:sp>
      <p:sp>
        <p:nvSpPr>
          <p:cNvPr id="7" name="Text 5"/>
          <p:cNvSpPr/>
          <p:nvPr/>
        </p:nvSpPr>
        <p:spPr>
          <a:xfrm>
            <a:off x="749808" y="4581144"/>
            <a:ext cx="10692079" cy="131673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Start: 'nudge into the target lane.' Then: not every driver yields, so add 'wait for a response, then proceed or retreat.' Then: the right nudge speed depends on the target lane's speed, whether there's a car ahead in it, and whether there's a car behind you in YOUR lane. The condition list keeps growing — this is exactly why real autonomous-driving stacks blend reactive AND deliberative components rather than choosing purely one or the other.</a:t>
            </a:r>
            <a:endParaRPr lang="en-US" sz="1300" dirty="0"/>
          </a:p>
        </p:txBody>
      </p:sp>
      <p:sp>
        <p:nvSpPr>
          <p:cNvPr id="8" name="Text 6"/>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9" name="Text 7"/>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26.9 Alternative Frameworks</a:t>
            </a:r>
            <a:endParaRPr lang="en-US" sz="900" dirty="0"/>
          </a:p>
        </p:txBody>
      </p:sp>
      <p:sp>
        <p:nvSpPr>
          <p:cNvPr id="10" name="Text 8"/>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88</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3A5C"/>
          </a:solidFill>
          <a:ln/>
        </p:spPr>
      </p:sp>
      <p:sp>
        <p:nvSpPr>
          <p:cNvPr id="3" name="Shape 1"/>
          <p:cNvSpPr/>
          <p:nvPr/>
        </p:nvSpPr>
        <p:spPr>
          <a:xfrm>
            <a:off x="9692640" y="2377440"/>
            <a:ext cx="5120640" cy="5120640"/>
          </a:xfrm>
          <a:prstGeom prst="ellipse">
            <a:avLst/>
          </a:prstGeom>
          <a:solidFill>
            <a:srgbClr val="132B45"/>
          </a:solidFill>
          <a:ln/>
        </p:spPr>
      </p:sp>
      <p:sp>
        <p:nvSpPr>
          <p:cNvPr id="4" name="Text 2"/>
          <p:cNvSpPr/>
          <p:nvPr/>
        </p:nvSpPr>
        <p:spPr>
          <a:xfrm>
            <a:off x="822960" y="1463040"/>
            <a:ext cx="3657600" cy="1554480"/>
          </a:xfrm>
          <a:prstGeom prst="rect">
            <a:avLst/>
          </a:prstGeom>
          <a:noFill/>
          <a:ln/>
        </p:spPr>
        <p:txBody>
          <a:bodyPr wrap="square" lIns="0" tIns="0" rIns="0" bIns="0" rtlCol="0" anchor="ctr"/>
          <a:lstStyle/>
          <a:p>
            <a:pPr indent="0" marL="0">
              <a:buNone/>
            </a:pPr>
            <a:r>
              <a:rPr lang="en-US" sz="8400" b="1" dirty="0">
                <a:solidFill>
                  <a:srgbClr val="E8960C"/>
                </a:solidFill>
                <a:latin typeface="Calibri" pitchFamily="34" charset="0"/>
                <a:ea typeface="Calibri" pitchFamily="34" charset="-122"/>
                <a:cs typeface="Calibri" pitchFamily="34" charset="-120"/>
              </a:rPr>
              <a:t>26.10</a:t>
            </a:r>
            <a:endParaRPr lang="en-US" sz="8400" dirty="0"/>
          </a:p>
        </p:txBody>
      </p:sp>
      <p:sp>
        <p:nvSpPr>
          <p:cNvPr id="5" name="Text 3"/>
          <p:cNvSpPr/>
          <p:nvPr/>
        </p:nvSpPr>
        <p:spPr>
          <a:xfrm>
            <a:off x="822960" y="2971800"/>
            <a:ext cx="9875520" cy="105156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Application Domains</a:t>
            </a:r>
            <a:endParaRPr lang="en-US" sz="3800" dirty="0"/>
          </a:p>
        </p:txBody>
      </p:sp>
      <p:sp>
        <p:nvSpPr>
          <p:cNvPr id="6" name="Text 4"/>
          <p:cNvSpPr/>
          <p:nvPr/>
        </p:nvSpPr>
        <p:spPr>
          <a:xfrm>
            <a:off x="822960" y="3977640"/>
            <a:ext cx="8778240" cy="82296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Where all of this is deployed, right now, in the world around you.</a:t>
            </a:r>
            <a:endParaRPr lang="en-US" sz="1600" dirty="0"/>
          </a:p>
        </p:txBody>
      </p:sp>
      <p:sp>
        <p:nvSpPr>
          <p:cNvPr id="7" name="Shape 5"/>
          <p:cNvSpPr/>
          <p:nvPr/>
        </p:nvSpPr>
        <p:spPr>
          <a:xfrm>
            <a:off x="868680" y="4956048"/>
            <a:ext cx="82296" cy="82296"/>
          </a:xfrm>
          <a:prstGeom prst="ellipse">
            <a:avLst/>
          </a:prstGeom>
          <a:solidFill>
            <a:srgbClr val="E8960C"/>
          </a:solidFill>
          <a:ln/>
        </p:spPr>
      </p:sp>
      <p:sp>
        <p:nvSpPr>
          <p:cNvPr id="8" name="Text 6"/>
          <p:cNvSpPr/>
          <p:nvPr/>
        </p:nvSpPr>
        <p:spPr>
          <a:xfrm>
            <a:off x="1097280" y="4837176"/>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Home care, personal robots, and health care</a:t>
            </a:r>
            <a:endParaRPr lang="en-US" sz="1350" dirty="0"/>
          </a:p>
        </p:txBody>
      </p:sp>
      <p:sp>
        <p:nvSpPr>
          <p:cNvPr id="9" name="Shape 7"/>
          <p:cNvSpPr/>
          <p:nvPr/>
        </p:nvSpPr>
        <p:spPr>
          <a:xfrm>
            <a:off x="868680" y="5285232"/>
            <a:ext cx="82296" cy="82296"/>
          </a:xfrm>
          <a:prstGeom prst="ellipse">
            <a:avLst/>
          </a:prstGeom>
          <a:solidFill>
            <a:srgbClr val="E8960C"/>
          </a:solidFill>
          <a:ln/>
        </p:spPr>
      </p:sp>
      <p:sp>
        <p:nvSpPr>
          <p:cNvPr id="10" name="Text 8"/>
          <p:cNvSpPr/>
          <p:nvPr/>
        </p:nvSpPr>
        <p:spPr>
          <a:xfrm>
            <a:off x="1097280" y="5166360"/>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Services, entertainment, exploration, and industry</a:t>
            </a:r>
            <a:endParaRPr lang="en-US" sz="1350" dirty="0"/>
          </a:p>
        </p:txBody>
      </p:sp>
      <p:sp>
        <p:nvSpPr>
          <p:cNvPr id="11" name="Shape 9"/>
          <p:cNvSpPr/>
          <p:nvPr/>
        </p:nvSpPr>
        <p:spPr>
          <a:xfrm>
            <a:off x="868680" y="5614416"/>
            <a:ext cx="82296" cy="82296"/>
          </a:xfrm>
          <a:prstGeom prst="ellipse">
            <a:avLst/>
          </a:prstGeom>
          <a:solidFill>
            <a:srgbClr val="E8960C"/>
          </a:solidFill>
          <a:ln/>
        </p:spPr>
      </p:sp>
      <p:sp>
        <p:nvSpPr>
          <p:cNvPr id="12" name="Text 10"/>
          <p:cNvSpPr/>
          <p:nvPr/>
        </p:nvSpPr>
        <p:spPr>
          <a:xfrm>
            <a:off x="1097280" y="5495544"/>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Autonomous cars — a case study spanning four decades</a:t>
            </a:r>
            <a:endParaRPr lang="en-US" sz="1350" dirty="0"/>
          </a:p>
        </p:txBody>
      </p:sp>
      <p:sp>
        <p:nvSpPr>
          <p:cNvPr id="13" name="Text 11"/>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4" name="Text 12"/>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Application Domains</a:t>
            </a:r>
            <a:endParaRPr lang="en-US" sz="900" dirty="0"/>
          </a:p>
        </p:txBody>
      </p:sp>
      <p:sp>
        <p:nvSpPr>
          <p:cNvPr id="15" name="Text 13"/>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89</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26.10 APPLICATION DOMAINS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Home Care &amp; Personal Robots</a:t>
            </a:r>
            <a:endParaRPr lang="en-US" sz="2700" dirty="0"/>
          </a:p>
        </p:txBody>
      </p:sp>
      <p:sp>
        <p:nvSpPr>
          <p:cNvPr id="4" name="Shape 2"/>
          <p:cNvSpPr/>
          <p:nvPr/>
        </p:nvSpPr>
        <p:spPr>
          <a:xfrm>
            <a:off x="548640" y="1417320"/>
            <a:ext cx="2636444" cy="3108960"/>
          </a:xfrm>
          <a:prstGeom prst="roundRect">
            <a:avLst>
              <a:gd name="adj" fmla="val 2081"/>
            </a:avLst>
          </a:prstGeom>
          <a:solidFill>
            <a:srgbClr val="EEF2FF"/>
          </a:solidFill>
          <a:ln w="15875">
            <a:solidFill>
              <a:srgbClr val="4A6FA5"/>
            </a:solidFill>
            <a:prstDash val="solid"/>
          </a:ln>
        </p:spPr>
      </p:sp>
      <p:sp>
        <p:nvSpPr>
          <p:cNvPr id="5" name="Text 3"/>
          <p:cNvSpPr/>
          <p:nvPr/>
        </p:nvSpPr>
        <p:spPr>
          <a:xfrm>
            <a:off x="658368" y="1508760"/>
            <a:ext cx="2416988" cy="310896"/>
          </a:xfrm>
          <a:prstGeom prst="rect">
            <a:avLst/>
          </a:prstGeom>
          <a:noFill/>
          <a:ln/>
        </p:spPr>
        <p:txBody>
          <a:bodyPr wrap="square" lIns="0" tIns="0" rIns="0" bIns="0" rtlCol="0" anchor="t"/>
          <a:lstStyle/>
          <a:p>
            <a:pPr algn="l" indent="0" marL="0">
              <a:buNone/>
            </a:pPr>
            <a:r>
              <a:rPr lang="en-US" sz="1250" b="1" dirty="0">
                <a:solidFill>
                  <a:srgbClr val="1A3A5C"/>
                </a:solidFill>
                <a:latin typeface="Calibri" pitchFamily="34" charset="0"/>
                <a:ea typeface="Calibri" pitchFamily="34" charset="-122"/>
                <a:cs typeface="Calibri" pitchFamily="34" charset="-120"/>
              </a:rPr>
              <a:t>🦾  Wheelchair-mounted arms</a:t>
            </a:r>
            <a:endParaRPr lang="en-US" sz="1250" dirty="0"/>
          </a:p>
        </p:txBody>
      </p:sp>
      <p:sp>
        <p:nvSpPr>
          <p:cNvPr id="6" name="Text 4"/>
          <p:cNvSpPr/>
          <p:nvPr/>
        </p:nvSpPr>
        <p:spPr>
          <a:xfrm>
            <a:off x="658368" y="1837944"/>
            <a:ext cx="2416988" cy="2606040"/>
          </a:xfrm>
          <a:prstGeom prst="rect">
            <a:avLst/>
          </a:prstGeom>
          <a:noFill/>
          <a:ln/>
        </p:spPr>
        <p:txBody>
          <a:bodyPr wrap="square" lIns="0" tIns="0" rIns="0" bIns="0" rtlCol="0" anchor="t"/>
          <a:lstStyle/>
          <a:p>
            <a:pPr algn="l" indent="0" marL="0">
              <a:buNone/>
            </a:pPr>
            <a:r>
              <a:rPr lang="en-US" sz="1000" dirty="0">
                <a:solidFill>
                  <a:srgbClr val="51606F"/>
                </a:solidFill>
                <a:latin typeface="Calibri" pitchFamily="34" charset="0"/>
                <a:ea typeface="Calibri" pitchFamily="34" charset="-122"/>
                <a:cs typeface="Calibri" pitchFamily="34" charset="-120"/>
              </a:rPr>
              <a:t>Kinova-style arms restore independence for people with motor impairments — gaining autonomy over time.</a:t>
            </a:r>
            <a:endParaRPr lang="en-US" sz="1000" dirty="0"/>
          </a:p>
        </p:txBody>
      </p:sp>
      <p:sp>
        <p:nvSpPr>
          <p:cNvPr id="7" name="Shape 5"/>
          <p:cNvSpPr/>
          <p:nvPr/>
        </p:nvSpPr>
        <p:spPr>
          <a:xfrm>
            <a:off x="3367964" y="1417320"/>
            <a:ext cx="2636444" cy="3108960"/>
          </a:xfrm>
          <a:prstGeom prst="roundRect">
            <a:avLst>
              <a:gd name="adj" fmla="val 2081"/>
            </a:avLst>
          </a:prstGeom>
          <a:solidFill>
            <a:srgbClr val="EEF8EE"/>
          </a:solidFill>
          <a:ln w="15875">
            <a:solidFill>
              <a:srgbClr val="1B6B3A"/>
            </a:solidFill>
            <a:prstDash val="solid"/>
          </a:ln>
        </p:spPr>
      </p:sp>
      <p:sp>
        <p:nvSpPr>
          <p:cNvPr id="8" name="Text 6"/>
          <p:cNvSpPr/>
          <p:nvPr/>
        </p:nvSpPr>
        <p:spPr>
          <a:xfrm>
            <a:off x="3477692" y="1508760"/>
            <a:ext cx="2416988" cy="310896"/>
          </a:xfrm>
          <a:prstGeom prst="rect">
            <a:avLst/>
          </a:prstGeom>
          <a:noFill/>
          <a:ln/>
        </p:spPr>
        <p:txBody>
          <a:bodyPr wrap="square" lIns="0" tIns="0" rIns="0" bIns="0" rtlCol="0" anchor="t"/>
          <a:lstStyle/>
          <a:p>
            <a:pPr algn="l" indent="0" marL="0">
              <a:buNone/>
            </a:pPr>
            <a:r>
              <a:rPr lang="en-US" sz="1250" b="1" dirty="0">
                <a:solidFill>
                  <a:srgbClr val="1A3A5C"/>
                </a:solidFill>
                <a:latin typeface="Calibri" pitchFamily="34" charset="0"/>
                <a:ea typeface="Calibri" pitchFamily="34" charset="-122"/>
                <a:cs typeface="Calibri" pitchFamily="34" charset="-120"/>
              </a:rPr>
              <a:t>🧠  Brain–machine interfaces</a:t>
            </a:r>
            <a:endParaRPr lang="en-US" sz="1250" dirty="0"/>
          </a:p>
        </p:txBody>
      </p:sp>
      <p:sp>
        <p:nvSpPr>
          <p:cNvPr id="9" name="Text 7"/>
          <p:cNvSpPr/>
          <p:nvPr/>
        </p:nvSpPr>
        <p:spPr>
          <a:xfrm>
            <a:off x="3477692" y="1837944"/>
            <a:ext cx="2416988" cy="2606040"/>
          </a:xfrm>
          <a:prstGeom prst="rect">
            <a:avLst/>
          </a:prstGeom>
          <a:noFill/>
          <a:ln/>
        </p:spPr>
        <p:txBody>
          <a:bodyPr wrap="square" lIns="0" tIns="0" rIns="0" bIns="0" rtlCol="0" anchor="t"/>
          <a:lstStyle/>
          <a:p>
            <a:pPr algn="l" indent="0" marL="0">
              <a:buNone/>
            </a:pPr>
            <a:r>
              <a:rPr lang="en-US" sz="1000" dirty="0">
                <a:solidFill>
                  <a:srgbClr val="51606F"/>
                </a:solidFill>
                <a:latin typeface="Calibri" pitchFamily="34" charset="0"/>
                <a:ea typeface="Calibri" pitchFamily="34" charset="-122"/>
                <a:cs typeface="Calibri" pitchFamily="34" charset="-120"/>
              </a:rPr>
              <a:t>Emerging tech lets people with quadriplegia grasp objects and even feed themselves via a robot arm.</a:t>
            </a:r>
            <a:endParaRPr lang="en-US" sz="1000" dirty="0"/>
          </a:p>
        </p:txBody>
      </p:sp>
      <p:sp>
        <p:nvSpPr>
          <p:cNvPr id="10" name="Shape 8"/>
          <p:cNvSpPr/>
          <p:nvPr/>
        </p:nvSpPr>
        <p:spPr>
          <a:xfrm>
            <a:off x="6187288" y="1417320"/>
            <a:ext cx="2636444" cy="3108960"/>
          </a:xfrm>
          <a:prstGeom prst="roundRect">
            <a:avLst>
              <a:gd name="adj" fmla="val 2081"/>
            </a:avLst>
          </a:prstGeom>
          <a:solidFill>
            <a:srgbClr val="FFF8E6"/>
          </a:solidFill>
          <a:ln w="15875">
            <a:solidFill>
              <a:srgbClr val="C8840A"/>
            </a:solidFill>
            <a:prstDash val="solid"/>
          </a:ln>
        </p:spPr>
      </p:sp>
      <p:sp>
        <p:nvSpPr>
          <p:cNvPr id="11" name="Text 9"/>
          <p:cNvSpPr/>
          <p:nvPr/>
        </p:nvSpPr>
        <p:spPr>
          <a:xfrm>
            <a:off x="6297016" y="1508760"/>
            <a:ext cx="2416988" cy="310896"/>
          </a:xfrm>
          <a:prstGeom prst="rect">
            <a:avLst/>
          </a:prstGeom>
          <a:noFill/>
          <a:ln/>
        </p:spPr>
        <p:txBody>
          <a:bodyPr wrap="square" lIns="0" tIns="0" rIns="0" bIns="0" rtlCol="0" anchor="t"/>
          <a:lstStyle/>
          <a:p>
            <a:pPr algn="l" indent="0" marL="0">
              <a:buNone/>
            </a:pPr>
            <a:r>
              <a:rPr lang="en-US" sz="1250" b="1" dirty="0">
                <a:solidFill>
                  <a:srgbClr val="1A3A5C"/>
                </a:solidFill>
                <a:latin typeface="Calibri" pitchFamily="34" charset="0"/>
                <a:ea typeface="Calibri" pitchFamily="34" charset="-122"/>
                <a:cs typeface="Calibri" pitchFamily="34" charset="-120"/>
              </a:rPr>
              <a:t>🦿  Prosthetics &amp; exoskeletons</a:t>
            </a:r>
            <a:endParaRPr lang="en-US" sz="1250" dirty="0"/>
          </a:p>
        </p:txBody>
      </p:sp>
      <p:sp>
        <p:nvSpPr>
          <p:cNvPr id="12" name="Text 10"/>
          <p:cNvSpPr/>
          <p:nvPr/>
        </p:nvSpPr>
        <p:spPr>
          <a:xfrm>
            <a:off x="6297016" y="1837944"/>
            <a:ext cx="2416988" cy="2606040"/>
          </a:xfrm>
          <a:prstGeom prst="rect">
            <a:avLst/>
          </a:prstGeom>
          <a:noFill/>
          <a:ln/>
        </p:spPr>
        <p:txBody>
          <a:bodyPr wrap="square" lIns="0" tIns="0" rIns="0" bIns="0" rtlCol="0" anchor="t"/>
          <a:lstStyle/>
          <a:p>
            <a:pPr algn="l" indent="0" marL="0">
              <a:buNone/>
            </a:pPr>
            <a:r>
              <a:rPr lang="en-US" sz="1000" dirty="0">
                <a:solidFill>
                  <a:srgbClr val="51606F"/>
                </a:solidFill>
                <a:latin typeface="Calibri" pitchFamily="34" charset="0"/>
                <a:ea typeface="Calibri" pitchFamily="34" charset="-122"/>
                <a:cs typeface="Calibri" pitchFamily="34" charset="-120"/>
              </a:rPr>
              <a:t>Intelligently respond to remaining muscle signals; can restore or exceed natural mobility.</a:t>
            </a:r>
            <a:endParaRPr lang="en-US" sz="1000" dirty="0"/>
          </a:p>
        </p:txBody>
      </p:sp>
      <p:sp>
        <p:nvSpPr>
          <p:cNvPr id="13" name="Shape 11"/>
          <p:cNvSpPr/>
          <p:nvPr/>
        </p:nvSpPr>
        <p:spPr>
          <a:xfrm>
            <a:off x="9006611" y="1417320"/>
            <a:ext cx="2636444" cy="3108960"/>
          </a:xfrm>
          <a:prstGeom prst="roundRect">
            <a:avLst>
              <a:gd name="adj" fmla="val 2081"/>
            </a:avLst>
          </a:prstGeom>
          <a:solidFill>
            <a:srgbClr val="FFF0EE"/>
          </a:solidFill>
          <a:ln w="15875">
            <a:solidFill>
              <a:srgbClr val="B5311A"/>
            </a:solidFill>
            <a:prstDash val="solid"/>
          </a:ln>
        </p:spPr>
      </p:sp>
      <p:sp>
        <p:nvSpPr>
          <p:cNvPr id="14" name="Text 12"/>
          <p:cNvSpPr/>
          <p:nvPr/>
        </p:nvSpPr>
        <p:spPr>
          <a:xfrm>
            <a:off x="9116339" y="1508760"/>
            <a:ext cx="2416988" cy="310896"/>
          </a:xfrm>
          <a:prstGeom prst="rect">
            <a:avLst/>
          </a:prstGeom>
          <a:noFill/>
          <a:ln/>
        </p:spPr>
        <p:txBody>
          <a:bodyPr wrap="square" lIns="0" tIns="0" rIns="0" bIns="0" rtlCol="0" anchor="t"/>
          <a:lstStyle/>
          <a:p>
            <a:pPr algn="l" indent="0" marL="0">
              <a:buNone/>
            </a:pPr>
            <a:r>
              <a:rPr lang="en-US" sz="1250" b="1" dirty="0">
                <a:solidFill>
                  <a:srgbClr val="1A3A5C"/>
                </a:solidFill>
                <a:latin typeface="Calibri" pitchFamily="34" charset="0"/>
                <a:ea typeface="Calibri" pitchFamily="34" charset="-122"/>
                <a:cs typeface="Calibri" pitchFamily="34" charset="-120"/>
              </a:rPr>
              <a:t>🧹  Personal robots</a:t>
            </a:r>
            <a:endParaRPr lang="en-US" sz="1250" dirty="0"/>
          </a:p>
        </p:txBody>
      </p:sp>
      <p:sp>
        <p:nvSpPr>
          <p:cNvPr id="15" name="Text 13"/>
          <p:cNvSpPr/>
          <p:nvPr/>
        </p:nvSpPr>
        <p:spPr>
          <a:xfrm>
            <a:off x="9116339" y="1837944"/>
            <a:ext cx="2416988" cy="2606040"/>
          </a:xfrm>
          <a:prstGeom prst="rect">
            <a:avLst/>
          </a:prstGeom>
          <a:noFill/>
          <a:ln/>
        </p:spPr>
        <p:txBody>
          <a:bodyPr wrap="square" lIns="0" tIns="0" rIns="0" bIns="0" rtlCol="0" anchor="t"/>
          <a:lstStyle/>
          <a:p>
            <a:pPr algn="l" indent="0" marL="0">
              <a:buNone/>
            </a:pPr>
            <a:r>
              <a:rPr lang="en-US" sz="1000" dirty="0">
                <a:solidFill>
                  <a:srgbClr val="51606F"/>
                </a:solidFill>
                <a:latin typeface="Calibri" pitchFamily="34" charset="0"/>
                <a:ea typeface="Calibri" pitchFamily="34" charset="-122"/>
                <a:cs typeface="Calibri" pitchFamily="34" charset="-120"/>
              </a:rPr>
              <a:t>Navigation has made real headway (Roomba); manipulation in messy homes is still an open problem.</a:t>
            </a:r>
            <a:endParaRPr lang="en-US" sz="1000" dirty="0"/>
          </a:p>
        </p:txBody>
      </p:sp>
      <p:sp>
        <p:nvSpPr>
          <p:cNvPr id="16" name="Text 14"/>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7" name="Text 15"/>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26.10 Application Domains</a:t>
            </a:r>
            <a:endParaRPr lang="en-US" sz="900" dirty="0"/>
          </a:p>
        </p:txBody>
      </p:sp>
      <p:sp>
        <p:nvSpPr>
          <p:cNvPr id="18" name="Text 16"/>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90</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26.10 APPLICATION DOMAINS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Health Care &amp; Services</a:t>
            </a:r>
            <a:endParaRPr lang="en-US" sz="2700" dirty="0"/>
          </a:p>
        </p:txBody>
      </p:sp>
      <p:graphicFrame>
        <p:nvGraphicFramePr>
          <p:cNvPr id="9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920240"/>
                <a:gridCol w="2834640"/>
                <a:gridCol w="6339535"/>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Domain</a:t>
                      </a:r>
                      <a:endParaRPr lang="en-US" sz="13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Robot(s)</a:t>
                      </a:r>
                      <a:endParaRPr lang="en-US" sz="13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it does</a:t>
                      </a:r>
                      <a:endParaRPr lang="en-US" sz="13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Health care</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Da Vinci surgical robot</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Enables more precise, minimally invasive surgery with better patient outcomes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Hospitality</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Savioke robots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Deliver towels and toothpaste to hotel rooms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Hospital logistics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TUG, HelpMate</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Carry food and medicine through hospital corridors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Nursing support</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Diligent Robotics' Moxi</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Handles back-end logistics so nurses can focus on patients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Campus guidance</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CoBot (Carnegie Mellon)</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Roams halls, guides visitors to offices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Remote presence</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Beam telepresence robots</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50" dirty="0">
                          <a:solidFill>
                            <a:srgbClr val="1F2A37"/>
                          </a:solidFill>
                          <a:latin typeface="Calibri" pitchFamily="34" charset="0"/>
                          <a:ea typeface="Calibri" pitchFamily="34" charset="-122"/>
                          <a:cs typeface="Calibri" pitchFamily="34" charset="-120"/>
                        </a:rPr>
                        <a:t>Attend meetings remotely, or check in on family</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r>
            </a:tbl>
          </a:graphicData>
        </a:graphic>
      </p:graphicFrame>
      <p:sp>
        <p:nvSpPr>
          <p:cNvPr id="5" name="Shape 2"/>
          <p:cNvSpPr/>
          <p:nvPr/>
        </p:nvSpPr>
        <p:spPr>
          <a:xfrm>
            <a:off x="548640" y="5166360"/>
            <a:ext cx="11094415" cy="960120"/>
          </a:xfrm>
          <a:prstGeom prst="roundRect">
            <a:avLst>
              <a:gd name="adj" fmla="val 7619"/>
            </a:avLst>
          </a:prstGeom>
          <a:solidFill>
            <a:srgbClr val="EEF8EE"/>
          </a:solidFill>
          <a:ln w="12700">
            <a:solidFill>
              <a:srgbClr val="1B6B3A"/>
            </a:solidFill>
            <a:prstDash val="solid"/>
          </a:ln>
        </p:spPr>
      </p:sp>
      <p:sp>
        <p:nvSpPr>
          <p:cNvPr id="6" name="Text 3"/>
          <p:cNvSpPr/>
          <p:nvPr/>
        </p:nvSpPr>
        <p:spPr>
          <a:xfrm>
            <a:off x="749808" y="5276088"/>
            <a:ext cx="10692079" cy="274320"/>
          </a:xfrm>
          <a:prstGeom prst="rect">
            <a:avLst/>
          </a:prstGeom>
          <a:noFill/>
          <a:ln/>
        </p:spPr>
        <p:txBody>
          <a:bodyPr wrap="square" lIns="0" tIns="0" rIns="0" bIns="0" rtlCol="0" anchor="ctr"/>
          <a:lstStyle/>
          <a:p>
            <a:pPr indent="0" marL="0">
              <a:buNone/>
            </a:pPr>
            <a:r>
              <a:rPr lang="en-US" sz="1250" b="1" spc="50" kern="0" dirty="0">
                <a:solidFill>
                  <a:srgbClr val="1B6B3A"/>
                </a:solidFill>
                <a:latin typeface="Calibri" pitchFamily="34" charset="0"/>
                <a:ea typeface="Calibri" pitchFamily="34" charset="-122"/>
                <a:cs typeface="Calibri" pitchFamily="34" charset="-120"/>
              </a:rPr>
              <a:t>SOUND FAMILIAR?</a:t>
            </a:r>
            <a:endParaRPr lang="en-US" sz="1250" dirty="0"/>
          </a:p>
        </p:txBody>
      </p:sp>
      <p:sp>
        <p:nvSpPr>
          <p:cNvPr id="7" name="Text 4"/>
          <p:cNvSpPr/>
          <p:nvPr/>
        </p:nvSpPr>
        <p:spPr>
          <a:xfrm>
            <a:off x="749808" y="5586984"/>
            <a:ext cx="10692079" cy="44805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TUG, Moxi, and HelpMate are the exact real-world category Wren belongs to — hospital service robots handling logistics so clinical staff can focus on patients.</a:t>
            </a:r>
            <a:endParaRPr lang="en-US" sz="1300" dirty="0"/>
          </a:p>
        </p:txBody>
      </p:sp>
      <p:sp>
        <p:nvSpPr>
          <p:cNvPr id="8" name="Text 5"/>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9" name="Text 6"/>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26.10 Application Domains</a:t>
            </a:r>
            <a:endParaRPr lang="en-US" sz="900" dirty="0"/>
          </a:p>
        </p:txBody>
      </p:sp>
      <p:sp>
        <p:nvSpPr>
          <p:cNvPr id="10" name="Text 7"/>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91</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26.10 APPLICATION DOMAINS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Autonomous Cars: A Four-Decade Case Study</a:t>
            </a:r>
            <a:endParaRPr lang="en-US" sz="2700" dirty="0"/>
          </a:p>
        </p:txBody>
      </p:sp>
      <p:sp>
        <p:nvSpPr>
          <p:cNvPr id="4" name="Shape 2"/>
          <p:cNvSpPr/>
          <p:nvPr/>
        </p:nvSpPr>
        <p:spPr>
          <a:xfrm>
            <a:off x="822960" y="2788920"/>
            <a:ext cx="10545775" cy="0"/>
          </a:xfrm>
          <a:prstGeom prst="line">
            <a:avLst/>
          </a:prstGeom>
          <a:noFill/>
          <a:ln w="31750">
            <a:solidFill>
              <a:srgbClr val="D7DEE8"/>
            </a:solidFill>
            <a:prstDash val="solid"/>
          </a:ln>
        </p:spPr>
      </p:sp>
      <p:sp>
        <p:nvSpPr>
          <p:cNvPr id="5" name="Shape 3"/>
          <p:cNvSpPr/>
          <p:nvPr/>
        </p:nvSpPr>
        <p:spPr>
          <a:xfrm>
            <a:off x="749808" y="2715768"/>
            <a:ext cx="146304" cy="146304"/>
          </a:xfrm>
          <a:prstGeom prst="ellipse">
            <a:avLst/>
          </a:prstGeom>
          <a:solidFill>
            <a:srgbClr val="1A3A5C"/>
          </a:solidFill>
          <a:ln/>
        </p:spPr>
      </p:sp>
      <p:sp>
        <p:nvSpPr>
          <p:cNvPr id="6" name="Text 4"/>
          <p:cNvSpPr/>
          <p:nvPr/>
        </p:nvSpPr>
        <p:spPr>
          <a:xfrm>
            <a:off x="137160" y="2103120"/>
            <a:ext cx="1371600" cy="274320"/>
          </a:xfrm>
          <a:prstGeom prst="rect">
            <a:avLst/>
          </a:prstGeom>
          <a:noFill/>
          <a:ln/>
        </p:spPr>
        <p:txBody>
          <a:bodyPr wrap="square" lIns="0" tIns="0" rIns="0" bIns="0" rtlCol="0" anchor="t"/>
          <a:lstStyle/>
          <a:p>
            <a:pPr algn="ctr" indent="0" marL="0">
              <a:buNone/>
            </a:pPr>
            <a:r>
              <a:rPr lang="en-US" sz="1200" b="1" dirty="0">
                <a:solidFill>
                  <a:srgbClr val="1A3A5C"/>
                </a:solidFill>
                <a:latin typeface="Calibri" pitchFamily="34" charset="0"/>
                <a:ea typeface="Calibri" pitchFamily="34" charset="-122"/>
                <a:cs typeface="Calibri" pitchFamily="34" charset="-120"/>
              </a:rPr>
              <a:t>1980s</a:t>
            </a:r>
            <a:endParaRPr lang="en-US" sz="1200" dirty="0"/>
          </a:p>
        </p:txBody>
      </p:sp>
      <p:sp>
        <p:nvSpPr>
          <p:cNvPr id="7" name="Text 5"/>
          <p:cNvSpPr/>
          <p:nvPr/>
        </p:nvSpPr>
        <p:spPr>
          <a:xfrm>
            <a:off x="0" y="2404872"/>
            <a:ext cx="1645920" cy="640080"/>
          </a:xfrm>
          <a:prstGeom prst="rect">
            <a:avLst/>
          </a:prstGeom>
          <a:noFill/>
          <a:ln/>
        </p:spPr>
        <p:txBody>
          <a:bodyPr wrap="square" lIns="0" tIns="0" rIns="0" bIns="0" rtlCol="0" anchor="t"/>
          <a:lstStyle/>
          <a:p>
            <a:pPr algn="ctr" indent="0" marL="0">
              <a:buNone/>
            </a:pPr>
            <a:r>
              <a:rPr lang="en-US" sz="950" dirty="0">
                <a:solidFill>
                  <a:srgbClr val="51606F"/>
                </a:solidFill>
                <a:latin typeface="Calibri" pitchFamily="34" charset="0"/>
                <a:ea typeface="Calibri" pitchFamily="34" charset="-122"/>
                <a:cs typeface="Calibri" pitchFamily="34" charset="-120"/>
              </a:rPr>
              <a:t>First prototypes</a:t>
            </a:r>
            <a:endParaRPr lang="en-US" sz="950" dirty="0"/>
          </a:p>
          <a:p>
            <a:pPr algn="ctr" indent="0" marL="0">
              <a:buNone/>
            </a:pPr>
            <a:r>
              <a:rPr lang="en-US" sz="950" dirty="0">
                <a:solidFill>
                  <a:srgbClr val="51606F"/>
                </a:solidFill>
                <a:latin typeface="Calibri" pitchFamily="34" charset="0"/>
                <a:ea typeface="Calibri" pitchFamily="34" charset="-122"/>
                <a:cs typeface="Calibri" pitchFamily="34" charset="-120"/>
              </a:rPr>
              <a:t>(Dickmanns, Pomerleau)</a:t>
            </a:r>
            <a:endParaRPr lang="en-US" sz="950" dirty="0"/>
          </a:p>
        </p:txBody>
      </p:sp>
      <p:sp>
        <p:nvSpPr>
          <p:cNvPr id="8" name="Shape 6"/>
          <p:cNvSpPr/>
          <p:nvPr/>
        </p:nvSpPr>
        <p:spPr>
          <a:xfrm>
            <a:off x="822960" y="2743200"/>
            <a:ext cx="0" cy="45720"/>
          </a:xfrm>
          <a:prstGeom prst="line">
            <a:avLst/>
          </a:prstGeom>
          <a:noFill/>
          <a:ln w="12700">
            <a:solidFill>
              <a:srgbClr val="D7DEE8"/>
            </a:solidFill>
            <a:prstDash val="solid"/>
          </a:ln>
        </p:spPr>
      </p:sp>
      <p:sp>
        <p:nvSpPr>
          <p:cNvPr id="9" name="Shape 7"/>
          <p:cNvSpPr/>
          <p:nvPr/>
        </p:nvSpPr>
        <p:spPr>
          <a:xfrm>
            <a:off x="2858963" y="2715768"/>
            <a:ext cx="146304" cy="146304"/>
          </a:xfrm>
          <a:prstGeom prst="ellipse">
            <a:avLst/>
          </a:prstGeom>
          <a:solidFill>
            <a:srgbClr val="E8960C"/>
          </a:solidFill>
          <a:ln/>
        </p:spPr>
      </p:sp>
      <p:sp>
        <p:nvSpPr>
          <p:cNvPr id="10" name="Text 8"/>
          <p:cNvSpPr/>
          <p:nvPr/>
        </p:nvSpPr>
        <p:spPr>
          <a:xfrm>
            <a:off x="2246315" y="2953512"/>
            <a:ext cx="1371600" cy="274320"/>
          </a:xfrm>
          <a:prstGeom prst="rect">
            <a:avLst/>
          </a:prstGeom>
          <a:noFill/>
          <a:ln/>
        </p:spPr>
        <p:txBody>
          <a:bodyPr wrap="square" lIns="0" tIns="0" rIns="0" bIns="0" rtlCol="0" anchor="t"/>
          <a:lstStyle/>
          <a:p>
            <a:pPr algn="ctr" indent="0" marL="0">
              <a:buNone/>
            </a:pPr>
            <a:r>
              <a:rPr lang="en-US" sz="1200" b="1" dirty="0">
                <a:solidFill>
                  <a:srgbClr val="1A3A5C"/>
                </a:solidFill>
                <a:latin typeface="Calibri" pitchFamily="34" charset="0"/>
                <a:ea typeface="Calibri" pitchFamily="34" charset="-122"/>
                <a:cs typeface="Calibri" pitchFamily="34" charset="-120"/>
              </a:rPr>
              <a:t>2004</a:t>
            </a:r>
            <a:endParaRPr lang="en-US" sz="1200" dirty="0"/>
          </a:p>
        </p:txBody>
      </p:sp>
      <p:sp>
        <p:nvSpPr>
          <p:cNvPr id="11" name="Text 9"/>
          <p:cNvSpPr/>
          <p:nvPr/>
        </p:nvSpPr>
        <p:spPr>
          <a:xfrm>
            <a:off x="2109155" y="3246120"/>
            <a:ext cx="1645920" cy="640080"/>
          </a:xfrm>
          <a:prstGeom prst="rect">
            <a:avLst/>
          </a:prstGeom>
          <a:noFill/>
          <a:ln/>
        </p:spPr>
        <p:txBody>
          <a:bodyPr wrap="square" lIns="0" tIns="0" rIns="0" bIns="0" rtlCol="0" anchor="t"/>
          <a:lstStyle/>
          <a:p>
            <a:pPr algn="ctr" indent="0" marL="0">
              <a:buNone/>
            </a:pPr>
            <a:r>
              <a:rPr lang="en-US" sz="950" dirty="0">
                <a:solidFill>
                  <a:srgbClr val="51606F"/>
                </a:solidFill>
                <a:latin typeface="Calibri" pitchFamily="34" charset="0"/>
                <a:ea typeface="Calibri" pitchFamily="34" charset="-122"/>
                <a:cs typeface="Calibri" pitchFamily="34" charset="-120"/>
              </a:rPr>
              <a:t>DARPA Grand Challenge</a:t>
            </a:r>
            <a:endParaRPr lang="en-US" sz="950" dirty="0"/>
          </a:p>
          <a:p>
            <a:pPr algn="ctr" indent="0" marL="0">
              <a:buNone/>
            </a:pPr>
            <a:r>
              <a:rPr lang="en-US" sz="950" dirty="0">
                <a:solidFill>
                  <a:srgbClr val="51606F"/>
                </a:solidFill>
                <a:latin typeface="Calibri" pitchFamily="34" charset="0"/>
                <a:ea typeface="Calibri" pitchFamily="34" charset="-122"/>
                <a:cs typeface="Calibri" pitchFamily="34" charset="-120"/>
              </a:rPr>
              <a:t>— zero finishers</a:t>
            </a:r>
            <a:endParaRPr lang="en-US" sz="950" dirty="0"/>
          </a:p>
        </p:txBody>
      </p:sp>
      <p:sp>
        <p:nvSpPr>
          <p:cNvPr id="12" name="Shape 10"/>
          <p:cNvSpPr/>
          <p:nvPr/>
        </p:nvSpPr>
        <p:spPr>
          <a:xfrm>
            <a:off x="2932115" y="2788920"/>
            <a:ext cx="0" cy="45720"/>
          </a:xfrm>
          <a:prstGeom prst="line">
            <a:avLst/>
          </a:prstGeom>
          <a:noFill/>
          <a:ln w="12700">
            <a:solidFill>
              <a:srgbClr val="D7DEE8"/>
            </a:solidFill>
            <a:prstDash val="solid"/>
          </a:ln>
        </p:spPr>
      </p:sp>
      <p:sp>
        <p:nvSpPr>
          <p:cNvPr id="13" name="Shape 11"/>
          <p:cNvSpPr/>
          <p:nvPr/>
        </p:nvSpPr>
        <p:spPr>
          <a:xfrm>
            <a:off x="4968118" y="2715768"/>
            <a:ext cx="146304" cy="146304"/>
          </a:xfrm>
          <a:prstGeom prst="ellipse">
            <a:avLst/>
          </a:prstGeom>
          <a:solidFill>
            <a:srgbClr val="1A3A5C"/>
          </a:solidFill>
          <a:ln/>
        </p:spPr>
      </p:sp>
      <p:sp>
        <p:nvSpPr>
          <p:cNvPr id="14" name="Text 12"/>
          <p:cNvSpPr/>
          <p:nvPr/>
        </p:nvSpPr>
        <p:spPr>
          <a:xfrm>
            <a:off x="4355470" y="2103120"/>
            <a:ext cx="1371600" cy="274320"/>
          </a:xfrm>
          <a:prstGeom prst="rect">
            <a:avLst/>
          </a:prstGeom>
          <a:noFill/>
          <a:ln/>
        </p:spPr>
        <p:txBody>
          <a:bodyPr wrap="square" lIns="0" tIns="0" rIns="0" bIns="0" rtlCol="0" anchor="t"/>
          <a:lstStyle/>
          <a:p>
            <a:pPr algn="ctr" indent="0" marL="0">
              <a:buNone/>
            </a:pPr>
            <a:r>
              <a:rPr lang="en-US" sz="1200" b="1" dirty="0">
                <a:solidFill>
                  <a:srgbClr val="1A3A5C"/>
                </a:solidFill>
                <a:latin typeface="Calibri" pitchFamily="34" charset="0"/>
                <a:ea typeface="Calibri" pitchFamily="34" charset="-122"/>
                <a:cs typeface="Calibri" pitchFamily="34" charset="-120"/>
              </a:rPr>
              <a:t>2005</a:t>
            </a:r>
            <a:endParaRPr lang="en-US" sz="1200" dirty="0"/>
          </a:p>
        </p:txBody>
      </p:sp>
      <p:sp>
        <p:nvSpPr>
          <p:cNvPr id="15" name="Text 13"/>
          <p:cNvSpPr/>
          <p:nvPr/>
        </p:nvSpPr>
        <p:spPr>
          <a:xfrm>
            <a:off x="4218310" y="2404872"/>
            <a:ext cx="1645920" cy="640080"/>
          </a:xfrm>
          <a:prstGeom prst="rect">
            <a:avLst/>
          </a:prstGeom>
          <a:noFill/>
          <a:ln/>
        </p:spPr>
        <p:txBody>
          <a:bodyPr wrap="square" lIns="0" tIns="0" rIns="0" bIns="0" rtlCol="0" anchor="t"/>
          <a:lstStyle/>
          <a:p>
            <a:pPr algn="ctr" indent="0" marL="0">
              <a:buNone/>
            </a:pPr>
            <a:r>
              <a:rPr lang="en-US" sz="950" dirty="0">
                <a:solidFill>
                  <a:srgbClr val="51606F"/>
                </a:solidFill>
                <a:latin typeface="Calibri" pitchFamily="34" charset="0"/>
                <a:ea typeface="Calibri" pitchFamily="34" charset="-122"/>
                <a:cs typeface="Calibri" pitchFamily="34" charset="-120"/>
              </a:rPr>
              <a:t>Stanley wins,</a:t>
            </a:r>
            <a:endParaRPr lang="en-US" sz="950" dirty="0"/>
          </a:p>
          <a:p>
            <a:pPr algn="ctr" indent="0" marL="0">
              <a:buNone/>
            </a:pPr>
            <a:r>
              <a:rPr lang="en-US" sz="950" dirty="0">
                <a:solidFill>
                  <a:srgbClr val="51606F"/>
                </a:solidFill>
                <a:latin typeface="Calibri" pitchFamily="34" charset="0"/>
                <a:ea typeface="Calibri" pitchFamily="34" charset="-122"/>
                <a:cs typeface="Calibri" pitchFamily="34" charset="-120"/>
              </a:rPr>
              <a:t>&lt;7 hrs, $2M prize</a:t>
            </a:r>
            <a:endParaRPr lang="en-US" sz="950" dirty="0"/>
          </a:p>
        </p:txBody>
      </p:sp>
      <p:sp>
        <p:nvSpPr>
          <p:cNvPr id="16" name="Shape 14"/>
          <p:cNvSpPr/>
          <p:nvPr/>
        </p:nvSpPr>
        <p:spPr>
          <a:xfrm>
            <a:off x="5041270" y="2743200"/>
            <a:ext cx="0" cy="45720"/>
          </a:xfrm>
          <a:prstGeom prst="line">
            <a:avLst/>
          </a:prstGeom>
          <a:noFill/>
          <a:ln w="12700">
            <a:solidFill>
              <a:srgbClr val="D7DEE8"/>
            </a:solidFill>
            <a:prstDash val="solid"/>
          </a:ln>
        </p:spPr>
      </p:sp>
      <p:sp>
        <p:nvSpPr>
          <p:cNvPr id="17" name="Shape 15"/>
          <p:cNvSpPr/>
          <p:nvPr/>
        </p:nvSpPr>
        <p:spPr>
          <a:xfrm>
            <a:off x="7077273" y="2715768"/>
            <a:ext cx="146304" cy="146304"/>
          </a:xfrm>
          <a:prstGeom prst="ellipse">
            <a:avLst/>
          </a:prstGeom>
          <a:solidFill>
            <a:srgbClr val="E8960C"/>
          </a:solidFill>
          <a:ln/>
        </p:spPr>
      </p:sp>
      <p:sp>
        <p:nvSpPr>
          <p:cNvPr id="18" name="Text 16"/>
          <p:cNvSpPr/>
          <p:nvPr/>
        </p:nvSpPr>
        <p:spPr>
          <a:xfrm>
            <a:off x="6464625" y="2953512"/>
            <a:ext cx="1371600" cy="274320"/>
          </a:xfrm>
          <a:prstGeom prst="rect">
            <a:avLst/>
          </a:prstGeom>
          <a:noFill/>
          <a:ln/>
        </p:spPr>
        <p:txBody>
          <a:bodyPr wrap="square" lIns="0" tIns="0" rIns="0" bIns="0" rtlCol="0" anchor="t"/>
          <a:lstStyle/>
          <a:p>
            <a:pPr algn="ctr" indent="0" marL="0">
              <a:buNone/>
            </a:pPr>
            <a:r>
              <a:rPr lang="en-US" sz="1200" b="1" dirty="0">
                <a:solidFill>
                  <a:srgbClr val="1A3A5C"/>
                </a:solidFill>
                <a:latin typeface="Calibri" pitchFamily="34" charset="0"/>
                <a:ea typeface="Calibri" pitchFamily="34" charset="-122"/>
                <a:cs typeface="Calibri" pitchFamily="34" charset="-120"/>
              </a:rPr>
              <a:t>2007</a:t>
            </a:r>
            <a:endParaRPr lang="en-US" sz="1200" dirty="0"/>
          </a:p>
        </p:txBody>
      </p:sp>
      <p:sp>
        <p:nvSpPr>
          <p:cNvPr id="19" name="Text 17"/>
          <p:cNvSpPr/>
          <p:nvPr/>
        </p:nvSpPr>
        <p:spPr>
          <a:xfrm>
            <a:off x="6327465" y="3246120"/>
            <a:ext cx="1645920" cy="640080"/>
          </a:xfrm>
          <a:prstGeom prst="rect">
            <a:avLst/>
          </a:prstGeom>
          <a:noFill/>
          <a:ln/>
        </p:spPr>
        <p:txBody>
          <a:bodyPr wrap="square" lIns="0" tIns="0" rIns="0" bIns="0" rtlCol="0" anchor="t"/>
          <a:lstStyle/>
          <a:p>
            <a:pPr algn="ctr" indent="0" marL="0">
              <a:buNone/>
            </a:pPr>
            <a:r>
              <a:rPr lang="en-US" sz="950" dirty="0">
                <a:solidFill>
                  <a:srgbClr val="51606F"/>
                </a:solidFill>
                <a:latin typeface="Calibri" pitchFamily="34" charset="0"/>
                <a:ea typeface="Calibri" pitchFamily="34" charset="-122"/>
                <a:cs typeface="Calibri" pitchFamily="34" charset="-120"/>
              </a:rPr>
              <a:t>Urban Challenge —</a:t>
            </a:r>
            <a:endParaRPr lang="en-US" sz="950" dirty="0"/>
          </a:p>
          <a:p>
            <a:pPr algn="ctr" indent="0" marL="0">
              <a:buNone/>
            </a:pPr>
            <a:r>
              <a:rPr lang="en-US" sz="950" dirty="0">
                <a:solidFill>
                  <a:srgbClr val="51606F"/>
                </a:solidFill>
                <a:latin typeface="Calibri" pitchFamily="34" charset="0"/>
                <a:ea typeface="Calibri" pitchFamily="34" charset="-122"/>
                <a:cs typeface="Calibri" pitchFamily="34" charset="-120"/>
              </a:rPr>
              <a:t>BOSS wins city driving</a:t>
            </a:r>
            <a:endParaRPr lang="en-US" sz="950" dirty="0"/>
          </a:p>
        </p:txBody>
      </p:sp>
      <p:sp>
        <p:nvSpPr>
          <p:cNvPr id="20" name="Shape 18"/>
          <p:cNvSpPr/>
          <p:nvPr/>
        </p:nvSpPr>
        <p:spPr>
          <a:xfrm>
            <a:off x="7150425" y="2788920"/>
            <a:ext cx="0" cy="45720"/>
          </a:xfrm>
          <a:prstGeom prst="line">
            <a:avLst/>
          </a:prstGeom>
          <a:noFill/>
          <a:ln w="12700">
            <a:solidFill>
              <a:srgbClr val="D7DEE8"/>
            </a:solidFill>
            <a:prstDash val="solid"/>
          </a:ln>
        </p:spPr>
      </p:sp>
      <p:sp>
        <p:nvSpPr>
          <p:cNvPr id="21" name="Shape 19"/>
          <p:cNvSpPr/>
          <p:nvPr/>
        </p:nvSpPr>
        <p:spPr>
          <a:xfrm>
            <a:off x="9186428" y="2715768"/>
            <a:ext cx="146304" cy="146304"/>
          </a:xfrm>
          <a:prstGeom prst="ellipse">
            <a:avLst/>
          </a:prstGeom>
          <a:solidFill>
            <a:srgbClr val="1A3A5C"/>
          </a:solidFill>
          <a:ln/>
        </p:spPr>
      </p:sp>
      <p:sp>
        <p:nvSpPr>
          <p:cNvPr id="22" name="Text 20"/>
          <p:cNvSpPr/>
          <p:nvPr/>
        </p:nvSpPr>
        <p:spPr>
          <a:xfrm>
            <a:off x="8573780" y="2103120"/>
            <a:ext cx="1371600" cy="274320"/>
          </a:xfrm>
          <a:prstGeom prst="rect">
            <a:avLst/>
          </a:prstGeom>
          <a:noFill/>
          <a:ln/>
        </p:spPr>
        <p:txBody>
          <a:bodyPr wrap="square" lIns="0" tIns="0" rIns="0" bIns="0" rtlCol="0" anchor="t"/>
          <a:lstStyle/>
          <a:p>
            <a:pPr algn="ctr" indent="0" marL="0">
              <a:buNone/>
            </a:pPr>
            <a:r>
              <a:rPr lang="en-US" sz="1200" b="1" dirty="0">
                <a:solidFill>
                  <a:srgbClr val="1A3A5C"/>
                </a:solidFill>
                <a:latin typeface="Calibri" pitchFamily="34" charset="0"/>
                <a:ea typeface="Calibri" pitchFamily="34" charset="-122"/>
                <a:cs typeface="Calibri" pitchFamily="34" charset="-120"/>
              </a:rPr>
              <a:t>2009</a:t>
            </a:r>
            <a:endParaRPr lang="en-US" sz="1200" dirty="0"/>
          </a:p>
        </p:txBody>
      </p:sp>
      <p:sp>
        <p:nvSpPr>
          <p:cNvPr id="23" name="Text 21"/>
          <p:cNvSpPr/>
          <p:nvPr/>
        </p:nvSpPr>
        <p:spPr>
          <a:xfrm>
            <a:off x="8436620" y="2404872"/>
            <a:ext cx="1645920" cy="640080"/>
          </a:xfrm>
          <a:prstGeom prst="rect">
            <a:avLst/>
          </a:prstGeom>
          <a:noFill/>
          <a:ln/>
        </p:spPr>
        <p:txBody>
          <a:bodyPr wrap="square" lIns="0" tIns="0" rIns="0" bIns="0" rtlCol="0" anchor="t"/>
          <a:lstStyle/>
          <a:p>
            <a:pPr algn="ctr" indent="0" marL="0">
              <a:buNone/>
            </a:pPr>
            <a:r>
              <a:rPr lang="en-US" sz="950" dirty="0">
                <a:solidFill>
                  <a:srgbClr val="51606F"/>
                </a:solidFill>
                <a:latin typeface="Calibri" pitchFamily="34" charset="0"/>
                <a:ea typeface="Calibri" pitchFamily="34" charset="-122"/>
                <a:cs typeface="Calibri" pitchFamily="34" charset="-120"/>
              </a:rPr>
              <a:t>Google starts driving</a:t>
            </a:r>
            <a:endParaRPr lang="en-US" sz="950" dirty="0"/>
          </a:p>
          <a:p>
            <a:pPr algn="ctr" indent="0" marL="0">
              <a:buNone/>
            </a:pPr>
            <a:r>
              <a:rPr lang="en-US" sz="950" dirty="0">
                <a:solidFill>
                  <a:srgbClr val="51606F"/>
                </a:solidFill>
                <a:latin typeface="Calibri" pitchFamily="34" charset="0"/>
                <a:ea typeface="Calibri" pitchFamily="34" charset="-122"/>
                <a:cs typeface="Calibri" pitchFamily="34" charset="-120"/>
              </a:rPr>
              <a:t>project → later Waymo</a:t>
            </a:r>
            <a:endParaRPr lang="en-US" sz="950" dirty="0"/>
          </a:p>
        </p:txBody>
      </p:sp>
      <p:sp>
        <p:nvSpPr>
          <p:cNvPr id="24" name="Shape 22"/>
          <p:cNvSpPr/>
          <p:nvPr/>
        </p:nvSpPr>
        <p:spPr>
          <a:xfrm>
            <a:off x="9259580" y="2743200"/>
            <a:ext cx="0" cy="45720"/>
          </a:xfrm>
          <a:prstGeom prst="line">
            <a:avLst/>
          </a:prstGeom>
          <a:noFill/>
          <a:ln w="12700">
            <a:solidFill>
              <a:srgbClr val="D7DEE8"/>
            </a:solidFill>
            <a:prstDash val="solid"/>
          </a:ln>
        </p:spPr>
      </p:sp>
      <p:sp>
        <p:nvSpPr>
          <p:cNvPr id="25" name="Shape 23"/>
          <p:cNvSpPr/>
          <p:nvPr/>
        </p:nvSpPr>
        <p:spPr>
          <a:xfrm>
            <a:off x="11295583" y="2715768"/>
            <a:ext cx="146304" cy="146304"/>
          </a:xfrm>
          <a:prstGeom prst="ellipse">
            <a:avLst/>
          </a:prstGeom>
          <a:solidFill>
            <a:srgbClr val="E8960C"/>
          </a:solidFill>
          <a:ln/>
        </p:spPr>
      </p:sp>
      <p:sp>
        <p:nvSpPr>
          <p:cNvPr id="26" name="Text 24"/>
          <p:cNvSpPr/>
          <p:nvPr/>
        </p:nvSpPr>
        <p:spPr>
          <a:xfrm>
            <a:off x="10682935" y="2953512"/>
            <a:ext cx="1371600" cy="274320"/>
          </a:xfrm>
          <a:prstGeom prst="rect">
            <a:avLst/>
          </a:prstGeom>
          <a:noFill/>
          <a:ln/>
        </p:spPr>
        <p:txBody>
          <a:bodyPr wrap="square" lIns="0" tIns="0" rIns="0" bIns="0" rtlCol="0" anchor="t"/>
          <a:lstStyle/>
          <a:p>
            <a:pPr algn="ctr" indent="0" marL="0">
              <a:buNone/>
            </a:pPr>
            <a:r>
              <a:rPr lang="en-US" sz="1200" b="1" dirty="0">
                <a:solidFill>
                  <a:srgbClr val="1A3A5C"/>
                </a:solidFill>
                <a:latin typeface="Calibri" pitchFamily="34" charset="0"/>
                <a:ea typeface="Calibri" pitchFamily="34" charset="-122"/>
                <a:cs typeface="Calibri" pitchFamily="34" charset="-120"/>
              </a:rPr>
              <a:t>2018</a:t>
            </a:r>
            <a:endParaRPr lang="en-US" sz="1200" dirty="0"/>
          </a:p>
        </p:txBody>
      </p:sp>
      <p:sp>
        <p:nvSpPr>
          <p:cNvPr id="27" name="Text 25"/>
          <p:cNvSpPr/>
          <p:nvPr/>
        </p:nvSpPr>
        <p:spPr>
          <a:xfrm>
            <a:off x="10545775" y="3246120"/>
            <a:ext cx="1645920" cy="640080"/>
          </a:xfrm>
          <a:prstGeom prst="rect">
            <a:avLst/>
          </a:prstGeom>
          <a:noFill/>
          <a:ln/>
        </p:spPr>
        <p:txBody>
          <a:bodyPr wrap="square" lIns="0" tIns="0" rIns="0" bIns="0" rtlCol="0" anchor="t"/>
          <a:lstStyle/>
          <a:p>
            <a:pPr algn="ctr" indent="0" marL="0">
              <a:buNone/>
            </a:pPr>
            <a:r>
              <a:rPr lang="en-US" sz="950" dirty="0">
                <a:solidFill>
                  <a:srgbClr val="51606F"/>
                </a:solidFill>
                <a:latin typeface="Calibri" pitchFamily="34" charset="0"/>
                <a:ea typeface="Calibri" pitchFamily="34" charset="-122"/>
                <a:cs typeface="Calibri" pitchFamily="34" charset="-120"/>
              </a:rPr>
              <a:t>Waymo driverless</a:t>
            </a:r>
            <a:endParaRPr lang="en-US" sz="950" dirty="0"/>
          </a:p>
          <a:p>
            <a:pPr algn="ctr" indent="0" marL="0">
              <a:buNone/>
            </a:pPr>
            <a:r>
              <a:rPr lang="en-US" sz="950" dirty="0">
                <a:solidFill>
                  <a:srgbClr val="51606F"/>
                </a:solidFill>
                <a:latin typeface="Calibri" pitchFamily="34" charset="0"/>
                <a:ea typeface="Calibri" pitchFamily="34" charset="-122"/>
                <a:cs typeface="Calibri" pitchFamily="34" charset="-120"/>
              </a:rPr>
              <a:t>testing in Phoenix, AZ</a:t>
            </a:r>
            <a:endParaRPr lang="en-US" sz="950" dirty="0"/>
          </a:p>
        </p:txBody>
      </p:sp>
      <p:sp>
        <p:nvSpPr>
          <p:cNvPr id="28" name="Shape 26"/>
          <p:cNvSpPr/>
          <p:nvPr/>
        </p:nvSpPr>
        <p:spPr>
          <a:xfrm>
            <a:off x="11368735" y="2788920"/>
            <a:ext cx="0" cy="45720"/>
          </a:xfrm>
          <a:prstGeom prst="line">
            <a:avLst/>
          </a:prstGeom>
          <a:noFill/>
          <a:ln w="12700">
            <a:solidFill>
              <a:srgbClr val="D7DEE8"/>
            </a:solidFill>
            <a:prstDash val="solid"/>
          </a:ln>
        </p:spPr>
      </p:sp>
      <p:sp>
        <p:nvSpPr>
          <p:cNvPr id="29" name="Shape 27"/>
          <p:cNvSpPr/>
          <p:nvPr/>
        </p:nvSpPr>
        <p:spPr>
          <a:xfrm>
            <a:off x="548640" y="4251960"/>
            <a:ext cx="11094415" cy="2011680"/>
          </a:xfrm>
          <a:prstGeom prst="roundRect">
            <a:avLst>
              <a:gd name="adj" fmla="val 3636"/>
            </a:avLst>
          </a:prstGeom>
          <a:solidFill>
            <a:srgbClr val="FFF0EE"/>
          </a:solidFill>
          <a:ln w="12700">
            <a:solidFill>
              <a:srgbClr val="B5311A"/>
            </a:solidFill>
            <a:prstDash val="solid"/>
          </a:ln>
        </p:spPr>
      </p:sp>
      <p:sp>
        <p:nvSpPr>
          <p:cNvPr id="30" name="Text 28"/>
          <p:cNvSpPr/>
          <p:nvPr/>
        </p:nvSpPr>
        <p:spPr>
          <a:xfrm>
            <a:off x="749808" y="4361688"/>
            <a:ext cx="10692079" cy="274320"/>
          </a:xfrm>
          <a:prstGeom prst="rect">
            <a:avLst/>
          </a:prstGeom>
          <a:noFill/>
          <a:ln/>
        </p:spPr>
        <p:txBody>
          <a:bodyPr wrap="square" lIns="0" tIns="0" rIns="0" bIns="0" rtlCol="0" anchor="ctr"/>
          <a:lstStyle/>
          <a:p>
            <a:pPr indent="0" marL="0">
              <a:buNone/>
            </a:pPr>
            <a:r>
              <a:rPr lang="en-US" sz="1250" b="1" spc="50" kern="0" dirty="0">
                <a:solidFill>
                  <a:srgbClr val="B5311A"/>
                </a:solidFill>
                <a:latin typeface="Calibri" pitchFamily="34" charset="0"/>
                <a:ea typeface="Calibri" pitchFamily="34" charset="-122"/>
                <a:cs typeface="Calibri" pitchFamily="34" charset="-120"/>
              </a:rPr>
              <a:t>WHY IT MATTERS</a:t>
            </a:r>
            <a:endParaRPr lang="en-US" sz="1250" dirty="0"/>
          </a:p>
        </p:txBody>
      </p:sp>
      <p:sp>
        <p:nvSpPr>
          <p:cNvPr id="31" name="Text 29"/>
          <p:cNvSpPr/>
          <p:nvPr/>
        </p:nvSpPr>
        <p:spPr>
          <a:xfrm>
            <a:off x="749808" y="4672584"/>
            <a:ext cx="10692079" cy="1499616"/>
          </a:xfrm>
          <a:prstGeom prst="rect">
            <a:avLst/>
          </a:prstGeom>
          <a:noFill/>
          <a:ln/>
        </p:spPr>
        <p:txBody>
          <a:bodyPr wrap="square" lIns="0" tIns="0" rIns="0" bIns="0" rtlCol="0" anchor="t"/>
          <a:lstStyle/>
          <a:p>
            <a:pPr indent="0" marL="0">
              <a:lnSpc>
                <a:spcPct val="118000"/>
              </a:lnSpc>
              <a:buNone/>
            </a:pPr>
            <a:r>
              <a:rPr lang="en-US" sz="1300" dirty="0">
                <a:solidFill>
                  <a:srgbClr val="1F2A37"/>
                </a:solidFill>
                <a:latin typeface="Calibri" pitchFamily="34" charset="0"/>
                <a:ea typeface="Calibri" pitchFamily="34" charset="-122"/>
                <a:cs typeface="Calibri" pitchFamily="34" charset="-120"/>
              </a:rPr>
              <a:t>More than a million people die in traffic accidents worldwide every year, often due to distraction. That stark human cost — not just convenience — is a primary driver of the entire autonomous-vehicle research effort, alongside reclaiming time currently spent driving.</a:t>
            </a:r>
            <a:endParaRPr lang="en-US" sz="1300" dirty="0"/>
          </a:p>
        </p:txBody>
      </p:sp>
      <p:sp>
        <p:nvSpPr>
          <p:cNvPr id="32" name="Text 30"/>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33" name="Text 31"/>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26.10 Application Domains</a:t>
            </a:r>
            <a:endParaRPr lang="en-US" sz="900" dirty="0"/>
          </a:p>
        </p:txBody>
      </p:sp>
      <p:sp>
        <p:nvSpPr>
          <p:cNvPr id="34" name="Text 32"/>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92</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26.10 APPLICATION DOMAINS</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Entertainment, Exploration &amp; Industry</a:t>
            </a:r>
            <a:endParaRPr lang="en-US" sz="2700" dirty="0"/>
          </a:p>
        </p:txBody>
      </p:sp>
      <p:sp>
        <p:nvSpPr>
          <p:cNvPr id="4" name="Shape 2"/>
          <p:cNvSpPr/>
          <p:nvPr/>
        </p:nvSpPr>
        <p:spPr>
          <a:xfrm>
            <a:off x="548640" y="1417320"/>
            <a:ext cx="2636444" cy="3108960"/>
          </a:xfrm>
          <a:prstGeom prst="roundRect">
            <a:avLst>
              <a:gd name="adj" fmla="val 2081"/>
            </a:avLst>
          </a:prstGeom>
          <a:solidFill>
            <a:srgbClr val="EEF2FF"/>
          </a:solidFill>
          <a:ln w="15875">
            <a:solidFill>
              <a:srgbClr val="4A6FA5"/>
            </a:solidFill>
            <a:prstDash val="solid"/>
          </a:ln>
        </p:spPr>
      </p:sp>
      <p:sp>
        <p:nvSpPr>
          <p:cNvPr id="5" name="Text 3"/>
          <p:cNvSpPr/>
          <p:nvPr/>
        </p:nvSpPr>
        <p:spPr>
          <a:xfrm>
            <a:off x="658368" y="1508760"/>
            <a:ext cx="2416988" cy="310896"/>
          </a:xfrm>
          <a:prstGeom prst="rect">
            <a:avLst/>
          </a:prstGeom>
          <a:noFill/>
          <a:ln/>
        </p:spPr>
        <p:txBody>
          <a:bodyPr wrap="square" lIns="0" tIns="0" rIns="0" bIns="0" rtlCol="0" anchor="t"/>
          <a:lstStyle/>
          <a:p>
            <a:pPr algn="l" indent="0" marL="0">
              <a:buNone/>
            </a:pPr>
            <a:r>
              <a:rPr lang="en-US" sz="1250" b="1" dirty="0">
                <a:solidFill>
                  <a:srgbClr val="1A3A5C"/>
                </a:solidFill>
                <a:latin typeface="Calibri" pitchFamily="34" charset="0"/>
                <a:ea typeface="Calibri" pitchFamily="34" charset="-122"/>
                <a:cs typeface="Calibri" pitchFamily="34" charset="-120"/>
              </a:rPr>
              <a:t>🎢  Entertainment</a:t>
            </a:r>
            <a:endParaRPr lang="en-US" sz="1250" dirty="0"/>
          </a:p>
        </p:txBody>
      </p:sp>
      <p:sp>
        <p:nvSpPr>
          <p:cNvPr id="6" name="Text 4"/>
          <p:cNvSpPr/>
          <p:nvPr/>
        </p:nvSpPr>
        <p:spPr>
          <a:xfrm>
            <a:off x="658368" y="1837944"/>
            <a:ext cx="2416988" cy="2606040"/>
          </a:xfrm>
          <a:prstGeom prst="rect">
            <a:avLst/>
          </a:prstGeom>
          <a:noFill/>
          <a:ln/>
        </p:spPr>
        <p:txBody>
          <a:bodyPr wrap="square" lIns="0" tIns="0" rIns="0" bIns="0" rtlCol="0" anchor="t"/>
          <a:lstStyle/>
          <a:p>
            <a:pPr algn="l" indent="0" marL="0">
              <a:buNone/>
            </a:pPr>
            <a:r>
              <a:rPr lang="en-US" sz="1000" dirty="0">
                <a:solidFill>
                  <a:srgbClr val="51606F"/>
                </a:solidFill>
                <a:latin typeface="Calibri" pitchFamily="34" charset="0"/>
                <a:ea typeface="Calibri" pitchFamily="34" charset="-122"/>
                <a:cs typeface="Calibri" pitchFamily="34" charset="-120"/>
              </a:rPr>
              <a:t>Disney's animatronics (1963) → autonomatronics (2009); Anki's Cozmo toy; Skydio drones as personal videographers.</a:t>
            </a:r>
            <a:endParaRPr lang="en-US" sz="1000" dirty="0"/>
          </a:p>
        </p:txBody>
      </p:sp>
      <p:sp>
        <p:nvSpPr>
          <p:cNvPr id="7" name="Shape 5"/>
          <p:cNvSpPr/>
          <p:nvPr/>
        </p:nvSpPr>
        <p:spPr>
          <a:xfrm>
            <a:off x="3367964" y="1417320"/>
            <a:ext cx="2636444" cy="3108960"/>
          </a:xfrm>
          <a:prstGeom prst="roundRect">
            <a:avLst>
              <a:gd name="adj" fmla="val 2081"/>
            </a:avLst>
          </a:prstGeom>
          <a:solidFill>
            <a:srgbClr val="EEF8EE"/>
          </a:solidFill>
          <a:ln w="15875">
            <a:solidFill>
              <a:srgbClr val="1B6B3A"/>
            </a:solidFill>
            <a:prstDash val="solid"/>
          </a:ln>
        </p:spPr>
      </p:sp>
      <p:sp>
        <p:nvSpPr>
          <p:cNvPr id="8" name="Text 6"/>
          <p:cNvSpPr/>
          <p:nvPr/>
        </p:nvSpPr>
        <p:spPr>
          <a:xfrm>
            <a:off x="3477692" y="1508760"/>
            <a:ext cx="2416988" cy="310896"/>
          </a:xfrm>
          <a:prstGeom prst="rect">
            <a:avLst/>
          </a:prstGeom>
          <a:noFill/>
          <a:ln/>
        </p:spPr>
        <p:txBody>
          <a:bodyPr wrap="square" lIns="0" tIns="0" rIns="0" bIns="0" rtlCol="0" anchor="t"/>
          <a:lstStyle/>
          <a:p>
            <a:pPr algn="l" indent="0" marL="0">
              <a:buNone/>
            </a:pPr>
            <a:r>
              <a:rPr lang="en-US" sz="1250" b="1" dirty="0">
                <a:solidFill>
                  <a:srgbClr val="1A3A5C"/>
                </a:solidFill>
                <a:latin typeface="Calibri" pitchFamily="34" charset="0"/>
                <a:ea typeface="Calibri" pitchFamily="34" charset="-122"/>
                <a:cs typeface="Calibri" pitchFamily="34" charset="-120"/>
              </a:rPr>
              <a:t>🪐  Exploration &amp; hazard</a:t>
            </a:r>
            <a:endParaRPr lang="en-US" sz="1250" dirty="0"/>
          </a:p>
        </p:txBody>
      </p:sp>
      <p:sp>
        <p:nvSpPr>
          <p:cNvPr id="9" name="Text 7"/>
          <p:cNvSpPr/>
          <p:nvPr/>
        </p:nvSpPr>
        <p:spPr>
          <a:xfrm>
            <a:off x="3477692" y="1837944"/>
            <a:ext cx="2416988" cy="2606040"/>
          </a:xfrm>
          <a:prstGeom prst="rect">
            <a:avLst/>
          </a:prstGeom>
          <a:noFill/>
          <a:ln/>
        </p:spPr>
        <p:txBody>
          <a:bodyPr wrap="square" lIns="0" tIns="0" rIns="0" bIns="0" rtlCol="0" anchor="t"/>
          <a:lstStyle/>
          <a:p>
            <a:pPr algn="l" indent="0" marL="0">
              <a:buNone/>
            </a:pPr>
            <a:r>
              <a:rPr lang="en-US" sz="1000" dirty="0">
                <a:solidFill>
                  <a:srgbClr val="51606F"/>
                </a:solidFill>
                <a:latin typeface="Calibri" pitchFamily="34" charset="0"/>
                <a:ea typeface="Calibri" pitchFamily="34" charset="-122"/>
                <a:cs typeface="Calibri" pitchFamily="34" charset="-120"/>
              </a:rPr>
              <a:t>Mars rovers; mapping abandoned coal mines and sunken ships; entering active volcanoes; Fukushima and WTC search &amp; rescue.</a:t>
            </a:r>
            <a:endParaRPr lang="en-US" sz="1000" dirty="0"/>
          </a:p>
        </p:txBody>
      </p:sp>
      <p:sp>
        <p:nvSpPr>
          <p:cNvPr id="10" name="Shape 8"/>
          <p:cNvSpPr/>
          <p:nvPr/>
        </p:nvSpPr>
        <p:spPr>
          <a:xfrm>
            <a:off x="6187288" y="1417320"/>
            <a:ext cx="2636444" cy="3108960"/>
          </a:xfrm>
          <a:prstGeom prst="roundRect">
            <a:avLst>
              <a:gd name="adj" fmla="val 2081"/>
            </a:avLst>
          </a:prstGeom>
          <a:solidFill>
            <a:srgbClr val="FFF8E6"/>
          </a:solidFill>
          <a:ln w="15875">
            <a:solidFill>
              <a:srgbClr val="C8840A"/>
            </a:solidFill>
            <a:prstDash val="solid"/>
          </a:ln>
        </p:spPr>
      </p:sp>
      <p:sp>
        <p:nvSpPr>
          <p:cNvPr id="11" name="Text 9"/>
          <p:cNvSpPr/>
          <p:nvPr/>
        </p:nvSpPr>
        <p:spPr>
          <a:xfrm>
            <a:off x="6297016" y="1508760"/>
            <a:ext cx="2416988" cy="310896"/>
          </a:xfrm>
          <a:prstGeom prst="rect">
            <a:avLst/>
          </a:prstGeom>
          <a:noFill/>
          <a:ln/>
        </p:spPr>
        <p:txBody>
          <a:bodyPr wrap="square" lIns="0" tIns="0" rIns="0" bIns="0" rtlCol="0" anchor="t"/>
          <a:lstStyle/>
          <a:p>
            <a:pPr algn="l" indent="0" marL="0">
              <a:buNone/>
            </a:pPr>
            <a:r>
              <a:rPr lang="en-US" sz="1250" b="1" dirty="0">
                <a:solidFill>
                  <a:srgbClr val="1A3A5C"/>
                </a:solidFill>
                <a:latin typeface="Calibri" pitchFamily="34" charset="0"/>
                <a:ea typeface="Calibri" pitchFamily="34" charset="-122"/>
                <a:cs typeface="Calibri" pitchFamily="34" charset="-120"/>
              </a:rPr>
              <a:t>🏭  Industry</a:t>
            </a:r>
            <a:endParaRPr lang="en-US" sz="1250" dirty="0"/>
          </a:p>
        </p:txBody>
      </p:sp>
      <p:sp>
        <p:nvSpPr>
          <p:cNvPr id="12" name="Text 10"/>
          <p:cNvSpPr/>
          <p:nvPr/>
        </p:nvSpPr>
        <p:spPr>
          <a:xfrm>
            <a:off x="6297016" y="1837944"/>
            <a:ext cx="2416988" cy="2606040"/>
          </a:xfrm>
          <a:prstGeom prst="rect">
            <a:avLst/>
          </a:prstGeom>
          <a:noFill/>
          <a:ln/>
        </p:spPr>
        <p:txBody>
          <a:bodyPr wrap="square" lIns="0" tIns="0" rIns="0" bIns="0" rtlCol="0" anchor="t"/>
          <a:lstStyle/>
          <a:p>
            <a:pPr algn="l" indent="0" marL="0">
              <a:buNone/>
            </a:pPr>
            <a:r>
              <a:rPr lang="en-US" sz="1000" dirty="0">
                <a:solidFill>
                  <a:srgbClr val="51606F"/>
                </a:solidFill>
                <a:latin typeface="Calibri" pitchFamily="34" charset="0"/>
                <a:ea typeface="Calibri" pitchFamily="34" charset="-122"/>
                <a:cs typeface="Calibri" pitchFamily="34" charset="-120"/>
              </a:rPr>
              <a:t>The majority of deployed robots today are in factories — automobile manufacturing alone accounts for about half.</a:t>
            </a:r>
            <a:endParaRPr lang="en-US" sz="1000" dirty="0"/>
          </a:p>
        </p:txBody>
      </p:sp>
      <p:sp>
        <p:nvSpPr>
          <p:cNvPr id="13" name="Shape 11"/>
          <p:cNvSpPr/>
          <p:nvPr/>
        </p:nvSpPr>
        <p:spPr>
          <a:xfrm>
            <a:off x="9006611" y="1417320"/>
            <a:ext cx="2636444" cy="3108960"/>
          </a:xfrm>
          <a:prstGeom prst="roundRect">
            <a:avLst>
              <a:gd name="adj" fmla="val 2081"/>
            </a:avLst>
          </a:prstGeom>
          <a:solidFill>
            <a:srgbClr val="FFF0EE"/>
          </a:solidFill>
          <a:ln w="15875">
            <a:solidFill>
              <a:srgbClr val="B5311A"/>
            </a:solidFill>
            <a:prstDash val="solid"/>
          </a:ln>
        </p:spPr>
      </p:sp>
      <p:sp>
        <p:nvSpPr>
          <p:cNvPr id="14" name="Text 12"/>
          <p:cNvSpPr/>
          <p:nvPr/>
        </p:nvSpPr>
        <p:spPr>
          <a:xfrm>
            <a:off x="9116339" y="1508760"/>
            <a:ext cx="2416988" cy="310896"/>
          </a:xfrm>
          <a:prstGeom prst="rect">
            <a:avLst/>
          </a:prstGeom>
          <a:noFill/>
          <a:ln/>
        </p:spPr>
        <p:txBody>
          <a:bodyPr wrap="square" lIns="0" tIns="0" rIns="0" bIns="0" rtlCol="0" anchor="t"/>
          <a:lstStyle/>
          <a:p>
            <a:pPr algn="l" indent="0" marL="0">
              <a:buNone/>
            </a:pPr>
            <a:r>
              <a:rPr lang="en-US" sz="1250" b="1" dirty="0">
                <a:solidFill>
                  <a:srgbClr val="1A3A5C"/>
                </a:solidFill>
                <a:latin typeface="Calibri" pitchFamily="34" charset="0"/>
                <a:ea typeface="Calibri" pitchFamily="34" charset="-122"/>
                <a:cs typeface="Calibri" pitchFamily="34" charset="-120"/>
              </a:rPr>
              <a:t>⚖️  The real trade-off</a:t>
            </a:r>
            <a:endParaRPr lang="en-US" sz="1250" dirty="0"/>
          </a:p>
        </p:txBody>
      </p:sp>
      <p:sp>
        <p:nvSpPr>
          <p:cNvPr id="15" name="Text 13"/>
          <p:cNvSpPr/>
          <p:nvPr/>
        </p:nvSpPr>
        <p:spPr>
          <a:xfrm>
            <a:off x="9116339" y="1837944"/>
            <a:ext cx="2416988" cy="2606040"/>
          </a:xfrm>
          <a:prstGeom prst="rect">
            <a:avLst/>
          </a:prstGeom>
          <a:noFill/>
          <a:ln/>
        </p:spPr>
        <p:txBody>
          <a:bodyPr wrap="square" lIns="0" tIns="0" rIns="0" bIns="0" rtlCol="0" anchor="t"/>
          <a:lstStyle/>
          <a:p>
            <a:pPr algn="l" indent="0" marL="0">
              <a:buNone/>
            </a:pPr>
            <a:r>
              <a:rPr lang="en-US" sz="1000" dirty="0">
                <a:solidFill>
                  <a:srgbClr val="51606F"/>
                </a:solidFill>
                <a:latin typeface="Calibri" pitchFamily="34" charset="0"/>
                <a:ea typeface="Calibri" pitchFamily="34" charset="-122"/>
                <a:cs typeface="Calibri" pitchFamily="34" charset="-120"/>
              </a:rPr>
              <a:t>Efficiently produces what society needs, but also displaces workers — raising real questions about retraining and fair distribution (Ch. 28.3.5).</a:t>
            </a:r>
            <a:endParaRPr lang="en-US" sz="1000" dirty="0"/>
          </a:p>
        </p:txBody>
      </p:sp>
      <p:sp>
        <p:nvSpPr>
          <p:cNvPr id="16" name="Text 14"/>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7" name="Text 15"/>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26.10 Application Domains</a:t>
            </a:r>
            <a:endParaRPr lang="en-US" sz="900" dirty="0"/>
          </a:p>
        </p:txBody>
      </p:sp>
      <p:sp>
        <p:nvSpPr>
          <p:cNvPr id="18" name="Text 16"/>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93</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3A5C"/>
          </a:solidFill>
          <a:ln/>
        </p:spPr>
      </p:sp>
      <p:sp>
        <p:nvSpPr>
          <p:cNvPr id="3" name="Shape 1"/>
          <p:cNvSpPr/>
          <p:nvPr/>
        </p:nvSpPr>
        <p:spPr>
          <a:xfrm>
            <a:off x="9692640" y="2377440"/>
            <a:ext cx="5120640" cy="5120640"/>
          </a:xfrm>
          <a:prstGeom prst="ellipse">
            <a:avLst/>
          </a:prstGeom>
          <a:solidFill>
            <a:srgbClr val="132B45"/>
          </a:solidFill>
          <a:ln/>
        </p:spPr>
      </p:sp>
      <p:sp>
        <p:nvSpPr>
          <p:cNvPr id="4" name="Text 2"/>
          <p:cNvSpPr/>
          <p:nvPr/>
        </p:nvSpPr>
        <p:spPr>
          <a:xfrm>
            <a:off x="822960" y="1463040"/>
            <a:ext cx="3657600" cy="1554480"/>
          </a:xfrm>
          <a:prstGeom prst="rect">
            <a:avLst/>
          </a:prstGeom>
          <a:noFill/>
          <a:ln/>
        </p:spPr>
        <p:txBody>
          <a:bodyPr wrap="square" lIns="0" tIns="0" rIns="0" bIns="0" rtlCol="0" anchor="ctr"/>
          <a:lstStyle/>
          <a:p>
            <a:pPr indent="0" marL="0">
              <a:buNone/>
            </a:pPr>
            <a:r>
              <a:rPr lang="en-US" sz="8400" b="1" dirty="0">
                <a:solidFill>
                  <a:srgbClr val="E8960C"/>
                </a:solidFill>
                <a:latin typeface="Calibri" pitchFamily="34" charset="0"/>
                <a:ea typeface="Calibri" pitchFamily="34" charset="-122"/>
                <a:cs typeface="Calibri" pitchFamily="34" charset="-120"/>
              </a:rPr>
              <a:t>WRAP-UP</a:t>
            </a:r>
            <a:endParaRPr lang="en-US" sz="8400" dirty="0"/>
          </a:p>
        </p:txBody>
      </p:sp>
      <p:sp>
        <p:nvSpPr>
          <p:cNvPr id="5" name="Text 3"/>
          <p:cNvSpPr/>
          <p:nvPr/>
        </p:nvSpPr>
        <p:spPr>
          <a:xfrm>
            <a:off x="822960" y="2971800"/>
            <a:ext cx="9875520" cy="105156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Bringing It All Together</a:t>
            </a:r>
            <a:endParaRPr lang="en-US" sz="3800" dirty="0"/>
          </a:p>
        </p:txBody>
      </p:sp>
      <p:sp>
        <p:nvSpPr>
          <p:cNvPr id="6" name="Text 4"/>
          <p:cNvSpPr/>
          <p:nvPr/>
        </p:nvSpPr>
        <p:spPr>
          <a:xfrm>
            <a:off x="822960" y="3977640"/>
            <a:ext cx="8778240" cy="82296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One chapter, the whole toolbox, one robot navigating one hospital hallway.</a:t>
            </a:r>
            <a:endParaRPr lang="en-US" sz="1600" dirty="0"/>
          </a:p>
        </p:txBody>
      </p:sp>
      <p:sp>
        <p:nvSpPr>
          <p:cNvPr id="7" name="Shape 5"/>
          <p:cNvSpPr/>
          <p:nvPr/>
        </p:nvSpPr>
        <p:spPr>
          <a:xfrm>
            <a:off x="868680" y="4956048"/>
            <a:ext cx="82296" cy="82296"/>
          </a:xfrm>
          <a:prstGeom prst="ellipse">
            <a:avLst/>
          </a:prstGeom>
          <a:solidFill>
            <a:srgbClr val="E8960C"/>
          </a:solidFill>
          <a:ln/>
        </p:spPr>
      </p:sp>
      <p:sp>
        <p:nvSpPr>
          <p:cNvPr id="8" name="Text 6"/>
          <p:cNvSpPr/>
          <p:nvPr/>
        </p:nvSpPr>
        <p:spPr>
          <a:xfrm>
            <a:off x="1097280" y="4837176"/>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The chapter summary, condensed</a:t>
            </a:r>
            <a:endParaRPr lang="en-US" sz="1350" dirty="0"/>
          </a:p>
        </p:txBody>
      </p:sp>
      <p:sp>
        <p:nvSpPr>
          <p:cNvPr id="9" name="Shape 7"/>
          <p:cNvSpPr/>
          <p:nvPr/>
        </p:nvSpPr>
        <p:spPr>
          <a:xfrm>
            <a:off x="868680" y="5285232"/>
            <a:ext cx="82296" cy="82296"/>
          </a:xfrm>
          <a:prstGeom prst="ellipse">
            <a:avLst/>
          </a:prstGeom>
          <a:solidFill>
            <a:srgbClr val="E8960C"/>
          </a:solidFill>
          <a:ln/>
        </p:spPr>
      </p:sp>
      <p:sp>
        <p:nvSpPr>
          <p:cNvPr id="10" name="Text 8"/>
          <p:cNvSpPr/>
          <p:nvPr/>
        </p:nvSpPr>
        <p:spPr>
          <a:xfrm>
            <a:off x="1097280" y="5166360"/>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How Chapter 26 connects to everything else in this course</a:t>
            </a:r>
            <a:endParaRPr lang="en-US" sz="1350" dirty="0"/>
          </a:p>
        </p:txBody>
      </p:sp>
      <p:sp>
        <p:nvSpPr>
          <p:cNvPr id="11" name="Shape 9"/>
          <p:cNvSpPr/>
          <p:nvPr/>
        </p:nvSpPr>
        <p:spPr>
          <a:xfrm>
            <a:off x="868680" y="5614416"/>
            <a:ext cx="82296" cy="82296"/>
          </a:xfrm>
          <a:prstGeom prst="ellipse">
            <a:avLst/>
          </a:prstGeom>
          <a:solidFill>
            <a:srgbClr val="E8960C"/>
          </a:solidFill>
          <a:ln/>
        </p:spPr>
      </p:sp>
      <p:sp>
        <p:nvSpPr>
          <p:cNvPr id="12" name="Text 10"/>
          <p:cNvSpPr/>
          <p:nvPr/>
        </p:nvSpPr>
        <p:spPr>
          <a:xfrm>
            <a:off x="1097280" y="5495544"/>
            <a:ext cx="8595360" cy="292608"/>
          </a:xfrm>
          <a:prstGeom prst="rect">
            <a:avLst/>
          </a:prstGeom>
          <a:noFill/>
          <a:ln/>
        </p:spPr>
        <p:txBody>
          <a:bodyPr wrap="square" lIns="0" tIns="0" rIns="0" bIns="0" rtlCol="0" anchor="ctr"/>
          <a:lstStyle/>
          <a:p>
            <a:pPr indent="0" marL="0">
              <a:buNone/>
            </a:pPr>
            <a:r>
              <a:rPr lang="en-US" sz="1350" dirty="0">
                <a:solidFill>
                  <a:srgbClr val="E7EEF9"/>
                </a:solidFill>
                <a:latin typeface="Calibri" pitchFamily="34" charset="0"/>
                <a:ea typeface="Calibri" pitchFamily="34" charset="-122"/>
                <a:cs typeface="Calibri" pitchFamily="34" charset="-120"/>
              </a:rPr>
              <a:t>Wren's full story, start to finish</a:t>
            </a:r>
            <a:endParaRPr lang="en-US" sz="1350" dirty="0"/>
          </a:p>
        </p:txBody>
      </p:sp>
      <p:sp>
        <p:nvSpPr>
          <p:cNvPr id="13" name="Text 11"/>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14" name="Text 12"/>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Bringing It All Together</a:t>
            </a:r>
            <a:endParaRPr lang="en-US" sz="900" dirty="0"/>
          </a:p>
        </p:txBody>
      </p:sp>
      <p:sp>
        <p:nvSpPr>
          <p:cNvPr id="15" name="Text 13"/>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94</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CHAPTER SUMMARY</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The Big Through-Line</a:t>
            </a:r>
            <a:endParaRPr lang="en-US" sz="2700" dirty="0"/>
          </a:p>
        </p:txBody>
      </p:sp>
      <p:sp>
        <p:nvSpPr>
          <p:cNvPr id="4" name="Text 2"/>
          <p:cNvSpPr/>
          <p:nvPr/>
        </p:nvSpPr>
        <p:spPr>
          <a:xfrm>
            <a:off x="548640" y="1417320"/>
            <a:ext cx="11094415" cy="4937760"/>
          </a:xfrm>
          <a:prstGeom prst="rect">
            <a:avLst/>
          </a:prstGeom>
          <a:noFill/>
          <a:ln/>
        </p:spPr>
        <p:txBody>
          <a:bodyPr wrap="square" lIns="0" tIns="0" rIns="0" bIns="0" rtlCol="0" anchor="t"/>
          <a:lstStyle/>
          <a:p>
            <a:pPr marL="228600" indent="-228600">
              <a:spcAft>
                <a:spcPts val="1000"/>
              </a:spcAft>
              <a:buSzPct val="100000"/>
              <a:buChar char="●"/>
            </a:pPr>
            <a:r>
              <a:rPr lang="en-US" sz="1600" b="1" dirty="0">
                <a:solidFill>
                  <a:srgbClr val="1F2A37"/>
                </a:solidFill>
                <a:latin typeface="Calibri" pitchFamily="34" charset="0"/>
                <a:ea typeface="Calibri" pitchFamily="34" charset="-122"/>
                <a:cs typeface="Calibri" pitchFamily="34" charset="-120"/>
              </a:rPr>
              <a:t>A robot is a physically embodied agent — its actions change the real world, which is unforgiving and refuses to run faster than real time.</a:t>
            </a:r>
            <a:endParaRPr lang="en-US" sz="1600" dirty="0"/>
          </a:p>
          <a:p>
            <a:pPr marL="228600" indent="-228600">
              <a:spcAft>
                <a:spcPts val="1000"/>
              </a:spcAft>
              <a:buSzPct val="100000"/>
              <a:buChar char="●"/>
            </a:pPr>
            <a:r>
              <a:rPr lang="en-US" sz="1600" dirty="0">
                <a:solidFill>
                  <a:srgbClr val="1F2A37"/>
                </a:solidFill>
                <a:latin typeface="Calibri" pitchFamily="34" charset="0"/>
                <a:ea typeface="Calibri" pitchFamily="34" charset="-122"/>
                <a:cs typeface="Calibri" pitchFamily="34" charset="-120"/>
              </a:rPr>
              <a:t>The general robotics problem is stochastic (MDPs), partially observable (POMDPs), and multi-agent (game theory) — often all at once, in continuous, high-dimensional spaces.</a:t>
            </a:r>
            <a:endParaRPr lang="en-US" sz="1600" dirty="0"/>
          </a:p>
          <a:p>
            <a:pPr marL="228600" indent="-228600">
              <a:spcAft>
                <a:spcPts val="1000"/>
              </a:spcAft>
              <a:buSzPct val="100000"/>
              <a:buChar char="●"/>
            </a:pPr>
            <a:r>
              <a:rPr lang="en-US" sz="1600" dirty="0">
                <a:solidFill>
                  <a:srgbClr val="1F2A37"/>
                </a:solidFill>
                <a:latin typeface="Calibri" pitchFamily="34" charset="0"/>
                <a:ea typeface="Calibri" pitchFamily="34" charset="-122"/>
                <a:cs typeface="Calibri" pitchFamily="34" charset="-120"/>
              </a:rPr>
              <a:t>In an ideal world: raw sensor feeds in, motor torques out, solved end to end. In practice: we decouple perception, motion planning, and control — trading some performance for tractability.</a:t>
            </a:r>
            <a:endParaRPr lang="en-US" sz="1600" dirty="0"/>
          </a:p>
          <a:p>
            <a:pPr marL="228600" indent="-228600">
              <a:spcAft>
                <a:spcPts val="1000"/>
              </a:spcAft>
              <a:buSzPct val="100000"/>
              <a:buChar char="●"/>
            </a:pPr>
            <a:r>
              <a:rPr lang="en-US" sz="1600" b="1" dirty="0">
                <a:solidFill>
                  <a:srgbClr val="1B6B3A"/>
                </a:solidFill>
                <a:latin typeface="Calibri" pitchFamily="34" charset="0"/>
                <a:ea typeface="Calibri" pitchFamily="34" charset="-122"/>
                <a:cs typeface="Calibri" pitchFamily="34" charset="-120"/>
              </a:rPr>
              <a:t>The whole field is moving toward RE-integrating those pieces as our tools mature.</a:t>
            </a:r>
            <a:endParaRPr lang="en-US" sz="1600" dirty="0"/>
          </a:p>
        </p:txBody>
      </p:sp>
      <p:sp>
        <p:nvSpPr>
          <p:cNvPr id="5" name="Text 3"/>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6" name="Text 4"/>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Chapter Summary</a:t>
            </a:r>
            <a:endParaRPr lang="en-US" sz="900" dirty="0"/>
          </a:p>
        </p:txBody>
      </p:sp>
      <p:sp>
        <p:nvSpPr>
          <p:cNvPr id="7" name="Text 5"/>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95</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CHAPTER SUMMARY</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How Chapter 26 Connects to the Rest of the Course</a:t>
            </a:r>
            <a:endParaRPr lang="en-US" sz="2700" dirty="0"/>
          </a:p>
        </p:txBody>
      </p:sp>
      <p:graphicFrame>
        <p:nvGraphicFramePr>
          <p:cNvPr id="9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291840"/>
                <a:gridCol w="7802575"/>
              </a:tblGrid>
              <a:tr h="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Earlier chapter</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 it gave us today</a:t>
                      </a:r>
                      <a:endParaRPr lang="en-US" sz="125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A3A5C"/>
                    </a:solidFill>
                  </a:tcPr>
                </a:tc>
              </a:tr>
              <a:tr h="0">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Ch. 3 — Search</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Discrete graph search underneath visibility graphs, Voronoi graphs, and cell decomposition</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Ch. 4 — Beyond Classical Search</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Hill climbing / simulated annealing for trajectory optimization's gradient descent</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r>
              <a:tr h="0">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Ch. 11 — Automated Planning</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The task-planning layer of our three-level hierarchy</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Ch. 13 — Bayesian Networks</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Graph relaxation for large-scale SLAM</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r>
              <a:tr h="0">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Ch. 14 — Probabilistic Reasoning over Time</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The recursive filtering equation underneath ALL of robotic perception</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Ch. 16 — Making Decisions</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MDPs, policies, and value functions — the language of trajectory tracking control</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r>
              <a:tr h="0">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Ch. 17 — Multiagent Decisions</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The coordination game between robot and human</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Ch. 19–21 — Learning</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Low-dimensional embedding, self-supervised perception, cost-function inference</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4F7FB"/>
                    </a:solidFill>
                  </a:tcPr>
                </a:tc>
              </a:tr>
              <a:tr h="0">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Ch. 22–23 — Reinforcement Learning</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Sim-to-real transfer, domain randomization, model-based RL</a:t>
                      </a:r>
                      <a:endParaRPr lang="en-US" sz="1200" dirty="0">
                        <a:latin typeface="Calibri" charset="0"/>
                        <a:ea typeface="Calibri" charset="0"/>
                        <a:cs typeface="Calibri" charset="0"/>
                      </a:endParaRPr>
                    </a:p>
                  </a:txBody>
                  <a:tcPr marL="54864" marR="54864" marT="54864" marB="54864"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6" name="Text 3"/>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Chapter Summary</a:t>
            </a:r>
            <a:endParaRPr lang="en-US" sz="900" dirty="0"/>
          </a:p>
        </p:txBody>
      </p:sp>
      <p:sp>
        <p:nvSpPr>
          <p:cNvPr id="7" name="Text 4"/>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96</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THE FULL STORY</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Wren's Delivery, Start to Finish</a:t>
            </a:r>
            <a:endParaRPr lang="en-US" sz="2700" dirty="0"/>
          </a:p>
        </p:txBody>
      </p:sp>
      <p:sp>
        <p:nvSpPr>
          <p:cNvPr id="4" name="Shape 2"/>
          <p:cNvSpPr/>
          <p:nvPr/>
        </p:nvSpPr>
        <p:spPr>
          <a:xfrm>
            <a:off x="548640" y="1417320"/>
            <a:ext cx="11094415" cy="4297680"/>
          </a:xfrm>
          <a:prstGeom prst="roundRect">
            <a:avLst>
              <a:gd name="adj" fmla="val 1915"/>
            </a:avLst>
          </a:prstGeom>
          <a:solidFill>
            <a:srgbClr val="EEF8EE"/>
          </a:solidFill>
          <a:ln/>
          <a:effectLst>
            <a:outerShdw sx="100000" sy="100000" kx="0" ky="0" algn="bl" rotWithShape="0" blurRad="76200" dist="25400" dir="5400000">
              <a:srgbClr val="1A3A5C">
                <a:alpha val="12000"/>
              </a:srgbClr>
            </a:outerShdw>
          </a:effectLst>
        </p:spPr>
      </p:sp>
      <p:sp>
        <p:nvSpPr>
          <p:cNvPr id="5" name="Text 3"/>
          <p:cNvSpPr/>
          <p:nvPr/>
        </p:nvSpPr>
        <p:spPr>
          <a:xfrm>
            <a:off x="749808" y="1545336"/>
            <a:ext cx="10692079" cy="329184"/>
          </a:xfrm>
          <a:prstGeom prst="rect">
            <a:avLst/>
          </a:prstGeom>
          <a:noFill/>
          <a:ln/>
        </p:spPr>
        <p:txBody>
          <a:bodyPr wrap="square" lIns="0" tIns="0" rIns="0" bIns="0" rtlCol="0" anchor="ctr"/>
          <a:lstStyle/>
          <a:p>
            <a:pPr indent="0" marL="0">
              <a:buNone/>
            </a:pPr>
            <a:r>
              <a:rPr lang="en-US" sz="1450" b="1" dirty="0">
                <a:solidFill>
                  <a:srgbClr val="1B6B3A"/>
                </a:solidFill>
                <a:latin typeface="Calibri" pitchFamily="34" charset="0"/>
                <a:ea typeface="Calibri" pitchFamily="34" charset="-122"/>
                <a:cs typeface="Calibri" pitchFamily="34" charset="-120"/>
              </a:rPr>
              <a:t>One robot, one hallway, every technique from today</a:t>
            </a:r>
            <a:endParaRPr lang="en-US" sz="1450" dirty="0"/>
          </a:p>
        </p:txBody>
      </p:sp>
      <p:sp>
        <p:nvSpPr>
          <p:cNvPr id="6" name="Text 4"/>
          <p:cNvSpPr/>
          <p:nvPr/>
        </p:nvSpPr>
        <p:spPr>
          <a:xfrm>
            <a:off x="749808" y="1929384"/>
            <a:ext cx="10692079" cy="3675888"/>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26.2 Hardware — lidar, camera, Wi-Fi beacons, wheel encoders, a small gripper.</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26.3 Framing — Wren's true reward belongs to Maria Santos, not to Wren; task planning hands down 'deliver tray.'</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26.4 Perception — Monte Carlo localization converges as Wren passes distinctive hallway features and Wi-Fi beacons.</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26.5 Planning &amp; control — an RRT routes around a housekeeping cart; a PID controller tracks the retimed trajectory.</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26.6 Uncertainty — Wren replans (MPC-style) the instant the cart moves, rather than blindly following a stale plan.</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26.7 Learning — Wren's obstacle-avoidance policy was trained in randomized simulation before ever touching a real hallway.</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26.8 Humans — Wren predicts Nurse Priya's path through the corridor and negotiates who goes first; earlier, Priya's kinesthetic nudge updated Wren's cost function near the nurses' station.</a:t>
            </a:r>
            <a:endParaRPr lang="en-US" sz="1250" dirty="0"/>
          </a:p>
          <a:p>
            <a:pPr marL="177800" indent="-177800">
              <a:spcAft>
                <a:spcPts val="500"/>
              </a:spcAft>
              <a:buSzPct val="100000"/>
              <a:buChar char="●"/>
            </a:pPr>
            <a:r>
              <a:rPr lang="en-US" sz="1250" dirty="0">
                <a:solidFill>
                  <a:srgbClr val="1F2A37"/>
                </a:solidFill>
                <a:latin typeface="Calibri" pitchFamily="34" charset="0"/>
                <a:ea typeface="Calibri" pitchFamily="34" charset="-122"/>
                <a:cs typeface="Calibri" pitchFamily="34" charset="-120"/>
              </a:rPr>
              <a:t>26.10 Applications — Wren belongs to the exact same real-world category as TUG, Moxi, and HelpMate.</a:t>
            </a:r>
            <a:endParaRPr lang="en-US" sz="1250" dirty="0"/>
          </a:p>
        </p:txBody>
      </p:sp>
      <p:sp>
        <p:nvSpPr>
          <p:cNvPr id="7" name="Text 5"/>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8" name="Text 6"/>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The Full Story</a:t>
            </a:r>
            <a:endParaRPr lang="en-US" sz="900" dirty="0"/>
          </a:p>
        </p:txBody>
      </p:sp>
      <p:sp>
        <p:nvSpPr>
          <p:cNvPr id="9" name="Text 7"/>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97</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LOOKING AHEAD</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Discussion Questions &amp; Next Time</a:t>
            </a:r>
            <a:endParaRPr lang="en-US" sz="2700" dirty="0"/>
          </a:p>
        </p:txBody>
      </p:sp>
      <p:sp>
        <p:nvSpPr>
          <p:cNvPr id="4" name="Text 2"/>
          <p:cNvSpPr/>
          <p:nvPr/>
        </p:nvSpPr>
        <p:spPr>
          <a:xfrm>
            <a:off x="548640" y="1417320"/>
            <a:ext cx="11094415" cy="4937760"/>
          </a:xfrm>
          <a:prstGeom prst="rect">
            <a:avLst/>
          </a:prstGeom>
          <a:noFill/>
          <a:ln/>
        </p:spPr>
        <p:txBody>
          <a:bodyPr wrap="square" lIns="0" tIns="0" rIns="0" bIns="0" rtlCol="0" anchor="t"/>
          <a:lstStyle/>
          <a:p>
            <a:pPr marL="228600" indent="-228600">
              <a:spcAft>
                <a:spcPts val="1000"/>
              </a:spcAft>
              <a:buSzPct val="100000"/>
              <a:buChar char="●"/>
            </a:pPr>
            <a:r>
              <a:rPr lang="en-US" sz="1600" b="1" dirty="0">
                <a:solidFill>
                  <a:srgbClr val="1F2A37"/>
                </a:solidFill>
                <a:latin typeface="Calibri" pitchFamily="34" charset="0"/>
                <a:ea typeface="Calibri" pitchFamily="34" charset="-122"/>
                <a:cs typeface="Calibri" pitchFamily="34" charset="-120"/>
              </a:rPr>
              <a:t>Discussion: Wren's coded reward is 'minimize delivery time.' What unstated preferences might Maria Santos or Nurse Priya have that this proxy completely misses?</a:t>
            </a:r>
            <a:endParaRPr lang="en-US" sz="1600" dirty="0"/>
          </a:p>
          <a:p>
            <a:pPr marL="228600" indent="-228600">
              <a:spcAft>
                <a:spcPts val="1000"/>
              </a:spcAft>
              <a:buSzPct val="100000"/>
              <a:buChar char="●"/>
            </a:pPr>
            <a:r>
              <a:rPr lang="en-US" sz="1600" b="1" dirty="0">
                <a:solidFill>
                  <a:srgbClr val="1F2A37"/>
                </a:solidFill>
                <a:latin typeface="Calibri" pitchFamily="34" charset="0"/>
                <a:ea typeface="Calibri" pitchFamily="34" charset="-122"/>
                <a:cs typeface="Calibri" pitchFamily="34" charset="-120"/>
              </a:rPr>
              <a:t>Discussion: Pick one motion-planning algorithm from today (visibility graph, Voronoi, cell decomposition, PRM, or RRT). What real robot and environment would make it the WRONG choice?</a:t>
            </a:r>
            <a:endParaRPr lang="en-US" sz="1600" dirty="0"/>
          </a:p>
          <a:p>
            <a:pPr marL="228600" indent="-228600">
              <a:spcAft>
                <a:spcPts val="1000"/>
              </a:spcAft>
              <a:buSzPct val="100000"/>
              <a:buChar char="●"/>
            </a:pPr>
            <a:r>
              <a:rPr lang="en-US" sz="1600" dirty="0">
                <a:solidFill>
                  <a:srgbClr val="4A6FA5"/>
                </a:solidFill>
                <a:latin typeface="Calibri" pitchFamily="34" charset="0"/>
                <a:ea typeface="Calibri" pitchFamily="34" charset="-122"/>
                <a:cs typeface="Calibri" pitchFamily="34" charset="-120"/>
              </a:rPr>
              <a:t>Next lecture — Chapter 27, Computer Vision: the perception techniques underneath everything we assumed today about cameras and lidar.</a:t>
            </a:r>
            <a:endParaRPr lang="en-US" sz="1600" dirty="0"/>
          </a:p>
        </p:txBody>
      </p:sp>
      <p:sp>
        <p:nvSpPr>
          <p:cNvPr id="5" name="Text 3"/>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6" name="Text 4"/>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Looking Ahead</a:t>
            </a:r>
            <a:endParaRPr lang="en-US" sz="900" dirty="0"/>
          </a:p>
        </p:txBody>
      </p:sp>
      <p:sp>
        <p:nvSpPr>
          <p:cNvPr id="7" name="Text 5"/>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98</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320040"/>
          </a:xfrm>
          <a:prstGeom prst="rect">
            <a:avLst/>
          </a:prstGeom>
          <a:noFill/>
          <a:ln/>
        </p:spPr>
        <p:txBody>
          <a:bodyPr wrap="square" lIns="0" tIns="0" rIns="0" bIns="0" rtlCol="0" anchor="ctr"/>
          <a:lstStyle/>
          <a:p>
            <a:pPr indent="0" marL="0">
              <a:buNone/>
            </a:pPr>
            <a:r>
              <a:rPr lang="en-US" sz="1300" b="1" spc="100" kern="0" dirty="0">
                <a:solidFill>
                  <a:srgbClr val="E8960C"/>
                </a:solidFill>
                <a:latin typeface="Calibri" pitchFamily="34" charset="0"/>
                <a:ea typeface="Calibri" pitchFamily="34" charset="-122"/>
                <a:cs typeface="Calibri" pitchFamily="34" charset="-120"/>
              </a:rPr>
              <a:t>THANK YOU</a:t>
            </a:r>
            <a:endParaRPr lang="en-US" sz="1300" dirty="0"/>
          </a:p>
        </p:txBody>
      </p:sp>
      <p:sp>
        <p:nvSpPr>
          <p:cNvPr id="3" name="Text 1"/>
          <p:cNvSpPr/>
          <p:nvPr/>
        </p:nvSpPr>
        <p:spPr>
          <a:xfrm>
            <a:off x="548640" y="658368"/>
            <a:ext cx="11094415" cy="566928"/>
          </a:xfrm>
          <a:prstGeom prst="rect">
            <a:avLst/>
          </a:prstGeom>
          <a:noFill/>
          <a:ln/>
        </p:spPr>
        <p:txBody>
          <a:bodyPr wrap="square" lIns="0" tIns="0" rIns="0" bIns="0" rtlCol="0" anchor="ctr"/>
          <a:lstStyle/>
          <a:p>
            <a:pPr indent="0" marL="0">
              <a:buNone/>
            </a:pPr>
            <a:r>
              <a:rPr lang="en-US" sz="2700" b="1" dirty="0">
                <a:solidFill>
                  <a:srgbClr val="1A3A5C"/>
                </a:solidFill>
                <a:latin typeface="Calibri" pitchFamily="34" charset="0"/>
                <a:ea typeface="Calibri" pitchFamily="34" charset="-122"/>
                <a:cs typeface="Calibri" pitchFamily="34" charset="-120"/>
              </a:rPr>
              <a:t>Questions?</a:t>
            </a:r>
            <a:endParaRPr lang="en-US" sz="2700" dirty="0"/>
          </a:p>
        </p:txBody>
      </p:sp>
      <p:sp>
        <p:nvSpPr>
          <p:cNvPr id="4" name="Shape 2"/>
          <p:cNvSpPr/>
          <p:nvPr/>
        </p:nvSpPr>
        <p:spPr>
          <a:xfrm>
            <a:off x="548640" y="1691640"/>
            <a:ext cx="11094415" cy="1463040"/>
          </a:xfrm>
          <a:prstGeom prst="roundRect">
            <a:avLst>
              <a:gd name="adj" fmla="val 5000"/>
            </a:avLst>
          </a:prstGeom>
          <a:solidFill>
            <a:srgbClr val="F4F7FB"/>
          </a:solidFill>
          <a:ln w="12700">
            <a:solidFill>
              <a:srgbClr val="1A3A5C"/>
            </a:solidFill>
            <a:prstDash val="solid"/>
          </a:ln>
        </p:spPr>
      </p:sp>
      <p:sp>
        <p:nvSpPr>
          <p:cNvPr id="5" name="Text 3"/>
          <p:cNvSpPr/>
          <p:nvPr/>
        </p:nvSpPr>
        <p:spPr>
          <a:xfrm>
            <a:off x="749808" y="1801368"/>
            <a:ext cx="10692079" cy="274320"/>
          </a:xfrm>
          <a:prstGeom prst="rect">
            <a:avLst/>
          </a:prstGeom>
          <a:noFill/>
          <a:ln/>
        </p:spPr>
        <p:txBody>
          <a:bodyPr wrap="square" lIns="0" tIns="0" rIns="0" bIns="0" rtlCol="0" anchor="ctr"/>
          <a:lstStyle/>
          <a:p>
            <a:pPr indent="0" marL="0">
              <a:buNone/>
            </a:pPr>
            <a:r>
              <a:rPr lang="en-US" sz="1250" b="1" spc="50" kern="0" dirty="0">
                <a:solidFill>
                  <a:srgbClr val="1A3A5C"/>
                </a:solidFill>
                <a:latin typeface="Calibri" pitchFamily="34" charset="0"/>
                <a:ea typeface="Calibri" pitchFamily="34" charset="-122"/>
                <a:cs typeface="Calibri" pitchFamily="34" charset="-120"/>
              </a:rPr>
              <a:t>OFFICE HOURS</a:t>
            </a:r>
            <a:endParaRPr lang="en-US" sz="1250" dirty="0"/>
          </a:p>
        </p:txBody>
      </p:sp>
      <p:sp>
        <p:nvSpPr>
          <p:cNvPr id="6" name="Text 4"/>
          <p:cNvSpPr/>
          <p:nvPr/>
        </p:nvSpPr>
        <p:spPr>
          <a:xfrm>
            <a:off x="749808" y="2112264"/>
            <a:ext cx="10692079" cy="950976"/>
          </a:xfrm>
          <a:prstGeom prst="rect">
            <a:avLst/>
          </a:prstGeom>
          <a:noFill/>
          <a:ln/>
        </p:spPr>
        <p:txBody>
          <a:bodyPr wrap="square" lIns="0" tIns="0" rIns="0" bIns="0" rtlCol="0" anchor="t"/>
          <a:lstStyle/>
          <a:p>
            <a:pPr indent="0" marL="0">
              <a:lnSpc>
                <a:spcPct val="118000"/>
              </a:lnSpc>
              <a:buNone/>
            </a:pPr>
            <a:r>
              <a:rPr lang="en-US" sz="1500" dirty="0">
                <a:solidFill>
                  <a:srgbClr val="1F2A37"/>
                </a:solidFill>
                <a:latin typeface="Calibri" pitchFamily="34" charset="0"/>
                <a:ea typeface="Calibri" pitchFamily="34" charset="-122"/>
                <a:cs typeface="Calibri" pitchFamily="34" charset="-120"/>
              </a:rPr>
              <a:t>Bring your discussion-question answers, or any part of today's derivations you'd like to walk through again — the C-space leap and the Euler–Lagrange derivation are the two places I'd expect questions.</a:t>
            </a:r>
            <a:endParaRPr lang="en-US" sz="1500" dirty="0"/>
          </a:p>
        </p:txBody>
      </p:sp>
      <p:sp>
        <p:nvSpPr>
          <p:cNvPr id="7" name="Text 5"/>
          <p:cNvSpPr/>
          <p:nvPr/>
        </p:nvSpPr>
        <p:spPr>
          <a:xfrm>
            <a:off x="548640" y="6473952"/>
            <a:ext cx="6858000" cy="274320"/>
          </a:xfrm>
          <a:prstGeom prst="rect">
            <a:avLst/>
          </a:prstGeom>
          <a:noFill/>
          <a:ln/>
        </p:spPr>
        <p:txBody>
          <a:bodyPr wrap="square" lIns="0" tIns="0" rIns="0" bIns="0" rtlCol="0" anchor="ctr"/>
          <a:lstStyle/>
          <a:p>
            <a:pPr algn="l" indent="0" marL="0">
              <a:buNone/>
            </a:pPr>
            <a:r>
              <a:rPr lang="en-US" sz="900" dirty="0">
                <a:solidFill>
                  <a:srgbClr val="51606F"/>
                </a:solidFill>
                <a:latin typeface="Calibri" pitchFamily="34" charset="0"/>
                <a:ea typeface="Calibri" pitchFamily="34" charset="-122"/>
                <a:cs typeface="Calibri" pitchFamily="34" charset="-120"/>
              </a:rPr>
              <a:t>26SP-CS650-154HY  ·  Artificial Intelligence  ·  Prof. Fomba Kassoh</a:t>
            </a:r>
            <a:endParaRPr lang="en-US" sz="900" dirty="0"/>
          </a:p>
        </p:txBody>
      </p:sp>
      <p:sp>
        <p:nvSpPr>
          <p:cNvPr id="8" name="Text 6"/>
          <p:cNvSpPr/>
          <p:nvPr/>
        </p:nvSpPr>
        <p:spPr>
          <a:xfrm>
            <a:off x="5699455" y="6473952"/>
            <a:ext cx="5394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Thank You</a:t>
            </a:r>
            <a:endParaRPr lang="en-US" sz="900" dirty="0"/>
          </a:p>
        </p:txBody>
      </p:sp>
      <p:sp>
        <p:nvSpPr>
          <p:cNvPr id="9" name="Text 7"/>
          <p:cNvSpPr/>
          <p:nvPr/>
        </p:nvSpPr>
        <p:spPr>
          <a:xfrm>
            <a:off x="11185855" y="6473952"/>
            <a:ext cx="822960" cy="274320"/>
          </a:xfrm>
          <a:prstGeom prst="rect">
            <a:avLst/>
          </a:prstGeom>
          <a:noFill/>
          <a:ln/>
        </p:spPr>
        <p:txBody>
          <a:bodyPr wrap="square" lIns="0" tIns="0" rIns="0" bIns="0" rtlCol="0" anchor="ctr"/>
          <a:lstStyle/>
          <a:p>
            <a:pPr algn="r" indent="0" marL="0">
              <a:buNone/>
            </a:pPr>
            <a:r>
              <a:rPr lang="en-US" sz="900" dirty="0">
                <a:solidFill>
                  <a:srgbClr val="51606F"/>
                </a:solidFill>
                <a:latin typeface="Calibri" pitchFamily="34" charset="0"/>
                <a:ea typeface="Calibri" pitchFamily="34" charset="-122"/>
                <a:cs typeface="Calibri" pitchFamily="34" charset="-120"/>
              </a:rPr>
              <a:t>99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100</Slides>
  <Notes>100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100</vt:i4>
      </vt:variant>
    </vt:vector>
  </HeadingPairs>
  <TitlesOfParts>
    <vt:vector size="10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vector>
  </TitlesOfParts>
  <Company>CS650 — Artificial Intelligence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26: Robotics</dc:title>
  <dc:subject>PptxGenJS Presentation</dc:subject>
  <dc:creator>Prof. Fomba Kassoh</dc:creator>
  <cp:lastModifiedBy>Prof. Fomba Kassoh</cp:lastModifiedBy>
  <cp:revision>1</cp:revision>
  <dcterms:created xsi:type="dcterms:W3CDTF">2026-07-30T15:29:43Z</dcterms:created>
  <dcterms:modified xsi:type="dcterms:W3CDTF">2026-07-30T15:29:43Z</dcterms:modified>
</cp:coreProperties>
</file>