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19, Learning from Examples. Think about how a new nurse gets good at their job. Nobody hands them a rulebook that covers every possible patient. Instead, they see case after case, and slowly they get a feel for the patterns — this combination of symptoms usually means that. That is exactly what we are teaching a computer to do today. Every agent we've studied so far this semester acted on knowledge we handed it directly — a search heuristic we wrote, a set of logical rules we typed in. Today that changes: can the computer build its own sense of the patterns just by watching examples go by? That is the whole idea of machine learning, and it is probably the single most economically important idea to come out of this field. By the end of today you should be able to build a simple decision-making flowchart by hand from a handful of examples, explain why a model that gets every practice question right can still fail the real test, fit a straight line and a yes/no classifier using a simple hill-climbing trick, and describe at least three ways of combining many so-so guessers into one really good one. We'll use two running examples throughout: the textbook's own restaurant-waiting problem, and Northgate General Hospital, so you can see the same math never cares whether it's predicting a wait time or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map, and here's the plain-English version of each stop. 19.1 and 19.2 are vocabulary: what parts of an agent can even be learned, and what does 'learning' formally mean when there's no teacher standing over its shoulder. 19.3 is our first real model: decision trees, which are just automatically-built flowcharts of yes/no questions — think of the checklist a triage nurse mentally runs through. 19.4 and 19.5 step back and ask a very practical question every data scientist has to answer: how do I know my model is actually good, and not just lucky on the twelve examples I happened to test it on? 19.6 and 19.7 give us two more ways of guessing: drawing a best-fit line through data, and just asking 'who does this new case look most like?' Finally 19.8 and 19.9 show that a committee of so-so models often beats one expert model, and walk through what it actually takes to build a machine learning system a hospital, or any real organization, would trust with real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running examples all chapter long, chosen because they're both things anyone can picture. The first is the textbook's own: should we wait for a table at a restaurant, based on things like how many people are already seated, whether it's raining, and the host's wait estimate. It's deliberately tiny — twelve past visits — so we can work through the arithmetic by hand and actually check it, the way you'd check a recipe by cooking it once yourself. The second is Northgate General Hospital: Dr. Okafor and Nurse Mehta trying to decide, from a patient's symptoms and lab results, whether a case like Maria Santos's looks like appendicitis. Same basic shape as the restaurant problem — a handful of facts in, one decision out — just with higher stakes. Every time we build a new idea on the restaurant data, we'll sanity-check it against Northgate too, because a learning algorithm genuinely has no idea whether it's predicting a wait time or a diagnosis; it's the same machinery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19.1 asks a simple question: which part of a computer program can actually get better with practice, the way a person gets better at a skill? Section 19.2 then gives us the basic vocabulary we'll reuse for the rest of the chapter: what a training set is, what a 'hypothesis' means in this context, and what it means for a guess to hold up on new cases it hasn't seen. This is the foundation everything else in the chapter is built on, so we'll go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everything a person can get better at with practice — driving, recognizing faces, judging how much something matters. It turns out almost every one of those same things can be a target for machine learning too. A simple rule of thumb, like when to brake, can be picked up just by watching a human driver do it enough times. Recognizing things, like spotting a bus in a photo, can be learned from enough labeled examples. Even a sense of what matters — like realizing passengers hate sudden stops — can be learned from complaints after the fact. So why bother teaching a machine this way instead of just programming the right behavior directly? Two very human reasons. First, nobody can anticipate every situation in advance — exactly like you can't hand a new employee a rulebook that covers every possible day at work. Second, for some skills, nobody could write the rule down even if they tried — you recognize your best friend's face instantly and effortlessly, but you couldn't write step-by-step instructions for how you do it. That gap, between 'I can do it' and 'I can explain exactly how,' is precisely where machine learning steps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simplest way to sort all of machine learning into three buckets: does someone tell you the right answer while you're learning, or not? In supervised learning, yes — it's like studying with flashcards that have the answer printed on the back. At Northgate, the 'front of the card' is a patient's symptoms and labs, and the 'back of the card' is the confirmed diagnosis from surgery. This entire chapter is about that kind of learning. In unsupervised learning, there's no answer key at all — it's like sorting a messy junk drawer into piles with nobody telling you the categories; you just notice that certain things seem to belong together, the way a computer might notice that millions of random internet photos cluster into a group any person would call 'cats,' without ever being told that word. In reinforcement learning, it's like learning a video game purely by trial and error — you only find out at the very end whether you won or lost, and you have to work out for yourself which of your earlier moves actually deserved the credit or the blame. This chapter lives entirely in the flashcard world — supervised learning — and we'll properly meet the other two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formal definition, translated into plain terms: we're handed a stack of (situation, correct answer) pairs — flashcards, essentially — and our job is to guess a rule, h, that would have produced those same correct answers, and that we hope also works on flashcards we haven't seen yet. The correct answer on each card is called the ground truth. A hypothesis that gets every single practice card right is called consistent — sounds impressive, but hold that thought. Here's the crucial idea for the entire chapter, and it's exactly like studying for a real exam: the true measure of how good your rule is has nothing to do with how well it does on the practice questions you already have the answers to. It's about how well it does on the test set — brand-new questions where nobody's shown it the answer key in advance. A hospital model that perfectly reconstructs every past diagnosis but gets the next patient wrong is as useless as a student who memorized last year's exact test but can't answer this year's questions on the same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19.1 from the book, and it's the single most important picture in the early part of this chapter, so let's make it completely concrete. Imagine the exact same underlying pattern, but you happen to collect two slightly different batches of thirteen data points from it — the way two different weeks of restaurant visits would look slightly different even if diners' true preferences never changed. Try to guess the pattern four different ways. A straight line can't perfectly fit either batch, but barely changes between the two batches — stable, if a bit rigid. A wildly wiggly curve, on the other hand, can always be bent to fit thirteen points exactly — perfect on paper — but look how differently the two fitted curves swing at the edges. That instability is the real problem. Getting every practice question right is not the goal, ever. Two everyday words capture this: bias is like a stubborn friend who gives the same kind of advice no matter what — reliable, but sometimes blind to what's actually in front of them. Variance is like a friend whose advice changes wildly every single time you ask, even when nothing important changed — technically responsive, but not someone you can actually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usually a tradeoff, and it maps onto two very human failure modes. Underfitting is like a doctor who has exactly one diagnosis they hand out to everybody, regardless of symptoms — too simple, misses real patterns that are genuinely there. Overfitting is like a doctor who treats every tiny coincidence in one patient's file as deeply medically significant — too fussy, chasing noise instead of signal. Einstein put a version of this memorably in 1933: make the basic pieces as simple as possible, but no simpler than the data actually require. That traces back even further, to a fourteenth-century English monk named William of Ockham, and we still call the idea Ockham's Razor in his honor: don't invent more explanation than you actually need. Here's the honest catch: figuring out exactly how 'simple' something is turns out to be genuinely difficult — is a two-ingredient recipe simpler than a thirteen-ingredient one, obviously yes, but what about something with a billion tiny adjustable pieces that still somehow generalizes beautifully? We'll come back to that tension when we look at picking models carefully in Section 19.4.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running example we'll use all chapter, and it's deliberately something anyone can picture: deciding whether to wait for a table. It comes down to ten everyday facts — is there somewhere else nearby, is it the weekend, are we hungry, how packed does it look, and so on — and one everyday question: will we actually wait? Mix and match every possible combination of those ten facts and you get over nine thousand distinct situations — but we only have one person's actual decision for twelve of them, based on their real dining history. That gap — twelve known situations, over nine thousand unknown ones — is exactly the challenge every learning method in this chapter is trying to solve. It's no different in spirit from a new employee who's only seen a dozen customer situations but has to have some sensible instinct for the thousands of situations they haven't seen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longest section, and it's the one where we'll do the most hand-worked arithmetic. We'll define what a decision tree actually is — spoiler, it's just a flowchart — show it can represent basically any yes/no rule, build the tree-growing recipe from scratch, and then confront the exact same overfitting problem from 19.2 in a very concrete, countable form: pruning, meaning trimming back a flowchart that's gotten silly.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decision tree is genuinely just a flowchart, no more mysterious than that — the exact kind of checklist a triage nurse might mentally run through. Start at the top, answer one question about the situation, follow the arrow for your answer, repeat, and eventually you land on a decision. Following the restaurant flowchart, if the restaurant is packed and the wait is short, you follow those two arrows and land on 'yes, we'll wait.' Here's why this simple idea is actually powerful: any such flowchart can be rewritten as one big logical sentence — 'wait if (packed AND short wait) OR (empty AND we're hungry) OR ...' — one clause for every path through the tree that ends in 'yes.' That means decision trees aren't some limited toy representation; they can capture literally any yes/no rule expressible in plain logic. In fact, a lot of real-world 'how-to' manuals, like car-repair guides, are basically decision trees already — which is part of why humans find this representation so naturally easy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Flowcharts are wonderful for a lot of real problems, but not everything. Anything shaped like 'majority rules' — true whenever more than half the facts are true — needs an absurdly huge flowchart to represent, and so does anything shaped like 'true only when an even number of facts are true.' Geometrically, every question in a flowchart slices the world along one fact at a time, so it naturally draws boxy, straight-edged regions — a genuinely diagonal boundary, the kind you'd get if risk depended smoothly on two things added together, needs a staircase of tiny boxes to even approximate well, the way you'd need a lot of small Lego bricks to approximate a smooth curved wall. Is there some representation that's great at literally everything? No — with just twenty yes/no facts, the number of possible rules is so astronomically large that no small, tidy representation could capture them all. This is a gentle preview of a theme we'll meet again later: there's a real tradeoff between how expressive a representation is and how practical it is to actually search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recipe for growing a decision tree, and every one of the four cases is worth holding onto because they show up constantly in practice. If there's nobody left to ask for this particular branch, just go with whatever answer was most common among similar cases we do have — we simply never observed this exact combination before. If everyone remaining already agrees on the answer, we're done, no need to ask more questions. If we've run out of facts to ask about but people still disagree — same situation, different outcomes — that's just noise or an unmeasured factor, and the best we can do is go with the majority. Otherwise — the interesting case — we pick whichever single fact does the best job of separating the yes's from the no's, ask about it, and then repeat this entire process separately within each possible answer to that question. This is a greedy strategy: once we've picked a question, we never go back and reconsider it, we just keep subdividing. The one piece left undefined here is 'best job of separating' — and that's exactly what entropy and information gain, coming up next, pin down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formula, let's build the gut feeling with a concrete comparison. Ask 'what type of food is it' first, and you split diners into French, Italian, Thai, and burger — but every single one of those four groups still has exactly the same fifty-fifty split between people who waited and people who didn't. It's like trying to guess whether someone likes pizza by asking their favorite color — technically a question, but it tells you nothing useful. Ask 'how packed is it' first instead, and you get three groups: empty, some people, packed. The empty group is entirely 'no,' the some-people group is entirely 'yes' — both fully settled after just one question! Only the packed group still has a mix of answers, and it turns out asking 'are we hungry' works well specifically within that leftover group. That's the whole intuition entropy and information gain are about to make mathematically precise: how-packed-is-it genuinely tells you something; what-type-of-food doesn't, at least not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Entropy sounds intimidating, but think of it simply as a number for suspense — how curious should you still be about the outcome? A coin you know is rigged to always land heads has zero suspense: no uncertainty at all, you already know how it ends. A perfectly fair coin is maximum suspense for a two-outcome situation, and we call that exactly one bit. A coin that lands heads ninety-nine times out of a hundred has very little suspense left — you're already almost certain — which comes out to only about zero-point-oh-eight bits. Now apply that same idea to our restaurant data: six people waited, six people didn't, a perfectly even split, so the suspense is at its maximum, exactly one bit, before we've asked a single question. Every question we ask in the decision tree is really just an attempt to reduce that suspense as much as possible, as quickly as possible — and that's precisely what information gain, on the next slide, measures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gain is just 'how much suspense does asking this question remove,' which is exactly the 'most useful question' rule from a good round of Twenty Questions. Split the examples by some fact, add up how much suspense is left in each resulting group weighted by how big that group is — that's the remainder — and subtract it from the suspense we started with. That difference is the gain. Plug in the restaurant numbers: for how-packed-is-it, the empty group and the some-people group both have zero suspense left, completely settled, and only the packed group still has any real uncertainty — giving a gain of about zero-point-five-four-one bits. For what-type-of-food, every one of the four groups still has exactly the original fifty-fifty suspense, so the gain works out to precisely zero — mathematically confirming what we already sensed: it tells us nothing. How-packed-is-it turns out to have the biggest gain of any question available, exactly matching our earlier intuition, which is exactly why the tree-growing recipe picks 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recipe on our twelve restaurant examples and you get Figure 19.6 — and it looks nothing like the original, more elaborate flowchart from Figure 19.3! You might think the recipe did a bad job. That would be the wrong conclusion. The recipe only ever sees the examples, never the 'true' underlying rule, and its flowchart is not only completely consistent with all twelve examples — it's actually simpler than the original. It never bothers asking about rain or reservations, because it doesn't need to; it can already get every case right without them. It even stumbles onto something genuinely interesting nobody told it directly: this particular person will wait for Thai food specifically on weekends. That's real learning happening, not just memorization. But here's an honest catch worth naming: the recipe has never seen a case where the restaurant is packed but the wait is surprisingly short, so in that blind spot it currently guesses wrong, the same way a new employee might mishandle a situation they simply haven't encountered yet. More real experience — more training examples — would fix that blind spot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actually know a learned flowchart is good, rather than just lucky on the twelve examples we happened to have? We measure something called a learning curve: train on practice sets of increasing size, and each time check performance on a separate batch of brand-new cases it's never seen — exactly like giving a student progressively more practice exams and then always testing them on a fresh, unseen final. On a hundred restaurant-style examples, accuracy on new cases climbs steadily up to about ninety-five percent, and the curve still looks like it's rising, suggesting more practice would help further still. This connects directly back to overfitting: it becomes more likely the more facts you're tracking, and less likely the more real examples you have to learn from, because a flowchart with room for a hundred possible questions has vastly more room to accidentally memorize coincidences than one with room for only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Pruning starts with the full, possibly-too-fussy flowchart, then works backward, asking at each question near the bottom: is this actually telling us something real, or did we just get fooled by a coincidence in a small batch of examples? We check this with a real statistical test, the kind a scientist would use to check whether a pattern is real or just noise. We start by assuming the question is useless, work out what a boring, even split would look like under that assumption, and then measure how far the real data deviates from that boring expectation. A bigger gap is stronger evidence the question really mattered. For the restaurant data's 'type of food' question, that gap turns out to be small enough that we conclude it genuinely was useless — exactly matching what the information-gain arithmetic already told us — so we trim that whole branch away. One important warning, and it's tempting to get this wrong: don't stop growing the tree early just because no single question looks helpful at some point. That would miss situations, like an even-or-odd type pattern, where no single question helps on its own, but two questions together reveal a lot. Grow the whole tree first, then go back and trim — never stop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flowcharts need to handle a few more messy situations. First, continuous measurements like weight or wait time: rather than one branch per exact value, which would be useless — imagine a branch for every possible weight down to the ounce — we ask a threshold question instead, like 'over 160 pounds, yes or no?' Second, facts with tons of possible categories, like zip code, need care too, because you can end up with an almost-useless branch for nearly every single example, the same way sorting people strictly by their exact street address would give you groups of size one. Third, sometimes we want to predict a number, not a yes or no — a house's selling price, say — and for that we use a regression tree, where each branch ends not with a flat answer but with a small formula. At Northgate, a branch might end with something like 'expected length of stay is about two days, plus a bit more per year of the patient's age' for a specific cluster of symptoms. Decision trees do have a real weak spot worth naming honestly: they can be unstable, meaning one single new example can completely change the very first question the tree asks, and cascade through the whole thing — which is exactly the problem random forests, in Section 19.8, are designed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19.4 steps back from any one specific method and asks the very practical question every real project runs into: if I have several candidate models — or several settings of the same model's dials — how do I pick the best one without secretly cheating? And once we admit some mistakes are worse than others, how do we even define 'best' in the first place? Cross-validation and loss functions are the two big, very practical ideas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only ever going to build one single model, a simple practice-versus-exam split is enough. But real projects almost always compare several candidate models, or fiddle with several dials on the same model — hyperparameters, meaning the model's own settings, like how aggressively to trim a flowchart, as opposed to the specific flowchart it lands on. Here's a sneaky trap worth understanding: if you try one dial setting, peek at your final-exam score, try a different setting, peek again, no individual guess technically cheated — but you, the person running the experiment, quietly did cheat, just by repeatedly checking the answer key. The fix is to keep three genuinely separate piles: a practice set you actually study from, a practice-test set you use to decide between candidates and tune the dials, and a real exam, locked away completely untouched until you're totally finished experimenting, for one final, honest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you simply don't have enough patients, or enough restaurant visits, to carve out three genuinely separate piles? K-fold cross-validation squeezes more honest information out of limited data, the way a student with only one practice exam might split it into five sections and quiz themselves on each section after studying the other four. Concretely: split the data into, say, five equal chunks, then run five separate rounds, each time practicing on four chunks and quizzing yourself on the one you held back, rotating which chunk gets held back each round. Average all five quiz scores together, and you get a far steadier, more trustworthy estimate than any single lucky or unlucky split would give you. Five and ten chunks are popular choices — reliable, at the cost of five to ten times the work. The extreme version, where you hold back just one single example at a time, is called leave-one-out. One thing this absolutely does not replace: you still need a genuinely separate, completely untouched real exam at the very end for your final, honest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strategy is: try flowcharts (or models) of increasing complexity, and pick whichever one does best on your practice-test quiz, not your actual practice set. For decision trees on the restaurant problem, you get the classic U-shape: quiz performance improves as the tree grows from tiny to a good size, around seven questions, and then gets worse again as it starts memorizing coincidences instead of real patterns. But here's a genuine surprise worth remembering: for modern image-recognition models, the quiz score also starts out U-shaped, but then, well past the point where the model can already get every single practice example perfectly right, it starts improving again, all the way out to roughly a million adjustable settings. Why the difference? It seems to come down to what a model does with 'extra room' once it's already gotten everything right. Some model types — plain, unpruned flowcharts — use that extra room almost randomly once they've memorized the practice set. Others — big neural networks, forests of trees, boosted committees of models — keep finding genuinely useful new patterns with that extra room. Keep that exception in your back pocket; it matters again in Section 19.8.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we've talked about minimizing mistakes, meaning the fraction of wrong answers. That's a fine starting point, but it quietly assumes every mistake costs the same, which is often just not true — the same way a doctor wouldn't treat 'missed a serious illness' and 'ordered one unnecessary test' as equally bad outcomes, even though both are technically 'mistakes.' We formalize this with a scoring rule, called a loss function: how-far-off, how-far-off-squared, or simple right-or-wrong. At Northgate, this asymmetry is genuinely life-or-death: missing a real appendicitis case is far more costly than a false alarm that leads to an extra hour of observation, and a well-designed scoring rule should say so explicitly rather than pretending both mistakes are equally bad — exactly like the textbook's own spam-filter example, where letting real spam through the filter is treated as ten times worse than a false alarm. Since we can never actually see every possible future patient or diner, we always estimate this score using whatever real examples we happen to have, and pick whichever rule does best on that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Regularization is a direct alternative to trying out several sizes and checking each one against a quiz set: instead, bake a penalty for fanciness directly into the scoring itself. Total cost equals how-wrong-we-were plus a dial, lambda, times how-fancy-the-guess-is. Get lambda right, and it nicely balances how well a simple rule fits against how much a complicated one tends to just memorize coincidences — like a strict editor with a fixed threshold for cutting any clever-sounding sentence that isn't really pulling its weight. This is really the same underlying idea as the chi-squared pruning test from Section 19.3.4, just phrased as a built-in preference rather than an after-the-fact statistical check. For curve-fitting specifically, a natural way to measure fanciness is how large the curve's coefficients are — keeping those small steers us away from the wildly wiggly curve we saw back in Figure 19.1. We'll make this completely concrete, with real numbers, when we reach straight-line fitting in Section 19.6.3, including the well-known picture comparing two different flavors of this penalty.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there are several dials to tune at once — say, how aggressively to trim the tree and the smallest group size worth splitting — trying things one at a time isn't enough. Trying every combination on a grid is fine for one or two dials, but explodes fast beyond that. Trying random combinations instead often works surprisingly well, especially with several dials or smooth, continuous ones. When each attempt is expensive and slow, it helps to treat 'which settings work best' as its own learning problem — balancing trying a setting close to one you know already works against trying something genuinely new, the exact same explore-versus-exploit tradeoff we saw back with Monte Carlo tree search. One more clever approach trains a whole batch of models at once with different dial settings, and then lets the successful settings 'breed' into the next batch — borrowed directly from how evolution and natural selection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19.5 asks the question sitting underneath everything so far: how do we know a rule that fits our practice examples will actually hold up on cases it hasn't seen? It turns out there's a genuine, calculable answer, called PAC learning — probably approximately correct — and we'll work through exactly what that guarantee promises, and what it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a learned rule is close to the truth, when we don't even know what the truth actually is? Think of a food inspector who can't possibly taste every single dish a restaurant serves, but who can sample enough dishes to become genuinely, statistically confident about the whole kitchen. PAC learning formalizes exactly that idea. We define a rule's error rate as how often it would get fooled on a random new case, assuming the future statistically resembles the past. A rule is 'approximately correct' if that error rate is below some small tolerance we pick in advance. Here's the key insight: a badly wrong rule has some real chance of accidentally looking right on a handful of examples, purely by luck — the way a genuinely bad restaurant might get lucky and serve you three good dishes in a row. But the more examples in a row it would have to accidentally get right, the smaller that lucky-streak chance shrinks, and it shrinks exponentially fast. Work through the math and you get a very concrete, calculable answer for how many examples we need before we can be confident, at some chosen level, that a rule surviving that many tests isn't just a lucky streak.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sobering discovery hiding underneath that food-inspector idea. If you allow literally any possible yes/no rule as a candidate, the haystack of candidates is so enormous that PAC-learning it would require seeing almost every possible situation there is — basically defeating the whole point of learning from a manageable sample. The reason is almost philosophical: that haystack is so rich that for any batch of examples you've already seen, there are exactly as many surviving candidate rules that would guess 'yes' on the next case as would guess 'no.' Getting every practice example right, in that setting, tells you absolutely nothing about the next one. There are three genuine ways out of this, and you've actually already met two of them. First, bring real-world common sense to bear before you even start guessing. Second, prefer simple, tidy explanations over convoluted ones — that's just Ockham's Razor again, now backed by real, calculable math. Third, and this is what we look at next: restrict yourself in advance to some smaller, genuinely sensible family of rules, rather than 'anything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genuinely restricted, sensible family where the PAC guarantee actually pays off: decision lists, which are just a short, numbered list of simple if-this-then-that rules, checked in order from top to bottom, stopping at the first one that matches. The example on screen reads plainly: we'll wait if there are some people already waiting, or if it's packed and it's the weekend. As long as we limit each individual rule on the list to mentioning only a handful of facts at a time, the entire family of possible lists stays small enough — unlike the 'anything goes' haystack from the last slide — that a reasonable number of practice examples genuinely does tell you something trustworthy about the next case. The learning recipe itself is refreshingly simple and greedy: repeatedly find any short rule that perfectly explains some chunk of the remaining examples, tack it onto the growing list, remove those examples, and keep going with whatever's left. Run this on the restaurant data and it does slightly worse than the full flowchart approach, but both comfortably clear ninety percent accuracy after a hundred examples — real, working, genuinely trustworthy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set flowcharts aside and pick up an idea that's centuries old: drawing the best-fit straight line through a scatter of points. We'll fit a line by hand with simple algebra, then introduce a general-purpose hill-climbing trick that works even when there's no tidy algebra shortcut, then stretch everything to handle many facts at once, and finally show how that exact same straight-line idea, bent just slightly, becomes a yes/no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straight-line guess is exactly what it sounds like: predicted value equals some slope times the input, plus some starting point. Fitting a line to data means finding the slope and starting point that make the total ‘miss’ across every data point as small as possible, where we square each miss so that big misses count extra — the same intuition as a golf score that punishes a bad hole more than a slightly-off one. Because that total-miss score, graphed against every possible slope and starting point, forms a smooth bowl shape with exactly one lowest point — not a bumpy hillside with multiple dips — basic calculus hands us the exact best answer directly, no trial and error needed. For the textbook's real example, Berkeley house prices against square footage in 2009, that best-fit line comes out to about two hundred forty-six thousand dollars, plus roughly twenty-three cents for every extra square foot. In some sense that's the whole story for this simplest case: fit a line, apply the formula, done. The next slide introduces a trick that becomes necessary the moment things get more complicated than this nice, clean special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descent is exactly like walking downhill in thick fog: you can't see the bottom of the valley from where you're standing, but you can feel which direction slopes downward right under your feet, take a small step that way, and repeat. That's all this formula says: nudge each dial a little bit in whatever direction currently reduces your total miss score, and keep doing that until you stop improving. Checking every single data point before each step is careful and guaranteed to eventually reach the bottom, but can be painfully slow if you have a huge pile of data — like re-reading your entire notebook before deciding on every single next move. Checking just one random example per step is much faster, and works well when new data is constantly streaming in, though each individual step is a bit noisier and less certain. In practice we usually split the difference, checking a small batch each time — say a hundred examples out of ten thousand — which cuts the work per step by a hundred while only needing roughly ten times more steps overall, a clear net win. This exact same walking-downhill idea comes back almost unchanged when we get to yes/no classifying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Stretching this to handle several facts at once — not just square footage, but square footage and number of bedrooms and age of the house all together — turns out to be almost anticlimactic. The predicted value is just each fact multiplied by its own importance weight, all added together, plus a baseline starting point. The walking-downhill trick barely changes either: at each step, nudge every single weight a little in whatever direction reduces the total miss, all at once. And there's still a tidy algebra shortcut available for those who'd rather solve it directly. But there is a genuinely new risk worth flagging honestly: once you're juggling many facts at once, some completely irrelevant one can, purely by coincidence, appear to matter in your particular batch of data — the way that, purely by chance, houses sold on a Tuesday might happen to average slightly higher prices in your sample, without Tuesday actually mattering at all. That's a kind of overfitting that can sneak into even the simplest straight-line model once there are enough facts involved, which is exactly why the next slide's idea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common flavors of 'don't get too fancy,' and they behave surprisingly differently. The strict-editor flavor tends to zero out an irrelevant fact's weight entirely, essentially declaring 'this one just isn't worth mentioning at all' — producing a leaner, easier-to-explain model, not unlike how a decision tree simply never bothers asking about a fact that doesn't help it. The gentle-trim flavor instead shrinks every weight a little bit, but almost never zeroes any of them out completely, so every fact keeps at least a small say in the final answer. Which one should you pick? It genuinely depends on the situation. The strict-editor flavor is the right choice when your facts aren't really interchangeable — it wouldn't make sense to blend 'number of bathrooms' with 'lot size' as if rotating between them didn't matter. The gentle-trim flavor is more appropriate when the facts genuinely are interchangeable in some mathematical sense, where it wouldn't matter which direction you happened to measure things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straight line can classify just as naturally as it can predict a number: draw a dividing line through the data, and whichever side of the line a new case falls on tells you the guess — yes or no. The rule for finding a good dividing line looks almost identical to the straight-line-fitting rule from before, and it's guaranteed to eventually find a perfect dividing line — but only when the yes's and no's really can be cleanly separated by a straight line in the first place. The textbook's own example makes the failure case vivid: telling apart earthquakes from underground explosions using two seismic measurements. Add in a few genuinely messy, borderline cases and this simple rule can flail forever, occasionally stumbling onto a good-enough dividing line but never actually settling down and staying there — like someone who keeps second-guessing a decision that was already good enough. The fix is to gradually take smaller and smaller steps as time goes on, the same way you naturally slow your car down as you get close to the parking spot rather than braking at full force the whole way in — and that provably settles down eventually, even on messy, non-separable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plain on/off version from the last slide has real problems: it's twitchy to train, and it always announces total, unwavering confidence — a flat yes or a flat no — even for cases sitting right on the fence. This version fixes both by replacing the on/off light switch with something more like a dimmer switch: a smooth, gradual confidence level between zero and a hundred percent. Now the output genuinely means 'how confident are we,' landing at fifty percent right at the boundary and approaching certainty the further away you get. That's directly useful at Northgate: instead of a flat yes-or-no on appendicitis, this kind of model hands Dr. Okafor an actual confidence level to weigh against everything else he knows. The learning rule looks almost identical to the earlier ones, just with one extra adjustment coming from how a smooth dimmer switch mathematically behaves. Repeat the earthquake experiment with this dimmer-switch version instead of the flat on/off version, and it's slower to settle on perfectly separable data, but dramatically steadier and more reliable on messy, real-world data — exactly why it's become one of the most widely used tools in medicine, marketing, credit scoring, and public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method so far — flowcharts of bounded size, straight-line and dimmer-switch models — boils the training data down into a small, fixed-size summary, and then the original data itself can be thrown away. This section takes the opposite approach: keep every example around, and let the effective complexity of your model grow along with how much data you actually have. We'll look closely at 'who's-most-similar-to-me' style prediction, and touch briefly on a related idea called kernels.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straight-line model boils all its training data down into just a couple of numbers — a slope and a starting point. Once trained, you could genuinely throw away every original data point and lose nothing, because it's all captured in those two numbers. That's what we mean by boiling it down, or a parametric approach. The opposite philosophy simply keeps every single example around and compares new cases directly against them — like an experienced doctor or mechanic who never reduces their years of experience to a tidy formula, but instead says 'this reminds me of a case I saw last year' every single time. The connect-the-dots curve from Figure 19.1, which literally traces through every data point, is exactly this kind of model. When data is scarce, boiling it down to a firm, simple structure helps avoid getting fooled by coincidences. But when you have millions of examples and not much prior sense of the right formula, forcing all of that through a tidy little summary can throw away real, useful signal — sometimes it really is better to just let the data speak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basic just-keep-everything idea would be exact lookup: store every past case, and if a new case exactly matches one you've seen, return that answer — which fails constantly, since almost no new case will be an exact match. A much better version asks 'who does this new case most resemble?' Find the handful of most similar past cases — measuring similarity in some sensible, fact-by-fact way — and for a yes/no decision, go with whatever the majority of them decided, like asking a small panel of similar past patients what actually happened in their cases. For predicting a number, average what those similar cases turned out to be instead of voting. Compare against just the single most similar case, and you're at the mercy of one weird outlier — the textbook's own seismic example shows this getting fooled badly by individual quirky data points. Compare against, say, the five most similar cases, and that noise mostly washes out; compare against far too many, though, and you start blurring together cases that genuinely aren't that similar anymore, and lose real signal. Exactly the same practice-test-quiz trick from Section 19.4 tells you the right number to compare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idea worth knowing before we move to combining models: rather than just any straight dividing line that happens to separate two groups, find the one with the widest possible safety margin on both sides — like parking exactly in the center of a parking space instead of brushing right up against one line, giving yourself the most room for error. Real data is almost never perfectly tidy, so we also allow a few genuine exceptions to sit on the 'wrong' side of the line, with a penalty proportional to how far out of place they are. The truly clever trick is this: imagine mathematically lifting all your data points up into a richer, higher-dimensional view of the world — like lifting a tangle of flat, overlapping shadows up into three dimensions where they suddenly don't overlap at all — and it turns out you can compute exactly what a straight line would do in that richer view, without ever actually having to compute the richer view point by point. That's how a method built entirely on straight lines underneath can still end up drawing genuinely curved, flexible boundaries back in the ordinary, everyday view of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up to now has trained one single model and used it alone. This section asks: what if we train several, and combine their answers by voting or averaging, like a committee? It turns out this can help in two genuinely different ways — making the group smarter than any one member, and making the group's answer steadier and less swayed by any one member's blind spots. We'll cover four concrete recipes: bagging, random forests, stacking, and boosting, which is the single most widely used of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genuinely distinct reasons a committee of models tends to beat a single expert model, and both map onto very human intuitions about committees. First, a committee can simply see more: one straight dividing line can only ever separate the world one simple way, but combine three of them with an 'all three must agree' rule, and suddenly you can carve out a triangular region that no single line could ever draw on its own — at only three times the cost, far cheaper than building one giant, maximally flexible model from scratch. Second, a committee cancels out noise: imagine five independent doctors, each individually right seventy-five percent of the time on their own. Put them to a majority vote and, if their mistakes are genuinely independent of each other, the group is right eighty-nine percent of the time; with seventeen such doctors, ninety-nine percent. Of course, real doctors — and real models — share training, share assumptions, and share some of the same blind spots, so it's never quite this perfect in practice. But as long as the committee members are at least somewhat independent in their mistakes, the group still ends up more reliable than any single member. We'll look at four concrete ways to build exactly that kind of useful, partial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Bagging is like handing several different groups of students the same overall pool of practice questions, but letting each group study a randomly reshuffled, overlapping subset of them — some questions repeated, some skipped entirely, purely by chance. Each group ends up with its own slightly different sense of the material, and you combine their final answers by majority vote for a yes/no question, or by averaging for a number. This is especially useful paired with flowcharts specifically, because a single flowchart is famously twitchy — one different example in the practice set can completely change the very first question it asks, and bagging smooths that jumpiness out. Random forests push this a step further with a second, independent source of randomness: at every single question in every tree, only let it consider a random handful of facts rather than all of them. This stops every tree in the committee from just converging on the exact same first question and effectively becoming twenty copies of the same tree wearing different hats. A nice practical bonus: you get something like a free built-in practice quiz, using only the trees that happened to skip a given example during their own training, essentially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directly back to the strange exception we flagged in Section 19.4. It's been mathematically proven that, in almost every case, adding more trees to a random forest only ever helps or holds steady — it never starts actively hurting the way a single, overgrown flowchart eventually does. Here's the intuition. The randomness makes every tree in the forest genuinely a little different from the others, which is exactly what lets a committee cancel out noise the way we discussed a couple slides ago. And because no single tree in the forest needs to be pruned back on its own — the committee as a whole handles the risk of getting too fancy — each individual tree can still zoom in on fine detail, capturing rare cases that show up only a handful of times in the data. Those rare-case specialists can be decisive exactly when their specific situation comes up, while simply getting outvoted the rest of the time when it doesn't apply. Random forests have an outstanding real-world track record: the most popular approach among winners of major data-science competitions from 2011 through 2014, and still a strong, reliable default choice today across finance, mechanical fault diagnosis, and medicine.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Bagging combines many copies of the same kind of model, just trained on reshuffled data. Stacking instead combines genuinely different kinds of models — say a curve-fitter, a dimmer-switch classifier, and a flowchart — all trained on the very same practice data. Then, using your held-out practice-test data, you add each of the three experts' guesses as extra columns, and train one final 'manager' model whose entire job is deciding how much to trust each underlying expert. That manager model might learn something as simple as a weighted average of the three, or something more nuanced, like specifically trusting the flowchart more whenever the wait time is unusually long. The name comes from picturing a layer of expert models with a manager model stacked directly on top of them, and you can even stack several such layers if you want. This is a favorite technique among winning teams in real data-science competitions, precisely because it lets each team member independently perfect their own favorite expert model, and then the whole team combines everyone's work together right at the very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Boosting works exactly like a good tutor: quiz the student, notice which specific problems they got wrong, and focus the very next study session heavily on exactly those problems, while spending less time on the ones they already have down cold. Concretely: start with every practice example weighted equally, train one simple model, then bump up the weight on whatever it got wrong and lower the weight on whatever it got right. Train the next simple model on this reweighted, tricky-case-focused set, and repeat several times. Notice this has to happen one round at a time — unlike bagging, you can't train all these models simultaneously, because each one depends on knowing what the previous ones got wrong. The final answer is a weighted vote, where models that turned out more accurate earn more say than models that struggled. Here's a genuinely remarkable, provable guarantee: even if each individual model in the committee is only barely better than flipping a coin — what's called a weak learner — boosting enough of them together, focused progressively on each other's mistakes, can eventually drive practice-set mistakes all the way down to zero. That's a striking result: this trick can overcome almost any amount of individual weakness, as long as each model brings at least a tiny bit of genuine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boosting made completely concrete, and it holds a real surprise. A single, extremely simple rule — just one yes/no question — only gets eighty-one percent right on its own on the restaurant data. Boost five of these simple rules together, focusing each new one on the previous ones' mistakes, and accuracy jumps to ninety-three percent. Keep going, and by around twenty simple rules, the committee gets a perfect one hundred percent on the practice set — it has genuinely memorized every example. Here's the part that surprised researchers when they first noticed it: real-world accuracy, on brand-new cases, keeps climbing well past that point, rising from ninety-five percent at twenty rules all the way up to ninety-eight percent around a hundred thirty-seven rules, before eventually settling back down. Ordinary common sense — don't add complexity you don't need — would predict adding more rules to an already-perfect-fitting committee should start hurting, not helping. One proposed explanation: extra committee members let the whole group become more confident specifically near the boundary between yes and no, and that added confidence, not complexity for its own sake, is what pays off when a brand-new case comes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useful extensions worth knowing about. Gradient boosting is a smoother cousin of the boosting idea: rather than simply reweighting the specific examples a model got wrong, each new model chases the actual gap between the right answers and wherever the committee's current best guess currently stands — a more refined version of 'focus on what we're still getting wrong.' It's implemented in extremely popular real-world tools and powers a huge share of both industrial-scale applications and winning entries in modern data-science competitions. Separately, all of this so far has quietly assumed the world holds still while we learn. Online learning drops that assumption and asks: what happens if the rules themselves are actively shifting underneath us, the way spam constantly evolves as spammers adapt their tactics the moment a filter catches on? The basic idea is to keep a running scorecard on a whole panel of 'expert' predictors and trust each one in proportion to how well they've actually performed lately, rather than trusting them all equally forever. Remarkably, there's a real, calculable mathematical limit on how much worse this approach can possibly do compared to the single best expert in hindsight, even in the worst possible case — a genuinely reassuring guarantee for an otherwise unpredictable, shifting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up to now has been about the models themselves. This final section is deliberately practical and down-to-earth: how do real machine learning projects actually get built, from figuring out the right question to ask, through collecting and cleaning data, choosing and explaining a model, all the way to keeping a live system healthy after it ships. This is the part of the chapter that separates a classroom exercise from a system Dr. Okafor's hospital, or any real organization, would actually be willing to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writing a single line of model code, get painfully specific about the actual problem. 'Help patients understand their risk' is too vague to build anything against; 'predict, from vitals and labs, the chance a given patient needs urgent surgical evaluation' is specific enough to actually engineer toward. You need a genuine scoring rule, and it's worth being honest that this rule is usually just a stand-in for your real goal, not identical to it — correctly predicting a label correlates with better patient outcomes, but it isn't literally the same thing, and that gap matters in practice. Sometimes there's a genuine choice of learning style: a small amount of reliably labeled data plus a much larger pool of unlabeled data, or labels that are somewhat noisy or imprecise rather than perfectly trustworthy. And here's a subtle trap worth flagging specifically for Northgate: even the 'answer key' itself — confirmed diagnoses — isn't automatically perfect truth; charts can contain honest mistakes and inconsistencies, which is itself a kind of noise a careful project has to plan around from day one, rather than assume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single column of your data, you should be able to say exactly what it means, where it came from, and whether that meaning ever quietly changed over time — the same due diligence you'd want before trusting a family recipe passed down with no written instructions. The textbook is blunt that a well-organized, well-understood data pipeline matters more to a project's success than the exact choice of learning method. Watch specifically for lopsided data: a fraud data set with ten million ordinary transactions and only a thousand fraudulent ones lets a model that always guesses 'ordinary' claim ninety-nine point ninety-nine percent accuracy while being completely useless — fixes include deliberately showing the model more of the rare cases, fewer of the boring ones, or penalizing a missed rare case more heavily in the scoring. Watch for outliers too: curve-fitting methods get thrown badly off balance by them, since they have to draw one single line that accounts for every point, while flowchart-style methods, which handle regions of the data locally, are naturally more forgiving of one oddball case. When data is scarce, you can even manufacture more examples — rotating or cropping images slightly, say — without changing the true underlying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Pedro Domingos put it plainly: some machine learning projects succeed and some fail, and easily the most important factor separating the two is the facts you chose to feed the model, not the fancy method itself. Bucketing takes an exact number and groups it into a handful of ranges — our restaurant data's own wait-time categories, short, medium, long, very long, are already a perfect example of this. Turning a category like sunny, cloudy, or rainy into three separate yes/no facts, exactly one of which is true at a time, is especially helpful for certain kinds of models that expect plain numeric inputs. And genuine common sense lets you invent entirely new, more useful facts: a plain calendar date becomes far more informative once you derive whether it falls on a weekend or holiday. At Northgate, the same idea applies directly — raw vital signs are useful on their own, but a derived fact like hours since symptoms first started, or the recent trend in a lab value across the last few readings, often carries far more genuine diagnostic signal than any single raw number in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modeling anything, it genuinely pays to just look at your data — simple charts, simple summaries, purely to build understanding, not yet to predict anything. This alone often reveals missing values, obvious data-entry errors, or natural groupings you didn't even expect. There are also special techniques for flattening complicated, many-fact data down into a simple two-dimensional picture a human eye can actually take in — apply one to a famous data set of handwritten digit images, each with hundreds of individual pixel-facts, and it reveals ten clear, distinct clusters, one per digit, with just a few understandable mix-ups at the edges. Once you actually understand your data, choosing a model becomes deliberate rather than accidental. Random forests are a good default when you have lots of categorical facts and suspect several don't really matter. Just-keep-everything methods shine with lots of data, not much prior sense of the right formula, and a manageable number of facts. Dimmer-switch and straight-line methods do well when the yes's and no's are already roughly separable. And pattern-recognition problems like images or speech are almost always best tackled with deep neural networks, which we'll cover properly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false alarm means flagging something completely normal as if it were the very thing you're hunting for — legitimate email as spam, or a perfectly healthy patient as high-risk. There's always a real tradeoff between false alarms and missed real cases: tighten your threshold to catch more real cases, and you'll inevitably let through more false alarms too, there's genuinely no free lunch here. A simple chart can plot every possible tradeoff point at once, letting you actually see and choose where on that spectrum you want to sit, rather than guessing blindly. That entire chart can even be boiled down into one single summary number, handy for a quick side-by-side comparison between two candidate models. But a single overall accuracy score, or even that one summary number, can genuinely hide important detail — which is why a full breakdown table, showing exactly which categories get confused with which other categories, matters too. At Northgate, overall accuracy might look great while quietly hiding that appendicitis specifically gets confused with ordinary stomach flu more often than you'd want — exactly the kind of thing only that full breakdown table would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ideas get used loosely, but there's a genuinely useful distinction hiding underneath them. A model is interpretable if you can look directly at the model itself and understand why it landed on a particular answer, the same way you can follow a friend's chain of reasoning if they walk you through their thinking step by step. Flowcharts are naturally like this — humans are already comfortable following a chain of if-this-then-that questions, and the flowchart was, in a sense, deliberately built to ask its most useful question first. Straight-line models are interpretable too: 'every extra bedroom adds about five hundred dollars to predicted rent' is a plain, readable, checkable statement. Explainability is different: a model is explainable if some separate, after-the-fact process can explain a specific decision in plain terms, even when the underlying model genuinely is a black box, like some complex neural network. One well-known tool does exactly this — it probes a black-box model with lots of nearby 'what if' variations and builds a simple, honest, local explanation just for that one specific decision. This distinction has real legal teeth: regulations like the European Union's GDPR legally require certain automated systems to provide explanations, no matter what kind of model is actually running underneath the 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challenges hit the moment you actually ship something. First, real users will inevitably bring you situations your testing never covered, no matter how thorough that testing was — so you need genuine, ongoing, live monitoring, not just a one-time report card from before launch. Second, the world itself keeps shifting: the moment you successfully catch a batch of spam, spammers notice and change their tactics, the same way any adversary adapts once they realize you've caught on to their old approach. The textbook offers a genuinely practical health checklist for this, organized into four everyday buckets. Data and facts: is every single fact you're feeding the model actually pulling its weight, and is privacy being respected? Building the model: has someone else reviewed it, are the dials properly tuned, is it being checked carefully across every important group of people, not just on average? The plumbing behind it: can you reliably rebuild it from scratch, is it carefully tested before a full rollout, can you quickly undo a bad update if something goes wrong? And ongoing health checks: do you get alerted the moment it goes stale, gets slower, or starts quietly making worse guesses than before? This is the checklist that separates a classroom project from a system Northgate could genuinely stake patient care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tie it all together in plain terms. Learning takes many shapes depending on what part of a system we're improving and what kind of feedback is available. Supervised learning means guessing a rule from an answer key, and then — this is the crucial part — actually checking that rule against fresh questions it's never seen, not just admiring how well it does on the practice set. Decision-tree flowcharts, grown by always asking the single most useful question first, can represent basically any yes/no rule you could write down, and pruning is our concrete tool for trimming one back once it's gotten too fussy. A genuine practice-test quiz, combined with a built-in preference for simplicity, keeps us honest when comparing candidate models, and a thoughtful scoring rule accounts for the fact that some mistakes are simply worse than others. PAC learning theory gives us an actual, calculable answer to 'how many examples do we need,' not just a vague rule of thumb. Straight-line and dimmer-switch models, trained by walking downhill one small step at a time, handle predicting numbers and yes/no answers respectively; just-keep-everything methods let large piles of data speak for themselves rather than forcing them through a tidy formula. Combining many models into a committee — bagging, random forests, stacking, and especially boosting — usually beats trusting any single model alone. And finally, none of this matters if you can't build, honestly grade, genuinely explain, and responsibly maintain the system once it's actually live — that discipline is exactly what Section 19.9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Chapter 19. Before next time, make sure you can do three things cold, in plain terms: build a small flowchart by hand from a handful of examples using the most-useful-question-first idea, explain in your own words why a rule that aces every practice question can still be a bad rule, and describe the difference between a model you can see-into yourself versus one that just comes with a separate explanation, with a concrete example of each. Next chapter, Knowledge in Learning, asks what changes when the learner isn't starting completely from scratch — when it already knows something useful going in, and can use that head start to learn faster from less data.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54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2540"/>
          </a:solidFill>
          <a:ln/>
        </p:spPr>
      </p:sp>
      <p:sp>
        <p:nvSpPr>
          <p:cNvPr id="3" name="Text 1"/>
          <p:cNvSpPr/>
          <p:nvPr/>
        </p:nvSpPr>
        <p:spPr>
          <a:xfrm>
            <a:off x="822960" y="1417320"/>
            <a:ext cx="10515600" cy="457200"/>
          </a:xfrm>
          <a:prstGeom prst="rect">
            <a:avLst/>
          </a:prstGeom>
          <a:noFill/>
          <a:ln/>
        </p:spPr>
        <p:txBody>
          <a:bodyPr wrap="square" rtlCol="0" anchor="ctr"/>
          <a:lstStyle/>
          <a:p>
            <a:pPr indent="0" marL="0">
              <a:buNone/>
            </a:pPr>
            <a:r>
              <a:rPr lang="en-US" sz="1500" b="1" spc="200" kern="0" dirty="0">
                <a:solidFill>
                  <a:srgbClr val="F0A828"/>
                </a:solidFill>
                <a:latin typeface="Calibri" pitchFamily="34" charset="0"/>
                <a:ea typeface="Calibri" pitchFamily="34" charset="-122"/>
                <a:cs typeface="Calibri" pitchFamily="34" charset="-120"/>
              </a:rPr>
              <a:t>CHAPTER 19 · WEEK 13</a:t>
            </a:r>
            <a:endParaRPr lang="en-US" sz="1500" dirty="0"/>
          </a:p>
        </p:txBody>
      </p:sp>
      <p:sp>
        <p:nvSpPr>
          <p:cNvPr id="4" name="Text 2"/>
          <p:cNvSpPr/>
          <p:nvPr/>
        </p:nvSpPr>
        <p:spPr>
          <a:xfrm>
            <a:off x="822960" y="1874520"/>
            <a:ext cx="10515600" cy="13716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Learning from Examples</a:t>
            </a:r>
            <a:endParaRPr lang="en-US" sz="4400" dirty="0"/>
          </a:p>
        </p:txBody>
      </p:sp>
      <p:sp>
        <p:nvSpPr>
          <p:cNvPr id="5" name="Text 3"/>
          <p:cNvSpPr/>
          <p:nvPr/>
        </p:nvSpPr>
        <p:spPr>
          <a:xfrm>
            <a:off x="822960" y="3246120"/>
            <a:ext cx="9875520" cy="914400"/>
          </a:xfrm>
          <a:prstGeom prst="rect">
            <a:avLst/>
          </a:prstGeom>
          <a:noFill/>
          <a:ln/>
        </p:spPr>
        <p:txBody>
          <a:bodyPr wrap="square" rtlCol="0" anchor="ctr"/>
          <a:lstStyle/>
          <a:p>
            <a:pPr indent="0" marL="0">
              <a:buNone/>
            </a:pPr>
            <a:r>
              <a:rPr lang="en-US" sz="1800" i="1" dirty="0">
                <a:solidFill>
                  <a:srgbClr val="D7E2F2"/>
                </a:solidFill>
                <a:latin typeface="Calibri" pitchFamily="34" charset="0"/>
                <a:ea typeface="Calibri" pitchFamily="34" charset="-122"/>
                <a:cs typeface="Calibri" pitchFamily="34" charset="-120"/>
              </a:rPr>
              <a:t>How a computer turns a pile of past cases into a rule it can trust on cases it has never seen — the same way a new nurse gets better at reading charts after seeing enough patients.</a:t>
            </a:r>
            <a:endParaRPr lang="en-US" sz="1800" dirty="0"/>
          </a:p>
        </p:txBody>
      </p:sp>
      <p:sp>
        <p:nvSpPr>
          <p:cNvPr id="6" name="Text 4"/>
          <p:cNvSpPr/>
          <p:nvPr/>
        </p:nvSpPr>
        <p:spPr>
          <a:xfrm>
            <a:off x="822960" y="6126480"/>
            <a:ext cx="9875520" cy="365760"/>
          </a:xfrm>
          <a:prstGeom prst="rect">
            <a:avLst/>
          </a:prstGeom>
          <a:noFill/>
          <a:ln/>
        </p:spPr>
        <p:txBody>
          <a:bodyPr wrap="square" rtlCol="0" anchor="ctr"/>
          <a:lstStyle/>
          <a:p>
            <a:pPr indent="0" marL="0">
              <a:buNone/>
            </a:pPr>
            <a:r>
              <a:rPr lang="en-US" sz="1200" dirty="0">
                <a:solidFill>
                  <a:srgbClr val="5B6B80"/>
                </a:solidFill>
                <a:latin typeface="Calibri" pitchFamily="34" charset="0"/>
                <a:ea typeface="Calibri" pitchFamily="34" charset="-122"/>
                <a:cs typeface="Calibri" pitchFamily="34" charset="-120"/>
              </a:rPr>
              <a:t>CS650 · Artificial Intelligence · Russell &amp; Norvig, 4th Edition</a:t>
            </a:r>
            <a:endParaRPr lang="en-US" sz="1200" dirty="0"/>
          </a:p>
        </p:txBody>
      </p:sp>
      <p:sp>
        <p:nvSpPr>
          <p:cNvPr id="7" name="Shape 5"/>
          <p:cNvSpPr/>
          <p:nvPr/>
        </p:nvSpPr>
        <p:spPr>
          <a:xfrm>
            <a:off x="822960" y="5989320"/>
            <a:ext cx="3840480" cy="0"/>
          </a:xfrm>
          <a:prstGeom prst="line">
            <a:avLst/>
          </a:prstGeom>
          <a:noFill/>
          <a:ln w="25400">
            <a:solidFill>
              <a:srgbClr val="F0A82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000" b="1" dirty="0">
                <a:solidFill>
                  <a:srgbClr val="122540"/>
                </a:solidFill>
                <a:latin typeface="Cambria" pitchFamily="34" charset="0"/>
                <a:ea typeface="Cambria" pitchFamily="34" charset="-122"/>
                <a:cs typeface="Cambria" pitchFamily="34" charset="-120"/>
              </a:rPr>
              <a:t>How This Chapter Unfolds</a:t>
            </a:r>
            <a:endParaRPr lang="en-US" sz="3000" dirty="0"/>
          </a:p>
        </p:txBody>
      </p:sp>
      <p:sp>
        <p:nvSpPr>
          <p:cNvPr id="3" name="Text 1"/>
          <p:cNvSpPr/>
          <p:nvPr/>
        </p:nvSpPr>
        <p:spPr>
          <a:xfrm>
            <a:off x="640080" y="1005840"/>
            <a:ext cx="10881360" cy="457200"/>
          </a:xfrm>
          <a:prstGeom prst="rect">
            <a:avLst/>
          </a:prstGeom>
          <a:noFill/>
          <a:ln/>
        </p:spPr>
        <p:txBody>
          <a:bodyPr wrap="square" rtlCol="0" anchor="ctr"/>
          <a:lstStyle/>
          <a:p>
            <a:pPr indent="0" marL="0">
              <a:buNone/>
            </a:pPr>
            <a:r>
              <a:rPr lang="en-US" sz="1600" i="1" dirty="0">
                <a:solidFill>
                  <a:srgbClr val="5B6B80"/>
                </a:solidFill>
                <a:latin typeface="Calibri" pitchFamily="34" charset="0"/>
                <a:ea typeface="Calibri" pitchFamily="34" charset="-122"/>
                <a:cs typeface="Calibri" pitchFamily="34" charset="-120"/>
              </a:rPr>
              <a:t>From “what is learning” to a complete, real-world machine learning system</a:t>
            </a:r>
            <a:endParaRPr lang="en-US" sz="1600" dirty="0"/>
          </a:p>
        </p:txBody>
      </p:sp>
      <p:sp>
        <p:nvSpPr>
          <p:cNvPr id="4" name="Shape 2"/>
          <p:cNvSpPr/>
          <p:nvPr/>
        </p:nvSpPr>
        <p:spPr>
          <a:xfrm>
            <a:off x="640080" y="1691640"/>
            <a:ext cx="10881360" cy="630936"/>
          </a:xfrm>
          <a:prstGeom prst="rect">
            <a:avLst/>
          </a:prstGeom>
          <a:solidFill>
            <a:srgbClr val="F7F9FC"/>
          </a:solidFill>
          <a:ln w="9525">
            <a:solidFill>
              <a:srgbClr val="DCE3ED"/>
            </a:solidFill>
            <a:prstDash val="solid"/>
          </a:ln>
        </p:spPr>
      </p:sp>
      <p:sp>
        <p:nvSpPr>
          <p:cNvPr id="5" name="Text 3"/>
          <p:cNvSpPr/>
          <p:nvPr/>
        </p:nvSpPr>
        <p:spPr>
          <a:xfrm>
            <a:off x="868680" y="1764792"/>
            <a:ext cx="1188720" cy="484632"/>
          </a:xfrm>
          <a:prstGeom prst="rect">
            <a:avLst/>
          </a:prstGeom>
          <a:noFill/>
          <a:ln/>
        </p:spPr>
        <p:txBody>
          <a:bodyPr wrap="square" rtlCol="0" anchor="ctr"/>
          <a:lstStyle/>
          <a:p>
            <a:pPr indent="0" marL="0">
              <a:buNone/>
            </a:pPr>
            <a:r>
              <a:rPr lang="en-US" sz="1800" b="1" dirty="0">
                <a:solidFill>
                  <a:srgbClr val="F0A828"/>
                </a:solidFill>
                <a:latin typeface="Cambria" pitchFamily="34" charset="0"/>
                <a:ea typeface="Cambria" pitchFamily="34" charset="-122"/>
                <a:cs typeface="Cambria" pitchFamily="34" charset="-120"/>
              </a:rPr>
              <a:t>19.1–19.2</a:t>
            </a:r>
            <a:endParaRPr lang="en-US" sz="1800" dirty="0"/>
          </a:p>
        </p:txBody>
      </p:sp>
      <p:sp>
        <p:nvSpPr>
          <p:cNvPr id="6" name="Text 4"/>
          <p:cNvSpPr/>
          <p:nvPr/>
        </p:nvSpPr>
        <p:spPr>
          <a:xfrm>
            <a:off x="2103120" y="1764792"/>
            <a:ext cx="3566160" cy="484632"/>
          </a:xfrm>
          <a:prstGeom prst="rect">
            <a:avLst/>
          </a:prstGeom>
          <a:noFill/>
          <a:ln/>
        </p:spPr>
        <p:txBody>
          <a:bodyPr wrap="square" rtlCol="0" anchor="ctr"/>
          <a:lstStyle/>
          <a:p>
            <a:pPr indent="0" marL="0">
              <a:buNone/>
            </a:pPr>
            <a:r>
              <a:rPr lang="en-US" sz="1400" b="1" dirty="0">
                <a:solidFill>
                  <a:srgbClr val="122540"/>
                </a:solidFill>
                <a:latin typeface="Calibri" pitchFamily="34" charset="0"/>
                <a:ea typeface="Calibri" pitchFamily="34" charset="-122"/>
                <a:cs typeface="Calibri" pitchFamily="34" charset="-120"/>
              </a:rPr>
              <a:t>Forms &amp; Supervised Learning</a:t>
            </a:r>
            <a:endParaRPr lang="en-US" sz="1400" dirty="0"/>
          </a:p>
        </p:txBody>
      </p:sp>
      <p:sp>
        <p:nvSpPr>
          <p:cNvPr id="7" name="Text 5"/>
          <p:cNvSpPr/>
          <p:nvPr/>
        </p:nvSpPr>
        <p:spPr>
          <a:xfrm>
            <a:off x="5760720" y="1764792"/>
            <a:ext cx="5577840" cy="484632"/>
          </a:xfrm>
          <a:prstGeom prst="rect">
            <a:avLst/>
          </a:prstGeom>
          <a:noFill/>
          <a:ln/>
        </p:spPr>
        <p:txBody>
          <a:bodyPr wrap="square" rtlCol="0" anchor="ctr"/>
          <a:lstStyle/>
          <a:p>
            <a:pPr indent="0" marL="0">
              <a:buNone/>
            </a:pPr>
            <a:r>
              <a:rPr lang="en-US" sz="1250" dirty="0">
                <a:solidFill>
                  <a:srgbClr val="5B6B80"/>
                </a:solidFill>
                <a:latin typeface="Calibri" pitchFamily="34" charset="0"/>
                <a:ea typeface="Calibri" pitchFamily="34" charset="-122"/>
                <a:cs typeface="Calibri" pitchFamily="34" charset="-120"/>
              </a:rPr>
              <a:t>What kinds of things a computer can learn, and the basic vocabulary we'll use all chapter.</a:t>
            </a:r>
            <a:endParaRPr lang="en-US" sz="1250" dirty="0"/>
          </a:p>
        </p:txBody>
      </p:sp>
      <p:sp>
        <p:nvSpPr>
          <p:cNvPr id="8" name="Shape 6"/>
          <p:cNvSpPr/>
          <p:nvPr/>
        </p:nvSpPr>
        <p:spPr>
          <a:xfrm>
            <a:off x="640080" y="2432304"/>
            <a:ext cx="10881360" cy="630936"/>
          </a:xfrm>
          <a:prstGeom prst="rect">
            <a:avLst/>
          </a:prstGeom>
          <a:solidFill>
            <a:srgbClr val="F7F9FC"/>
          </a:solidFill>
          <a:ln w="9525">
            <a:solidFill>
              <a:srgbClr val="DCE3ED"/>
            </a:solidFill>
            <a:prstDash val="solid"/>
          </a:ln>
        </p:spPr>
      </p:sp>
      <p:sp>
        <p:nvSpPr>
          <p:cNvPr id="9" name="Text 7"/>
          <p:cNvSpPr/>
          <p:nvPr/>
        </p:nvSpPr>
        <p:spPr>
          <a:xfrm>
            <a:off x="868680" y="2505456"/>
            <a:ext cx="1188720" cy="484632"/>
          </a:xfrm>
          <a:prstGeom prst="rect">
            <a:avLst/>
          </a:prstGeom>
          <a:noFill/>
          <a:ln/>
        </p:spPr>
        <p:txBody>
          <a:bodyPr wrap="square" rtlCol="0" anchor="ctr"/>
          <a:lstStyle/>
          <a:p>
            <a:pPr indent="0" marL="0">
              <a:buNone/>
            </a:pPr>
            <a:r>
              <a:rPr lang="en-US" sz="1800" b="1" dirty="0">
                <a:solidFill>
                  <a:srgbClr val="F0A828"/>
                </a:solidFill>
                <a:latin typeface="Cambria" pitchFamily="34" charset="0"/>
                <a:ea typeface="Cambria" pitchFamily="34" charset="-122"/>
                <a:cs typeface="Cambria" pitchFamily="34" charset="-120"/>
              </a:rPr>
              <a:t>19.3</a:t>
            </a:r>
            <a:endParaRPr lang="en-US" sz="1800" dirty="0"/>
          </a:p>
        </p:txBody>
      </p:sp>
      <p:sp>
        <p:nvSpPr>
          <p:cNvPr id="10" name="Text 8"/>
          <p:cNvSpPr/>
          <p:nvPr/>
        </p:nvSpPr>
        <p:spPr>
          <a:xfrm>
            <a:off x="2103120" y="2505456"/>
            <a:ext cx="3566160" cy="484632"/>
          </a:xfrm>
          <a:prstGeom prst="rect">
            <a:avLst/>
          </a:prstGeom>
          <a:noFill/>
          <a:ln/>
        </p:spPr>
        <p:txBody>
          <a:bodyPr wrap="square" rtlCol="0" anchor="ctr"/>
          <a:lstStyle/>
          <a:p>
            <a:pPr indent="0" marL="0">
              <a:buNone/>
            </a:pPr>
            <a:r>
              <a:rPr lang="en-US" sz="1400" b="1" dirty="0">
                <a:solidFill>
                  <a:srgbClr val="122540"/>
                </a:solidFill>
                <a:latin typeface="Calibri" pitchFamily="34" charset="0"/>
                <a:ea typeface="Calibri" pitchFamily="34" charset="-122"/>
                <a:cs typeface="Calibri" pitchFamily="34" charset="-120"/>
              </a:rPr>
              <a:t>Learning Decision Trees</a:t>
            </a:r>
            <a:endParaRPr lang="en-US" sz="1400" dirty="0"/>
          </a:p>
        </p:txBody>
      </p:sp>
      <p:sp>
        <p:nvSpPr>
          <p:cNvPr id="11" name="Text 9"/>
          <p:cNvSpPr/>
          <p:nvPr/>
        </p:nvSpPr>
        <p:spPr>
          <a:xfrm>
            <a:off x="5760720" y="2505456"/>
            <a:ext cx="5577840" cy="484632"/>
          </a:xfrm>
          <a:prstGeom prst="rect">
            <a:avLst/>
          </a:prstGeom>
          <a:noFill/>
          <a:ln/>
        </p:spPr>
        <p:txBody>
          <a:bodyPr wrap="square" rtlCol="0" anchor="ctr"/>
          <a:lstStyle/>
          <a:p>
            <a:pPr indent="0" marL="0">
              <a:buNone/>
            </a:pPr>
            <a:r>
              <a:rPr lang="en-US" sz="1250" dirty="0">
                <a:solidFill>
                  <a:srgbClr val="5B6B80"/>
                </a:solidFill>
                <a:latin typeface="Calibri" pitchFamily="34" charset="0"/>
                <a:ea typeface="Calibri" pitchFamily="34" charset="-122"/>
                <a:cs typeface="Calibri" pitchFamily="34" charset="-120"/>
              </a:rPr>
              <a:t>Building a yes/no flowchart from examples — like a doctor's triage checklist, but discovered automatically.</a:t>
            </a:r>
            <a:endParaRPr lang="en-US" sz="1250" dirty="0"/>
          </a:p>
        </p:txBody>
      </p:sp>
      <p:sp>
        <p:nvSpPr>
          <p:cNvPr id="12" name="Shape 10"/>
          <p:cNvSpPr/>
          <p:nvPr/>
        </p:nvSpPr>
        <p:spPr>
          <a:xfrm>
            <a:off x="640080" y="3172968"/>
            <a:ext cx="10881360" cy="630936"/>
          </a:xfrm>
          <a:prstGeom prst="rect">
            <a:avLst/>
          </a:prstGeom>
          <a:solidFill>
            <a:srgbClr val="F7F9FC"/>
          </a:solidFill>
          <a:ln w="9525">
            <a:solidFill>
              <a:srgbClr val="DCE3ED"/>
            </a:solidFill>
            <a:prstDash val="solid"/>
          </a:ln>
        </p:spPr>
      </p:sp>
      <p:sp>
        <p:nvSpPr>
          <p:cNvPr id="13" name="Text 11"/>
          <p:cNvSpPr/>
          <p:nvPr/>
        </p:nvSpPr>
        <p:spPr>
          <a:xfrm>
            <a:off x="868680" y="3246120"/>
            <a:ext cx="1188720" cy="484632"/>
          </a:xfrm>
          <a:prstGeom prst="rect">
            <a:avLst/>
          </a:prstGeom>
          <a:noFill/>
          <a:ln/>
        </p:spPr>
        <p:txBody>
          <a:bodyPr wrap="square" rtlCol="0" anchor="ctr"/>
          <a:lstStyle/>
          <a:p>
            <a:pPr indent="0" marL="0">
              <a:buNone/>
            </a:pPr>
            <a:r>
              <a:rPr lang="en-US" sz="1800" b="1" dirty="0">
                <a:solidFill>
                  <a:srgbClr val="F0A828"/>
                </a:solidFill>
                <a:latin typeface="Cambria" pitchFamily="34" charset="0"/>
                <a:ea typeface="Cambria" pitchFamily="34" charset="-122"/>
                <a:cs typeface="Cambria" pitchFamily="34" charset="-120"/>
              </a:rPr>
              <a:t>19.4–19.5</a:t>
            </a:r>
            <a:endParaRPr lang="en-US" sz="1800" dirty="0"/>
          </a:p>
        </p:txBody>
      </p:sp>
      <p:sp>
        <p:nvSpPr>
          <p:cNvPr id="14" name="Text 12"/>
          <p:cNvSpPr/>
          <p:nvPr/>
        </p:nvSpPr>
        <p:spPr>
          <a:xfrm>
            <a:off x="2103120" y="3246120"/>
            <a:ext cx="3566160" cy="484632"/>
          </a:xfrm>
          <a:prstGeom prst="rect">
            <a:avLst/>
          </a:prstGeom>
          <a:noFill/>
          <a:ln/>
        </p:spPr>
        <p:txBody>
          <a:bodyPr wrap="square" rtlCol="0" anchor="ctr"/>
          <a:lstStyle/>
          <a:p>
            <a:pPr indent="0" marL="0">
              <a:buNone/>
            </a:pPr>
            <a:r>
              <a:rPr lang="en-US" sz="1400" b="1" dirty="0">
                <a:solidFill>
                  <a:srgbClr val="122540"/>
                </a:solidFill>
                <a:latin typeface="Calibri" pitchFamily="34" charset="0"/>
                <a:ea typeface="Calibri" pitchFamily="34" charset="-122"/>
                <a:cs typeface="Calibri" pitchFamily="34" charset="-120"/>
              </a:rPr>
              <a:t>Model Selection &amp; Theory</a:t>
            </a:r>
            <a:endParaRPr lang="en-US" sz="1400" dirty="0"/>
          </a:p>
        </p:txBody>
      </p:sp>
      <p:sp>
        <p:nvSpPr>
          <p:cNvPr id="15" name="Text 13"/>
          <p:cNvSpPr/>
          <p:nvPr/>
        </p:nvSpPr>
        <p:spPr>
          <a:xfrm>
            <a:off x="5760720" y="3246120"/>
            <a:ext cx="5577840" cy="484632"/>
          </a:xfrm>
          <a:prstGeom prst="rect">
            <a:avLst/>
          </a:prstGeom>
          <a:noFill/>
          <a:ln/>
        </p:spPr>
        <p:txBody>
          <a:bodyPr wrap="square" rtlCol="0" anchor="ctr"/>
          <a:lstStyle/>
          <a:p>
            <a:pPr indent="0" marL="0">
              <a:buNone/>
            </a:pPr>
            <a:r>
              <a:rPr lang="en-US" sz="1250" dirty="0">
                <a:solidFill>
                  <a:srgbClr val="5B6B80"/>
                </a:solidFill>
                <a:latin typeface="Calibri" pitchFamily="34" charset="0"/>
                <a:ea typeface="Calibri" pitchFamily="34" charset="-122"/>
                <a:cs typeface="Calibri" pitchFamily="34" charset="-120"/>
              </a:rPr>
              <a:t>How to tell a genuinely good model from a lucky-looking one, with real guarantees.</a:t>
            </a:r>
            <a:endParaRPr lang="en-US" sz="1250" dirty="0"/>
          </a:p>
        </p:txBody>
      </p:sp>
      <p:sp>
        <p:nvSpPr>
          <p:cNvPr id="16" name="Shape 14"/>
          <p:cNvSpPr/>
          <p:nvPr/>
        </p:nvSpPr>
        <p:spPr>
          <a:xfrm>
            <a:off x="640080" y="3913632"/>
            <a:ext cx="10881360" cy="630936"/>
          </a:xfrm>
          <a:prstGeom prst="rect">
            <a:avLst/>
          </a:prstGeom>
          <a:solidFill>
            <a:srgbClr val="F7F9FC"/>
          </a:solidFill>
          <a:ln w="9525">
            <a:solidFill>
              <a:srgbClr val="DCE3ED"/>
            </a:solidFill>
            <a:prstDash val="solid"/>
          </a:ln>
        </p:spPr>
      </p:sp>
      <p:sp>
        <p:nvSpPr>
          <p:cNvPr id="17" name="Text 15"/>
          <p:cNvSpPr/>
          <p:nvPr/>
        </p:nvSpPr>
        <p:spPr>
          <a:xfrm>
            <a:off x="868680" y="3986784"/>
            <a:ext cx="1188720" cy="484632"/>
          </a:xfrm>
          <a:prstGeom prst="rect">
            <a:avLst/>
          </a:prstGeom>
          <a:noFill/>
          <a:ln/>
        </p:spPr>
        <p:txBody>
          <a:bodyPr wrap="square" rtlCol="0" anchor="ctr"/>
          <a:lstStyle/>
          <a:p>
            <a:pPr indent="0" marL="0">
              <a:buNone/>
            </a:pPr>
            <a:r>
              <a:rPr lang="en-US" sz="1800" b="1" dirty="0">
                <a:solidFill>
                  <a:srgbClr val="F0A828"/>
                </a:solidFill>
                <a:latin typeface="Cambria" pitchFamily="34" charset="0"/>
                <a:ea typeface="Cambria" pitchFamily="34" charset="-122"/>
                <a:cs typeface="Cambria" pitchFamily="34" charset="-120"/>
              </a:rPr>
              <a:t>19.6–19.7</a:t>
            </a:r>
            <a:endParaRPr lang="en-US" sz="1800" dirty="0"/>
          </a:p>
        </p:txBody>
      </p:sp>
      <p:sp>
        <p:nvSpPr>
          <p:cNvPr id="18" name="Text 16"/>
          <p:cNvSpPr/>
          <p:nvPr/>
        </p:nvSpPr>
        <p:spPr>
          <a:xfrm>
            <a:off x="2103120" y="3986784"/>
            <a:ext cx="3566160" cy="484632"/>
          </a:xfrm>
          <a:prstGeom prst="rect">
            <a:avLst/>
          </a:prstGeom>
          <a:noFill/>
          <a:ln/>
        </p:spPr>
        <p:txBody>
          <a:bodyPr wrap="square" rtlCol="0" anchor="ctr"/>
          <a:lstStyle/>
          <a:p>
            <a:pPr indent="0" marL="0">
              <a:buNone/>
            </a:pPr>
            <a:r>
              <a:rPr lang="en-US" sz="1400" b="1" dirty="0">
                <a:solidFill>
                  <a:srgbClr val="122540"/>
                </a:solidFill>
                <a:latin typeface="Calibri" pitchFamily="34" charset="0"/>
                <a:ea typeface="Calibri" pitchFamily="34" charset="-122"/>
                <a:cs typeface="Calibri" pitchFamily="34" charset="-120"/>
              </a:rPr>
              <a:t>Linear &amp; Nonparametric Models</a:t>
            </a:r>
            <a:endParaRPr lang="en-US" sz="1400" dirty="0"/>
          </a:p>
        </p:txBody>
      </p:sp>
      <p:sp>
        <p:nvSpPr>
          <p:cNvPr id="19" name="Text 17"/>
          <p:cNvSpPr/>
          <p:nvPr/>
        </p:nvSpPr>
        <p:spPr>
          <a:xfrm>
            <a:off x="5760720" y="3986784"/>
            <a:ext cx="5577840" cy="484632"/>
          </a:xfrm>
          <a:prstGeom prst="rect">
            <a:avLst/>
          </a:prstGeom>
          <a:noFill/>
          <a:ln/>
        </p:spPr>
        <p:txBody>
          <a:bodyPr wrap="square" rtlCol="0" anchor="ctr"/>
          <a:lstStyle/>
          <a:p>
            <a:pPr indent="0" marL="0">
              <a:buNone/>
            </a:pPr>
            <a:r>
              <a:rPr lang="en-US" sz="1250" dirty="0">
                <a:solidFill>
                  <a:srgbClr val="5B6B80"/>
                </a:solidFill>
                <a:latin typeface="Calibri" pitchFamily="34" charset="0"/>
                <a:ea typeface="Calibri" pitchFamily="34" charset="-122"/>
                <a:cs typeface="Calibri" pitchFamily="34" charset="-120"/>
              </a:rPr>
              <a:t>Fitting straight lines and “who's-most-similar-to-me” style predictions.</a:t>
            </a:r>
            <a:endParaRPr lang="en-US" sz="1250" dirty="0"/>
          </a:p>
        </p:txBody>
      </p:sp>
      <p:sp>
        <p:nvSpPr>
          <p:cNvPr id="20" name="Shape 18"/>
          <p:cNvSpPr/>
          <p:nvPr/>
        </p:nvSpPr>
        <p:spPr>
          <a:xfrm>
            <a:off x="640080" y="4654296"/>
            <a:ext cx="10881360" cy="630936"/>
          </a:xfrm>
          <a:prstGeom prst="rect">
            <a:avLst/>
          </a:prstGeom>
          <a:solidFill>
            <a:srgbClr val="F7F9FC"/>
          </a:solidFill>
          <a:ln w="9525">
            <a:solidFill>
              <a:srgbClr val="DCE3ED"/>
            </a:solidFill>
            <a:prstDash val="solid"/>
          </a:ln>
        </p:spPr>
      </p:sp>
      <p:sp>
        <p:nvSpPr>
          <p:cNvPr id="21" name="Text 19"/>
          <p:cNvSpPr/>
          <p:nvPr/>
        </p:nvSpPr>
        <p:spPr>
          <a:xfrm>
            <a:off x="868680" y="4727448"/>
            <a:ext cx="1188720" cy="484632"/>
          </a:xfrm>
          <a:prstGeom prst="rect">
            <a:avLst/>
          </a:prstGeom>
          <a:noFill/>
          <a:ln/>
        </p:spPr>
        <p:txBody>
          <a:bodyPr wrap="square" rtlCol="0" anchor="ctr"/>
          <a:lstStyle/>
          <a:p>
            <a:pPr indent="0" marL="0">
              <a:buNone/>
            </a:pPr>
            <a:r>
              <a:rPr lang="en-US" sz="1800" b="1" dirty="0">
                <a:solidFill>
                  <a:srgbClr val="F0A828"/>
                </a:solidFill>
                <a:latin typeface="Cambria" pitchFamily="34" charset="0"/>
                <a:ea typeface="Cambria" pitchFamily="34" charset="-122"/>
                <a:cs typeface="Cambria" pitchFamily="34" charset="-120"/>
              </a:rPr>
              <a:t>19.8–19.9</a:t>
            </a:r>
            <a:endParaRPr lang="en-US" sz="1800" dirty="0"/>
          </a:p>
        </p:txBody>
      </p:sp>
      <p:sp>
        <p:nvSpPr>
          <p:cNvPr id="22" name="Text 20"/>
          <p:cNvSpPr/>
          <p:nvPr/>
        </p:nvSpPr>
        <p:spPr>
          <a:xfrm>
            <a:off x="2103120" y="4727448"/>
            <a:ext cx="3566160" cy="484632"/>
          </a:xfrm>
          <a:prstGeom prst="rect">
            <a:avLst/>
          </a:prstGeom>
          <a:noFill/>
          <a:ln/>
        </p:spPr>
        <p:txBody>
          <a:bodyPr wrap="square" rtlCol="0" anchor="ctr"/>
          <a:lstStyle/>
          <a:p>
            <a:pPr indent="0" marL="0">
              <a:buNone/>
            </a:pPr>
            <a:r>
              <a:rPr lang="en-US" sz="1400" b="1" dirty="0">
                <a:solidFill>
                  <a:srgbClr val="122540"/>
                </a:solidFill>
                <a:latin typeface="Calibri" pitchFamily="34" charset="0"/>
                <a:ea typeface="Calibri" pitchFamily="34" charset="-122"/>
                <a:cs typeface="Calibri" pitchFamily="34" charset="-120"/>
              </a:rPr>
              <a:t>Ensembles &amp; Practice</a:t>
            </a:r>
            <a:endParaRPr lang="en-US" sz="1400" dirty="0"/>
          </a:p>
        </p:txBody>
      </p:sp>
      <p:sp>
        <p:nvSpPr>
          <p:cNvPr id="23" name="Text 21"/>
          <p:cNvSpPr/>
          <p:nvPr/>
        </p:nvSpPr>
        <p:spPr>
          <a:xfrm>
            <a:off x="5760720" y="4727448"/>
            <a:ext cx="5577840" cy="484632"/>
          </a:xfrm>
          <a:prstGeom prst="rect">
            <a:avLst/>
          </a:prstGeom>
          <a:noFill/>
          <a:ln/>
        </p:spPr>
        <p:txBody>
          <a:bodyPr wrap="square" rtlCol="0" anchor="ctr"/>
          <a:lstStyle/>
          <a:p>
            <a:pPr indent="0" marL="0">
              <a:buNone/>
            </a:pPr>
            <a:r>
              <a:rPr lang="en-US" sz="1250" dirty="0">
                <a:solidFill>
                  <a:srgbClr val="5B6B80"/>
                </a:solidFill>
                <a:latin typeface="Calibri" pitchFamily="34" charset="0"/>
                <a:ea typeface="Calibri" pitchFamily="34" charset="-122"/>
                <a:cs typeface="Calibri" pitchFamily="34" charset="-120"/>
              </a:rPr>
              <a:t>Why a committee of models usually beats one expert, and how real ML systems actually get built and trusted.</a:t>
            </a:r>
            <a:endParaRPr lang="en-US" sz="1250" dirty="0"/>
          </a:p>
        </p:txBody>
      </p:sp>
      <p:sp>
        <p:nvSpPr>
          <p:cNvPr id="24" name="Text 22"/>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1 of 61</a:t>
            </a:r>
            <a:endParaRPr lang="en-US" sz="1000" dirty="0"/>
          </a:p>
        </p:txBody>
      </p:sp>
      <p:sp>
        <p:nvSpPr>
          <p:cNvPr id="25" name="Text 23"/>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RUNNING EXAMPLES</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Two Domains, One Toolkit</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The Restaurant Waiting Problem (the textbook's own example) and Northgate General Hospital</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Domain 1: Should We Wait for a Table?</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Ten simple facts about a restaurant — how busy it looks, whether it's raining, how long the wait is — and one answer: will we wait, yes or no.</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Small enough that we can work through the whole thing by hand, like solving a puzzle on paper.</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Every method in this chapter gets tried on this same little data set, so you can compare them side by side.</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Domain 2: Northgate General Hospital</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Dr. James Okafor and Nurse Priya Mehta deciding, from a patient's symptoms and labs, whether a case like Maria Santos's looks like appendicitis.</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Same basic shape as the restaurant problem: a handful of facts in, one decision out.</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Whenever an idea works on the restaurant data, we check it also makes sense at Northgate — because the math doesn't care what it's predicting.</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2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540"/>
        </a:solidFill>
      </p:bgPr>
    </p:bg>
    <p:spTree>
      <p:nvGrpSpPr>
        <p:cNvPr id="1" name=""/>
        <p:cNvGrpSpPr/>
        <p:nvPr/>
      </p:nvGrpSpPr>
      <p:grpSpPr>
        <a:xfrm>
          <a:off x="0" y="0"/>
          <a:ext cx="0" cy="0"/>
          <a:chOff x="0" y="0"/>
          <a:chExt cx="0" cy="0"/>
        </a:xfrm>
      </p:grpSpPr>
      <p:sp>
        <p:nvSpPr>
          <p:cNvPr id="2" name="Text 0"/>
          <p:cNvSpPr/>
          <p:nvPr/>
        </p:nvSpPr>
        <p:spPr>
          <a:xfrm>
            <a:off x="822960" y="2286000"/>
            <a:ext cx="3657600" cy="1188720"/>
          </a:xfrm>
          <a:prstGeom prst="rect">
            <a:avLst/>
          </a:prstGeom>
          <a:noFill/>
          <a:ln/>
        </p:spPr>
        <p:txBody>
          <a:bodyPr wrap="square" rtlCol="0" anchor="ctr"/>
          <a:lstStyle/>
          <a:p>
            <a:pPr indent="0" marL="0">
              <a:buNone/>
            </a:pPr>
            <a:r>
              <a:rPr lang="en-US" sz="6000" b="1" dirty="0">
                <a:solidFill>
                  <a:srgbClr val="F0A828"/>
                </a:solidFill>
                <a:latin typeface="Cambria" pitchFamily="34" charset="0"/>
                <a:ea typeface="Cambria" pitchFamily="34" charset="-122"/>
                <a:cs typeface="Cambria" pitchFamily="34" charset="-120"/>
              </a:rPr>
              <a:t>19.1 – 19.2</a:t>
            </a:r>
            <a:endParaRPr lang="en-US" sz="6000" dirty="0"/>
          </a:p>
        </p:txBody>
      </p:sp>
      <p:sp>
        <p:nvSpPr>
          <p:cNvPr id="3" name="Text 1"/>
          <p:cNvSpPr/>
          <p:nvPr/>
        </p:nvSpPr>
        <p:spPr>
          <a:xfrm>
            <a:off x="822960" y="3337560"/>
            <a:ext cx="96012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Forms of Learning &amp; Supervised Learning</a:t>
            </a:r>
            <a:endParaRPr lang="en-US" sz="3200" dirty="0"/>
          </a:p>
        </p:txBody>
      </p:sp>
      <p:sp>
        <p:nvSpPr>
          <p:cNvPr id="4" name="Text 2"/>
          <p:cNvSpPr/>
          <p:nvPr/>
        </p:nvSpPr>
        <p:spPr>
          <a:xfrm>
            <a:off x="822960" y="4160520"/>
            <a:ext cx="9144000" cy="731520"/>
          </a:xfrm>
          <a:prstGeom prst="rect">
            <a:avLst/>
          </a:prstGeom>
          <a:noFill/>
          <a:ln/>
        </p:spPr>
        <p:txBody>
          <a:bodyPr wrap="square" rtlCol="0" anchor="ctr"/>
          <a:lstStyle/>
          <a:p>
            <a:pPr indent="0" marL="0">
              <a:buNone/>
            </a:pPr>
            <a:r>
              <a:rPr lang="en-US" sz="1600" i="1" dirty="0">
                <a:solidFill>
                  <a:srgbClr val="D7E2F2"/>
                </a:solidFill>
                <a:latin typeface="Calibri" pitchFamily="34" charset="0"/>
                <a:ea typeface="Calibri" pitchFamily="34" charset="-122"/>
                <a:cs typeface="Calibri" pitchFamily="34" charset="-120"/>
              </a:rPr>
              <a:t>What can a computer actually learn, and what does “learning from examples” even mean?</a:t>
            </a:r>
            <a:endParaRPr lang="en-US" sz="1600" dirty="0"/>
          </a:p>
        </p:txBody>
      </p:sp>
      <p:sp>
        <p:nvSpPr>
          <p:cNvPr id="5" name="Text 3"/>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3 of 61</a:t>
            </a:r>
            <a:endParaRPr lang="en-US" sz="1000" dirty="0"/>
          </a:p>
        </p:txBody>
      </p:sp>
      <p:sp>
        <p:nvSpPr>
          <p:cNvPr id="6" name="Text 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19.1</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What Exactly Can Be Learned?</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Almost any part of how a program behaves can be improved with practice — just like almost any skill a person has</a:t>
            </a:r>
            <a:endParaRPr lang="en-US" sz="1400" dirty="0"/>
          </a:p>
        </p:txBody>
      </p:sp>
      <p:sp>
        <p:nvSpPr>
          <p:cNvPr id="5" name="Text 3"/>
          <p:cNvSpPr/>
          <p:nvPr/>
        </p:nvSpPr>
        <p:spPr>
          <a:xfrm>
            <a:off x="548640" y="1691640"/>
            <a:ext cx="667512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 simple rule of thumb — like a driver learning when to brake, just from watching a human do it.</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How to recognize things — like learning to spot a bus in a photo after seeing thousands of labeled pictures.</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How the world reacts to actions — like learning that braking hard on a wet road behaves differently than on a dry one.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What matters and how much — like learning that passengers really dislike sudden stops.</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Even bigger-picture things: goals, how good an action looks in hindsight, and the very process of noticing mistakes and improving.</a:t>
            </a:r>
            <a:endParaRPr lang="en-US" sz="1350" dirty="0"/>
          </a:p>
        </p:txBody>
      </p:sp>
      <p:sp>
        <p:nvSpPr>
          <p:cNvPr id="6" name="Shape 4"/>
          <p:cNvSpPr/>
          <p:nvPr/>
        </p:nvSpPr>
        <p:spPr>
          <a:xfrm>
            <a:off x="7498080" y="1691640"/>
            <a:ext cx="4114800" cy="4572000"/>
          </a:xfrm>
          <a:prstGeom prst="rect">
            <a:avLst/>
          </a:prstGeom>
          <a:solidFill>
            <a:srgbClr val="D7E2F2"/>
          </a:solidFill>
          <a:ln w="12700">
            <a:solidFill>
              <a:srgbClr val="F0A828"/>
            </a:solidFill>
            <a:prstDash val="solid"/>
          </a:ln>
        </p:spPr>
      </p:sp>
      <p:sp>
        <p:nvSpPr>
          <p:cNvPr id="7" name="Text 5"/>
          <p:cNvSpPr/>
          <p:nvPr/>
        </p:nvSpPr>
        <p:spPr>
          <a:xfrm>
            <a:off x="7726680" y="1828800"/>
            <a:ext cx="3657600" cy="320040"/>
          </a:xfrm>
          <a:prstGeom prst="rect">
            <a:avLst/>
          </a:prstGeom>
          <a:noFill/>
          <a:ln/>
        </p:spPr>
        <p:txBody>
          <a:bodyPr wrap="square" rtlCol="0" anchor="ctr"/>
          <a:lstStyle/>
          <a:p>
            <a:pPr indent="0" marL="0">
              <a:buNone/>
            </a:pPr>
            <a:r>
              <a:rPr lang="en-US" sz="1350" b="1" dirty="0">
                <a:solidFill>
                  <a:srgbClr val="122540"/>
                </a:solidFill>
                <a:latin typeface="Calibri" pitchFamily="34" charset="0"/>
                <a:ea typeface="Calibri" pitchFamily="34" charset="-122"/>
                <a:cs typeface="Calibri" pitchFamily="34" charset="-120"/>
              </a:rPr>
              <a:t>In Plain Terms</a:t>
            </a:r>
            <a:endParaRPr lang="en-US" sz="1350" dirty="0"/>
          </a:p>
        </p:txBody>
      </p:sp>
      <p:sp>
        <p:nvSpPr>
          <p:cNvPr id="8" name="Text 6"/>
          <p:cNvSpPr/>
          <p:nvPr/>
        </p:nvSpPr>
        <p:spPr>
          <a:xfrm>
            <a:off x="7726680" y="2194560"/>
            <a:ext cx="3657600" cy="388620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Nobody can write rules for every possible situation in advance — a maze-solving robot has to learn each new maze; a hospital's triage system has to keep up as new illnesses appear.</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For some skills, nobody could write the rule even if they tried — you recognize your best friend's face instantly, but you couldn't write down how you do it.</a:t>
            </a:r>
            <a:endParaRPr lang="en-US" sz="1250" dirty="0"/>
          </a:p>
        </p:txBody>
      </p:sp>
      <p:sp>
        <p:nvSpPr>
          <p:cNvPr id="9" name="Text 7"/>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4 of 61</a:t>
            </a:r>
            <a:endParaRPr lang="en-US" sz="1000" dirty="0"/>
          </a:p>
        </p:txBody>
      </p:sp>
      <p:sp>
        <p:nvSpPr>
          <p:cNvPr id="10" name="Text 8"/>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19.1</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Three Kinds of Feedback, Three Kinds of Learning</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It comes down to: does someone tell you the right answer, or do you have to figure it out yourself?</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Supervised Learning — “Here's the Answer Key”</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Like a student studying with flashcards that have the answer printed on the back.</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Northgate: symptoms on the front of the card, the confirmed diagnosis (from surgery) on the back.</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This whole chapter is about this kind of learning — learning from an answer key.</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Unsupervised &amp; Reinforcement — “Figure It Out Yourself”</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Unsupervised: like sorting a junk drawer into groups with no labels at all — you just notice “these things go together.”</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Reinforcement: like learning a video game by trial and error — you only find out you won or lost at the very end, and have to guess which earlier moves mattered.</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We'll meet both of these properly in later chapters.</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5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The Formal Supervised Learning Task</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In plain terms: given a bunch of solved examples, guess the rule that solved them</a:t>
            </a:r>
            <a:endParaRPr lang="en-US" sz="1400" dirty="0"/>
          </a:p>
        </p:txBody>
      </p:sp>
      <p:sp>
        <p:nvSpPr>
          <p:cNvPr id="5" name="Shape 3"/>
          <p:cNvSpPr/>
          <p:nvPr/>
        </p:nvSpPr>
        <p:spPr>
          <a:xfrm>
            <a:off x="548640" y="1691640"/>
            <a:ext cx="11064240" cy="1005840"/>
          </a:xfrm>
          <a:prstGeom prst="rect">
            <a:avLst/>
          </a:prstGeom>
          <a:solidFill>
            <a:srgbClr val="122540"/>
          </a:solidFill>
          <a:ln/>
        </p:spPr>
      </p:sp>
      <p:sp>
        <p:nvSpPr>
          <p:cNvPr id="6" name="Text 4"/>
          <p:cNvSpPr/>
          <p:nvPr/>
        </p:nvSpPr>
        <p:spPr>
          <a:xfrm>
            <a:off x="822960" y="1691640"/>
            <a:ext cx="10515600" cy="1005840"/>
          </a:xfrm>
          <a:prstGeom prst="rect">
            <a:avLst/>
          </a:prstGeom>
          <a:noFill/>
          <a:ln/>
        </p:spPr>
        <p:txBody>
          <a:bodyPr wrap="square" rtlCol="0" anchor="ctr"/>
          <a:lstStyle/>
          <a:p>
            <a:pPr algn="ctr" indent="0" marL="0">
              <a:buNone/>
            </a:pPr>
            <a:r>
              <a:rPr lang="en-US" sz="1800" b="1" dirty="0">
                <a:solidFill>
                  <a:srgbClr val="FFFFFF"/>
                </a:solidFill>
                <a:latin typeface="Cambria Math" pitchFamily="34" charset="0"/>
                <a:ea typeface="Cambria Math" pitchFamily="34" charset="-122"/>
                <a:cs typeface="Cambria Math" pitchFamily="34" charset="-120"/>
              </a:rPr>
              <a:t>Given (x₁,y₁), (x₂,y₂), …, (xₙ,yₙ)  where each pair was generated by y = f(x),</a:t>
            </a:r>
            <a:endParaRPr lang="en-US" sz="1800" dirty="0"/>
          </a:p>
          <a:p>
            <a:pPr algn="ctr" indent="0" marL="0">
              <a:buNone/>
            </a:pPr>
            <a:r>
              <a:rPr lang="en-US" sz="1800" b="1" dirty="0">
                <a:solidFill>
                  <a:srgbClr val="FFFFFF"/>
                </a:solidFill>
                <a:latin typeface="Cambria Math" pitchFamily="34" charset="0"/>
                <a:ea typeface="Cambria Math" pitchFamily="34" charset="-122"/>
                <a:cs typeface="Cambria Math" pitchFamily="34" charset="-120"/>
              </a:rPr>
              <a:t>discover a function h that approximates the true f.</a:t>
            </a:r>
            <a:endParaRPr lang="en-US" sz="1800" dirty="0"/>
          </a:p>
        </p:txBody>
      </p:sp>
      <p:sp>
        <p:nvSpPr>
          <p:cNvPr id="7" name="Text 5"/>
          <p:cNvSpPr/>
          <p:nvPr/>
        </p:nvSpPr>
        <p:spPr>
          <a:xfrm>
            <a:off x="548640" y="2807208"/>
            <a:ext cx="11064240" cy="457200"/>
          </a:xfrm>
          <a:prstGeom prst="rect">
            <a:avLst/>
          </a:prstGeom>
          <a:noFill/>
          <a:ln/>
        </p:spPr>
        <p:txBody>
          <a:bodyPr wrap="square" rtlCol="0" anchor="ctr"/>
          <a:lstStyle/>
          <a:p>
            <a:pPr algn="ctr" indent="0" marL="0">
              <a:buNone/>
            </a:pPr>
            <a:r>
              <a:rPr lang="en-US" sz="1250" i="1" dirty="0">
                <a:solidFill>
                  <a:srgbClr val="5B6B80"/>
                </a:solidFill>
                <a:latin typeface="Calibri" pitchFamily="34" charset="0"/>
                <a:ea typeface="Calibri" pitchFamily="34" charset="-122"/>
                <a:cs typeface="Calibri" pitchFamily="34" charset="-120"/>
              </a:rPr>
              <a:t>In plain English: given lots of (situation, correct answer) pairs, guess a rule h that predicts the answer for a new situation.</a:t>
            </a:r>
            <a:endParaRPr lang="en-US" sz="1250" dirty="0"/>
          </a:p>
        </p:txBody>
      </p:sp>
      <p:sp>
        <p:nvSpPr>
          <p:cNvPr id="8" name="Text 6"/>
          <p:cNvSpPr/>
          <p:nvPr/>
        </p:nvSpPr>
        <p:spPr>
          <a:xfrm>
            <a:off x="548640" y="301752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Ground truth: the actual right answer for each example — like the answer key at the back of the textbook.</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Consistent hypothesis: a guessed rule that gets every practice question right — sounds great, but keep reading.</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Test set: a fresh batch of new questions, with the answer key hidden from the rule while it guesses — exactly like a real exam.</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The real test is never “did it ace the practice questions,” it's “does it work on questions it's never seen” — new patients, new restaurants, new customers.</a:t>
            </a:r>
            <a:endParaRPr lang="en-US" sz="1350" dirty="0"/>
          </a:p>
        </p:txBody>
      </p:sp>
      <p:sp>
        <p:nvSpPr>
          <p:cNvPr id="9" name="Text 7"/>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6 of 61</a:t>
            </a:r>
            <a:endParaRPr lang="en-US" sz="1000" dirty="0"/>
          </a:p>
        </p:txBody>
      </p:sp>
      <p:sp>
        <p:nvSpPr>
          <p:cNvPr id="10" name="Text 8"/>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Four Ways to Guess, Same Data</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Figure 19.1: the shape of guess you allow yourself changes what you can even notice in the data</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2011680"/>
        </p:xfrm>
        <a:graphic>
          <a:graphicData uri="http://schemas.openxmlformats.org/drawingml/2006/table">
            <a:tbl>
              <a:tblPr/>
              <a:tblGrid>
                <a:gridCol w="3688080"/>
                <a:gridCol w="3688080"/>
                <a:gridCol w="3688080"/>
              </a:tblGrid>
              <a:tr h="402336">
                <a:tc>
                  <a:txBody>
                    <a:bodyPr/>
                    <a:lstStyle/>
                    <a:p>
                      <a:pPr algn="ctr" indent="0" marL="0">
                        <a:buNone/>
                      </a:pPr>
                      <a:r>
                        <a:rPr lang="en-US" sz="1050" b="1" dirty="0">
                          <a:solidFill>
                            <a:srgbClr val="FFFFFF"/>
                          </a:solidFill>
                        </a:rPr>
                        <a:t>Style of Guess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c>
                  <a:txBody>
                    <a:bodyPr/>
                    <a:lstStyle/>
                    <a:p>
                      <a:pPr algn="ctr" indent="0" marL="0">
                        <a:buNone/>
                      </a:pPr>
                      <a:r>
                        <a:rPr lang="en-US" sz="1050" b="1" dirty="0">
                          <a:solidFill>
                            <a:srgbClr val="FFFFFF"/>
                          </a:solidFill>
                        </a:rPr>
                        <a:t>Fits the Practice Data?</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c>
                  <a:txBody>
                    <a:bodyPr/>
                    <a:lstStyle/>
                    <a:p>
                      <a:pPr algn="ctr" indent="0" marL="0">
                        <a:buNone/>
                      </a:pPr>
                      <a:r>
                        <a:rPr lang="en-US" sz="1050" b="1" dirty="0">
                          <a:solidFill>
                            <a:srgbClr val="FFFFFF"/>
                          </a:solidFill>
                        </a:rPr>
                        <a:t>What Happens on a Second, Similar Batch of Data</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r>
              <a:tr h="402336">
                <a:tc>
                  <a:txBody>
                    <a:bodyPr/>
                    <a:lstStyle/>
                    <a:p>
                      <a:pPr algn="ctr" indent="0" marL="0">
                        <a:buNone/>
                      </a:pPr>
                      <a:r>
                        <a:rPr lang="en-US" sz="1050" dirty="0">
                          <a:solidFill>
                            <a:srgbClr val="16233A"/>
                          </a:solidFill>
                        </a:rPr>
                        <a:t>A straight line</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No line fits perfectly</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Barely changes — very stable, but maybe too rigid</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r>
              <a:tr h="402336">
                <a:tc>
                  <a:txBody>
                    <a:bodyPr/>
                    <a:lstStyle/>
                    <a:p>
                      <a:pPr algn="ctr" indent="0" marL="0">
                        <a:buNone/>
                      </a:pPr>
                      <a:r>
                        <a:rPr lang="en-US" sz="1050" dirty="0">
                          <a:solidFill>
                            <a:srgbClr val="16233A"/>
                          </a:solidFill>
                        </a:rPr>
                        <a:t>A gentle wave</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Almost perfect, and flexible</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Barely changes — stable and flexible</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r>
              <a:tr h="402336">
                <a:tc>
                  <a:txBody>
                    <a:bodyPr/>
                    <a:lstStyle/>
                    <a:p>
                      <a:pPr algn="ctr" indent="0" marL="0">
                        <a:buNone/>
                      </a:pPr>
                      <a:r>
                        <a:rPr lang="en-US" sz="1050" dirty="0">
                          <a:solidFill>
                            <a:srgbClr val="16233A"/>
                          </a:solidFill>
                        </a:rPr>
                        <a:t>Connect-the-dots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Always perfect</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Barely changes — but only because it just traces whatever it's given</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r>
              <a:tr h="402336">
                <a:tc>
                  <a:txBody>
                    <a:bodyPr/>
                    <a:lstStyle/>
                    <a:p>
                      <a:pPr algn="ctr" indent="0" marL="0">
                        <a:buNone/>
                      </a:pPr>
                      <a:r>
                        <a:rPr lang="en-US" sz="1050" dirty="0">
                          <a:solidFill>
                            <a:srgbClr val="16233A"/>
                          </a:solidFill>
                        </a:rPr>
                        <a:t>A wildly wiggly curve</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Always perfect</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Swings wildly — totally different curve on a near-identical batch</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r>
            </a:tbl>
          </a:graphicData>
        </a:graphic>
      </p:graphicFrame>
      <p:sp>
        <p:nvSpPr>
          <p:cNvPr id="6" name="Shape 3"/>
          <p:cNvSpPr/>
          <p:nvPr/>
        </p:nvSpPr>
        <p:spPr>
          <a:xfrm>
            <a:off x="548640" y="3977640"/>
            <a:ext cx="11064240" cy="1417320"/>
          </a:xfrm>
          <a:prstGeom prst="rect">
            <a:avLst/>
          </a:prstGeom>
          <a:solidFill>
            <a:srgbClr val="D7E2F2"/>
          </a:solidFill>
          <a:ln w="12700">
            <a:solidFill>
              <a:srgbClr val="F0A828"/>
            </a:solidFill>
            <a:prstDash val="solid"/>
          </a:ln>
        </p:spPr>
      </p:sp>
      <p:sp>
        <p:nvSpPr>
          <p:cNvPr id="7" name="Text 4"/>
          <p:cNvSpPr/>
          <p:nvPr/>
        </p:nvSpPr>
        <p:spPr>
          <a:xfrm>
            <a:off x="777240" y="4114800"/>
            <a:ext cx="10607040" cy="320040"/>
          </a:xfrm>
          <a:prstGeom prst="rect">
            <a:avLst/>
          </a:prstGeom>
          <a:noFill/>
          <a:ln/>
        </p:spPr>
        <p:txBody>
          <a:bodyPr wrap="square" rtlCol="0" anchor="ctr"/>
          <a:lstStyle/>
          <a:p>
            <a:pPr indent="0" marL="0">
              <a:buNone/>
            </a:pPr>
            <a:r>
              <a:rPr lang="en-US" sz="1350" b="1" dirty="0">
                <a:solidFill>
                  <a:srgbClr val="122540"/>
                </a:solidFill>
                <a:latin typeface="Calibri" pitchFamily="34" charset="0"/>
                <a:ea typeface="Calibri" pitchFamily="34" charset="-122"/>
                <a:cs typeface="Calibri" pitchFamily="34" charset="-120"/>
              </a:rPr>
              <a:t>Two Everyday Words for This: Bias and Variance</a:t>
            </a:r>
            <a:endParaRPr lang="en-US" sz="1350" dirty="0"/>
          </a:p>
        </p:txBody>
      </p:sp>
      <p:sp>
        <p:nvSpPr>
          <p:cNvPr id="8" name="Text 5"/>
          <p:cNvSpPr/>
          <p:nvPr/>
        </p:nvSpPr>
        <p:spPr>
          <a:xfrm>
            <a:off x="777240" y="4480560"/>
            <a:ext cx="10607040" cy="73152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Bias is like a stubborn friend who always gives the same kind of advice regardless of the situation — sometimes right, but blind to anything unusual.</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Variance is like a friend whose advice completely changes every time you ask, even when almost nothing about your situation changed — unpredictable, and hard to trust.</a:t>
            </a:r>
            <a:endParaRPr lang="en-US" sz="1250" dirty="0"/>
          </a:p>
        </p:txBody>
      </p:sp>
      <p:sp>
        <p:nvSpPr>
          <p:cNvPr id="9" name="Text 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7 of 61</a:t>
            </a:r>
            <a:endParaRPr lang="en-US" sz="1000" dirty="0"/>
          </a:p>
        </p:txBody>
      </p:sp>
      <p:sp>
        <p:nvSpPr>
          <p:cNvPr id="10"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When in Doubt, Guess Simple</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Two failure modes, and one very old piece of advice for avoiding them</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Underfitting — Too Simple</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Like a doctor who has exactly one diagnosis for every patient — misses real patterns that are actually there.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Example: assuming risk goes up the same fixed amount every year of age, when really it accelerates sharply after 60.</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Overfitting — Too Fussy</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Like a doctor who treats every tiny coincidence in one patient's chart as medically meaningful.</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Example: a rule so tailored to 13 old patients that it gets every one of them right, but gives a nonsense answer for patient 14.</a:t>
            </a:r>
            <a:endParaRPr lang="en-US" sz="1250" dirty="0"/>
          </a:p>
        </p:txBody>
      </p:sp>
      <p:sp>
        <p:nvSpPr>
          <p:cNvPr id="11" name="Shape 9"/>
          <p:cNvSpPr/>
          <p:nvPr/>
        </p:nvSpPr>
        <p:spPr>
          <a:xfrm>
            <a:off x="548640" y="3977640"/>
            <a:ext cx="11064240" cy="1417320"/>
          </a:xfrm>
          <a:prstGeom prst="rect">
            <a:avLst/>
          </a:prstGeom>
          <a:solidFill>
            <a:srgbClr val="EAF7EF"/>
          </a:solidFill>
          <a:ln w="12700">
            <a:solidFill>
              <a:srgbClr val="3FB871"/>
            </a:solidFill>
            <a:prstDash val="solid"/>
          </a:ln>
        </p:spPr>
      </p:sp>
      <p:sp>
        <p:nvSpPr>
          <p:cNvPr id="12" name="Text 10"/>
          <p:cNvSpPr/>
          <p:nvPr/>
        </p:nvSpPr>
        <p:spPr>
          <a:xfrm>
            <a:off x="777240" y="4114800"/>
            <a:ext cx="10607040" cy="320040"/>
          </a:xfrm>
          <a:prstGeom prst="rect">
            <a:avLst/>
          </a:prstGeom>
          <a:noFill/>
          <a:ln/>
        </p:spPr>
        <p:txBody>
          <a:bodyPr wrap="square" rtlCol="0" anchor="ctr"/>
          <a:lstStyle/>
          <a:p>
            <a:pPr indent="0" marL="0">
              <a:buNone/>
            </a:pPr>
            <a:r>
              <a:rPr lang="en-US" sz="1350" b="1" dirty="0">
                <a:solidFill>
                  <a:srgbClr val="1B6B3A"/>
                </a:solidFill>
                <a:latin typeface="Calibri" pitchFamily="34" charset="0"/>
                <a:ea typeface="Calibri" pitchFamily="34" charset="-122"/>
                <a:cs typeface="Calibri" pitchFamily="34" charset="-120"/>
              </a:rPr>
              <a:t>“Make things as simple as possible — but no simpler.” — the spirit of Einstein's 1933 remark</a:t>
            </a:r>
            <a:endParaRPr lang="en-US" sz="1350" dirty="0"/>
          </a:p>
        </p:txBody>
      </p:sp>
      <p:sp>
        <p:nvSpPr>
          <p:cNvPr id="13" name="Text 11"/>
          <p:cNvSpPr/>
          <p:nvPr/>
        </p:nvSpPr>
        <p:spPr>
          <a:xfrm>
            <a:off x="777240" y="4480560"/>
            <a:ext cx="10607040" cy="73152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This goes back to a 14th-century monk, William of Ockham: don't invent more explanation than you actually need. We call this Ockham's Razor.</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“Simple” turns out to be surprisingly hard to pin down precisely — we'll sharpen it further in 19.3 and 19.4.</a:t>
            </a:r>
            <a:endParaRPr lang="en-US" sz="1250" dirty="0"/>
          </a:p>
        </p:txBody>
      </p:sp>
      <p:sp>
        <p:nvSpPr>
          <p:cNvPr id="14" name="Text 12"/>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8 of 61</a:t>
            </a:r>
            <a:endParaRPr lang="en-US" sz="1000" dirty="0"/>
          </a:p>
        </p:txBody>
      </p:sp>
      <p:sp>
        <p:nvSpPr>
          <p:cNvPr id="15" name="Text 13"/>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19.2.1</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The Restaurant Waiting Problem</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Ten everyday facts about a restaurant, one everyday question: will we wait?</a:t>
            </a:r>
            <a:endParaRPr lang="en-US" sz="1400" dirty="0"/>
          </a:p>
        </p:txBody>
      </p:sp>
      <p:sp>
        <p:nvSpPr>
          <p:cNvPr id="5" name="Text 3"/>
          <p:cNvSpPr/>
          <p:nvPr/>
        </p:nvSpPr>
        <p:spPr>
          <a:xfrm>
            <a:off x="548640" y="1691640"/>
            <a:ext cx="5486400" cy="4572000"/>
          </a:xfrm>
          <a:prstGeom prst="rect">
            <a:avLst/>
          </a:prstGeom>
          <a:noFill/>
          <a:ln/>
        </p:spPr>
        <p:txBody>
          <a:bodyPr wrap="square" rtlCol="0" anchor="t"/>
          <a:lstStyle/>
          <a:p>
            <a:pPr marL="342900" indent="-342900">
              <a:spcAft>
                <a:spcPts val="1000"/>
              </a:spcAft>
              <a:buSzPct val="100000"/>
              <a:buChar char="•"/>
            </a:pPr>
            <a:r>
              <a:rPr lang="en-US" sz="1300" dirty="0">
                <a:solidFill>
                  <a:srgbClr val="16233A"/>
                </a:solidFill>
                <a:latin typeface="Calibri" pitchFamily="34" charset="0"/>
                <a:ea typeface="Calibri" pitchFamily="34" charset="-122"/>
                <a:cs typeface="Calibri" pitchFamily="34" charset="-120"/>
              </a:rPr>
              <a:t>Alternate — is there somewhere else nearby?</a:t>
            </a:r>
            <a:endParaRPr lang="en-US" sz="1300" dirty="0"/>
          </a:p>
          <a:p>
            <a:pPr marL="342900" indent="-342900">
              <a:spcAft>
                <a:spcPts val="1000"/>
              </a:spcAft>
              <a:buSzPct val="100000"/>
              <a:buChar char="•"/>
            </a:pPr>
            <a:r>
              <a:rPr lang="en-US" sz="1300" dirty="0">
                <a:solidFill>
                  <a:srgbClr val="16233A"/>
                </a:solidFill>
                <a:latin typeface="Calibri" pitchFamily="34" charset="0"/>
                <a:ea typeface="Calibri" pitchFamily="34" charset="-122"/>
                <a:cs typeface="Calibri" pitchFamily="34" charset="-120"/>
              </a:rPr>
              <a:t>Bar — comfy place to wait?</a:t>
            </a:r>
            <a:endParaRPr lang="en-US" sz="1300" dirty="0"/>
          </a:p>
          <a:p>
            <a:pPr marL="342900" indent="-342900">
              <a:spcAft>
                <a:spcPts val="1000"/>
              </a:spcAft>
              <a:buSzPct val="100000"/>
              <a:buChar char="•"/>
            </a:pPr>
            <a:r>
              <a:rPr lang="en-US" sz="1300" dirty="0">
                <a:solidFill>
                  <a:srgbClr val="16233A"/>
                </a:solidFill>
                <a:latin typeface="Calibri" pitchFamily="34" charset="0"/>
                <a:ea typeface="Calibri" pitchFamily="34" charset="-122"/>
                <a:cs typeface="Calibri" pitchFamily="34" charset="-120"/>
              </a:rPr>
              <a:t>Fri/Sat — is it the weekend?</a:t>
            </a:r>
            <a:endParaRPr lang="en-US" sz="1300" dirty="0"/>
          </a:p>
          <a:p>
            <a:pPr marL="342900" indent="-342900">
              <a:spcAft>
                <a:spcPts val="1000"/>
              </a:spcAft>
              <a:buSzPct val="100000"/>
              <a:buChar char="•"/>
            </a:pPr>
            <a:r>
              <a:rPr lang="en-US" sz="1300" dirty="0">
                <a:solidFill>
                  <a:srgbClr val="16233A"/>
                </a:solidFill>
                <a:latin typeface="Calibri" pitchFamily="34" charset="0"/>
                <a:ea typeface="Calibri" pitchFamily="34" charset="-122"/>
                <a:cs typeface="Calibri" pitchFamily="34" charset="-120"/>
              </a:rPr>
              <a:t>Hungry — are we hungry right now?</a:t>
            </a:r>
            <a:endParaRPr lang="en-US" sz="1300" dirty="0"/>
          </a:p>
          <a:p>
            <a:pPr marL="342900" indent="-342900">
              <a:spcAft>
                <a:spcPts val="1000"/>
              </a:spcAft>
              <a:buSzPct val="100000"/>
              <a:buChar char="•"/>
            </a:pPr>
            <a:r>
              <a:rPr lang="en-US" sz="1300" dirty="0">
                <a:solidFill>
                  <a:srgbClr val="16233A"/>
                </a:solidFill>
                <a:latin typeface="Calibri" pitchFamily="34" charset="0"/>
                <a:ea typeface="Calibri" pitchFamily="34" charset="-122"/>
                <a:cs typeface="Calibri" pitchFamily="34" charset="-120"/>
              </a:rPr>
              <a:t>Patrons — empty, some people, or packed</a:t>
            </a:r>
            <a:endParaRPr lang="en-US" sz="1300" dirty="0"/>
          </a:p>
          <a:p>
            <a:pPr marL="342900" indent="-342900">
              <a:spcAft>
                <a:spcPts val="1000"/>
              </a:spcAft>
              <a:buSzPct val="100000"/>
              <a:buChar char="•"/>
            </a:pPr>
            <a:r>
              <a:rPr lang="en-US" sz="1300" dirty="0">
                <a:solidFill>
                  <a:srgbClr val="16233A"/>
                </a:solidFill>
                <a:latin typeface="Calibri" pitchFamily="34" charset="0"/>
                <a:ea typeface="Calibri" pitchFamily="34" charset="-122"/>
                <a:cs typeface="Calibri" pitchFamily="34" charset="-120"/>
              </a:rPr>
              <a:t>Price — cheap, medium, or pricey</a:t>
            </a:r>
            <a:endParaRPr lang="en-US" sz="1300" dirty="0"/>
          </a:p>
        </p:txBody>
      </p:sp>
      <p:sp>
        <p:nvSpPr>
          <p:cNvPr id="6" name="Text 4"/>
          <p:cNvSpPr/>
          <p:nvPr/>
        </p:nvSpPr>
        <p:spPr>
          <a:xfrm>
            <a:off x="6309360" y="1691640"/>
            <a:ext cx="5303520" cy="4572000"/>
          </a:xfrm>
          <a:prstGeom prst="rect">
            <a:avLst/>
          </a:prstGeom>
          <a:noFill/>
          <a:ln/>
        </p:spPr>
        <p:txBody>
          <a:bodyPr wrap="square" rtlCol="0" anchor="t"/>
          <a:lstStyle/>
          <a:p>
            <a:pPr marL="342900" indent="-342900">
              <a:spcAft>
                <a:spcPts val="1000"/>
              </a:spcAft>
              <a:buSzPct val="100000"/>
              <a:buChar char="•"/>
            </a:pPr>
            <a:r>
              <a:rPr lang="en-US" sz="1300" dirty="0">
                <a:solidFill>
                  <a:srgbClr val="16233A"/>
                </a:solidFill>
                <a:latin typeface="Calibri" pitchFamily="34" charset="0"/>
                <a:ea typeface="Calibri" pitchFamily="34" charset="-122"/>
                <a:cs typeface="Calibri" pitchFamily="34" charset="-120"/>
              </a:rPr>
              <a:t>Raining — is it raining?</a:t>
            </a:r>
            <a:endParaRPr lang="en-US" sz="1300" dirty="0"/>
          </a:p>
          <a:p>
            <a:pPr marL="342900" indent="-342900">
              <a:spcAft>
                <a:spcPts val="1000"/>
              </a:spcAft>
              <a:buSzPct val="100000"/>
              <a:buChar char="•"/>
            </a:pPr>
            <a:r>
              <a:rPr lang="en-US" sz="1300" dirty="0">
                <a:solidFill>
                  <a:srgbClr val="16233A"/>
                </a:solidFill>
                <a:latin typeface="Calibri" pitchFamily="34" charset="0"/>
                <a:ea typeface="Calibri" pitchFamily="34" charset="-122"/>
                <a:cs typeface="Calibri" pitchFamily="34" charset="-120"/>
              </a:rPr>
              <a:t>Reservation — did we book ahead?</a:t>
            </a:r>
            <a:endParaRPr lang="en-US" sz="1300" dirty="0"/>
          </a:p>
          <a:p>
            <a:pPr marL="342900" indent="-342900">
              <a:spcAft>
                <a:spcPts val="1000"/>
              </a:spcAft>
              <a:buSzPct val="100000"/>
              <a:buChar char="•"/>
            </a:pPr>
            <a:r>
              <a:rPr lang="en-US" sz="1300" dirty="0">
                <a:solidFill>
                  <a:srgbClr val="16233A"/>
                </a:solidFill>
                <a:latin typeface="Calibri" pitchFamily="34" charset="0"/>
                <a:ea typeface="Calibri" pitchFamily="34" charset="-122"/>
                <a:cs typeface="Calibri" pitchFamily="34" charset="-120"/>
              </a:rPr>
              <a:t>Type — French, Italian, Thai, or burger</a:t>
            </a:r>
            <a:endParaRPr lang="en-US" sz="1300" dirty="0"/>
          </a:p>
          <a:p>
            <a:pPr marL="342900" indent="-342900">
              <a:spcAft>
                <a:spcPts val="1000"/>
              </a:spcAft>
              <a:buSzPct val="100000"/>
              <a:buChar char="•"/>
            </a:pPr>
            <a:r>
              <a:rPr lang="en-US" sz="1300" dirty="0">
                <a:solidFill>
                  <a:srgbClr val="16233A"/>
                </a:solidFill>
                <a:latin typeface="Calibri" pitchFamily="34" charset="0"/>
                <a:ea typeface="Calibri" pitchFamily="34" charset="-122"/>
                <a:cs typeface="Calibri" pitchFamily="34" charset="-120"/>
              </a:rPr>
              <a:t>WaitEstimate — short, medium, long, or very long</a:t>
            </a:r>
            <a:endParaRPr lang="en-US" sz="1300" dirty="0"/>
          </a:p>
          <a:p>
            <a:pPr marL="342900" indent="-342900">
              <a:spcAft>
                <a:spcPts val="1000"/>
              </a:spcAft>
              <a:buSzPct val="100000"/>
              <a:buChar char="•"/>
            </a:pPr>
            <a:r>
              <a:rPr lang="en-US" sz="1300" dirty="0">
                <a:solidFill>
                  <a:srgbClr val="16233A"/>
                </a:solidFill>
                <a:latin typeface="Calibri" pitchFamily="34" charset="0"/>
                <a:ea typeface="Calibri" pitchFamily="34" charset="-122"/>
                <a:cs typeface="Calibri" pitchFamily="34" charset="-120"/>
              </a:rPr>
              <a:t>Output: will we actually wait — yes or no?</a:t>
            </a:r>
            <a:endParaRPr lang="en-US" sz="1300" dirty="0"/>
          </a:p>
        </p:txBody>
      </p:sp>
      <p:sp>
        <p:nvSpPr>
          <p:cNvPr id="7" name="Shape 5"/>
          <p:cNvSpPr/>
          <p:nvPr/>
        </p:nvSpPr>
        <p:spPr>
          <a:xfrm>
            <a:off x="548640" y="4480560"/>
            <a:ext cx="11064240" cy="914400"/>
          </a:xfrm>
          <a:prstGeom prst="rect">
            <a:avLst/>
          </a:prstGeom>
          <a:solidFill>
            <a:srgbClr val="D7E2F2"/>
          </a:solidFill>
          <a:ln w="12700">
            <a:solidFill>
              <a:srgbClr val="F0A828"/>
            </a:solidFill>
            <a:prstDash val="solid"/>
          </a:ln>
        </p:spPr>
      </p:sp>
      <p:sp>
        <p:nvSpPr>
          <p:cNvPr id="8" name="Text 6"/>
          <p:cNvSpPr/>
          <p:nvPr/>
        </p:nvSpPr>
        <p:spPr>
          <a:xfrm>
            <a:off x="777240" y="4663440"/>
            <a:ext cx="10607040" cy="54864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Mix and match all those facts and you get over nine thousand possible situations. We only have someone's actual answer for twelve of them. Guessing the other 9,204 sensibly — that's the whole game.</a:t>
            </a:r>
            <a:endParaRPr lang="en-US" sz="1250" dirty="0"/>
          </a:p>
        </p:txBody>
      </p:sp>
      <p:sp>
        <p:nvSpPr>
          <p:cNvPr id="9" name="Text 7"/>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9 of 61</a:t>
            </a:r>
            <a:endParaRPr lang="en-US" sz="1000" dirty="0"/>
          </a:p>
        </p:txBody>
      </p:sp>
      <p:sp>
        <p:nvSpPr>
          <p:cNvPr id="10" name="Text 8"/>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540"/>
        </a:solidFill>
      </p:bgPr>
    </p:bg>
    <p:spTree>
      <p:nvGrpSpPr>
        <p:cNvPr id="1" name=""/>
        <p:cNvGrpSpPr/>
        <p:nvPr/>
      </p:nvGrpSpPr>
      <p:grpSpPr>
        <a:xfrm>
          <a:off x="0" y="0"/>
          <a:ext cx="0" cy="0"/>
          <a:chOff x="0" y="0"/>
          <a:chExt cx="0" cy="0"/>
        </a:xfrm>
      </p:grpSpPr>
      <p:sp>
        <p:nvSpPr>
          <p:cNvPr id="2" name="Text 0"/>
          <p:cNvSpPr/>
          <p:nvPr/>
        </p:nvSpPr>
        <p:spPr>
          <a:xfrm>
            <a:off x="822960" y="2286000"/>
            <a:ext cx="3657600" cy="1188720"/>
          </a:xfrm>
          <a:prstGeom prst="rect">
            <a:avLst/>
          </a:prstGeom>
          <a:noFill/>
          <a:ln/>
        </p:spPr>
        <p:txBody>
          <a:bodyPr wrap="square" rtlCol="0" anchor="ctr"/>
          <a:lstStyle/>
          <a:p>
            <a:pPr indent="0" marL="0">
              <a:buNone/>
            </a:pPr>
            <a:r>
              <a:rPr lang="en-US" sz="6000" b="1" dirty="0">
                <a:solidFill>
                  <a:srgbClr val="F0A828"/>
                </a:solidFill>
                <a:latin typeface="Cambria" pitchFamily="34" charset="0"/>
                <a:ea typeface="Cambria" pitchFamily="34" charset="-122"/>
                <a:cs typeface="Cambria" pitchFamily="34" charset="-120"/>
              </a:rPr>
              <a:t>19.3</a:t>
            </a:r>
            <a:endParaRPr lang="en-US" sz="6000" dirty="0"/>
          </a:p>
        </p:txBody>
      </p:sp>
      <p:sp>
        <p:nvSpPr>
          <p:cNvPr id="3" name="Text 1"/>
          <p:cNvSpPr/>
          <p:nvPr/>
        </p:nvSpPr>
        <p:spPr>
          <a:xfrm>
            <a:off x="822960" y="3337560"/>
            <a:ext cx="96012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Learning Decision Trees</a:t>
            </a:r>
            <a:endParaRPr lang="en-US" sz="3200" dirty="0"/>
          </a:p>
        </p:txBody>
      </p:sp>
      <p:sp>
        <p:nvSpPr>
          <p:cNvPr id="4" name="Text 2"/>
          <p:cNvSpPr/>
          <p:nvPr/>
        </p:nvSpPr>
        <p:spPr>
          <a:xfrm>
            <a:off x="822960" y="4160520"/>
            <a:ext cx="9144000" cy="731520"/>
          </a:xfrm>
          <a:prstGeom prst="rect">
            <a:avLst/>
          </a:prstGeom>
          <a:noFill/>
          <a:ln/>
        </p:spPr>
        <p:txBody>
          <a:bodyPr wrap="square" rtlCol="0" anchor="ctr"/>
          <a:lstStyle/>
          <a:p>
            <a:pPr indent="0" marL="0">
              <a:buNone/>
            </a:pPr>
            <a:r>
              <a:rPr lang="en-US" sz="1600" i="1" dirty="0">
                <a:solidFill>
                  <a:srgbClr val="D7E2F2"/>
                </a:solidFill>
                <a:latin typeface="Calibri" pitchFamily="34" charset="0"/>
                <a:ea typeface="Calibri" pitchFamily="34" charset="-122"/>
                <a:cs typeface="Calibri" pitchFamily="34" charset="-120"/>
              </a:rPr>
              <a:t>Building an automatic flowchart of yes/no questions — and knowing when to stop asking</a:t>
            </a:r>
            <a:endParaRPr lang="en-US" sz="1600" dirty="0"/>
          </a:p>
        </p:txBody>
      </p:sp>
      <p:sp>
        <p:nvSpPr>
          <p:cNvPr id="5" name="Text 3"/>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10 of 61</a:t>
            </a:r>
            <a:endParaRPr lang="en-US" sz="1000" dirty="0"/>
          </a:p>
        </p:txBody>
      </p:sp>
      <p:sp>
        <p:nvSpPr>
          <p:cNvPr id="6" name="Text 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19.3</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What Is a Decision Tree?</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Just a flowchart of yes/no questions, ending in a decision — like a triage checklist</a:t>
            </a:r>
            <a:endParaRPr lang="en-US" sz="1400" dirty="0"/>
          </a:p>
        </p:txBody>
      </p:sp>
      <p:sp>
        <p:nvSpPr>
          <p:cNvPr id="5" name="Text 3"/>
          <p:cNvSpPr/>
          <p:nvPr/>
        </p:nvSpPr>
        <p:spPr>
          <a:xfrm>
            <a:off x="548640" y="1691640"/>
            <a:ext cx="585216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Each box in the flowchart asks about one fact.</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Each arrow out of the box is one possible answer to that fact.</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Follow the arrows until you hit the end, and that's your decision.</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Example: “Restaurant is packed, and the wait is short” → follow those two arrows → the flowchart says “we'll wait.”</a:t>
            </a:r>
            <a:endParaRPr lang="en-US" sz="1350" dirty="0"/>
          </a:p>
        </p:txBody>
      </p:sp>
      <p:sp>
        <p:nvSpPr>
          <p:cNvPr id="6" name="Shape 4"/>
          <p:cNvSpPr/>
          <p:nvPr/>
        </p:nvSpPr>
        <p:spPr>
          <a:xfrm>
            <a:off x="6492240" y="1691640"/>
            <a:ext cx="5120640" cy="3291840"/>
          </a:xfrm>
          <a:prstGeom prst="rect">
            <a:avLst/>
          </a:prstGeom>
          <a:solidFill>
            <a:srgbClr val="D7E2F2"/>
          </a:solidFill>
          <a:ln w="12700">
            <a:solidFill>
              <a:srgbClr val="F0A828"/>
            </a:solidFill>
            <a:prstDash val="solid"/>
          </a:ln>
        </p:spPr>
      </p:sp>
      <p:sp>
        <p:nvSpPr>
          <p:cNvPr id="7" name="Text 5"/>
          <p:cNvSpPr/>
          <p:nvPr/>
        </p:nvSpPr>
        <p:spPr>
          <a:xfrm>
            <a:off x="6720840" y="1828800"/>
            <a:ext cx="4663440" cy="320040"/>
          </a:xfrm>
          <a:prstGeom prst="rect">
            <a:avLst/>
          </a:prstGeom>
          <a:noFill/>
          <a:ln/>
        </p:spPr>
        <p:txBody>
          <a:bodyPr wrap="square" rtlCol="0" anchor="ctr"/>
          <a:lstStyle/>
          <a:p>
            <a:pPr indent="0" marL="0">
              <a:buNone/>
            </a:pPr>
            <a:r>
              <a:rPr lang="en-US" sz="1350" b="1" dirty="0">
                <a:solidFill>
                  <a:srgbClr val="122540"/>
                </a:solidFill>
                <a:latin typeface="Calibri" pitchFamily="34" charset="0"/>
                <a:ea typeface="Calibri" pitchFamily="34" charset="-122"/>
                <a:cs typeface="Calibri" pitchFamily="34" charset="-120"/>
              </a:rPr>
              <a:t>Why This Is a Big Deal</a:t>
            </a:r>
            <a:endParaRPr lang="en-US" sz="1350" dirty="0"/>
          </a:p>
        </p:txBody>
      </p:sp>
      <p:sp>
        <p:nvSpPr>
          <p:cNvPr id="8" name="Text 6"/>
          <p:cNvSpPr/>
          <p:nvPr/>
        </p:nvSpPr>
        <p:spPr>
          <a:xfrm>
            <a:off x="6720840" y="2194560"/>
            <a:ext cx="4663440" cy="260604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Any flowchart like this can be rewritten as a giant “if this-and-this, OR that-and-that” sentence — one clause per path through the tree.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That means a decision tree can express literally any yes/no rule you could ever write in plain logic — it's not a limited toy representation.</a:t>
            </a:r>
            <a:endParaRPr lang="en-US" sz="1250" dirty="0"/>
          </a:p>
        </p:txBody>
      </p:sp>
      <p:sp>
        <p:nvSpPr>
          <p:cNvPr id="9" name="Text 7"/>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11 of 61</a:t>
            </a:r>
            <a:endParaRPr lang="en-US" sz="1000" dirty="0"/>
          </a:p>
        </p:txBody>
      </p:sp>
      <p:sp>
        <p:nvSpPr>
          <p:cNvPr id="10" name="Text 8"/>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19.3.1</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Good for Some Questions, Bad for Others</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No single style of flowchart is the best choice for literally everything</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Where Flowcharts Struggle</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“Majority rules” type questions (true whenever more than half the facts are true) need an absurdly huge flowchart.</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“Even-or-odd count” type questions are just as bad.</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A diagonal boundary (like a risk score that depends on two things added together) needs a staircase of tiny boxes to approximate — flowcharts naturally draw straight, boxy edges, not diagonal ones.</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The Honest Truth</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With just 20 yes/no facts, there are more possible rules than atoms are commonly discussed in — an unimaginably large number.</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No small, tidy representation — flowcharts or anything else — could possibly capture every single one of them.</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Conclusion: every representation is a good fit for some problems and a poor fit for others. There's no universally best choice.</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12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19.3.2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How to Grow the Flowchart: The Basic Recipe</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A greedy strategy: always ask the single most useful question first</a:t>
            </a:r>
            <a:endParaRPr lang="en-US" sz="1400" dirty="0"/>
          </a:p>
        </p:txBody>
      </p:sp>
      <p:sp>
        <p:nvSpPr>
          <p:cNvPr id="5" name="Shape 3"/>
          <p:cNvSpPr/>
          <p:nvPr/>
        </p:nvSpPr>
        <p:spPr>
          <a:xfrm>
            <a:off x="548640" y="1691640"/>
            <a:ext cx="11064240" cy="3566160"/>
          </a:xfrm>
          <a:prstGeom prst="rect">
            <a:avLst/>
          </a:prstGeom>
          <a:solidFill>
            <a:srgbClr val="D7E2F2"/>
          </a:solidFill>
          <a:ln w="12700">
            <a:solidFill>
              <a:srgbClr val="F0A828"/>
            </a:solidFill>
            <a:prstDash val="solid"/>
          </a:ln>
        </p:spPr>
      </p:sp>
      <p:sp>
        <p:nvSpPr>
          <p:cNvPr id="6" name="Text 4"/>
          <p:cNvSpPr/>
          <p:nvPr/>
        </p:nvSpPr>
        <p:spPr>
          <a:xfrm>
            <a:off x="777240" y="1874520"/>
            <a:ext cx="10607040" cy="3200400"/>
          </a:xfrm>
          <a:prstGeom prst="rect">
            <a:avLst/>
          </a:prstGeom>
          <a:noFill/>
          <a:ln/>
        </p:spPr>
        <p:txBody>
          <a:bodyPr wrap="square" rtlCol="0" anchor="t"/>
          <a:lstStyle/>
          <a:p>
            <a:pPr marL="342900" indent="-342900">
              <a:spcAft>
                <a:spcPts val="1000"/>
              </a:spcAft>
              <a:buSzPct val="100000"/>
              <a:buChar char="•"/>
            </a:pPr>
            <a:r>
              <a:rPr lang="en-US" sz="1250" b="1" dirty="0">
                <a:solidFill>
                  <a:srgbClr val="16233A"/>
                </a:solidFill>
                <a:latin typeface="Calibri" pitchFamily="34" charset="0"/>
                <a:ea typeface="Calibri" pitchFamily="34" charset="-122"/>
                <a:cs typeface="Calibri" pitchFamily="34" charset="-120"/>
              </a:rPr>
              <a:t>The recipe, in plain steps:</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1. Ran out of examples for this branch? Just go with whatever answer was most common among the closest examples we do have.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2. Every remaining example already agrees on the answer? Done — no more questions needed here.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3. Ran out of facts to ask about, but the examples still disagree? That's noise — go with the majority answer.</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4. Otherwise: ask about whichever fact does the best job of separating the yes's from the no's, then repeat this whole process separately for each possible answer to that question.</a:t>
            </a:r>
            <a:endParaRPr lang="en-US" sz="1250" dirty="0"/>
          </a:p>
        </p:txBody>
      </p:sp>
      <p:sp>
        <p:nvSpPr>
          <p:cNvPr id="7" name="Text 5"/>
          <p:cNvSpPr/>
          <p:nvPr/>
        </p:nvSpPr>
        <p:spPr>
          <a:xfrm>
            <a:off x="548640" y="5394960"/>
            <a:ext cx="11064240" cy="822960"/>
          </a:xfrm>
          <a:prstGeom prst="rect">
            <a:avLst/>
          </a:prstGeom>
          <a:noFill/>
          <a:ln/>
        </p:spPr>
        <p:txBody>
          <a:bodyPr wrap="square" rtlCol="0" anchor="t"/>
          <a:lstStyle/>
          <a:p>
            <a:pPr algn="l" indent="0" marL="0">
              <a:buNone/>
            </a:pPr>
            <a:r>
              <a:rPr lang="en-US" sz="1250" i="1" dirty="0">
                <a:solidFill>
                  <a:srgbClr val="5B6B80"/>
                </a:solidFill>
                <a:latin typeface="Calibri" pitchFamily="34" charset="0"/>
                <a:ea typeface="Calibri" pitchFamily="34" charset="-122"/>
                <a:cs typeface="Calibri" pitchFamily="34" charset="-120"/>
              </a:rPr>
              <a:t>“Best job of separating” is the one piece we haven't defined yet — that's exactly what entropy and information gain measure, next.</a:t>
            </a:r>
            <a:endParaRPr lang="en-US" sz="1250" dirty="0"/>
          </a:p>
        </p:txBody>
      </p:sp>
      <p:sp>
        <p:nvSpPr>
          <p:cNvPr id="8" name="Text 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13 of 61</a:t>
            </a:r>
            <a:endParaRPr lang="en-US" sz="1000" dirty="0"/>
          </a:p>
        </p:txBody>
      </p:sp>
      <p:sp>
        <p:nvSpPr>
          <p:cNvPr id="9"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19.3.2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Some Questions Are Just More Useful Than Others</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Figure 19.4: a concrete before-you-do-the-math example</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“What Type of Food?” — A Weak First Question</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Splits diners into French, Italian, Thai, burger.</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Every single group still has the same fifty-fifty mix of “will wait” and “won't wait.”</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We asked a question and learned nothing new — like asking someone's favorite color to guess if they like pizza.</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“How Packed Is It?” — A Strong First Question</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Splits into empty, some people, packed.</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Empty → everyone said no. Some people → everyone said yes. Both groups are already fully settled!</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Only the “packed” group still needs another question — and it turns out “are we hungry” works well there.</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14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19.3.3</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Entropy: A Number for “How Much Are We Still Guessing?”</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Think of it as a measure of suspense — how surprised would you be by the answer?</a:t>
            </a:r>
            <a:endParaRPr lang="en-US" sz="1400" dirty="0"/>
          </a:p>
        </p:txBody>
      </p:sp>
      <p:sp>
        <p:nvSpPr>
          <p:cNvPr id="5" name="Shape 3"/>
          <p:cNvSpPr/>
          <p:nvPr/>
        </p:nvSpPr>
        <p:spPr>
          <a:xfrm>
            <a:off x="548640" y="1691640"/>
            <a:ext cx="11064240" cy="777240"/>
          </a:xfrm>
          <a:prstGeom prst="rect">
            <a:avLst/>
          </a:prstGeom>
          <a:solidFill>
            <a:srgbClr val="122540"/>
          </a:solidFill>
          <a:ln/>
        </p:spPr>
      </p:sp>
      <p:sp>
        <p:nvSpPr>
          <p:cNvPr id="6" name="Text 4"/>
          <p:cNvSpPr/>
          <p:nvPr/>
        </p:nvSpPr>
        <p:spPr>
          <a:xfrm>
            <a:off x="822960" y="1691640"/>
            <a:ext cx="10515600" cy="777240"/>
          </a:xfrm>
          <a:prstGeom prst="rect">
            <a:avLst/>
          </a:prstGeom>
          <a:noFill/>
          <a:ln/>
        </p:spPr>
        <p:txBody>
          <a:bodyPr wrap="square" rtlCol="0" anchor="ctr"/>
          <a:lstStyle/>
          <a:p>
            <a:pPr algn="ctr" indent="0" marL="0">
              <a:buNone/>
            </a:pPr>
            <a:r>
              <a:rPr lang="en-US" sz="1700" b="1" dirty="0">
                <a:solidFill>
                  <a:srgbClr val="FFFFFF"/>
                </a:solidFill>
                <a:latin typeface="Cambria Math" pitchFamily="34" charset="0"/>
                <a:ea typeface="Cambria Math" pitchFamily="34" charset="-122"/>
                <a:cs typeface="Cambria Math" pitchFamily="34" charset="-120"/>
              </a:rPr>
              <a:t>H(V) = ∑ P(vₖ) log₂ [1 / P(vₖ)] = −∑ P(vₖ) log₂ P(vₖ)</a:t>
            </a:r>
            <a:endParaRPr lang="en-US" sz="1700" dirty="0"/>
          </a:p>
        </p:txBody>
      </p:sp>
      <p:sp>
        <p:nvSpPr>
          <p:cNvPr id="7" name="Text 5"/>
          <p:cNvSpPr/>
          <p:nvPr/>
        </p:nvSpPr>
        <p:spPr>
          <a:xfrm>
            <a:off x="548640" y="2578608"/>
            <a:ext cx="11064240" cy="457200"/>
          </a:xfrm>
          <a:prstGeom prst="rect">
            <a:avLst/>
          </a:prstGeom>
          <a:noFill/>
          <a:ln/>
        </p:spPr>
        <p:txBody>
          <a:bodyPr wrap="square" rtlCol="0" anchor="ctr"/>
          <a:lstStyle/>
          <a:p>
            <a:pPr algn="ctr" indent="0" marL="0">
              <a:buNone/>
            </a:pPr>
            <a:r>
              <a:rPr lang="en-US" sz="1250" i="1" dirty="0">
                <a:solidFill>
                  <a:srgbClr val="5B6B80"/>
                </a:solidFill>
                <a:latin typeface="Calibri" pitchFamily="34" charset="0"/>
                <a:ea typeface="Calibri" pitchFamily="34" charset="-122"/>
                <a:cs typeface="Calibri" pitchFamily="34" charset="-120"/>
              </a:rPr>
              <a:t>B(q) shorthand: the suspense in a yes/no coin that comes up ‘yes’ with probability q = −[q log₂ q + (1−q) log₂(1−q)]</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064240" cy="1737360"/>
        </p:xfrm>
        <a:graphic>
          <a:graphicData uri="http://schemas.openxmlformats.org/drawingml/2006/table">
            <a:tbl>
              <a:tblPr/>
              <a:tblGrid>
                <a:gridCol w="3688080"/>
                <a:gridCol w="3688080"/>
                <a:gridCol w="3688080"/>
              </a:tblGrid>
              <a:tr h="347472">
                <a:tc>
                  <a:txBody>
                    <a:bodyPr/>
                    <a:lstStyle/>
                    <a:p>
                      <a:pPr algn="ctr" indent="0" marL="0">
                        <a:buNone/>
                      </a:pPr>
                      <a:r>
                        <a:rPr lang="en-US" sz="1050" b="1" dirty="0">
                          <a:solidFill>
                            <a:srgbClr val="FFFFFF"/>
                          </a:solidFill>
                        </a:rPr>
                        <a:t>Everyday Situation</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c>
                  <a:txBody>
                    <a:bodyPr/>
                    <a:lstStyle/>
                    <a:p>
                      <a:pPr algn="ctr" indent="0" marL="0">
                        <a:buNone/>
                      </a:pPr>
                      <a:r>
                        <a:rPr lang="en-US" sz="1050" b="1" dirty="0">
                          <a:solidFill>
                            <a:srgbClr val="FFFFFF"/>
                          </a:solidFill>
                        </a:rPr>
                        <a:t>Suspense (Entropy)</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c>
                  <a:txBody>
                    <a:bodyPr/>
                    <a:lstStyle/>
                    <a:p>
                      <a:pPr algn="ctr" indent="0" marL="0">
                        <a:buNone/>
                      </a:pPr>
                      <a:r>
                        <a:rPr lang="en-US" sz="1050" b="1" dirty="0">
                          <a:solidFill>
                            <a:srgbClr val="FFFFFF"/>
                          </a:solidFill>
                        </a:rPr>
                        <a:t>In Plain Terms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r>
              <a:tr h="347472">
                <a:tc>
                  <a:txBody>
                    <a:bodyPr/>
                    <a:lstStyle/>
                    <a:p>
                      <a:pPr algn="ctr" indent="0" marL="0">
                        <a:buNone/>
                      </a:pPr>
                      <a:r>
                        <a:rPr lang="en-US" sz="1050" dirty="0">
                          <a:solidFill>
                            <a:srgbClr val="16233A"/>
                          </a:solidFill>
                        </a:rPr>
                        <a:t>A coin you know is rigged to always land heads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0 bits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Zero suspense — you already know the outcome</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r>
              <a:tr h="347472">
                <a:tc>
                  <a:txBody>
                    <a:bodyPr/>
                    <a:lstStyle/>
                    <a:p>
                      <a:pPr algn="ctr" indent="0" marL="0">
                        <a:buNone/>
                      </a:pPr>
                      <a:r>
                        <a:rPr lang="en-US" sz="1050" dirty="0">
                          <a:solidFill>
                            <a:srgbClr val="16233A"/>
                          </a:solidFill>
                        </a:rPr>
                        <a:t>A perfectly fair coin flip</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1 bit</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Maximum suspense for a two-outcome guess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r>
              <a:tr h="347472">
                <a:tc>
                  <a:txBody>
                    <a:bodyPr/>
                    <a:lstStyle/>
                    <a:p>
                      <a:pPr algn="ctr" indent="0" marL="0">
                        <a:buNone/>
                      </a:pPr>
                      <a:r>
                        <a:rPr lang="en-US" sz="1050" dirty="0">
                          <a:solidFill>
                            <a:srgbClr val="16233A"/>
                          </a:solidFill>
                        </a:rPr>
                        <a:t>A coin that lands heads 99% of the time</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 0.08 bits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Almost no suspense — you're nearly sure already</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r>
              <a:tr h="347472">
                <a:tc>
                  <a:txBody>
                    <a:bodyPr/>
                    <a:lstStyle/>
                    <a:p>
                      <a:pPr algn="ctr" indent="0" marL="0">
                        <a:buNone/>
                      </a:pPr>
                      <a:r>
                        <a:rPr lang="en-US" sz="1050" dirty="0">
                          <a:solidFill>
                            <a:srgbClr val="16233A"/>
                          </a:solidFill>
                        </a:rPr>
                        <a:t>Our restaurant data: 6 waited, 6 didn't</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1 bit</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Totally split — maximum suspense before asking anything</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r>
            </a:tbl>
          </a:graphicData>
        </a:graphic>
      </p:graphicFrame>
      <p:sp>
        <p:nvSpPr>
          <p:cNvPr id="9" name="Text 6"/>
          <p:cNvSpPr/>
          <p:nvPr/>
        </p:nvSpPr>
        <p:spPr>
          <a:xfrm>
            <a:off x="548640" y="4709160"/>
            <a:ext cx="11064240" cy="640080"/>
          </a:xfrm>
          <a:prstGeom prst="rect">
            <a:avLst/>
          </a:prstGeom>
          <a:noFill/>
          <a:ln/>
        </p:spPr>
        <p:txBody>
          <a:bodyPr wrap="square" rtlCol="0" anchor="t"/>
          <a:lstStyle/>
          <a:p>
            <a:pPr algn="l" indent="0" marL="0">
              <a:buNone/>
            </a:pPr>
            <a:r>
              <a:rPr lang="en-US" sz="1250" i="1" dirty="0">
                <a:solidFill>
                  <a:srgbClr val="5B6B80"/>
                </a:solidFill>
                <a:latin typeface="Calibri" pitchFamily="34" charset="0"/>
                <a:ea typeface="Calibri" pitchFamily="34" charset="-122"/>
                <a:cs typeface="Calibri" pitchFamily="34" charset="-120"/>
              </a:rPr>
              <a:t>A situation with only one possible outcome has zero suspense — you already know the ending, so there's nothing left to be curious about.</a:t>
            </a:r>
            <a:endParaRPr lang="en-US" sz="1250" dirty="0"/>
          </a:p>
        </p:txBody>
      </p:sp>
      <p:sp>
        <p:nvSpPr>
          <p:cNvPr id="10" name="Text 7"/>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15 of 61</a:t>
            </a:r>
            <a:endParaRPr lang="en-US" sz="1000" dirty="0"/>
          </a:p>
        </p:txBody>
      </p:sp>
      <p:sp>
        <p:nvSpPr>
          <p:cNvPr id="11" name="Text 8"/>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19.3.3</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Information Gain: Picking the Most Useful Question</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Like a good round of Twenty Questions — always ask whatever narrows things down the most</a:t>
            </a:r>
            <a:endParaRPr lang="en-US" sz="1400" dirty="0"/>
          </a:p>
        </p:txBody>
      </p:sp>
      <p:sp>
        <p:nvSpPr>
          <p:cNvPr id="5" name="Shape 3"/>
          <p:cNvSpPr/>
          <p:nvPr/>
        </p:nvSpPr>
        <p:spPr>
          <a:xfrm>
            <a:off x="548640" y="1691640"/>
            <a:ext cx="1463040" cy="518160"/>
          </a:xfrm>
          <a:prstGeom prst="rect">
            <a:avLst/>
          </a:prstGeom>
          <a:solidFill>
            <a:srgbClr val="122540"/>
          </a:solidFill>
          <a:ln/>
        </p:spPr>
      </p:sp>
      <p:sp>
        <p:nvSpPr>
          <p:cNvPr id="6" name="Text 4"/>
          <p:cNvSpPr/>
          <p:nvPr/>
        </p:nvSpPr>
        <p:spPr>
          <a:xfrm>
            <a:off x="548640" y="1691640"/>
            <a:ext cx="1463040" cy="5181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GENERAL</a:t>
            </a:r>
            <a:endParaRPr lang="en-US" sz="1100" dirty="0"/>
          </a:p>
        </p:txBody>
      </p:sp>
      <p:sp>
        <p:nvSpPr>
          <p:cNvPr id="7" name="Shape 5"/>
          <p:cNvSpPr/>
          <p:nvPr/>
        </p:nvSpPr>
        <p:spPr>
          <a:xfrm>
            <a:off x="2103120" y="1691640"/>
            <a:ext cx="9509760" cy="518160"/>
          </a:xfrm>
          <a:prstGeom prst="rect">
            <a:avLst/>
          </a:prstGeom>
          <a:solidFill>
            <a:srgbClr val="F7F9FC"/>
          </a:solidFill>
          <a:ln w="6350">
            <a:solidFill>
              <a:srgbClr val="DCE3ED"/>
            </a:solidFill>
            <a:prstDash val="solid"/>
          </a:ln>
        </p:spPr>
      </p:sp>
      <p:sp>
        <p:nvSpPr>
          <p:cNvPr id="8" name="Text 6"/>
          <p:cNvSpPr/>
          <p:nvPr/>
        </p:nvSpPr>
        <p:spPr>
          <a:xfrm>
            <a:off x="2286000" y="1691640"/>
            <a:ext cx="9235440" cy="51816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Remainder(A) = ∑ₖ [(pₖ+nₖ)/(p+n)] × B(pₖ/(pₖ+nₖ))     Gain(A) = B(p/(p+n)) − Remainder(A)</a:t>
            </a:r>
            <a:endParaRPr lang="en-US" sz="1300" dirty="0"/>
          </a:p>
        </p:txBody>
      </p:sp>
      <p:sp>
        <p:nvSpPr>
          <p:cNvPr id="9" name="Shape 7"/>
          <p:cNvSpPr/>
          <p:nvPr/>
        </p:nvSpPr>
        <p:spPr>
          <a:xfrm>
            <a:off x="548640" y="2346960"/>
            <a:ext cx="1463040" cy="518160"/>
          </a:xfrm>
          <a:prstGeom prst="rect">
            <a:avLst/>
          </a:prstGeom>
          <a:solidFill>
            <a:srgbClr val="16233A"/>
          </a:solidFill>
          <a:ln/>
        </p:spPr>
      </p:sp>
      <p:sp>
        <p:nvSpPr>
          <p:cNvPr id="10" name="Text 8"/>
          <p:cNvSpPr/>
          <p:nvPr/>
        </p:nvSpPr>
        <p:spPr>
          <a:xfrm>
            <a:off x="548640" y="2346960"/>
            <a:ext cx="1463040" cy="5181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SUBSTITUTE</a:t>
            </a:r>
            <a:endParaRPr lang="en-US" sz="1100" dirty="0"/>
          </a:p>
        </p:txBody>
      </p:sp>
      <p:sp>
        <p:nvSpPr>
          <p:cNvPr id="11" name="Shape 9"/>
          <p:cNvSpPr/>
          <p:nvPr/>
        </p:nvSpPr>
        <p:spPr>
          <a:xfrm>
            <a:off x="2103120" y="2346960"/>
            <a:ext cx="9509760" cy="518160"/>
          </a:xfrm>
          <a:prstGeom prst="rect">
            <a:avLst/>
          </a:prstGeom>
          <a:solidFill>
            <a:srgbClr val="F7F9FC"/>
          </a:solidFill>
          <a:ln w="6350">
            <a:solidFill>
              <a:srgbClr val="DCE3ED"/>
            </a:solidFill>
            <a:prstDash val="solid"/>
          </a:ln>
        </p:spPr>
      </p:sp>
      <p:sp>
        <p:nvSpPr>
          <p:cNvPr id="12" name="Text 10"/>
          <p:cNvSpPr/>
          <p:nvPr/>
        </p:nvSpPr>
        <p:spPr>
          <a:xfrm>
            <a:off x="2286000" y="2346960"/>
            <a:ext cx="9235440" cy="51816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Patrons: 1 − [2/12·B(0) + 4/12·B(1) + 6/12·B(2/6)]      Type: 1 − [2/12·B(1/2) + 2/12·B(1/2) + 4/12·B(2/4) + 4/12·B(2/4)]</a:t>
            </a:r>
            <a:endParaRPr lang="en-US" sz="1300" dirty="0"/>
          </a:p>
        </p:txBody>
      </p:sp>
      <p:sp>
        <p:nvSpPr>
          <p:cNvPr id="13" name="Shape 11"/>
          <p:cNvSpPr/>
          <p:nvPr/>
        </p:nvSpPr>
        <p:spPr>
          <a:xfrm>
            <a:off x="548640" y="3002280"/>
            <a:ext cx="1463040" cy="518160"/>
          </a:xfrm>
          <a:prstGeom prst="rect">
            <a:avLst/>
          </a:prstGeom>
          <a:solidFill>
            <a:srgbClr val="1B6B3A"/>
          </a:solidFill>
          <a:ln/>
        </p:spPr>
      </p:sp>
      <p:sp>
        <p:nvSpPr>
          <p:cNvPr id="14" name="Text 12"/>
          <p:cNvSpPr/>
          <p:nvPr/>
        </p:nvSpPr>
        <p:spPr>
          <a:xfrm>
            <a:off x="548640" y="3002280"/>
            <a:ext cx="1463040" cy="5181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p>
        </p:txBody>
      </p:sp>
      <p:sp>
        <p:nvSpPr>
          <p:cNvPr id="15" name="Shape 13"/>
          <p:cNvSpPr/>
          <p:nvPr/>
        </p:nvSpPr>
        <p:spPr>
          <a:xfrm>
            <a:off x="2103120" y="3002280"/>
            <a:ext cx="9509760" cy="518160"/>
          </a:xfrm>
          <a:prstGeom prst="rect">
            <a:avLst/>
          </a:prstGeom>
          <a:solidFill>
            <a:srgbClr val="F7F9FC"/>
          </a:solidFill>
          <a:ln w="6350">
            <a:solidFill>
              <a:srgbClr val="DCE3ED"/>
            </a:solidFill>
            <a:prstDash val="solid"/>
          </a:ln>
        </p:spPr>
      </p:sp>
      <p:sp>
        <p:nvSpPr>
          <p:cNvPr id="16" name="Text 14"/>
          <p:cNvSpPr/>
          <p:nvPr/>
        </p:nvSpPr>
        <p:spPr>
          <a:xfrm>
            <a:off x="2286000" y="3002280"/>
            <a:ext cx="9235440" cy="51816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Gain(Patrons) ≈ 0.541 bits — a genuinely useful question          Gain(Type) = 0 bits — a useless one</a:t>
            </a:r>
            <a:endParaRPr lang="en-US" sz="1300" dirty="0"/>
          </a:p>
        </p:txBody>
      </p:sp>
      <p:sp>
        <p:nvSpPr>
          <p:cNvPr id="17" name="Shape 15"/>
          <p:cNvSpPr/>
          <p:nvPr/>
        </p:nvSpPr>
        <p:spPr>
          <a:xfrm>
            <a:off x="548640" y="4114800"/>
            <a:ext cx="11064240" cy="1371600"/>
          </a:xfrm>
          <a:prstGeom prst="rect">
            <a:avLst/>
          </a:prstGeom>
          <a:solidFill>
            <a:srgbClr val="D7E2F2"/>
          </a:solidFill>
          <a:ln w="12700">
            <a:solidFill>
              <a:srgbClr val="F0A828"/>
            </a:solidFill>
            <a:prstDash val="solid"/>
          </a:ln>
        </p:spPr>
      </p:sp>
      <p:sp>
        <p:nvSpPr>
          <p:cNvPr id="18" name="Text 16"/>
          <p:cNvSpPr/>
          <p:nvPr/>
        </p:nvSpPr>
        <p:spPr>
          <a:xfrm>
            <a:off x="777240" y="4297680"/>
            <a:ext cx="10607040" cy="100584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“How packed is it” wins by the largest margin of any question we could ask — exactly matching our gut feeling from two slides ago — so the tree-growing recipe picks it as the very first question.</a:t>
            </a:r>
            <a:endParaRPr lang="en-US" sz="1250" dirty="0"/>
          </a:p>
        </p:txBody>
      </p:sp>
      <p:sp>
        <p:nvSpPr>
          <p:cNvPr id="19" name="Text 17"/>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16 of 61</a:t>
            </a:r>
            <a:endParaRPr lang="en-US" sz="1000" dirty="0"/>
          </a:p>
        </p:txBody>
      </p:sp>
      <p:sp>
        <p:nvSpPr>
          <p:cNvPr id="20" name="Text 18"/>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19.3.2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The Flowchart We Actually Get — and a Surprise</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Figure 19.6: simpler than the “true” rule, yet it gets every practice case right</a:t>
            </a:r>
            <a:endParaRPr lang="en-US" sz="1400" dirty="0"/>
          </a:p>
        </p:txBody>
      </p:sp>
      <p:sp>
        <p:nvSpPr>
          <p:cNvPr id="5" name="Shape 3"/>
          <p:cNvSpPr/>
          <p:nvPr/>
        </p:nvSpPr>
        <p:spPr>
          <a:xfrm>
            <a:off x="548640" y="1691640"/>
            <a:ext cx="11064240" cy="2377440"/>
          </a:xfrm>
          <a:prstGeom prst="rect">
            <a:avLst/>
          </a:prstGeom>
          <a:solidFill>
            <a:srgbClr val="D7E2F2"/>
          </a:solidFill>
          <a:ln w="12700">
            <a:solidFill>
              <a:srgbClr val="F0A828"/>
            </a:solidFill>
            <a:prstDash val="solid"/>
          </a:ln>
        </p:spPr>
      </p:sp>
      <p:sp>
        <p:nvSpPr>
          <p:cNvPr id="6" name="Text 4"/>
          <p:cNvSpPr/>
          <p:nvPr/>
        </p:nvSpPr>
        <p:spPr>
          <a:xfrm>
            <a:off x="777240" y="1874520"/>
            <a:ext cx="10607040" cy="201168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The learned flowchart only ever asks about how-packed-it-is, are-we-hungry, what-type-of-food, and is-it-the-weekend — nothing else.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It never bothers asking about rain or reservations, because it doesn't need to — it can already get every practice case right without them.</a:t>
            </a:r>
            <a:endParaRPr lang="en-US" sz="1250" dirty="0"/>
          </a:p>
          <a:p>
            <a:pPr marL="342900" indent="-342900">
              <a:spcAft>
                <a:spcPts val="1000"/>
              </a:spcAft>
              <a:buSzPct val="100000"/>
              <a:buChar char="•"/>
            </a:pPr>
            <a:r>
              <a:rPr lang="en-US" sz="1250" b="1" dirty="0">
                <a:solidFill>
                  <a:srgbClr val="16233A"/>
                </a:solidFill>
                <a:latin typeface="Calibri" pitchFamily="34" charset="0"/>
                <a:ea typeface="Calibri" pitchFamily="34" charset="-122"/>
                <a:cs typeface="Calibri" pitchFamily="34" charset="-120"/>
              </a:rPr>
              <a:t>It even stumbles onto a real pattern nobody told it: this particular person will wait for Thai food specifically on weekends.</a:t>
            </a:r>
            <a:endParaRPr lang="en-US" sz="1250" dirty="0"/>
          </a:p>
        </p:txBody>
      </p:sp>
      <p:sp>
        <p:nvSpPr>
          <p:cNvPr id="7" name="Shape 5"/>
          <p:cNvSpPr/>
          <p:nvPr/>
        </p:nvSpPr>
        <p:spPr>
          <a:xfrm>
            <a:off x="548640" y="4114800"/>
            <a:ext cx="11064240" cy="1371600"/>
          </a:xfrm>
          <a:prstGeom prst="rect">
            <a:avLst/>
          </a:prstGeom>
          <a:solidFill>
            <a:srgbClr val="EAF7EF"/>
          </a:solidFill>
          <a:ln w="12700">
            <a:solidFill>
              <a:srgbClr val="3FB871"/>
            </a:solidFill>
            <a:prstDash val="solid"/>
          </a:ln>
        </p:spPr>
      </p:sp>
      <p:sp>
        <p:nvSpPr>
          <p:cNvPr id="8" name="Text 6"/>
          <p:cNvSpPr/>
          <p:nvPr/>
        </p:nvSpPr>
        <p:spPr>
          <a:xfrm>
            <a:off x="777240" y="4251960"/>
            <a:ext cx="10607040" cy="320040"/>
          </a:xfrm>
          <a:prstGeom prst="rect">
            <a:avLst/>
          </a:prstGeom>
          <a:noFill/>
          <a:ln/>
        </p:spPr>
        <p:txBody>
          <a:bodyPr wrap="square" rtlCol="0" anchor="ctr"/>
          <a:lstStyle/>
          <a:p>
            <a:pPr indent="0" marL="0">
              <a:buNone/>
            </a:pPr>
            <a:r>
              <a:rPr lang="en-US" sz="1350" b="1" dirty="0">
                <a:solidFill>
                  <a:srgbClr val="1B6B3A"/>
                </a:solidFill>
                <a:latin typeface="Calibri" pitchFamily="34" charset="0"/>
                <a:ea typeface="Calibri" pitchFamily="34" charset="-122"/>
                <a:cs typeface="Calibri" pitchFamily="34" charset="-120"/>
              </a:rPr>
              <a:t>The Honest Catch</a:t>
            </a:r>
            <a:endParaRPr lang="en-US" sz="1350" dirty="0"/>
          </a:p>
        </p:txBody>
      </p:sp>
      <p:sp>
        <p:nvSpPr>
          <p:cNvPr id="9" name="Text 7"/>
          <p:cNvSpPr/>
          <p:nvPr/>
        </p:nvSpPr>
        <p:spPr>
          <a:xfrm>
            <a:off x="777240" y="4617720"/>
            <a:ext cx="10607040" cy="68580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It's never seen a case where the restaurant is packed but the wait is short — so right now it guesses “no” there whenever we're not hungry, which is probably wrong. More real-world examples would fix this, the same way more experience fixes a new employee's blind spots.</a:t>
            </a:r>
            <a:endParaRPr lang="en-US" sz="1250" dirty="0"/>
          </a:p>
        </p:txBody>
      </p:sp>
      <p:sp>
        <p:nvSpPr>
          <p:cNvPr id="10" name="Text 8"/>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17 of 61</a:t>
            </a:r>
            <a:endParaRPr lang="en-US" sz="1000" dirty="0"/>
          </a:p>
        </p:txBody>
      </p:sp>
      <p:sp>
        <p:nvSpPr>
          <p:cNvPr id="11" name="Text 9"/>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19.3.4</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How Do We Know the Flowchart Is Actually Good?</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Getting every practice question right proves nothing — we need a real test</a:t>
            </a:r>
            <a:endParaRPr lang="en-US" sz="1400" dirty="0"/>
          </a:p>
        </p:txBody>
      </p:sp>
      <p:sp>
        <p:nvSpPr>
          <p:cNvPr id="5" name="Text 3"/>
          <p:cNvSpPr/>
          <p:nvPr/>
        </p:nvSpPr>
        <p:spPr>
          <a:xfrm>
            <a:off x="548640" y="169164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 learning curve is just a graph of “how well does it do on brand-new cases” as we give it more and more practice examples — sometimes called a “happy graph” because it usually climbs.</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On 100 restaurant-style examples, the curve climbs to about 95% correct on brand-new cases — and still looks like it's climbing, suggesting more practice would help even further.</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Overfitting — getting fooled by coincidences — gets more likely the more facts you track, and less likely the more real examples you have. A flowchart with room for a hundred questions has a lot more room to memorize noise than one with room for five.</a:t>
            </a:r>
            <a:endParaRPr lang="en-US" sz="1350" dirty="0"/>
          </a:p>
        </p:txBody>
      </p:sp>
      <p:sp>
        <p:nvSpPr>
          <p:cNvPr id="6" name="Text 4"/>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18 of 61</a:t>
            </a:r>
            <a:endParaRPr lang="en-US" sz="1000" dirty="0"/>
          </a:p>
        </p:txBody>
      </p:sp>
      <p:sp>
        <p:nvSpPr>
          <p:cNvPr id="7" name="Text 5"/>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19.3.4</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Pruning: Trimming Back a Flowchart That Got Too Fussy</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Like an editor cutting a sentence that sounds clever but doesn't actually add meaning</a:t>
            </a:r>
            <a:endParaRPr lang="en-US" sz="1400" dirty="0"/>
          </a:p>
        </p:txBody>
      </p:sp>
      <p:sp>
        <p:nvSpPr>
          <p:cNvPr id="5" name="Shape 3"/>
          <p:cNvSpPr/>
          <p:nvPr/>
        </p:nvSpPr>
        <p:spPr>
          <a:xfrm>
            <a:off x="548640" y="1691640"/>
            <a:ext cx="1463040" cy="487680"/>
          </a:xfrm>
          <a:prstGeom prst="rect">
            <a:avLst/>
          </a:prstGeom>
          <a:solidFill>
            <a:srgbClr val="122540"/>
          </a:solidFill>
          <a:ln/>
        </p:spPr>
      </p:sp>
      <p:sp>
        <p:nvSpPr>
          <p:cNvPr id="6" name="Text 4"/>
          <p:cNvSpPr/>
          <p:nvPr/>
        </p:nvSpPr>
        <p:spPr>
          <a:xfrm>
            <a:off x="548640" y="1691640"/>
            <a:ext cx="1463040" cy="4876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GENERAL</a:t>
            </a:r>
            <a:endParaRPr lang="en-US" sz="1100" dirty="0"/>
          </a:p>
        </p:txBody>
      </p:sp>
      <p:sp>
        <p:nvSpPr>
          <p:cNvPr id="7" name="Shape 5"/>
          <p:cNvSpPr/>
          <p:nvPr/>
        </p:nvSpPr>
        <p:spPr>
          <a:xfrm>
            <a:off x="2103120" y="1691640"/>
            <a:ext cx="9509760" cy="487680"/>
          </a:xfrm>
          <a:prstGeom prst="rect">
            <a:avLst/>
          </a:prstGeom>
          <a:solidFill>
            <a:srgbClr val="F7F9FC"/>
          </a:solidFill>
          <a:ln w="6350">
            <a:solidFill>
              <a:srgbClr val="DCE3ED"/>
            </a:solidFill>
            <a:prstDash val="solid"/>
          </a:ln>
        </p:spPr>
      </p:sp>
      <p:sp>
        <p:nvSpPr>
          <p:cNvPr id="8" name="Text 6"/>
          <p:cNvSpPr/>
          <p:nvPr/>
        </p:nvSpPr>
        <p:spPr>
          <a:xfrm>
            <a:off x="2286000" y="1691640"/>
            <a:ext cx="9235440" cy="48768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Start by assuming a question is useless. Work out what an even, boring split would look like if that were true.</a:t>
            </a:r>
            <a:endParaRPr lang="en-US" sz="1300" dirty="0"/>
          </a:p>
        </p:txBody>
      </p:sp>
      <p:sp>
        <p:nvSpPr>
          <p:cNvPr id="9" name="Shape 7"/>
          <p:cNvSpPr/>
          <p:nvPr/>
        </p:nvSpPr>
        <p:spPr>
          <a:xfrm>
            <a:off x="548640" y="2316480"/>
            <a:ext cx="1463040" cy="487680"/>
          </a:xfrm>
          <a:prstGeom prst="rect">
            <a:avLst/>
          </a:prstGeom>
          <a:solidFill>
            <a:srgbClr val="16233A"/>
          </a:solidFill>
          <a:ln/>
        </p:spPr>
      </p:sp>
      <p:sp>
        <p:nvSpPr>
          <p:cNvPr id="10" name="Text 8"/>
          <p:cNvSpPr/>
          <p:nvPr/>
        </p:nvSpPr>
        <p:spPr>
          <a:xfrm>
            <a:off x="548640" y="2316480"/>
            <a:ext cx="1463040" cy="4876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SUBSTITUTE</a:t>
            </a:r>
            <a:endParaRPr lang="en-US" sz="1100" dirty="0"/>
          </a:p>
        </p:txBody>
      </p:sp>
      <p:sp>
        <p:nvSpPr>
          <p:cNvPr id="11" name="Shape 9"/>
          <p:cNvSpPr/>
          <p:nvPr/>
        </p:nvSpPr>
        <p:spPr>
          <a:xfrm>
            <a:off x="2103120" y="2316480"/>
            <a:ext cx="9509760" cy="487680"/>
          </a:xfrm>
          <a:prstGeom prst="rect">
            <a:avLst/>
          </a:prstGeom>
          <a:solidFill>
            <a:srgbClr val="F7F9FC"/>
          </a:solidFill>
          <a:ln w="6350">
            <a:solidFill>
              <a:srgbClr val="DCE3ED"/>
            </a:solidFill>
            <a:prstDash val="solid"/>
          </a:ln>
        </p:spPr>
      </p:sp>
      <p:sp>
        <p:nvSpPr>
          <p:cNvPr id="12" name="Text 10"/>
          <p:cNvSpPr/>
          <p:nvPr/>
        </p:nvSpPr>
        <p:spPr>
          <a:xfrm>
            <a:off x="2286000" y="2316480"/>
            <a:ext cx="9235440" cy="48768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Compare what actually happened to that boring expectation — a bigger gap between them is stronger evidence the question really was useful</a:t>
            </a:r>
            <a:endParaRPr lang="en-US" sz="1300" dirty="0"/>
          </a:p>
        </p:txBody>
      </p:sp>
      <p:sp>
        <p:nvSpPr>
          <p:cNvPr id="13" name="Shape 11"/>
          <p:cNvSpPr/>
          <p:nvPr/>
        </p:nvSpPr>
        <p:spPr>
          <a:xfrm>
            <a:off x="548640" y="2941320"/>
            <a:ext cx="1463040" cy="487680"/>
          </a:xfrm>
          <a:prstGeom prst="rect">
            <a:avLst/>
          </a:prstGeom>
          <a:solidFill>
            <a:srgbClr val="1B6B3A"/>
          </a:solidFill>
          <a:ln/>
        </p:spPr>
      </p:sp>
      <p:sp>
        <p:nvSpPr>
          <p:cNvPr id="14" name="Text 12"/>
          <p:cNvSpPr/>
          <p:nvPr/>
        </p:nvSpPr>
        <p:spPr>
          <a:xfrm>
            <a:off x="548640" y="2941320"/>
            <a:ext cx="1463040" cy="4876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p>
        </p:txBody>
      </p:sp>
      <p:sp>
        <p:nvSpPr>
          <p:cNvPr id="15" name="Shape 13"/>
          <p:cNvSpPr/>
          <p:nvPr/>
        </p:nvSpPr>
        <p:spPr>
          <a:xfrm>
            <a:off x="2103120" y="2941320"/>
            <a:ext cx="9509760" cy="487680"/>
          </a:xfrm>
          <a:prstGeom prst="rect">
            <a:avLst/>
          </a:prstGeom>
          <a:solidFill>
            <a:srgbClr val="F7F9FC"/>
          </a:solidFill>
          <a:ln w="6350">
            <a:solidFill>
              <a:srgbClr val="DCE3ED"/>
            </a:solidFill>
            <a:prstDash val="solid"/>
          </a:ln>
        </p:spPr>
      </p:sp>
      <p:sp>
        <p:nvSpPr>
          <p:cNvPr id="16" name="Text 14"/>
          <p:cNvSpPr/>
          <p:nvPr/>
        </p:nvSpPr>
        <p:spPr>
          <a:xfrm>
            <a:off x="2286000" y="2941320"/>
            <a:ext cx="9235440" cy="48768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Restaurant “type of food” question: the gap is small enough to conclude it really was useless — so we trim that branch away entirely</a:t>
            </a:r>
            <a:endParaRPr lang="en-US" sz="1300" dirty="0"/>
          </a:p>
        </p:txBody>
      </p:sp>
      <p:sp>
        <p:nvSpPr>
          <p:cNvPr id="17" name="Shape 15"/>
          <p:cNvSpPr/>
          <p:nvPr/>
        </p:nvSpPr>
        <p:spPr>
          <a:xfrm>
            <a:off x="548640" y="4297680"/>
            <a:ext cx="11064240" cy="1188720"/>
          </a:xfrm>
          <a:prstGeom prst="rect">
            <a:avLst/>
          </a:prstGeom>
          <a:solidFill>
            <a:srgbClr val="D7E2F2"/>
          </a:solidFill>
          <a:ln w="12700">
            <a:solidFill>
              <a:srgbClr val="F0A828"/>
            </a:solidFill>
            <a:prstDash val="solid"/>
          </a:ln>
        </p:spPr>
      </p:sp>
      <p:sp>
        <p:nvSpPr>
          <p:cNvPr id="18" name="Text 16"/>
          <p:cNvSpPr/>
          <p:nvPr/>
        </p:nvSpPr>
        <p:spPr>
          <a:xfrm>
            <a:off x="777240" y="4480560"/>
            <a:ext cx="10607040" cy="8229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Tempting shortcut that's actually wrong: stop growing the flowchart the moment no single question looks helpful. That misses cases where no single question helps alone, but two together do — grow the whole tree first, then trim.</a:t>
            </a:r>
            <a:endParaRPr lang="en-US" sz="1250" dirty="0"/>
          </a:p>
        </p:txBody>
      </p:sp>
      <p:sp>
        <p:nvSpPr>
          <p:cNvPr id="19" name="Text 17"/>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19 of 61</a:t>
            </a:r>
            <a:endParaRPr lang="en-US" sz="1000" dirty="0"/>
          </a:p>
        </p:txBody>
      </p:sp>
      <p:sp>
        <p:nvSpPr>
          <p:cNvPr id="20" name="Text 18"/>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19.3.5</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Making Flowcharts Work in the Real, Messy World</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Missing information, measurements instead of categories, and predicting a number instead of yes/no</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Numbers &amp; Too-Many-Options Facts</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For something like weight or age, ask a threshold question — “over 160 pounds?” — rather than one branch per exact number.</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For something with tons of possible values, like a zip code, be careful — you can end up with a branch for almost every single example, which doesn't generalize at all.</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Predicting a Number Instead of Yes/No</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When the answer is a number — like a house's selling price — use a regression tree: each end of the flowchart gives a small formula instead of a flat yes/no.</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Northgate example: a branch might end with “expected length of stay ≈ 2 days, plus a bit more for each year of age” for a specific group of symptoms.</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20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2540"/>
        </a:solidFill>
      </p:bgPr>
    </p:bg>
    <p:spTree>
      <p:nvGrpSpPr>
        <p:cNvPr id="1" name=""/>
        <p:cNvGrpSpPr/>
        <p:nvPr/>
      </p:nvGrpSpPr>
      <p:grpSpPr>
        <a:xfrm>
          <a:off x="0" y="0"/>
          <a:ext cx="0" cy="0"/>
          <a:chOff x="0" y="0"/>
          <a:chExt cx="0" cy="0"/>
        </a:xfrm>
      </p:grpSpPr>
      <p:sp>
        <p:nvSpPr>
          <p:cNvPr id="2" name="Text 0"/>
          <p:cNvSpPr/>
          <p:nvPr/>
        </p:nvSpPr>
        <p:spPr>
          <a:xfrm>
            <a:off x="822960" y="2286000"/>
            <a:ext cx="3657600" cy="1188720"/>
          </a:xfrm>
          <a:prstGeom prst="rect">
            <a:avLst/>
          </a:prstGeom>
          <a:noFill/>
          <a:ln/>
        </p:spPr>
        <p:txBody>
          <a:bodyPr wrap="square" rtlCol="0" anchor="ctr"/>
          <a:lstStyle/>
          <a:p>
            <a:pPr indent="0" marL="0">
              <a:buNone/>
            </a:pPr>
            <a:r>
              <a:rPr lang="en-US" sz="6000" b="1" dirty="0">
                <a:solidFill>
                  <a:srgbClr val="F0A828"/>
                </a:solidFill>
                <a:latin typeface="Cambria" pitchFamily="34" charset="0"/>
                <a:ea typeface="Cambria" pitchFamily="34" charset="-122"/>
                <a:cs typeface="Cambria" pitchFamily="34" charset="-120"/>
              </a:rPr>
              <a:t>19.4</a:t>
            </a:r>
            <a:endParaRPr lang="en-US" sz="6000" dirty="0"/>
          </a:p>
        </p:txBody>
      </p:sp>
      <p:sp>
        <p:nvSpPr>
          <p:cNvPr id="3" name="Text 1"/>
          <p:cNvSpPr/>
          <p:nvPr/>
        </p:nvSpPr>
        <p:spPr>
          <a:xfrm>
            <a:off x="822960" y="3337560"/>
            <a:ext cx="96012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Model Selection and Optimization</a:t>
            </a:r>
            <a:endParaRPr lang="en-US" sz="3200" dirty="0"/>
          </a:p>
        </p:txBody>
      </p:sp>
      <p:sp>
        <p:nvSpPr>
          <p:cNvPr id="4" name="Text 2"/>
          <p:cNvSpPr/>
          <p:nvPr/>
        </p:nvSpPr>
        <p:spPr>
          <a:xfrm>
            <a:off x="822960" y="4160520"/>
            <a:ext cx="9144000" cy="731520"/>
          </a:xfrm>
          <a:prstGeom prst="rect">
            <a:avLst/>
          </a:prstGeom>
          <a:noFill/>
          <a:ln/>
        </p:spPr>
        <p:txBody>
          <a:bodyPr wrap="square" rtlCol="0" anchor="ctr"/>
          <a:lstStyle/>
          <a:p>
            <a:pPr indent="0" marL="0">
              <a:buNone/>
            </a:pPr>
            <a:r>
              <a:rPr lang="en-US" sz="1600" i="1" dirty="0">
                <a:solidFill>
                  <a:srgbClr val="D7E2F2"/>
                </a:solidFill>
                <a:latin typeface="Calibri" pitchFamily="34" charset="0"/>
                <a:ea typeface="Calibri" pitchFamily="34" charset="-122"/>
                <a:cs typeface="Calibri" pitchFamily="34" charset="-120"/>
              </a:rPr>
              <a:t>How do you honestly tell a genuinely good model from one that just got lucky?</a:t>
            </a:r>
            <a:endParaRPr lang="en-US" sz="1600" dirty="0"/>
          </a:p>
        </p:txBody>
      </p:sp>
      <p:sp>
        <p:nvSpPr>
          <p:cNvPr id="5" name="Text 3"/>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21 of 61</a:t>
            </a:r>
            <a:endParaRPr lang="en-US" sz="1000" dirty="0"/>
          </a:p>
        </p:txBody>
      </p:sp>
      <p:sp>
        <p:nvSpPr>
          <p:cNvPr id="6" name="Text 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19.4</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Three Piles of Data, Not Two</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Never let yourself peek at the final exam while you're still practicing, even a little</a:t>
            </a:r>
            <a:endParaRPr lang="en-US" sz="1400" dirty="0"/>
          </a:p>
        </p:txBody>
      </p:sp>
      <p:sp>
        <p:nvSpPr>
          <p:cNvPr id="5" name="Text 3"/>
          <p:cNvSpPr/>
          <p:nvPr/>
        </p:nvSpPr>
        <p:spPr>
          <a:xfrm>
            <a:off x="548640" y="1691640"/>
            <a:ext cx="6400800" cy="4572000"/>
          </a:xfrm>
          <a:prstGeom prst="rect">
            <a:avLst/>
          </a:prstGeom>
          <a:noFill/>
          <a:ln/>
        </p:spPr>
        <p:txBody>
          <a:bodyPr wrap="square" rtlCol="0" anchor="t"/>
          <a:lstStyle/>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Practice set: what you actually study from.</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Practice-test set: extra questions you check yourself against while still deciding how to study.</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Real exam: locked away and never looked at until the very end, for one final, honest grade.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“Hyperparameters” are just the dials on the model itself — like how aggressively to trim the flowchart — as opposed to the specific flowchart you end up with.</a:t>
            </a:r>
            <a:endParaRPr lang="en-US" sz="1350" dirty="0"/>
          </a:p>
        </p:txBody>
      </p:sp>
      <p:sp>
        <p:nvSpPr>
          <p:cNvPr id="6" name="Shape 4"/>
          <p:cNvSpPr/>
          <p:nvPr/>
        </p:nvSpPr>
        <p:spPr>
          <a:xfrm>
            <a:off x="7589520" y="1691640"/>
            <a:ext cx="4023360" cy="3200400"/>
          </a:xfrm>
          <a:prstGeom prst="rect">
            <a:avLst/>
          </a:prstGeom>
          <a:solidFill>
            <a:srgbClr val="D7E2F2"/>
          </a:solidFill>
          <a:ln w="12700">
            <a:solidFill>
              <a:srgbClr val="F0A828"/>
            </a:solidFill>
            <a:prstDash val="solid"/>
          </a:ln>
        </p:spPr>
      </p:sp>
      <p:sp>
        <p:nvSpPr>
          <p:cNvPr id="7" name="Text 5"/>
          <p:cNvSpPr/>
          <p:nvPr/>
        </p:nvSpPr>
        <p:spPr>
          <a:xfrm>
            <a:off x="7818120" y="1828800"/>
            <a:ext cx="3566160" cy="320040"/>
          </a:xfrm>
          <a:prstGeom prst="rect">
            <a:avLst/>
          </a:prstGeom>
          <a:noFill/>
          <a:ln/>
        </p:spPr>
        <p:txBody>
          <a:bodyPr wrap="square" rtlCol="0" anchor="ctr"/>
          <a:lstStyle/>
          <a:p>
            <a:pPr indent="0" marL="0">
              <a:buNone/>
            </a:pPr>
            <a:r>
              <a:rPr lang="en-US" sz="1350" b="1" dirty="0">
                <a:solidFill>
                  <a:srgbClr val="122540"/>
                </a:solidFill>
                <a:latin typeface="Calibri" pitchFamily="34" charset="0"/>
                <a:ea typeface="Calibri" pitchFamily="34" charset="-122"/>
                <a:cs typeface="Calibri" pitchFamily="34" charset="-120"/>
              </a:rPr>
              <a:t>The Sneaky Way You Can Still Cheat</a:t>
            </a:r>
            <a:endParaRPr lang="en-US" sz="1350" dirty="0"/>
          </a:p>
        </p:txBody>
      </p:sp>
      <p:sp>
        <p:nvSpPr>
          <p:cNvPr id="8" name="Text 6"/>
          <p:cNvSpPr/>
          <p:nvPr/>
        </p:nvSpPr>
        <p:spPr>
          <a:xfrm>
            <a:off x="7818120" y="2194560"/>
            <a:ext cx="3566160" cy="251460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Try one setting, peek at the real exam score, try another setting, peek again — no single guess technically “cheated,” but you, the researcher, quietly did, just by peeking repeatedly.</a:t>
            </a:r>
            <a:endParaRPr lang="en-US" sz="1250" dirty="0"/>
          </a:p>
        </p:txBody>
      </p:sp>
      <p:sp>
        <p:nvSpPr>
          <p:cNvPr id="9" name="Text 7"/>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22 of 61</a:t>
            </a:r>
            <a:endParaRPr lang="en-US" sz="1000" dirty="0"/>
          </a:p>
        </p:txBody>
      </p:sp>
      <p:sp>
        <p:nvSpPr>
          <p:cNvPr id="10" name="Text 8"/>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19.4.1</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K-Fold Cross-Validation</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When you don't have enough data for three separate piles, make every example pull double duty</a:t>
            </a:r>
            <a:endParaRPr lang="en-US" sz="1400" dirty="0"/>
          </a:p>
        </p:txBody>
      </p:sp>
      <p:sp>
        <p:nvSpPr>
          <p:cNvPr id="5" name="Shape 3"/>
          <p:cNvSpPr/>
          <p:nvPr/>
        </p:nvSpPr>
        <p:spPr>
          <a:xfrm>
            <a:off x="548640" y="1691640"/>
            <a:ext cx="11064240" cy="2286000"/>
          </a:xfrm>
          <a:prstGeom prst="rect">
            <a:avLst/>
          </a:prstGeom>
          <a:solidFill>
            <a:srgbClr val="D7E2F2"/>
          </a:solidFill>
          <a:ln w="12700">
            <a:solidFill>
              <a:srgbClr val="F0A828"/>
            </a:solidFill>
            <a:prstDash val="solid"/>
          </a:ln>
        </p:spPr>
      </p:sp>
      <p:sp>
        <p:nvSpPr>
          <p:cNvPr id="6" name="Text 4"/>
          <p:cNvSpPr/>
          <p:nvPr/>
        </p:nvSpPr>
        <p:spPr>
          <a:xfrm>
            <a:off x="777240" y="1874520"/>
            <a:ext cx="10607040" cy="192024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Split your data into, say, five equal chunks. Practice on four of them, quiz yourself on the fifth. Repeat five times, rotating which chunk is the quiz each time.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Average your five quiz scores together — a much steadier, more trustworthy number than any single lucky or unlucky split.</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Common choices: 5 or 10 chunks. The extreme version, quizzing yourself on just one example at a time, is called leave-one-out.</a:t>
            </a:r>
            <a:endParaRPr lang="en-US" sz="1250" dirty="0"/>
          </a:p>
        </p:txBody>
      </p:sp>
      <p:sp>
        <p:nvSpPr>
          <p:cNvPr id="7" name="Shape 5"/>
          <p:cNvSpPr/>
          <p:nvPr/>
        </p:nvSpPr>
        <p:spPr>
          <a:xfrm>
            <a:off x="548640" y="4251960"/>
            <a:ext cx="11064240" cy="1280160"/>
          </a:xfrm>
          <a:prstGeom prst="rect">
            <a:avLst/>
          </a:prstGeom>
          <a:solidFill>
            <a:srgbClr val="EAF7EF"/>
          </a:solidFill>
          <a:ln w="12700">
            <a:solidFill>
              <a:srgbClr val="3FB871"/>
            </a:solidFill>
            <a:prstDash val="solid"/>
          </a:ln>
        </p:spPr>
      </p:sp>
      <p:sp>
        <p:nvSpPr>
          <p:cNvPr id="8" name="Text 6"/>
          <p:cNvSpPr/>
          <p:nvPr/>
        </p:nvSpPr>
        <p:spPr>
          <a:xfrm>
            <a:off x="777240" y="4389120"/>
            <a:ext cx="10607040" cy="320040"/>
          </a:xfrm>
          <a:prstGeom prst="rect">
            <a:avLst/>
          </a:prstGeom>
          <a:noFill/>
          <a:ln/>
        </p:spPr>
        <p:txBody>
          <a:bodyPr wrap="square" rtlCol="0" anchor="ctr"/>
          <a:lstStyle/>
          <a:p>
            <a:pPr indent="0" marL="0">
              <a:buNone/>
            </a:pPr>
            <a:r>
              <a:rPr lang="en-US" sz="1350" b="1" dirty="0">
                <a:solidFill>
                  <a:srgbClr val="1B6B3A"/>
                </a:solidFill>
                <a:latin typeface="Calibri" pitchFamily="34" charset="0"/>
                <a:ea typeface="Calibri" pitchFamily="34" charset="-122"/>
                <a:cs typeface="Calibri" pitchFamily="34" charset="-120"/>
              </a:rPr>
              <a:t>One Thing This Doesn't Replace</a:t>
            </a:r>
            <a:endParaRPr lang="en-US" sz="1350" dirty="0"/>
          </a:p>
        </p:txBody>
      </p:sp>
      <p:sp>
        <p:nvSpPr>
          <p:cNvPr id="9" name="Text 7"/>
          <p:cNvSpPr/>
          <p:nvPr/>
        </p:nvSpPr>
        <p:spPr>
          <a:xfrm>
            <a:off x="777240" y="4754880"/>
            <a:ext cx="10607040" cy="5943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You still need a genuinely separate, never-touched real exam at the very end. Cross-validation only replaces the practice-test step, not the final honest grade.</a:t>
            </a:r>
            <a:endParaRPr lang="en-US" sz="1250" dirty="0"/>
          </a:p>
        </p:txBody>
      </p:sp>
      <p:sp>
        <p:nvSpPr>
          <p:cNvPr id="10" name="Text 8"/>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23 of 61</a:t>
            </a:r>
            <a:endParaRPr lang="en-US" sz="1000" dirty="0"/>
          </a:p>
        </p:txBody>
      </p:sp>
      <p:sp>
        <p:nvSpPr>
          <p:cNvPr id="11" name="Text 9"/>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19.4.1</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Picking the Right Amount of Complexity</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The classic dip-then-rise pattern, and one genuine exception worth remembering</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1737360"/>
        </p:xfrm>
        <a:graphic>
          <a:graphicData uri="http://schemas.openxmlformats.org/drawingml/2006/table">
            <a:tbl>
              <a:tblPr/>
              <a:tblGrid>
                <a:gridCol w="3688080"/>
                <a:gridCol w="3688080"/>
                <a:gridCol w="3688080"/>
              </a:tblGrid>
              <a:tr h="579120">
                <a:tc>
                  <a:txBody>
                    <a:bodyPr/>
                    <a:lstStyle/>
                    <a:p>
                      <a:pPr algn="ctr" indent="0" marL="0">
                        <a:buNone/>
                      </a:pPr>
                      <a:r>
                        <a:rPr lang="en-US" sz="1050" b="1" dirty="0">
                          <a:solidFill>
                            <a:srgbClr val="FFFFFF"/>
                          </a:solidFill>
                        </a:rPr>
                        <a:t>What We're Growing</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c>
                  <a:txBody>
                    <a:bodyPr/>
                    <a:lstStyle/>
                    <a:p>
                      <a:pPr algn="ctr" indent="0" marL="0">
                        <a:buNone/>
                      </a:pPr>
                      <a:r>
                        <a:rPr lang="en-US" sz="1050" b="1" dirty="0">
                          <a:solidFill>
                            <a:srgbClr val="FFFFFF"/>
                          </a:solidFill>
                        </a:rPr>
                        <a:t>Measure of Complexity</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c>
                  <a:txBody>
                    <a:bodyPr/>
                    <a:lstStyle/>
                    <a:p>
                      <a:pPr algn="ctr" indent="0" marL="0">
                        <a:buNone/>
                      </a:pPr>
                      <a:r>
                        <a:rPr lang="en-US" sz="1050" b="1" dirty="0">
                          <a:solidFill>
                            <a:srgbClr val="FFFFFF"/>
                          </a:solidFill>
                        </a:rPr>
                        <a:t>Sweet Spot</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r>
              <a:tr h="579120">
                <a:tc>
                  <a:txBody>
                    <a:bodyPr/>
                    <a:lstStyle/>
                    <a:p>
                      <a:pPr algn="ctr" indent="0" marL="0">
                        <a:buNone/>
                      </a:pPr>
                      <a:r>
                        <a:rPr lang="en-US" sz="1050" dirty="0">
                          <a:solidFill>
                            <a:srgbClr val="16233A"/>
                          </a:solidFill>
                        </a:rPr>
                        <a:t>A decision-tree flowchart (restaurant data)</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Number of questions in it</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About 7 — quiz score dips then rises past this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r>
              <a:tr h="579120">
                <a:tc>
                  <a:txBody>
                    <a:bodyPr/>
                    <a:lstStyle/>
                    <a:p>
                      <a:pPr algn="ctr" indent="0" marL="0">
                        <a:buNone/>
                      </a:pPr>
                      <a:r>
                        <a:rPr lang="en-US" sz="1050" dirty="0">
                          <a:solidFill>
                            <a:srgbClr val="16233A"/>
                          </a:solidFill>
                        </a:rPr>
                        <a:t>A modern image-recognition model</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Number of adjustable settings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About a million — quiz score keeps improving well past that</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r>
            </a:tbl>
          </a:graphicData>
        </a:graphic>
      </p:graphicFrame>
      <p:sp>
        <p:nvSpPr>
          <p:cNvPr id="6" name="Shape 3"/>
          <p:cNvSpPr/>
          <p:nvPr/>
        </p:nvSpPr>
        <p:spPr>
          <a:xfrm>
            <a:off x="548640" y="3657600"/>
            <a:ext cx="11064240" cy="1828800"/>
          </a:xfrm>
          <a:prstGeom prst="rect">
            <a:avLst/>
          </a:prstGeom>
          <a:solidFill>
            <a:srgbClr val="D7E2F2"/>
          </a:solidFill>
          <a:ln w="12700">
            <a:solidFill>
              <a:srgbClr val="F0A828"/>
            </a:solidFill>
            <a:prstDash val="solid"/>
          </a:ln>
        </p:spPr>
      </p:sp>
      <p:sp>
        <p:nvSpPr>
          <p:cNvPr id="7" name="Text 4"/>
          <p:cNvSpPr/>
          <p:nvPr/>
        </p:nvSpPr>
        <p:spPr>
          <a:xfrm>
            <a:off x="777240" y="3794760"/>
            <a:ext cx="10607040" cy="320040"/>
          </a:xfrm>
          <a:prstGeom prst="rect">
            <a:avLst/>
          </a:prstGeom>
          <a:noFill/>
          <a:ln/>
        </p:spPr>
        <p:txBody>
          <a:bodyPr wrap="square" rtlCol="0" anchor="ctr"/>
          <a:lstStyle/>
          <a:p>
            <a:pPr indent="0" marL="0">
              <a:buNone/>
            </a:pPr>
            <a:r>
              <a:rPr lang="en-US" sz="1350" b="1" dirty="0">
                <a:solidFill>
                  <a:srgbClr val="122540"/>
                </a:solidFill>
                <a:latin typeface="Calibri" pitchFamily="34" charset="0"/>
                <a:ea typeface="Calibri" pitchFamily="34" charset="-122"/>
                <a:cs typeface="Calibri" pitchFamily="34" charset="-120"/>
              </a:rPr>
              <a:t>Two Very Different Patterns</a:t>
            </a:r>
            <a:endParaRPr lang="en-US" sz="1350" dirty="0"/>
          </a:p>
        </p:txBody>
      </p:sp>
      <p:sp>
        <p:nvSpPr>
          <p:cNvPr id="8" name="Text 5"/>
          <p:cNvSpPr/>
          <p:nvPr/>
        </p:nvSpPr>
        <p:spPr>
          <a:xfrm>
            <a:off x="777240" y="4160520"/>
            <a:ext cx="10607040" cy="114300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Practice-score almost always keeps improving the more complex a model gets — that part's not surprising.</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For flowcharts, quiz-score dips, hits a sweet spot, then rises again as it starts memorizing coincidences — like a U shape.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But for some very flexible model types — big neural networks, forests of trees, boosted committees — quiz-score keeps getting better even long after the model has “memorized” every practice example. A genuine surprise worth remembering when we reach ensembles in 19.8.</a:t>
            </a:r>
            <a:endParaRPr lang="en-US" sz="1250" dirty="0"/>
          </a:p>
        </p:txBody>
      </p:sp>
      <p:sp>
        <p:nvSpPr>
          <p:cNvPr id="9" name="Text 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24 of 61</a:t>
            </a:r>
            <a:endParaRPr lang="en-US" sz="1000" dirty="0"/>
          </a:p>
        </p:txBody>
      </p:sp>
      <p:sp>
        <p:nvSpPr>
          <p:cNvPr id="10"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19.4.2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Not All Wrong Answers Are Equally Bad</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Just counting mistakes treats every mistake the same — which is often unfair</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1371600"/>
        </p:xfrm>
        <a:graphic>
          <a:graphicData uri="http://schemas.openxmlformats.org/drawingml/2006/table">
            <a:tbl>
              <a:tblPr/>
              <a:tblGrid>
                <a:gridCol w="3688080"/>
                <a:gridCol w="3688080"/>
                <a:gridCol w="3688080"/>
              </a:tblGrid>
              <a:tr h="342900">
                <a:tc>
                  <a:txBody>
                    <a:bodyPr/>
                    <a:lstStyle/>
                    <a:p>
                      <a:pPr algn="ctr" indent="0" marL="0">
                        <a:buNone/>
                      </a:pPr>
                      <a:r>
                        <a:rPr lang="en-US" sz="1050" b="1" dirty="0">
                          <a:solidFill>
                            <a:srgbClr val="FFFFFF"/>
                          </a:solidFill>
                        </a:rPr>
                        <a:t>Way of Scoring a Mistake</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c>
                  <a:txBody>
                    <a:bodyPr/>
                    <a:lstStyle/>
                    <a:p>
                      <a:pPr algn="ctr" indent="0" marL="0">
                        <a:buNone/>
                      </a:pPr>
                      <a:r>
                        <a:rPr lang="en-US" sz="1050" b="1" dirty="0">
                          <a:solidFill>
                            <a:srgbClr val="FFFFFF"/>
                          </a:solidFill>
                        </a:rPr>
                        <a:t>Formula</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c>
                  <a:txBody>
                    <a:bodyPr/>
                    <a:lstStyle/>
                    <a:p>
                      <a:pPr algn="ctr" indent="0" marL="0">
                        <a:buNone/>
                      </a:pPr>
                      <a:r>
                        <a:rPr lang="en-US" sz="1050" b="1" dirty="0">
                          <a:solidFill>
                            <a:srgbClr val="FFFFFF"/>
                          </a:solidFill>
                        </a:rPr>
                        <a:t>Good For</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r>
              <a:tr h="342900">
                <a:tc>
                  <a:txBody>
                    <a:bodyPr/>
                    <a:lstStyle/>
                    <a:p>
                      <a:pPr algn="ctr" indent="0" marL="0">
                        <a:buNone/>
                      </a:pPr>
                      <a:r>
                        <a:rPr lang="en-US" sz="1050" dirty="0">
                          <a:solidFill>
                            <a:srgbClr val="16233A"/>
                          </a:solidFill>
                        </a:rPr>
                        <a:t>“How far off” loss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|actual − guess|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Numeric answers, doesn't overreact to one bad miss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r>
              <a:tr h="342900">
                <a:tc>
                  <a:txBody>
                    <a:bodyPr/>
                    <a:lstStyle/>
                    <a:p>
                      <a:pPr algn="ctr" indent="0" marL="0">
                        <a:buNone/>
                      </a:pPr>
                      <a:r>
                        <a:rPr lang="en-US" sz="1050" dirty="0">
                          <a:solidFill>
                            <a:srgbClr val="16233A"/>
                          </a:solidFill>
                        </a:rPr>
                        <a:t>“How far off, squared” loss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(actual − guess)²</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Numeric answers, the traditional default</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r>
              <a:tr h="342900">
                <a:tc>
                  <a:txBody>
                    <a:bodyPr/>
                    <a:lstStyle/>
                    <a:p>
                      <a:pPr algn="ctr" indent="0" marL="0">
                        <a:buNone/>
                      </a:pPr>
                      <a:r>
                        <a:rPr lang="en-US" sz="1050" dirty="0">
                          <a:solidFill>
                            <a:srgbClr val="16233A"/>
                          </a:solidFill>
                        </a:rPr>
                        <a:t>Simple right-or-wrong loss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0 if correct, 1 if wrong</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Yes/no answers — same as counting mistakes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3474720"/>
            <a:ext cx="11064240" cy="1463040"/>
          </a:xfrm>
          <a:prstGeom prst="rect">
            <a:avLst/>
          </a:prstGeom>
          <a:solidFill>
            <a:srgbClr val="D7E2F2"/>
          </a:solidFill>
          <a:ln w="12700">
            <a:solidFill>
              <a:srgbClr val="F0A828"/>
            </a:solidFill>
            <a:prstDash val="solid"/>
          </a:ln>
        </p:spPr>
      </p:sp>
      <p:sp>
        <p:nvSpPr>
          <p:cNvPr id="7" name="Text 4"/>
          <p:cNvSpPr/>
          <p:nvPr/>
        </p:nvSpPr>
        <p:spPr>
          <a:xfrm>
            <a:off x="777240" y="3657600"/>
            <a:ext cx="10607040" cy="109728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Northgate example: missing a real appendicitis case is far worse than a false alarm that just means an extra hour of observation. A well-designed scoring rule should say so explicitly, the same way the textbook's spam-filter example says letting real spam through is ten times worse than a false alarm.</a:t>
            </a:r>
            <a:endParaRPr lang="en-US" sz="1250" dirty="0"/>
          </a:p>
        </p:txBody>
      </p:sp>
      <p:sp>
        <p:nvSpPr>
          <p:cNvPr id="8" name="Text 5"/>
          <p:cNvSpPr/>
          <p:nvPr/>
        </p:nvSpPr>
        <p:spPr>
          <a:xfrm>
            <a:off x="548640" y="5029200"/>
            <a:ext cx="11064240" cy="822960"/>
          </a:xfrm>
          <a:prstGeom prst="rect">
            <a:avLst/>
          </a:prstGeom>
          <a:noFill/>
          <a:ln/>
        </p:spPr>
        <p:txBody>
          <a:bodyPr wrap="square" rtlCol="0" anchor="t"/>
          <a:lstStyle/>
          <a:p>
            <a:pPr algn="l" indent="0" marL="0">
              <a:buNone/>
            </a:pPr>
            <a:r>
              <a:rPr lang="en-US" sz="1250" i="1" dirty="0">
                <a:solidFill>
                  <a:srgbClr val="5B6B80"/>
                </a:solidFill>
                <a:latin typeface="Calibri" pitchFamily="34" charset="0"/>
                <a:ea typeface="Calibri" pitchFamily="34" charset="-122"/>
                <a:cs typeface="Calibri" pitchFamily="34" charset="-120"/>
              </a:rPr>
              <a:t>Since we can never see every possible future case, we always estimate this score using whatever examples we do have — and pick whichever rule scores best on those.</a:t>
            </a:r>
            <a:endParaRPr lang="en-US" sz="1250" dirty="0"/>
          </a:p>
        </p:txBody>
      </p:sp>
      <p:sp>
        <p:nvSpPr>
          <p:cNvPr id="9" name="Text 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25 of 61</a:t>
            </a:r>
            <a:endParaRPr lang="en-US" sz="1000" dirty="0"/>
          </a:p>
        </p:txBody>
      </p:sp>
      <p:sp>
        <p:nvSpPr>
          <p:cNvPr id="10"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19.4.3</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Regularization: Building in a Preference for Simplicity</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An alternative to trial-and-error: bake “don't get too fancy” directly into the scoring</a:t>
            </a:r>
            <a:endParaRPr lang="en-US" sz="1400" dirty="0"/>
          </a:p>
        </p:txBody>
      </p:sp>
      <p:sp>
        <p:nvSpPr>
          <p:cNvPr id="5" name="Shape 3"/>
          <p:cNvSpPr/>
          <p:nvPr/>
        </p:nvSpPr>
        <p:spPr>
          <a:xfrm>
            <a:off x="548640" y="1691640"/>
            <a:ext cx="11064240" cy="822960"/>
          </a:xfrm>
          <a:prstGeom prst="rect">
            <a:avLst/>
          </a:prstGeom>
          <a:solidFill>
            <a:srgbClr val="122540"/>
          </a:solidFill>
          <a:ln/>
        </p:spPr>
      </p:sp>
      <p:sp>
        <p:nvSpPr>
          <p:cNvPr id="6" name="Text 4"/>
          <p:cNvSpPr/>
          <p:nvPr/>
        </p:nvSpPr>
        <p:spPr>
          <a:xfrm>
            <a:off x="822960" y="1691640"/>
            <a:ext cx="10515600" cy="822960"/>
          </a:xfrm>
          <a:prstGeom prst="rect">
            <a:avLst/>
          </a:prstGeom>
          <a:noFill/>
          <a:ln/>
        </p:spPr>
        <p:txBody>
          <a:bodyPr wrap="square" rtlCol="0" anchor="ctr"/>
          <a:lstStyle/>
          <a:p>
            <a:pPr algn="ctr" indent="0" marL="0">
              <a:buNone/>
            </a:pPr>
            <a:r>
              <a:rPr lang="en-US" sz="2000" b="1" dirty="0">
                <a:solidFill>
                  <a:srgbClr val="FFFFFF"/>
                </a:solidFill>
                <a:latin typeface="Cambria Math" pitchFamily="34" charset="0"/>
                <a:ea typeface="Cambria Math" pitchFamily="34" charset="-122"/>
                <a:cs typeface="Cambria Math" pitchFamily="34" charset="-120"/>
              </a:rPr>
              <a:t>Cost(h) = EmpLoss(h) + λ · Complexity(h)          ĥ* = argmin over h of Cost(h)</a:t>
            </a:r>
            <a:endParaRPr lang="en-US" sz="2000" dirty="0"/>
          </a:p>
        </p:txBody>
      </p:sp>
      <p:sp>
        <p:nvSpPr>
          <p:cNvPr id="7" name="Text 5"/>
          <p:cNvSpPr/>
          <p:nvPr/>
        </p:nvSpPr>
        <p:spPr>
          <a:xfrm>
            <a:off x="548640" y="278892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Lambda is a dial that says how much to penalize fanciness — like a strict editor's threshold for cutting a clever-sounding but unnecessary sentence.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For decision trees, the pruning test from 19.3.4 is really this same idea in disguise.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For curve-fitting, a natural “fanciness score” is how big the curve's coefficients are — keeping them small steers us away from that wildly wiggly curve from Figure 19.1.</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We'll see this exact idea again, made completely concrete with real numbers, in Section 19.6.3.</a:t>
            </a:r>
            <a:endParaRPr lang="en-US" sz="1350" dirty="0"/>
          </a:p>
        </p:txBody>
      </p:sp>
      <p:sp>
        <p:nvSpPr>
          <p:cNvPr id="8" name="Text 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26 of 61</a:t>
            </a:r>
            <a:endParaRPr lang="en-US" sz="1000" dirty="0"/>
          </a:p>
        </p:txBody>
      </p:sp>
      <p:sp>
        <p:nvSpPr>
          <p:cNvPr id="9"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19.4.1</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Searching for the Best Dial Settings</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Beyond just trying things one at a time</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Simple Strategies</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Try every combination on a grid: fine when you only have one or two dials to tune.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Try random combinations instead: surprisingly, this often works better, especially with several dials or smooth, continuous ones.</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Smarter Strategies</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Treat “which dial settings work best” as its own learning problem, and balance trying safe bets against trying something new.</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Train a whole batch of models at once with different settings, then let the successful settings “breed” into the next batch — borrowed straight from how evolution works.</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27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2540"/>
        </a:solidFill>
      </p:bgPr>
    </p:bg>
    <p:spTree>
      <p:nvGrpSpPr>
        <p:cNvPr id="1" name=""/>
        <p:cNvGrpSpPr/>
        <p:nvPr/>
      </p:nvGrpSpPr>
      <p:grpSpPr>
        <a:xfrm>
          <a:off x="0" y="0"/>
          <a:ext cx="0" cy="0"/>
          <a:chOff x="0" y="0"/>
          <a:chExt cx="0" cy="0"/>
        </a:xfrm>
      </p:grpSpPr>
      <p:sp>
        <p:nvSpPr>
          <p:cNvPr id="2" name="Text 0"/>
          <p:cNvSpPr/>
          <p:nvPr/>
        </p:nvSpPr>
        <p:spPr>
          <a:xfrm>
            <a:off x="822960" y="2286000"/>
            <a:ext cx="3657600" cy="1188720"/>
          </a:xfrm>
          <a:prstGeom prst="rect">
            <a:avLst/>
          </a:prstGeom>
          <a:noFill/>
          <a:ln/>
        </p:spPr>
        <p:txBody>
          <a:bodyPr wrap="square" rtlCol="0" anchor="ctr"/>
          <a:lstStyle/>
          <a:p>
            <a:pPr indent="0" marL="0">
              <a:buNone/>
            </a:pPr>
            <a:r>
              <a:rPr lang="en-US" sz="6000" b="1" dirty="0">
                <a:solidFill>
                  <a:srgbClr val="F0A828"/>
                </a:solidFill>
                <a:latin typeface="Cambria" pitchFamily="34" charset="0"/>
                <a:ea typeface="Cambria" pitchFamily="34" charset="-122"/>
                <a:cs typeface="Cambria" pitchFamily="34" charset="-120"/>
              </a:rPr>
              <a:t>19.5</a:t>
            </a:r>
            <a:endParaRPr lang="en-US" sz="6000" dirty="0"/>
          </a:p>
        </p:txBody>
      </p:sp>
      <p:sp>
        <p:nvSpPr>
          <p:cNvPr id="3" name="Text 1"/>
          <p:cNvSpPr/>
          <p:nvPr/>
        </p:nvSpPr>
        <p:spPr>
          <a:xfrm>
            <a:off x="822960" y="3337560"/>
            <a:ext cx="96012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Theory of Learning</a:t>
            </a:r>
            <a:endParaRPr lang="en-US" sz="3200" dirty="0"/>
          </a:p>
        </p:txBody>
      </p:sp>
      <p:sp>
        <p:nvSpPr>
          <p:cNvPr id="4" name="Text 2"/>
          <p:cNvSpPr/>
          <p:nvPr/>
        </p:nvSpPr>
        <p:spPr>
          <a:xfrm>
            <a:off x="822960" y="4160520"/>
            <a:ext cx="9144000" cy="731520"/>
          </a:xfrm>
          <a:prstGeom prst="rect">
            <a:avLst/>
          </a:prstGeom>
          <a:noFill/>
          <a:ln/>
        </p:spPr>
        <p:txBody>
          <a:bodyPr wrap="square" rtlCol="0" anchor="ctr"/>
          <a:lstStyle/>
          <a:p>
            <a:pPr indent="0" marL="0">
              <a:buNone/>
            </a:pPr>
            <a:r>
              <a:rPr lang="en-US" sz="1600" i="1" dirty="0">
                <a:solidFill>
                  <a:srgbClr val="D7E2F2"/>
                </a:solidFill>
                <a:latin typeface="Calibri" pitchFamily="34" charset="0"/>
                <a:ea typeface="Calibri" pitchFamily="34" charset="-122"/>
                <a:cs typeface="Calibri" pitchFamily="34" charset="-120"/>
              </a:rPr>
              <a:t>How many examples do we actually need before we can trust a guess? There's a real, calculable answer</a:t>
            </a:r>
            <a:endParaRPr lang="en-US" sz="1600" dirty="0"/>
          </a:p>
        </p:txBody>
      </p:sp>
      <p:sp>
        <p:nvSpPr>
          <p:cNvPr id="5" name="Text 3"/>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28 of 61</a:t>
            </a:r>
            <a:endParaRPr lang="en-US" sz="1000" dirty="0"/>
          </a:p>
        </p:txBody>
      </p:sp>
      <p:sp>
        <p:nvSpPr>
          <p:cNvPr id="6" name="Text 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19.5</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“Probably Approximately Correct” Learning</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Like a food inspector who doesn't taste every dish, but samples enough to be genuinely confident</a:t>
            </a:r>
            <a:endParaRPr lang="en-US" sz="1400" dirty="0"/>
          </a:p>
        </p:txBody>
      </p:sp>
      <p:sp>
        <p:nvSpPr>
          <p:cNvPr id="5" name="Text 3"/>
          <p:cNvSpPr/>
          <p:nvPr/>
        </p:nvSpPr>
        <p:spPr>
          <a:xfrm>
            <a:off x="548640" y="1691640"/>
            <a:ext cx="60350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“Error rate” = how often a rule would get fooled on a random new case, if the future looks statistically like the past.</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 rule counts as “approximately correct” if that error rate is below some small tolerance we choose.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 learning method is “PAC” if it's very likely — not guaranteed, but very likely — to hand you an approximately correct rule.</a:t>
            </a:r>
            <a:endParaRPr lang="en-US" sz="1350" dirty="0"/>
          </a:p>
        </p:txBody>
      </p:sp>
      <p:sp>
        <p:nvSpPr>
          <p:cNvPr id="6" name="Shape 4"/>
          <p:cNvSpPr/>
          <p:nvPr/>
        </p:nvSpPr>
        <p:spPr>
          <a:xfrm>
            <a:off x="6583680" y="1691640"/>
            <a:ext cx="1463040" cy="822960"/>
          </a:xfrm>
          <a:prstGeom prst="rect">
            <a:avLst/>
          </a:prstGeom>
          <a:solidFill>
            <a:srgbClr val="122540"/>
          </a:solidFill>
          <a:ln/>
        </p:spPr>
      </p:sp>
      <p:sp>
        <p:nvSpPr>
          <p:cNvPr id="7" name="Text 5"/>
          <p:cNvSpPr/>
          <p:nvPr/>
        </p:nvSpPr>
        <p:spPr>
          <a:xfrm>
            <a:off x="6583680" y="1691640"/>
            <a:ext cx="1463040" cy="8229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GENERAL</a:t>
            </a:r>
            <a:endParaRPr lang="en-US" sz="1100" dirty="0"/>
          </a:p>
        </p:txBody>
      </p:sp>
      <p:sp>
        <p:nvSpPr>
          <p:cNvPr id="8" name="Shape 6"/>
          <p:cNvSpPr/>
          <p:nvPr/>
        </p:nvSpPr>
        <p:spPr>
          <a:xfrm>
            <a:off x="8138160" y="1691640"/>
            <a:ext cx="3474720" cy="822960"/>
          </a:xfrm>
          <a:prstGeom prst="rect">
            <a:avLst/>
          </a:prstGeom>
          <a:solidFill>
            <a:srgbClr val="F7F9FC"/>
          </a:solidFill>
          <a:ln w="6350">
            <a:solidFill>
              <a:srgbClr val="DCE3ED"/>
            </a:solidFill>
            <a:prstDash val="solid"/>
          </a:ln>
        </p:spPr>
      </p:sp>
      <p:sp>
        <p:nvSpPr>
          <p:cNvPr id="9" name="Text 7"/>
          <p:cNvSpPr/>
          <p:nvPr/>
        </p:nvSpPr>
        <p:spPr>
          <a:xfrm>
            <a:off x="8321040" y="1691640"/>
            <a:ext cx="3200400" cy="82296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A badly wrong rule has a real chance of accidentally looking right on a few examples, just by luck</a:t>
            </a:r>
            <a:endParaRPr lang="en-US" sz="1300" dirty="0"/>
          </a:p>
        </p:txBody>
      </p:sp>
      <p:sp>
        <p:nvSpPr>
          <p:cNvPr id="10" name="Shape 8"/>
          <p:cNvSpPr/>
          <p:nvPr/>
        </p:nvSpPr>
        <p:spPr>
          <a:xfrm>
            <a:off x="6583680" y="2651760"/>
            <a:ext cx="1463040" cy="822960"/>
          </a:xfrm>
          <a:prstGeom prst="rect">
            <a:avLst/>
          </a:prstGeom>
          <a:solidFill>
            <a:srgbClr val="16233A"/>
          </a:solidFill>
          <a:ln/>
        </p:spPr>
      </p:sp>
      <p:sp>
        <p:nvSpPr>
          <p:cNvPr id="11" name="Text 9"/>
          <p:cNvSpPr/>
          <p:nvPr/>
        </p:nvSpPr>
        <p:spPr>
          <a:xfrm>
            <a:off x="6583680" y="2651760"/>
            <a:ext cx="1463040" cy="8229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SUBSTITUTE</a:t>
            </a:r>
            <a:endParaRPr lang="en-US" sz="1100" dirty="0"/>
          </a:p>
        </p:txBody>
      </p:sp>
      <p:sp>
        <p:nvSpPr>
          <p:cNvPr id="12" name="Shape 10"/>
          <p:cNvSpPr/>
          <p:nvPr/>
        </p:nvSpPr>
        <p:spPr>
          <a:xfrm>
            <a:off x="8138160" y="2651760"/>
            <a:ext cx="3474720" cy="822960"/>
          </a:xfrm>
          <a:prstGeom prst="rect">
            <a:avLst/>
          </a:prstGeom>
          <a:solidFill>
            <a:srgbClr val="F7F9FC"/>
          </a:solidFill>
          <a:ln w="6350">
            <a:solidFill>
              <a:srgbClr val="DCE3ED"/>
            </a:solidFill>
            <a:prstDash val="solid"/>
          </a:ln>
        </p:spPr>
      </p:sp>
      <p:sp>
        <p:nvSpPr>
          <p:cNvPr id="13" name="Text 11"/>
          <p:cNvSpPr/>
          <p:nvPr/>
        </p:nvSpPr>
        <p:spPr>
          <a:xfrm>
            <a:off x="8321040" y="2651760"/>
            <a:ext cx="3200400" cy="82296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The more examples it has to accidentally get right in a row, the smaller that chance shrinks — exponentially fast</a:t>
            </a:r>
            <a:endParaRPr lang="en-US" sz="1300" dirty="0"/>
          </a:p>
        </p:txBody>
      </p:sp>
      <p:sp>
        <p:nvSpPr>
          <p:cNvPr id="14" name="Shape 12"/>
          <p:cNvSpPr/>
          <p:nvPr/>
        </p:nvSpPr>
        <p:spPr>
          <a:xfrm>
            <a:off x="6583680" y="3611880"/>
            <a:ext cx="1463040" cy="822960"/>
          </a:xfrm>
          <a:prstGeom prst="rect">
            <a:avLst/>
          </a:prstGeom>
          <a:solidFill>
            <a:srgbClr val="1B6B3A"/>
          </a:solidFill>
          <a:ln/>
        </p:spPr>
      </p:sp>
      <p:sp>
        <p:nvSpPr>
          <p:cNvPr id="15" name="Text 13"/>
          <p:cNvSpPr/>
          <p:nvPr/>
        </p:nvSpPr>
        <p:spPr>
          <a:xfrm>
            <a:off x="6583680" y="3611880"/>
            <a:ext cx="1463040" cy="8229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p>
        </p:txBody>
      </p:sp>
      <p:sp>
        <p:nvSpPr>
          <p:cNvPr id="16" name="Shape 14"/>
          <p:cNvSpPr/>
          <p:nvPr/>
        </p:nvSpPr>
        <p:spPr>
          <a:xfrm>
            <a:off x="8138160" y="3611880"/>
            <a:ext cx="3474720" cy="822960"/>
          </a:xfrm>
          <a:prstGeom prst="rect">
            <a:avLst/>
          </a:prstGeom>
          <a:solidFill>
            <a:srgbClr val="F7F9FC"/>
          </a:solidFill>
          <a:ln w="6350">
            <a:solidFill>
              <a:srgbClr val="DCE3ED"/>
            </a:solidFill>
            <a:prstDash val="solid"/>
          </a:ln>
        </p:spPr>
      </p:sp>
      <p:sp>
        <p:nvSpPr>
          <p:cNvPr id="17" name="Text 15"/>
          <p:cNvSpPr/>
          <p:nvPr/>
        </p:nvSpPr>
        <p:spPr>
          <a:xfrm>
            <a:off x="8321040" y="3611880"/>
            <a:ext cx="3200400" cy="82296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So: with enough examples, the odds that a badly wrong rule survives by pure luck become tiny and calculable</a:t>
            </a:r>
            <a:endParaRPr lang="en-US" sz="1300" dirty="0"/>
          </a:p>
        </p:txBody>
      </p:sp>
      <p:sp>
        <p:nvSpPr>
          <p:cNvPr id="18" name="Text 1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29 of 61</a:t>
            </a:r>
            <a:endParaRPr lang="en-US" sz="1000" dirty="0"/>
          </a:p>
        </p:txBody>
      </p:sp>
      <p:sp>
        <p:nvSpPr>
          <p:cNvPr id="19" name="Text 1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19.5</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The Catch: “Any Rule At All” Is Too Big a Haystack</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Restricting yourself in advance to sensible possibilities isn't cheating — it's necessary</a:t>
            </a:r>
            <a:endParaRPr lang="en-US" sz="1400" dirty="0"/>
          </a:p>
        </p:txBody>
      </p:sp>
      <p:sp>
        <p:nvSpPr>
          <p:cNvPr id="5" name="Shape 3"/>
          <p:cNvSpPr/>
          <p:nvPr/>
        </p:nvSpPr>
        <p:spPr>
          <a:xfrm>
            <a:off x="548640" y="1691640"/>
            <a:ext cx="11064240" cy="2103120"/>
          </a:xfrm>
          <a:prstGeom prst="rect">
            <a:avLst/>
          </a:prstGeom>
          <a:solidFill>
            <a:srgbClr val="D7E2F2"/>
          </a:solidFill>
          <a:ln w="12700">
            <a:solidFill>
              <a:srgbClr val="F0A828"/>
            </a:solidFill>
            <a:prstDash val="solid"/>
          </a:ln>
        </p:spPr>
      </p:sp>
      <p:sp>
        <p:nvSpPr>
          <p:cNvPr id="6" name="Text 4"/>
          <p:cNvSpPr/>
          <p:nvPr/>
        </p:nvSpPr>
        <p:spPr>
          <a:xfrm>
            <a:off x="777240" y="1874520"/>
            <a:ext cx="10607040" cy="17373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If you allow literally any possible yes/no rule as a candidate, the number of candidates explodes so fast that you'd basically need to see almost every possible situation before you could trust anything.</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Why: with a haystack that big, for any batch of examples you've seen, there are just as many surviving candidate rules that guess yes on the next case as guess no. Getting the practice examples right tells you nothing about the next one.</a:t>
            </a:r>
            <a:endParaRPr lang="en-US" sz="1250" dirty="0"/>
          </a:p>
        </p:txBody>
      </p:sp>
      <p:sp>
        <p:nvSpPr>
          <p:cNvPr id="7" name="Shape 5"/>
          <p:cNvSpPr/>
          <p:nvPr/>
        </p:nvSpPr>
        <p:spPr>
          <a:xfrm>
            <a:off x="548640" y="3794760"/>
            <a:ext cx="5349240" cy="2011680"/>
          </a:xfrm>
          <a:prstGeom prst="rect">
            <a:avLst/>
          </a:prstGeom>
          <a:solidFill>
            <a:srgbClr val="F7F9FC"/>
          </a:solidFill>
          <a:ln w="9525">
            <a:solidFill>
              <a:srgbClr val="DCE3ED"/>
            </a:solidFill>
            <a:prstDash val="solid"/>
          </a:ln>
        </p:spPr>
      </p:sp>
      <p:sp>
        <p:nvSpPr>
          <p:cNvPr id="8" name="Shape 6"/>
          <p:cNvSpPr/>
          <p:nvPr/>
        </p:nvSpPr>
        <p:spPr>
          <a:xfrm>
            <a:off x="6263640" y="3794760"/>
            <a:ext cx="5349240" cy="2011680"/>
          </a:xfrm>
          <a:prstGeom prst="rect">
            <a:avLst/>
          </a:prstGeom>
          <a:solidFill>
            <a:srgbClr val="F7F9FC"/>
          </a:solidFill>
          <a:ln w="9525">
            <a:solidFill>
              <a:srgbClr val="DCE3ED"/>
            </a:solidFill>
            <a:prstDash val="solid"/>
          </a:ln>
        </p:spPr>
      </p:sp>
      <p:sp>
        <p:nvSpPr>
          <p:cNvPr id="9" name="Text 7"/>
          <p:cNvSpPr/>
          <p:nvPr/>
        </p:nvSpPr>
        <p:spPr>
          <a:xfrm>
            <a:off x="777240" y="395935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Three Ways Out</a:t>
            </a:r>
            <a:endParaRPr lang="en-US" sz="1450" dirty="0"/>
          </a:p>
        </p:txBody>
      </p:sp>
      <p:sp>
        <p:nvSpPr>
          <p:cNvPr id="10" name="Text 8"/>
          <p:cNvSpPr/>
          <p:nvPr/>
        </p:nvSpPr>
        <p:spPr>
          <a:xfrm>
            <a:off x="777240" y="4389120"/>
            <a:ext cx="4892040" cy="123444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1. Bring in real-world common sense before you even start.</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2. Prefer simple, tidy explanations over convoluted ones (this is just Ockham's Razor again, now with real math behind it).</a:t>
            </a:r>
            <a:endParaRPr lang="en-US" sz="1250" dirty="0"/>
          </a:p>
        </p:txBody>
      </p:sp>
      <p:sp>
        <p:nvSpPr>
          <p:cNvPr id="11" name="Text 9"/>
          <p:cNvSpPr/>
          <p:nvPr/>
        </p:nvSpPr>
        <p:spPr>
          <a:xfrm>
            <a:off x="6492240" y="3959352"/>
            <a:ext cx="4892040" cy="365760"/>
          </a:xfrm>
          <a:prstGeom prst="rect">
            <a:avLst/>
          </a:prstGeom>
          <a:noFill/>
          <a:ln/>
        </p:spPr>
        <p:txBody>
          <a:bodyPr wrap="square" rtlCol="0" anchor="ctr"/>
          <a:lstStyle/>
          <a:p>
            <a:pPr indent="0" marL="0">
              <a:buNone/>
            </a:pPr>
            <a:endParaRPr lang="en-US" sz="1450" dirty="0"/>
          </a:p>
        </p:txBody>
      </p:sp>
      <p:sp>
        <p:nvSpPr>
          <p:cNvPr id="12" name="Text 10"/>
          <p:cNvSpPr/>
          <p:nvPr/>
        </p:nvSpPr>
        <p:spPr>
          <a:xfrm>
            <a:off x="6492240" y="4389120"/>
            <a:ext cx="4892040" cy="123444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3. Restrict yourself in advance to a smaller, sensible family of rules — which is exactly the decision-list idea on the next slide.</a:t>
            </a:r>
            <a:endParaRPr lang="en-US" sz="1250" dirty="0"/>
          </a:p>
        </p:txBody>
      </p:sp>
      <p:sp>
        <p:nvSpPr>
          <p:cNvPr id="13" name="Text 11"/>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30 of 61</a:t>
            </a:r>
            <a:endParaRPr lang="en-US" sz="1000" dirty="0"/>
          </a:p>
        </p:txBody>
      </p:sp>
      <p:sp>
        <p:nvSpPr>
          <p:cNvPr id="14" name="Text 12"/>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19.5.1</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A Sensible, Restricted Family: Decision Lists</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Like a short list of exception rules, checked top to bottom, rather than an open-ended flowchart</a:t>
            </a:r>
            <a:endParaRPr lang="en-US" sz="1400" dirty="0"/>
          </a:p>
        </p:txBody>
      </p:sp>
      <p:sp>
        <p:nvSpPr>
          <p:cNvPr id="5" name="Shape 3"/>
          <p:cNvSpPr/>
          <p:nvPr/>
        </p:nvSpPr>
        <p:spPr>
          <a:xfrm>
            <a:off x="548640" y="1691640"/>
            <a:ext cx="11064240" cy="777240"/>
          </a:xfrm>
          <a:prstGeom prst="rect">
            <a:avLst/>
          </a:prstGeom>
          <a:solidFill>
            <a:srgbClr val="122540"/>
          </a:solidFill>
          <a:ln/>
        </p:spPr>
      </p:sp>
      <p:sp>
        <p:nvSpPr>
          <p:cNvPr id="6" name="Text 4"/>
          <p:cNvSpPr/>
          <p:nvPr/>
        </p:nvSpPr>
        <p:spPr>
          <a:xfrm>
            <a:off x="822960" y="1691640"/>
            <a:ext cx="10515600" cy="777240"/>
          </a:xfrm>
          <a:prstGeom prst="rect">
            <a:avLst/>
          </a:prstGeom>
          <a:noFill/>
          <a:ln/>
        </p:spPr>
        <p:txBody>
          <a:bodyPr wrap="square" rtlCol="0" anchor="ctr"/>
          <a:lstStyle/>
          <a:p>
            <a:pPr algn="ctr" indent="0" marL="0">
              <a:buNone/>
            </a:pPr>
            <a:r>
              <a:rPr lang="en-US" sz="1600" b="1" dirty="0">
                <a:solidFill>
                  <a:srgbClr val="FFFFFF"/>
                </a:solidFill>
                <a:latin typeface="Cambria Math" pitchFamily="34" charset="0"/>
                <a:ea typeface="Cambria Math" pitchFamily="34" charset="-122"/>
                <a:cs typeface="Cambria Math" pitchFamily="34" charset="-120"/>
              </a:rPr>
              <a:t>We'll wait if: there are some people waiting, OR (it's packed AND it's the weekend)</a:t>
            </a:r>
            <a:endParaRPr lang="en-US" sz="1600" dirty="0"/>
          </a:p>
        </p:txBody>
      </p:sp>
      <p:sp>
        <p:nvSpPr>
          <p:cNvPr id="7" name="Text 5"/>
          <p:cNvSpPr/>
          <p:nvPr/>
        </p:nvSpPr>
        <p:spPr>
          <a:xfrm>
            <a:off x="548640" y="274320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 decision list is just a short numbered list of simple “if this, then that” rules, checked in order top to bottom, stopping at the first one that applies.</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Restrict each rule on the list to mentioning only a handful of facts, and the whole family stays small enough to be genuinely learnable from a reasonable number of examples.</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That restriction is exactly what makes this family PAC-learnable — sensible and small enough that practice examples really do tell you something about the next case.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The learning recipe is refreshingly simple: repeatedly find any short rule that perfectly explains some chunk of the remaining examples, add it to the list, and move on to what's left.</a:t>
            </a:r>
            <a:endParaRPr lang="en-US" sz="1350" dirty="0"/>
          </a:p>
        </p:txBody>
      </p:sp>
      <p:sp>
        <p:nvSpPr>
          <p:cNvPr id="8" name="Text 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31 of 61</a:t>
            </a:r>
            <a:endParaRPr lang="en-US" sz="1000" dirty="0"/>
          </a:p>
        </p:txBody>
      </p:sp>
      <p:sp>
        <p:nvSpPr>
          <p:cNvPr id="9"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22540"/>
        </a:solidFill>
      </p:bgPr>
    </p:bg>
    <p:spTree>
      <p:nvGrpSpPr>
        <p:cNvPr id="1" name=""/>
        <p:cNvGrpSpPr/>
        <p:nvPr/>
      </p:nvGrpSpPr>
      <p:grpSpPr>
        <a:xfrm>
          <a:off x="0" y="0"/>
          <a:ext cx="0" cy="0"/>
          <a:chOff x="0" y="0"/>
          <a:chExt cx="0" cy="0"/>
        </a:xfrm>
      </p:grpSpPr>
      <p:sp>
        <p:nvSpPr>
          <p:cNvPr id="2" name="Text 0"/>
          <p:cNvSpPr/>
          <p:nvPr/>
        </p:nvSpPr>
        <p:spPr>
          <a:xfrm>
            <a:off x="822960" y="2286000"/>
            <a:ext cx="3657600" cy="1188720"/>
          </a:xfrm>
          <a:prstGeom prst="rect">
            <a:avLst/>
          </a:prstGeom>
          <a:noFill/>
          <a:ln/>
        </p:spPr>
        <p:txBody>
          <a:bodyPr wrap="square" rtlCol="0" anchor="ctr"/>
          <a:lstStyle/>
          <a:p>
            <a:pPr indent="0" marL="0">
              <a:buNone/>
            </a:pPr>
            <a:r>
              <a:rPr lang="en-US" sz="6000" b="1" dirty="0">
                <a:solidFill>
                  <a:srgbClr val="F0A828"/>
                </a:solidFill>
                <a:latin typeface="Cambria" pitchFamily="34" charset="0"/>
                <a:ea typeface="Cambria" pitchFamily="34" charset="-122"/>
                <a:cs typeface="Cambria" pitchFamily="34" charset="-120"/>
              </a:rPr>
              <a:t>19.6</a:t>
            </a:r>
            <a:endParaRPr lang="en-US" sz="6000" dirty="0"/>
          </a:p>
        </p:txBody>
      </p:sp>
      <p:sp>
        <p:nvSpPr>
          <p:cNvPr id="3" name="Text 1"/>
          <p:cNvSpPr/>
          <p:nvPr/>
        </p:nvSpPr>
        <p:spPr>
          <a:xfrm>
            <a:off x="822960" y="3337560"/>
            <a:ext cx="96012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Linear Regression and Classification</a:t>
            </a:r>
            <a:endParaRPr lang="en-US" sz="3200" dirty="0"/>
          </a:p>
        </p:txBody>
      </p:sp>
      <p:sp>
        <p:nvSpPr>
          <p:cNvPr id="4" name="Text 2"/>
          <p:cNvSpPr/>
          <p:nvPr/>
        </p:nvSpPr>
        <p:spPr>
          <a:xfrm>
            <a:off x="822960" y="4160520"/>
            <a:ext cx="9144000" cy="731520"/>
          </a:xfrm>
          <a:prstGeom prst="rect">
            <a:avLst/>
          </a:prstGeom>
          <a:noFill/>
          <a:ln/>
        </p:spPr>
        <p:txBody>
          <a:bodyPr wrap="square" rtlCol="0" anchor="ctr"/>
          <a:lstStyle/>
          <a:p>
            <a:pPr indent="0" marL="0">
              <a:buNone/>
            </a:pPr>
            <a:r>
              <a:rPr lang="en-US" sz="1600" i="1" dirty="0">
                <a:solidFill>
                  <a:srgbClr val="D7E2F2"/>
                </a:solidFill>
                <a:latin typeface="Calibri" pitchFamily="34" charset="0"/>
                <a:ea typeface="Calibri" pitchFamily="34" charset="-122"/>
                <a:cs typeface="Calibri" pitchFamily="34" charset="-120"/>
              </a:rPr>
              <a:t>Fitting a best-fit line, and turning that same line into a yes/no decision</a:t>
            </a:r>
            <a:endParaRPr lang="en-US" sz="1600" dirty="0"/>
          </a:p>
        </p:txBody>
      </p:sp>
      <p:sp>
        <p:nvSpPr>
          <p:cNvPr id="5" name="Text 3"/>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32 of 61</a:t>
            </a:r>
            <a:endParaRPr lang="en-US" sz="1000" dirty="0"/>
          </a:p>
        </p:txBody>
      </p:sp>
      <p:sp>
        <p:nvSpPr>
          <p:cNvPr id="6" name="Text 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19.6.1</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Fitting a Straight Line Through the Data</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The classic “line of best fit” you may remember from a stats class — solved exactly, with algebra</a:t>
            </a:r>
            <a:endParaRPr lang="en-US" sz="1400" dirty="0"/>
          </a:p>
        </p:txBody>
      </p:sp>
      <p:sp>
        <p:nvSpPr>
          <p:cNvPr id="5" name="Shape 3"/>
          <p:cNvSpPr/>
          <p:nvPr/>
        </p:nvSpPr>
        <p:spPr>
          <a:xfrm>
            <a:off x="548640" y="1691640"/>
            <a:ext cx="1463040" cy="518160"/>
          </a:xfrm>
          <a:prstGeom prst="rect">
            <a:avLst/>
          </a:prstGeom>
          <a:solidFill>
            <a:srgbClr val="122540"/>
          </a:solidFill>
          <a:ln/>
        </p:spPr>
      </p:sp>
      <p:sp>
        <p:nvSpPr>
          <p:cNvPr id="6" name="Text 4"/>
          <p:cNvSpPr/>
          <p:nvPr/>
        </p:nvSpPr>
        <p:spPr>
          <a:xfrm>
            <a:off x="548640" y="1691640"/>
            <a:ext cx="1463040" cy="5181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GENERAL</a:t>
            </a:r>
            <a:endParaRPr lang="en-US" sz="1100" dirty="0"/>
          </a:p>
        </p:txBody>
      </p:sp>
      <p:sp>
        <p:nvSpPr>
          <p:cNvPr id="7" name="Shape 5"/>
          <p:cNvSpPr/>
          <p:nvPr/>
        </p:nvSpPr>
        <p:spPr>
          <a:xfrm>
            <a:off x="2103120" y="1691640"/>
            <a:ext cx="9509760" cy="518160"/>
          </a:xfrm>
          <a:prstGeom prst="rect">
            <a:avLst/>
          </a:prstGeom>
          <a:solidFill>
            <a:srgbClr val="F7F9FC"/>
          </a:solidFill>
          <a:ln w="6350">
            <a:solidFill>
              <a:srgbClr val="DCE3ED"/>
            </a:solidFill>
            <a:prstDash val="solid"/>
          </a:ln>
        </p:spPr>
      </p:sp>
      <p:sp>
        <p:nvSpPr>
          <p:cNvPr id="8" name="Text 6"/>
          <p:cNvSpPr/>
          <p:nvPr/>
        </p:nvSpPr>
        <p:spPr>
          <a:xfrm>
            <a:off x="2286000" y="1691640"/>
            <a:ext cx="9235440" cy="51816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Add up, over every data point, how far off a candidate line is — squaring each miss so big misses count extra</a:t>
            </a:r>
            <a:endParaRPr lang="en-US" sz="1300" dirty="0"/>
          </a:p>
        </p:txBody>
      </p:sp>
      <p:sp>
        <p:nvSpPr>
          <p:cNvPr id="9" name="Shape 7"/>
          <p:cNvSpPr/>
          <p:nvPr/>
        </p:nvSpPr>
        <p:spPr>
          <a:xfrm>
            <a:off x="548640" y="2346960"/>
            <a:ext cx="1463040" cy="518160"/>
          </a:xfrm>
          <a:prstGeom prst="rect">
            <a:avLst/>
          </a:prstGeom>
          <a:solidFill>
            <a:srgbClr val="16233A"/>
          </a:solidFill>
          <a:ln/>
        </p:spPr>
      </p:sp>
      <p:sp>
        <p:nvSpPr>
          <p:cNvPr id="10" name="Text 8"/>
          <p:cNvSpPr/>
          <p:nvPr/>
        </p:nvSpPr>
        <p:spPr>
          <a:xfrm>
            <a:off x="548640" y="2346960"/>
            <a:ext cx="1463040" cy="5181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SUBSTITUTE</a:t>
            </a:r>
            <a:endParaRPr lang="en-US" sz="1100" dirty="0"/>
          </a:p>
        </p:txBody>
      </p:sp>
      <p:sp>
        <p:nvSpPr>
          <p:cNvPr id="11" name="Shape 9"/>
          <p:cNvSpPr/>
          <p:nvPr/>
        </p:nvSpPr>
        <p:spPr>
          <a:xfrm>
            <a:off x="2103120" y="2346960"/>
            <a:ext cx="9509760" cy="518160"/>
          </a:xfrm>
          <a:prstGeom prst="rect">
            <a:avLst/>
          </a:prstGeom>
          <a:solidFill>
            <a:srgbClr val="F7F9FC"/>
          </a:solidFill>
          <a:ln w="6350">
            <a:solidFill>
              <a:srgbClr val="DCE3ED"/>
            </a:solidFill>
            <a:prstDash val="solid"/>
          </a:ln>
        </p:spPr>
      </p:sp>
      <p:sp>
        <p:nvSpPr>
          <p:cNvPr id="12" name="Text 10"/>
          <p:cNvSpPr/>
          <p:nvPr/>
        </p:nvSpPr>
        <p:spPr>
          <a:xfrm>
            <a:off x="2286000" y="2346960"/>
            <a:ext cx="9235440" cy="51816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Basic calculus tells us exactly where that total-miss score is smallest — two equations, two unknowns, no guesswork needed</a:t>
            </a:r>
            <a:endParaRPr lang="en-US" sz="1300" dirty="0"/>
          </a:p>
        </p:txBody>
      </p:sp>
      <p:sp>
        <p:nvSpPr>
          <p:cNvPr id="13" name="Shape 11"/>
          <p:cNvSpPr/>
          <p:nvPr/>
        </p:nvSpPr>
        <p:spPr>
          <a:xfrm>
            <a:off x="548640" y="3002280"/>
            <a:ext cx="1463040" cy="518160"/>
          </a:xfrm>
          <a:prstGeom prst="rect">
            <a:avLst/>
          </a:prstGeom>
          <a:solidFill>
            <a:srgbClr val="1B6B3A"/>
          </a:solidFill>
          <a:ln/>
        </p:spPr>
      </p:sp>
      <p:sp>
        <p:nvSpPr>
          <p:cNvPr id="14" name="Text 12"/>
          <p:cNvSpPr/>
          <p:nvPr/>
        </p:nvSpPr>
        <p:spPr>
          <a:xfrm>
            <a:off x="548640" y="3002280"/>
            <a:ext cx="1463040" cy="5181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p>
        </p:txBody>
      </p:sp>
      <p:sp>
        <p:nvSpPr>
          <p:cNvPr id="15" name="Shape 13"/>
          <p:cNvSpPr/>
          <p:nvPr/>
        </p:nvSpPr>
        <p:spPr>
          <a:xfrm>
            <a:off x="2103120" y="3002280"/>
            <a:ext cx="9509760" cy="518160"/>
          </a:xfrm>
          <a:prstGeom prst="rect">
            <a:avLst/>
          </a:prstGeom>
          <a:solidFill>
            <a:srgbClr val="F7F9FC"/>
          </a:solidFill>
          <a:ln w="6350">
            <a:solidFill>
              <a:srgbClr val="DCE3ED"/>
            </a:solidFill>
            <a:prstDash val="solid"/>
          </a:ln>
        </p:spPr>
      </p:sp>
      <p:sp>
        <p:nvSpPr>
          <p:cNvPr id="16" name="Text 14"/>
          <p:cNvSpPr/>
          <p:nvPr/>
        </p:nvSpPr>
        <p:spPr>
          <a:xfrm>
            <a:off x="2286000" y="3002280"/>
            <a:ext cx="9235440" cy="518160"/>
          </a:xfrm>
          <a:prstGeom prst="rect">
            <a:avLst/>
          </a:prstGeom>
          <a:noFill/>
          <a:ln/>
        </p:spPr>
        <p:txBody>
          <a:bodyPr wrap="square" rtlCol="0" anchor="ctr"/>
          <a:lstStyle/>
          <a:p>
            <a:pPr indent="0" marL="0">
              <a:buNone/>
            </a:pPr>
            <a:r>
              <a:rPr lang="en-US" sz="1300" dirty="0">
                <a:solidFill>
                  <a:srgbClr val="16233A"/>
                </a:solidFill>
                <a:latin typeface="Cambria Math" pitchFamily="34" charset="0"/>
                <a:ea typeface="Cambria Math" pitchFamily="34" charset="-122"/>
                <a:cs typeface="Cambria Math" pitchFamily="34" charset="-120"/>
              </a:rPr>
              <a:t>Real example (Berkeley, CA house prices, 2009): the best-fit line is price ≈ 246 + 0.232 × (square footage)</a:t>
            </a:r>
            <a:endParaRPr lang="en-US" sz="1300" dirty="0"/>
          </a:p>
        </p:txBody>
      </p:sp>
      <p:sp>
        <p:nvSpPr>
          <p:cNvPr id="17" name="Shape 15"/>
          <p:cNvSpPr/>
          <p:nvPr/>
        </p:nvSpPr>
        <p:spPr>
          <a:xfrm>
            <a:off x="548640" y="4160520"/>
            <a:ext cx="11064240" cy="1280160"/>
          </a:xfrm>
          <a:prstGeom prst="rect">
            <a:avLst/>
          </a:prstGeom>
          <a:solidFill>
            <a:srgbClr val="D7E2F2"/>
          </a:solidFill>
          <a:ln w="12700">
            <a:solidFill>
              <a:srgbClr val="F0A828"/>
            </a:solidFill>
            <a:prstDash val="solid"/>
          </a:ln>
        </p:spPr>
      </p:sp>
      <p:sp>
        <p:nvSpPr>
          <p:cNvPr id="18" name="Text 16"/>
          <p:cNvSpPr/>
          <p:nvPr/>
        </p:nvSpPr>
        <p:spPr>
          <a:xfrm>
            <a:off x="777240" y="4343400"/>
            <a:ext cx="10607040" cy="91440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Because the total-miss score only ever has one single lowest point — like a smooth bowl shape, not a bumpy hillside — there's exactly one best-fit line, and simple algebra hands it to us directly, no trial and error required.</a:t>
            </a:r>
            <a:endParaRPr lang="en-US" sz="1250" dirty="0"/>
          </a:p>
        </p:txBody>
      </p:sp>
      <p:sp>
        <p:nvSpPr>
          <p:cNvPr id="19" name="Text 17"/>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33 of 61</a:t>
            </a:r>
            <a:endParaRPr lang="en-US" sz="1000" dirty="0"/>
          </a:p>
        </p:txBody>
      </p:sp>
      <p:sp>
        <p:nvSpPr>
          <p:cNvPr id="20" name="Text 18"/>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19.6.2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Gradient Descent: Walking Downhill in the Fog</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A general-purpose trick for when there's no tidy algebra shortcut</a:t>
            </a:r>
            <a:endParaRPr lang="en-US" sz="1400" dirty="0"/>
          </a:p>
        </p:txBody>
      </p:sp>
      <p:sp>
        <p:nvSpPr>
          <p:cNvPr id="5" name="Shape 3"/>
          <p:cNvSpPr/>
          <p:nvPr/>
        </p:nvSpPr>
        <p:spPr>
          <a:xfrm>
            <a:off x="548640" y="1691640"/>
            <a:ext cx="11064240" cy="777240"/>
          </a:xfrm>
          <a:prstGeom prst="rect">
            <a:avLst/>
          </a:prstGeom>
          <a:solidFill>
            <a:srgbClr val="122540"/>
          </a:solidFill>
          <a:ln/>
        </p:spPr>
      </p:sp>
      <p:sp>
        <p:nvSpPr>
          <p:cNvPr id="6" name="Text 4"/>
          <p:cNvSpPr/>
          <p:nvPr/>
        </p:nvSpPr>
        <p:spPr>
          <a:xfrm>
            <a:off x="822960" y="1691640"/>
            <a:ext cx="10515600" cy="777240"/>
          </a:xfrm>
          <a:prstGeom prst="rect">
            <a:avLst/>
          </a:prstGeom>
          <a:noFill/>
          <a:ln/>
        </p:spPr>
        <p:txBody>
          <a:bodyPr wrap="square" rtlCol="0" anchor="ctr"/>
          <a:lstStyle/>
          <a:p>
            <a:pPr algn="ctr" indent="0" marL="0">
              <a:buNone/>
            </a:pPr>
            <a:r>
              <a:rPr lang="en-US" sz="1800" b="1" dirty="0">
                <a:solidFill>
                  <a:srgbClr val="FFFFFF"/>
                </a:solidFill>
                <a:latin typeface="Cambria Math" pitchFamily="34" charset="0"/>
                <a:ea typeface="Cambria Math" pitchFamily="34" charset="-122"/>
                <a:cs typeface="Cambria Math" pitchFamily="34" charset="-120"/>
              </a:rPr>
              <a:t>wᵢ ← wᵢ − α ∂Loss(w)/∂wᵢ          (take a small step downhill, repeat until you stop improving)</a:t>
            </a:r>
            <a:endParaRPr lang="en-US" sz="1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064240" cy="2011680"/>
        </p:xfrm>
        <a:graphic>
          <a:graphicData uri="http://schemas.openxmlformats.org/drawingml/2006/table">
            <a:tbl>
              <a:tblPr/>
              <a:tblGrid>
                <a:gridCol w="3688080"/>
                <a:gridCol w="3688080"/>
                <a:gridCol w="3688080"/>
              </a:tblGrid>
              <a:tr h="502920">
                <a:tc>
                  <a:txBody>
                    <a:bodyPr/>
                    <a:lstStyle/>
                    <a:p>
                      <a:pPr algn="ctr" indent="0" marL="0">
                        <a:buNone/>
                      </a:pPr>
                      <a:r>
                        <a:rPr lang="en-US" sz="1050" b="1" dirty="0">
                          <a:solidFill>
                            <a:srgbClr val="FFFFFF"/>
                          </a:solidFill>
                        </a:rPr>
                        <a:t>Style of Walking Downhill</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c>
                  <a:txBody>
                    <a:bodyPr/>
                    <a:lstStyle/>
                    <a:p>
                      <a:pPr algn="ctr" indent="0" marL="0">
                        <a:buNone/>
                      </a:pPr>
                      <a:r>
                        <a:rPr lang="en-US" sz="1050" b="1" dirty="0">
                          <a:solidFill>
                            <a:srgbClr val="FFFFFF"/>
                          </a:solidFill>
                        </a:rPr>
                        <a:t>How Much You Check Each Step</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c>
                  <a:txBody>
                    <a:bodyPr/>
                    <a:lstStyle/>
                    <a:p>
                      <a:pPr algn="ctr" indent="0" marL="0">
                        <a:buNone/>
                      </a:pPr>
                      <a:r>
                        <a:rPr lang="en-US" sz="1050" b="1" dirty="0">
                          <a:solidFill>
                            <a:srgbClr val="FFFFFF"/>
                          </a:solidFill>
                        </a:rPr>
                        <a:t>Tradeoff</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r>
              <a:tr h="502920">
                <a:tc>
                  <a:txBody>
                    <a:bodyPr/>
                    <a:lstStyle/>
                    <a:p>
                      <a:pPr algn="ctr" indent="0" marL="0">
                        <a:buNone/>
                      </a:pPr>
                      <a:r>
                        <a:rPr lang="en-US" sz="1050" dirty="0">
                          <a:solidFill>
                            <a:srgbClr val="16233A"/>
                          </a:solidFill>
                        </a:rPr>
                        <a:t>Check everything, every step</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All the data, every single step</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Very careful and guaranteed to work, but slow</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r>
              <a:tr h="502920">
                <a:tc>
                  <a:txBody>
                    <a:bodyPr/>
                    <a:lstStyle/>
                    <a:p>
                      <a:pPr algn="ctr" indent="0" marL="0">
                        <a:buNone/>
                      </a:pPr>
                      <a:r>
                        <a:rPr lang="en-US" sz="1050" dirty="0">
                          <a:solidFill>
                            <a:srgbClr val="16233A"/>
                          </a:solidFill>
                        </a:rPr>
                        <a:t>Check one example, every step</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Just one random example</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Fast steps, great for a live, ever-changing stream of data</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r>
              <a:tr h="502920">
                <a:tc>
                  <a:txBody>
                    <a:bodyPr/>
                    <a:lstStyle/>
                    <a:p>
                      <a:pPr algn="ctr" indent="0" marL="0">
                        <a:buNone/>
                      </a:pPr>
                      <a:r>
                        <a:rPr lang="en-US" sz="1050" dirty="0">
                          <a:solidFill>
                            <a:srgbClr val="16233A"/>
                          </a:solidFill>
                        </a:rPr>
                        <a:t>Check a small batch each step</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A handful of examples (say, 100 of 10,000)</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10× less work per step, only ~10× more steps needed — a real win overall</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r>
            </a:tbl>
          </a:graphicData>
        </a:graphic>
      </p:graphicFrame>
      <p:sp>
        <p:nvSpPr>
          <p:cNvPr id="8" name="Text 5"/>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34 of 61</a:t>
            </a:r>
            <a:endParaRPr lang="en-US" sz="1000" dirty="0"/>
          </a:p>
        </p:txBody>
      </p:sp>
      <p:sp>
        <p:nvSpPr>
          <p:cNvPr id="9" name="Text 6"/>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19.6.3</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What If There Are Several Facts, Not Just One?</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The idea barely changes — we're just walking downhill in more directions at once</a:t>
            </a:r>
            <a:endParaRPr lang="en-US" sz="1400" dirty="0"/>
          </a:p>
        </p:txBody>
      </p:sp>
      <p:sp>
        <p:nvSpPr>
          <p:cNvPr id="5" name="Shape 3"/>
          <p:cNvSpPr/>
          <p:nvPr/>
        </p:nvSpPr>
        <p:spPr>
          <a:xfrm>
            <a:off x="548640" y="1691640"/>
            <a:ext cx="11064240" cy="777240"/>
          </a:xfrm>
          <a:prstGeom prst="rect">
            <a:avLst/>
          </a:prstGeom>
          <a:solidFill>
            <a:srgbClr val="122540"/>
          </a:solidFill>
          <a:ln/>
        </p:spPr>
      </p:sp>
      <p:sp>
        <p:nvSpPr>
          <p:cNvPr id="6" name="Text 4"/>
          <p:cNvSpPr/>
          <p:nvPr/>
        </p:nvSpPr>
        <p:spPr>
          <a:xfrm>
            <a:off x="822960" y="1691640"/>
            <a:ext cx="10515600" cy="777240"/>
          </a:xfrm>
          <a:prstGeom prst="rect">
            <a:avLst/>
          </a:prstGeom>
          <a:noFill/>
          <a:ln/>
        </p:spPr>
        <p:txBody>
          <a:bodyPr wrap="square" rtlCol="0" anchor="ctr"/>
          <a:lstStyle/>
          <a:p>
            <a:pPr algn="ctr" indent="0" marL="0">
              <a:buNone/>
            </a:pPr>
            <a:r>
              <a:rPr lang="en-US" sz="1800" b="1" dirty="0">
                <a:solidFill>
                  <a:srgbClr val="FFFFFF"/>
                </a:solidFill>
                <a:latin typeface="Cambria Math" pitchFamily="34" charset="0"/>
                <a:ea typeface="Cambria Math" pitchFamily="34" charset="-122"/>
                <a:cs typeface="Cambria Math" pitchFamily="34" charset="-120"/>
              </a:rPr>
              <a:t>predicted value = (weight on fact 1 × fact 1) + (weight on fact 2 × fact 2) + … + a starting baseline</a:t>
            </a:r>
            <a:endParaRPr lang="en-US" sz="1800" dirty="0"/>
          </a:p>
        </p:txBody>
      </p:sp>
      <p:sp>
        <p:nvSpPr>
          <p:cNvPr id="7" name="Text 5"/>
          <p:cNvSpPr/>
          <p:nvPr/>
        </p:nvSpPr>
        <p:spPr>
          <a:xfrm>
            <a:off x="548640" y="274320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Same walking-downhill trick works basically unchanged, just adjusting every weight a little at each step instead of only one.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There's still a tidy algebra shortcut too, for those who prefer solving it directly rather than walking downhill step by step.</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New risk worth knowing: with lots of facts, some completely irrelevant one can look useful purely by coincidence — a kind of overfitting that can sneak into even a simple straight-line model.</a:t>
            </a:r>
            <a:endParaRPr lang="en-US" sz="1350" dirty="0"/>
          </a:p>
        </p:txBody>
      </p:sp>
      <p:sp>
        <p:nvSpPr>
          <p:cNvPr id="8" name="Text 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35 of 61</a:t>
            </a:r>
            <a:endParaRPr lang="en-US" sz="1000" dirty="0"/>
          </a:p>
        </p:txBody>
      </p:sp>
      <p:sp>
        <p:nvSpPr>
          <p:cNvPr id="9"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19.6.3</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Two Flavors of “Don't Get Too Fancy”</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One flavor tends to throw out irrelevant facts entirely; the other just nudges everything down a little</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Flavor 1: The Strict Editor</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Tends to zero out an irrelevant fact's weight entirely — essentially declaring it not worth mentioning at all.</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Result: a leaner, easier-to-explain model, similar in spirit to how a decision tree just never bothers asking about an irrelevant fact.</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Good when the facts genuinely aren't interchangeable — it doesn't make sense to “blend” number of bathrooms with lot size.</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Flavor 2: The Gentle Trim</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Shrinks every weight a little, but rarely zeroes any of them out completely.</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Result: a model where every fact still has at least a small say.</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Good when the facts really are interchangeable, and it wouldn't matter which direction you happened to measure things in.</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36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19.6.4</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Turning a Line Into a Yes/No Decision</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Draw a straight dividing line through the data, and just check which side you're on</a:t>
            </a:r>
            <a:endParaRPr lang="en-US" sz="1400" dirty="0"/>
          </a:p>
        </p:txBody>
      </p:sp>
      <p:sp>
        <p:nvSpPr>
          <p:cNvPr id="5" name="Shape 3"/>
          <p:cNvSpPr/>
          <p:nvPr/>
        </p:nvSpPr>
        <p:spPr>
          <a:xfrm>
            <a:off x="548640" y="1691640"/>
            <a:ext cx="11064240" cy="822960"/>
          </a:xfrm>
          <a:prstGeom prst="rect">
            <a:avLst/>
          </a:prstGeom>
          <a:solidFill>
            <a:srgbClr val="122540"/>
          </a:solidFill>
          <a:ln/>
        </p:spPr>
      </p:sp>
      <p:sp>
        <p:nvSpPr>
          <p:cNvPr id="6" name="Text 4"/>
          <p:cNvSpPr/>
          <p:nvPr/>
        </p:nvSpPr>
        <p:spPr>
          <a:xfrm>
            <a:off x="822960" y="1691640"/>
            <a:ext cx="10515600" cy="822960"/>
          </a:xfrm>
          <a:prstGeom prst="rect">
            <a:avLst/>
          </a:prstGeom>
          <a:noFill/>
          <a:ln/>
        </p:spPr>
        <p:txBody>
          <a:bodyPr wrap="square" rtlCol="0" anchor="ctr"/>
          <a:lstStyle/>
          <a:p>
            <a:pPr algn="ctr" indent="0" marL="0">
              <a:buNone/>
            </a:pPr>
            <a:r>
              <a:rPr lang="en-US" sz="1700" b="1" dirty="0">
                <a:solidFill>
                  <a:srgbClr val="FFFFFF"/>
                </a:solidFill>
                <a:latin typeface="Cambria Math" pitchFamily="34" charset="0"/>
                <a:ea typeface="Cambria Math" pitchFamily="34" charset="-122"/>
                <a:cs typeface="Cambria Math" pitchFamily="34" charset="-120"/>
              </a:rPr>
              <a:t>If you're on one side of the line, guess “yes.” If you're on the other side, guess “no.”</a:t>
            </a:r>
            <a:endParaRPr lang="en-US" sz="1700" dirty="0"/>
          </a:p>
        </p:txBody>
      </p:sp>
      <p:sp>
        <p:nvSpPr>
          <p:cNvPr id="7" name="Text 5"/>
          <p:cNvSpPr/>
          <p:nvPr/>
        </p:nvSpPr>
        <p:spPr>
          <a:xfrm>
            <a:off x="548640" y="278892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The learning rule for finding a good dividing line looks almost exactly like the straight-line-fitting rule from before.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It's guaranteed to find a perfect dividing line — but only if the yes's and no's can actually be cleanly separated by a straight line in the first place.</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When real, messy data can't be cleanly separated, this simple rule can flail forever, hitting a good-enough answer occasionally but never settling on it.</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Fix: gradually take smaller and smaller steps over time — like slowing down as you get close to parking, rather than always braking at full force.</a:t>
            </a:r>
            <a:endParaRPr lang="en-US" sz="1350" dirty="0"/>
          </a:p>
        </p:txBody>
      </p:sp>
      <p:sp>
        <p:nvSpPr>
          <p:cNvPr id="8" name="Text 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37 of 61</a:t>
            </a:r>
            <a:endParaRPr lang="en-US" sz="1000" dirty="0"/>
          </a:p>
        </p:txBody>
      </p:sp>
      <p:sp>
        <p:nvSpPr>
          <p:cNvPr id="9"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19.6.5</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A Dimmer Switch Instead of an On/Off Light</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Soften the hard yes/no line into a smooth, gradual confidence level — and get real probabilities for free</a:t>
            </a:r>
            <a:endParaRPr lang="en-US" sz="1400" dirty="0"/>
          </a:p>
        </p:txBody>
      </p:sp>
      <p:sp>
        <p:nvSpPr>
          <p:cNvPr id="5" name="Shape 3"/>
          <p:cNvSpPr/>
          <p:nvPr/>
        </p:nvSpPr>
        <p:spPr>
          <a:xfrm>
            <a:off x="548640" y="1691640"/>
            <a:ext cx="11064240" cy="822960"/>
          </a:xfrm>
          <a:prstGeom prst="rect">
            <a:avLst/>
          </a:prstGeom>
          <a:solidFill>
            <a:srgbClr val="122540"/>
          </a:solidFill>
          <a:ln/>
        </p:spPr>
      </p:sp>
      <p:sp>
        <p:nvSpPr>
          <p:cNvPr id="6" name="Text 4"/>
          <p:cNvSpPr/>
          <p:nvPr/>
        </p:nvSpPr>
        <p:spPr>
          <a:xfrm>
            <a:off x="822960" y="1691640"/>
            <a:ext cx="10515600" cy="822960"/>
          </a:xfrm>
          <a:prstGeom prst="rect">
            <a:avLst/>
          </a:prstGeom>
          <a:noFill/>
          <a:ln/>
        </p:spPr>
        <p:txBody>
          <a:bodyPr wrap="square" rtlCol="0" anchor="ctr"/>
          <a:lstStyle/>
          <a:p>
            <a:pPr algn="ctr" indent="0" marL="0">
              <a:buNone/>
            </a:pPr>
            <a:r>
              <a:rPr lang="en-US" sz="1800" b="1" dirty="0">
                <a:solidFill>
                  <a:srgbClr val="FFFFFF"/>
                </a:solidFill>
                <a:latin typeface="Cambria Math" pitchFamily="34" charset="0"/>
                <a:ea typeface="Cambria Math" pitchFamily="34" charset="-122"/>
                <a:cs typeface="Cambria Math" pitchFamily="34" charset="-120"/>
              </a:rPr>
              <a:t>Instead of a flat “yes” or “no,” output a smooth confidence between 0% and 100%</a:t>
            </a:r>
            <a:endParaRPr lang="en-US" sz="1800" dirty="0"/>
          </a:p>
        </p:txBody>
      </p:sp>
      <p:sp>
        <p:nvSpPr>
          <p:cNvPr id="7" name="Text 5"/>
          <p:cNvSpPr/>
          <p:nvPr/>
        </p:nvSpPr>
        <p:spPr>
          <a:xfrm>
            <a:off x="548640" y="278892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The output now genuinely means “how confident are we,” not just a flat, overconfident yes or no — fifty-fifty right at the boundary, and closer to certain the further you are from it.</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The learning rule is almost identical to before, just with one extra adjustment that comes from how a smooth dimmer switch behaves mathematically.</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Behaves far more sensibly than the plain on/off version on messy, real-world data — which is exactly why it's one of the most widely used tools in medicine, credit scoring, and public health.</a:t>
            </a:r>
            <a:endParaRPr lang="en-US" sz="1350" dirty="0"/>
          </a:p>
        </p:txBody>
      </p:sp>
      <p:sp>
        <p:nvSpPr>
          <p:cNvPr id="8" name="Text 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38 of 61</a:t>
            </a:r>
            <a:endParaRPr lang="en-US" sz="1000" dirty="0"/>
          </a:p>
        </p:txBody>
      </p:sp>
      <p:sp>
        <p:nvSpPr>
          <p:cNvPr id="9"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22540"/>
        </a:solidFill>
      </p:bgPr>
    </p:bg>
    <p:spTree>
      <p:nvGrpSpPr>
        <p:cNvPr id="1" name=""/>
        <p:cNvGrpSpPr/>
        <p:nvPr/>
      </p:nvGrpSpPr>
      <p:grpSpPr>
        <a:xfrm>
          <a:off x="0" y="0"/>
          <a:ext cx="0" cy="0"/>
          <a:chOff x="0" y="0"/>
          <a:chExt cx="0" cy="0"/>
        </a:xfrm>
      </p:grpSpPr>
      <p:sp>
        <p:nvSpPr>
          <p:cNvPr id="2" name="Text 0"/>
          <p:cNvSpPr/>
          <p:nvPr/>
        </p:nvSpPr>
        <p:spPr>
          <a:xfrm>
            <a:off x="822960" y="2286000"/>
            <a:ext cx="3657600" cy="1188720"/>
          </a:xfrm>
          <a:prstGeom prst="rect">
            <a:avLst/>
          </a:prstGeom>
          <a:noFill/>
          <a:ln/>
        </p:spPr>
        <p:txBody>
          <a:bodyPr wrap="square" rtlCol="0" anchor="ctr"/>
          <a:lstStyle/>
          <a:p>
            <a:pPr indent="0" marL="0">
              <a:buNone/>
            </a:pPr>
            <a:r>
              <a:rPr lang="en-US" sz="6000" b="1" dirty="0">
                <a:solidFill>
                  <a:srgbClr val="F0A828"/>
                </a:solidFill>
                <a:latin typeface="Cambria" pitchFamily="34" charset="0"/>
                <a:ea typeface="Cambria" pitchFamily="34" charset="-122"/>
                <a:cs typeface="Cambria" pitchFamily="34" charset="-120"/>
              </a:rPr>
              <a:t>19.7</a:t>
            </a:r>
            <a:endParaRPr lang="en-US" sz="6000" dirty="0"/>
          </a:p>
        </p:txBody>
      </p:sp>
      <p:sp>
        <p:nvSpPr>
          <p:cNvPr id="3" name="Text 1"/>
          <p:cNvSpPr/>
          <p:nvPr/>
        </p:nvSpPr>
        <p:spPr>
          <a:xfrm>
            <a:off x="822960" y="3337560"/>
            <a:ext cx="96012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Nonparametric Models</a:t>
            </a:r>
            <a:endParaRPr lang="en-US" sz="3200" dirty="0"/>
          </a:p>
        </p:txBody>
      </p:sp>
      <p:sp>
        <p:nvSpPr>
          <p:cNvPr id="4" name="Text 2"/>
          <p:cNvSpPr/>
          <p:nvPr/>
        </p:nvSpPr>
        <p:spPr>
          <a:xfrm>
            <a:off x="822960" y="4160520"/>
            <a:ext cx="9144000" cy="731520"/>
          </a:xfrm>
          <a:prstGeom prst="rect">
            <a:avLst/>
          </a:prstGeom>
          <a:noFill/>
          <a:ln/>
        </p:spPr>
        <p:txBody>
          <a:bodyPr wrap="square" rtlCol="0" anchor="ctr"/>
          <a:lstStyle/>
          <a:p>
            <a:pPr indent="0" marL="0">
              <a:buNone/>
            </a:pPr>
            <a:r>
              <a:rPr lang="en-US" sz="1600" i="1" dirty="0">
                <a:solidFill>
                  <a:srgbClr val="D7E2F2"/>
                </a:solidFill>
                <a:latin typeface="Calibri" pitchFamily="34" charset="0"/>
                <a:ea typeface="Calibri" pitchFamily="34" charset="-122"/>
                <a:cs typeface="Calibri" pitchFamily="34" charset="-120"/>
              </a:rPr>
              <a:t>Instead of boiling everything down to a few numbers, just keep all the examples around and compare directly</a:t>
            </a:r>
            <a:endParaRPr lang="en-US" sz="1600" dirty="0"/>
          </a:p>
        </p:txBody>
      </p:sp>
      <p:sp>
        <p:nvSpPr>
          <p:cNvPr id="5" name="Text 3"/>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39 of 61</a:t>
            </a:r>
            <a:endParaRPr lang="en-US" sz="1000" dirty="0"/>
          </a:p>
        </p:txBody>
      </p:sp>
      <p:sp>
        <p:nvSpPr>
          <p:cNvPr id="6" name="Text 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19.7</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Boil It Down to a Formula, or Just Keep Everything?</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Two very different philosophies for how to remember what you've learned</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Boil It Down (Parametric)</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Like memorizing a short formula and then throwing away all your old notes — the formula is all you keep.</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Once trained, you genuinely don't need the original examples anymore; everything useful is packed into a handful of numbers.</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Good when data is scarce and a firm, simple structure helps avoid getting fooled by coincidences.</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Just Keep Everything (Nonparametric)</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Like an experienced person who says “this reminds me of a case I saw last year” — they never boiled their experience down to a formula, they just remember cases.</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The connect-the-dots curve from Figure 19.1 is exactly this — it literally keeps every data point.</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Good when you have tons of data and don't want to force it through an overly narrow, tidy formula.</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40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19.7.1</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“Who Does This Most Resemble?”</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The simplest genuinely useful version of just-keep-everything learning</a:t>
            </a:r>
            <a:endParaRPr lang="en-US" sz="1400" dirty="0"/>
          </a:p>
        </p:txBody>
      </p:sp>
      <p:sp>
        <p:nvSpPr>
          <p:cNvPr id="5" name="Shape 3"/>
          <p:cNvSpPr/>
          <p:nvPr/>
        </p:nvSpPr>
        <p:spPr>
          <a:xfrm>
            <a:off x="548640" y="1691640"/>
            <a:ext cx="11064240" cy="777240"/>
          </a:xfrm>
          <a:prstGeom prst="rect">
            <a:avLst/>
          </a:prstGeom>
          <a:solidFill>
            <a:srgbClr val="122540"/>
          </a:solidFill>
          <a:ln/>
        </p:spPr>
      </p:sp>
      <p:sp>
        <p:nvSpPr>
          <p:cNvPr id="6" name="Text 4"/>
          <p:cNvSpPr/>
          <p:nvPr/>
        </p:nvSpPr>
        <p:spPr>
          <a:xfrm>
            <a:off x="822960" y="1691640"/>
            <a:ext cx="10515600" cy="777240"/>
          </a:xfrm>
          <a:prstGeom prst="rect">
            <a:avLst/>
          </a:prstGeom>
          <a:noFill/>
          <a:ln/>
        </p:spPr>
        <p:txBody>
          <a:bodyPr wrap="square" rtlCol="0" anchor="ctr"/>
          <a:lstStyle/>
          <a:p>
            <a:pPr algn="ctr" indent="0" marL="0">
              <a:buNone/>
            </a:pPr>
            <a:r>
              <a:rPr lang="en-US" sz="1600" b="1" dirty="0">
                <a:solidFill>
                  <a:srgbClr val="FFFFFF"/>
                </a:solidFill>
                <a:latin typeface="Cambria Math" pitchFamily="34" charset="0"/>
                <a:ea typeface="Cambria Math" pitchFamily="34" charset="-122"/>
                <a:cs typeface="Cambria Math" pitchFamily="34" charset="-120"/>
              </a:rPr>
              <a:t>Distance between two cases = how different they are, fact by fact, added up in a reasonable way</a:t>
            </a:r>
            <a:endParaRPr lang="en-US" sz="1600" dirty="0"/>
          </a:p>
        </p:txBody>
      </p:sp>
      <p:sp>
        <p:nvSpPr>
          <p:cNvPr id="7" name="Text 5"/>
          <p:cNvSpPr/>
          <p:nvPr/>
        </p:nvSpPr>
        <p:spPr>
          <a:xfrm>
            <a:off x="548640" y="274320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To classify a new case, find the handful of most similar past cases, and go with whatever most of them decided — like asking a small panel of similar past patients what happened to them.</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To predict a number, average what those similar past cases turned out to be, instead of voting.</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Compare to just one single most-similar case, and you can get fooled by one weird outlier. Compare to five, and that noise mostly washes out — too many, though, and you start blurring together cases that aren't really that similar.</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As always, checking with a practice-test quiz tells you the right number of “most similar cases” to compare against.</a:t>
            </a:r>
            <a:endParaRPr lang="en-US" sz="1350" dirty="0"/>
          </a:p>
        </p:txBody>
      </p:sp>
      <p:sp>
        <p:nvSpPr>
          <p:cNvPr id="8" name="Text 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41 of 61</a:t>
            </a:r>
            <a:endParaRPr lang="en-US" sz="1000" dirty="0"/>
          </a:p>
        </p:txBody>
      </p:sp>
      <p:sp>
        <p:nvSpPr>
          <p:cNvPr id="9"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19.7</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Bending a Straight Line Into a Curved One</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A clever trick that turns a simple straight-line method into something that can handle curved boundaries</a:t>
            </a:r>
            <a:endParaRPr lang="en-US" sz="1400" dirty="0"/>
          </a:p>
        </p:txBody>
      </p:sp>
      <p:sp>
        <p:nvSpPr>
          <p:cNvPr id="5" name="Text 3"/>
          <p:cNvSpPr/>
          <p:nvPr/>
        </p:nvSpPr>
        <p:spPr>
          <a:xfrm>
            <a:off x="548640" y="169164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Find the straight dividing line with the widest possible “safety margin” on both sides, not just any line that happens to separate the groups — like parking exactly in the middle of a parking space rather than brushing one line.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Allow a few real-world exceptions to sit on the “wrong” side, with a penalty proportional to how far out of place they are — because real data is almost never perfectly tidy.</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The clever trick: mathematically “lift” the data into a richer, higher-dimensional view where a straight line actually can separate things cleanly — without ever literally computing that higher-dimensional view directly.</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This is exactly how an underneath-it-all straight-line method ends up drawing genuinely curved boundaries in the original, everyday view of the data.</a:t>
            </a:r>
            <a:endParaRPr lang="en-US" sz="1350" dirty="0"/>
          </a:p>
        </p:txBody>
      </p:sp>
      <p:sp>
        <p:nvSpPr>
          <p:cNvPr id="6" name="Text 4"/>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42 of 61</a:t>
            </a:r>
            <a:endParaRPr lang="en-US" sz="1000" dirty="0"/>
          </a:p>
        </p:txBody>
      </p:sp>
      <p:sp>
        <p:nvSpPr>
          <p:cNvPr id="7" name="Text 5"/>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22540"/>
        </a:solidFill>
      </p:bgPr>
    </p:bg>
    <p:spTree>
      <p:nvGrpSpPr>
        <p:cNvPr id="1" name=""/>
        <p:cNvGrpSpPr/>
        <p:nvPr/>
      </p:nvGrpSpPr>
      <p:grpSpPr>
        <a:xfrm>
          <a:off x="0" y="0"/>
          <a:ext cx="0" cy="0"/>
          <a:chOff x="0" y="0"/>
          <a:chExt cx="0" cy="0"/>
        </a:xfrm>
      </p:grpSpPr>
      <p:sp>
        <p:nvSpPr>
          <p:cNvPr id="2" name="Text 0"/>
          <p:cNvSpPr/>
          <p:nvPr/>
        </p:nvSpPr>
        <p:spPr>
          <a:xfrm>
            <a:off x="822960" y="2286000"/>
            <a:ext cx="3657600" cy="1188720"/>
          </a:xfrm>
          <a:prstGeom prst="rect">
            <a:avLst/>
          </a:prstGeom>
          <a:noFill/>
          <a:ln/>
        </p:spPr>
        <p:txBody>
          <a:bodyPr wrap="square" rtlCol="0" anchor="ctr"/>
          <a:lstStyle/>
          <a:p>
            <a:pPr indent="0" marL="0">
              <a:buNone/>
            </a:pPr>
            <a:r>
              <a:rPr lang="en-US" sz="6000" b="1" dirty="0">
                <a:solidFill>
                  <a:srgbClr val="F0A828"/>
                </a:solidFill>
                <a:latin typeface="Cambria" pitchFamily="34" charset="0"/>
                <a:ea typeface="Cambria" pitchFamily="34" charset="-122"/>
                <a:cs typeface="Cambria" pitchFamily="34" charset="-120"/>
              </a:rPr>
              <a:t>19.8</a:t>
            </a:r>
            <a:endParaRPr lang="en-US" sz="6000" dirty="0"/>
          </a:p>
        </p:txBody>
      </p:sp>
      <p:sp>
        <p:nvSpPr>
          <p:cNvPr id="3" name="Text 1"/>
          <p:cNvSpPr/>
          <p:nvPr/>
        </p:nvSpPr>
        <p:spPr>
          <a:xfrm>
            <a:off x="822960" y="3337560"/>
            <a:ext cx="96012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Ensemble Learning</a:t>
            </a:r>
            <a:endParaRPr lang="en-US" sz="3200" dirty="0"/>
          </a:p>
        </p:txBody>
      </p:sp>
      <p:sp>
        <p:nvSpPr>
          <p:cNvPr id="4" name="Text 2"/>
          <p:cNvSpPr/>
          <p:nvPr/>
        </p:nvSpPr>
        <p:spPr>
          <a:xfrm>
            <a:off x="822960" y="4160520"/>
            <a:ext cx="9144000" cy="731520"/>
          </a:xfrm>
          <a:prstGeom prst="rect">
            <a:avLst/>
          </a:prstGeom>
          <a:noFill/>
          <a:ln/>
        </p:spPr>
        <p:txBody>
          <a:bodyPr wrap="square" rtlCol="0" anchor="ctr"/>
          <a:lstStyle/>
          <a:p>
            <a:pPr indent="0" marL="0">
              <a:buNone/>
            </a:pPr>
            <a:r>
              <a:rPr lang="en-US" sz="1600" i="1" dirty="0">
                <a:solidFill>
                  <a:srgbClr val="D7E2F2"/>
                </a:solidFill>
                <a:latin typeface="Calibri" pitchFamily="34" charset="0"/>
                <a:ea typeface="Calibri" pitchFamily="34" charset="-122"/>
                <a:cs typeface="Calibri" pitchFamily="34" charset="-120"/>
              </a:rPr>
              <a:t>Why a committee of so-so guessers usually beats a single expert — bagging, forests, stacking, boosting</a:t>
            </a:r>
            <a:endParaRPr lang="en-US" sz="1600" dirty="0"/>
          </a:p>
        </p:txBody>
      </p:sp>
      <p:sp>
        <p:nvSpPr>
          <p:cNvPr id="5" name="Text 3"/>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43 of 61</a:t>
            </a:r>
            <a:endParaRPr lang="en-US" sz="1000" dirty="0"/>
          </a:p>
        </p:txBody>
      </p:sp>
      <p:sp>
        <p:nvSpPr>
          <p:cNvPr id="6" name="Text 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19.8</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Why Bother Combining Models At All?</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Two genuinely different reasons a committee beats a lone expert</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Reason 1: A Committee Can See More</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One straight dividing line can only ever separate things one simple way.</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Combine three straight lines with an “all three must agree” rule, and you can carve out a triangular region — a shape no single line could ever draw alone.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Three simple models cost only three times the work — far cheaper than one giant, maximally flexible model.</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Reason 2: A Committee Cancels Out Noise</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5 members, each right on their own 75% of the time, voting together: right 89% of the time.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With 17 such members: 99% — assuming they're making genuinely independent mistakes.</a:t>
            </a:r>
            <a:endParaRPr lang="en-US" sz="1250" dirty="0"/>
          </a:p>
          <a:p>
            <a:pPr marL="342900" indent="-342900">
              <a:spcAft>
                <a:spcPts val="1000"/>
              </a:spcAft>
              <a:buSzPct val="100000"/>
              <a:buChar char="•"/>
            </a:pPr>
            <a:r>
              <a:rPr lang="en-US" sz="1250" b="1" dirty="0">
                <a:solidFill>
                  <a:srgbClr val="16233A"/>
                </a:solidFill>
                <a:latin typeface="Calibri" pitchFamily="34" charset="0"/>
                <a:ea typeface="Calibri" pitchFamily="34" charset="-122"/>
                <a:cs typeface="Calibri" pitchFamily="34" charset="-120"/>
              </a:rPr>
              <a:t>Real committee members share some of the same blind spots, so it's never quite this perfect — but even partly-independent members still help a lot.</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44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19.8.1 – 19.8.2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Bagging and Random Forests</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Both grow many flowcharts from reshuffled data; random forests add a second layer of randomness on top</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Bagging — Many Slightly Different Studies</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Like asking several different groups of students to each study a random, overlapping subset of the same practice questions, then combining their final answers.</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For a yes/no answer: majority vote. For a number: average them.</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Especially useful for flowcharts, since a single flowchart is famously twitchy — one different example can change the whole thing.</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Random Forests — Bagging Plus a Twist</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Also randomly limits which facts each flowchart is even allowed to consider at each question — so they don't all converge on asking the exact same thing first.</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Stops the whole committee from just being twenty copies of the same tree wearing different hats.</a:t>
            </a:r>
            <a:endParaRPr lang="en-US" sz="1250" dirty="0"/>
          </a:p>
          <a:p>
            <a:pPr marL="342900" indent="-342900">
              <a:spcAft>
                <a:spcPts val="1000"/>
              </a:spcAft>
              <a:buSzPct val="100000"/>
              <a:buChar char="•"/>
            </a:pPr>
            <a:r>
              <a:rPr lang="en-US" sz="1250" b="1" dirty="0">
                <a:solidFill>
                  <a:srgbClr val="16233A"/>
                </a:solidFill>
                <a:latin typeface="Calibri" pitchFamily="34" charset="0"/>
                <a:ea typeface="Calibri" pitchFamily="34" charset="-122"/>
                <a:cs typeface="Calibri" pitchFamily="34" charset="-120"/>
              </a:rPr>
              <a:t>Bonus: you get a free, built-in practice-test quiz almost for free, using only the trees that happened to skip a given example during training.</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45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19.8.2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Random Forests Resist Overfitting — Surprisingly Well</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More trees keep helping, without the usual penalty for getting too fancy</a:t>
            </a:r>
            <a:endParaRPr lang="en-US" sz="1400" dirty="0"/>
          </a:p>
        </p:txBody>
      </p:sp>
      <p:sp>
        <p:nvSpPr>
          <p:cNvPr id="5" name="Shape 3"/>
          <p:cNvSpPr/>
          <p:nvPr/>
        </p:nvSpPr>
        <p:spPr>
          <a:xfrm>
            <a:off x="548640" y="1691640"/>
            <a:ext cx="11064240" cy="2377440"/>
          </a:xfrm>
          <a:prstGeom prst="rect">
            <a:avLst/>
          </a:prstGeom>
          <a:solidFill>
            <a:srgbClr val="EAF7EF"/>
          </a:solidFill>
          <a:ln w="12700">
            <a:solidFill>
              <a:srgbClr val="3FB871"/>
            </a:solidFill>
            <a:prstDash val="solid"/>
          </a:ln>
        </p:spPr>
      </p:sp>
      <p:sp>
        <p:nvSpPr>
          <p:cNvPr id="6" name="Text 4"/>
          <p:cNvSpPr/>
          <p:nvPr/>
        </p:nvSpPr>
        <p:spPr>
          <a:xfrm>
            <a:off x="777240" y="1874520"/>
            <a:ext cx="10607040" cy="201168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It's been mathematically proven that, in almost every case, adding more trees to the forest only ever helps or holds steady — it doesn't start hurting the way a single overgrown flowchart eventually does.</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Why: the randomness makes every tree genuinely a little different (which cancels out noise), and because no single tree needs pruning, each one can still zoom in on fine detail — rare cases that show up only a few times can still get heard when they matter, and get outvoted the rest of the time.</a:t>
            </a:r>
            <a:endParaRPr lang="en-US" sz="1250" dirty="0"/>
          </a:p>
        </p:txBody>
      </p:sp>
      <p:sp>
        <p:nvSpPr>
          <p:cNvPr id="7" name="Shape 5"/>
          <p:cNvSpPr/>
          <p:nvPr/>
        </p:nvSpPr>
        <p:spPr>
          <a:xfrm>
            <a:off x="548640" y="4206240"/>
            <a:ext cx="11064240" cy="1280160"/>
          </a:xfrm>
          <a:prstGeom prst="rect">
            <a:avLst/>
          </a:prstGeom>
          <a:solidFill>
            <a:srgbClr val="D7E2F2"/>
          </a:solidFill>
          <a:ln w="12700">
            <a:solidFill>
              <a:srgbClr val="F0A828"/>
            </a:solidFill>
            <a:prstDash val="solid"/>
          </a:ln>
        </p:spPr>
      </p:sp>
      <p:sp>
        <p:nvSpPr>
          <p:cNvPr id="8" name="Text 6"/>
          <p:cNvSpPr/>
          <p:nvPr/>
        </p:nvSpPr>
        <p:spPr>
          <a:xfrm>
            <a:off x="777240" y="4343400"/>
            <a:ext cx="10607040" cy="320040"/>
          </a:xfrm>
          <a:prstGeom prst="rect">
            <a:avLst/>
          </a:prstGeom>
          <a:noFill/>
          <a:ln/>
        </p:spPr>
        <p:txBody>
          <a:bodyPr wrap="square" rtlCol="0" anchor="ctr"/>
          <a:lstStyle/>
          <a:p>
            <a:pPr indent="0" marL="0">
              <a:buNone/>
            </a:pPr>
            <a:r>
              <a:rPr lang="en-US" sz="1350" b="1" dirty="0">
                <a:solidFill>
                  <a:srgbClr val="122540"/>
                </a:solidFill>
                <a:latin typeface="Calibri" pitchFamily="34" charset="0"/>
                <a:ea typeface="Calibri" pitchFamily="34" charset="-122"/>
                <a:cs typeface="Calibri" pitchFamily="34" charset="-120"/>
              </a:rPr>
              <a:t>Track Record</a:t>
            </a:r>
            <a:endParaRPr lang="en-US" sz="1350" dirty="0"/>
          </a:p>
        </p:txBody>
      </p:sp>
      <p:sp>
        <p:nvSpPr>
          <p:cNvPr id="9" name="Text 7"/>
          <p:cNvSpPr/>
          <p:nvPr/>
        </p:nvSpPr>
        <p:spPr>
          <a:xfrm>
            <a:off x="777240" y="4709160"/>
            <a:ext cx="10607040" cy="5943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The most popular approach among winners of major data-science competitions from 2011 to 2014, and still a strong, reliable default choice today across finance, mechanical diagnostics, and medicine.</a:t>
            </a:r>
            <a:endParaRPr lang="en-US" sz="1250" dirty="0"/>
          </a:p>
        </p:txBody>
      </p:sp>
      <p:sp>
        <p:nvSpPr>
          <p:cNvPr id="10" name="Text 8"/>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46 of 61</a:t>
            </a:r>
            <a:endParaRPr lang="en-US" sz="1000" dirty="0"/>
          </a:p>
        </p:txBody>
      </p:sp>
      <p:sp>
        <p:nvSpPr>
          <p:cNvPr id="11" name="Text 9"/>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19.8.3</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Stacking: A Committee of Genuinely Different Experts</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Not several copies of the same method — truly different methods, layered together</a:t>
            </a:r>
            <a:endParaRPr lang="en-US" sz="1400" dirty="0"/>
          </a:p>
        </p:txBody>
      </p:sp>
      <p:sp>
        <p:nvSpPr>
          <p:cNvPr id="5" name="Text 3"/>
          <p:cNvSpPr/>
          <p:nvPr/>
        </p:nvSpPr>
        <p:spPr>
          <a:xfrm>
            <a:off x="548640" y="169164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Train several genuinely different kinds of models — say, a curve-fitter, a dimmer-switch classifier, and a flowchart — all on the very same practice data.</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Add each of their guesses as extra columns onto your practice-test data.</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Train one final “manager” model on top of that, whose whole job is deciding how much to trust each of the underlying experts — it might learn something like “trust the flowchart more when the wait time is long.”</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A favorite trick among winning teams in real data-science competitions: everyone perfects their own expert model separately, then the team combines them all at the very end.</a:t>
            </a:r>
            <a:endParaRPr lang="en-US" sz="1350" dirty="0"/>
          </a:p>
        </p:txBody>
      </p:sp>
      <p:sp>
        <p:nvSpPr>
          <p:cNvPr id="6" name="Text 4"/>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47 of 61</a:t>
            </a:r>
            <a:endParaRPr lang="en-US" sz="1000" dirty="0"/>
          </a:p>
        </p:txBody>
      </p:sp>
      <p:sp>
        <p:nvSpPr>
          <p:cNvPr id="7" name="Text 5"/>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19.8.4</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Boosting: Learning From Your Own Mistakes, on Repeat</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Like a tutor who keeps quizzing you specifically on the problems you got wrong last time</a:t>
            </a:r>
            <a:endParaRPr lang="en-US" sz="1400" dirty="0"/>
          </a:p>
        </p:txBody>
      </p:sp>
      <p:sp>
        <p:nvSpPr>
          <p:cNvPr id="5" name="Shape 3"/>
          <p:cNvSpPr/>
          <p:nvPr/>
        </p:nvSpPr>
        <p:spPr>
          <a:xfrm>
            <a:off x="548640" y="1691640"/>
            <a:ext cx="11064240" cy="2926080"/>
          </a:xfrm>
          <a:prstGeom prst="rect">
            <a:avLst/>
          </a:prstGeom>
          <a:solidFill>
            <a:srgbClr val="D7E2F2"/>
          </a:solidFill>
          <a:ln w="12700">
            <a:solidFill>
              <a:srgbClr val="F0A828"/>
            </a:solidFill>
            <a:prstDash val="solid"/>
          </a:ln>
        </p:spPr>
      </p:sp>
      <p:sp>
        <p:nvSpPr>
          <p:cNvPr id="6" name="Text 4"/>
          <p:cNvSpPr/>
          <p:nvPr/>
        </p:nvSpPr>
        <p:spPr>
          <a:xfrm>
            <a:off x="777240" y="1874520"/>
            <a:ext cx="10607040" cy="256032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Start by weighting every practice example equally. Train one simple model. Whatever it got wrong, weight those examples up for next time; whatever it got right, weight those down.</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Train the next model on this reweighted set, focused more on the tricky cases. Repeat this several times — this has to happen one round at a time, unlike bagging, which can all be done at once.</a:t>
            </a:r>
            <a:endParaRPr lang="en-US" sz="1250" dirty="0"/>
          </a:p>
          <a:p>
            <a:pPr marL="342900" indent="-342900">
              <a:spcAft>
                <a:spcPts val="1000"/>
              </a:spcAft>
              <a:buSzPct val="100000"/>
              <a:buChar char="•"/>
            </a:pPr>
            <a:r>
              <a:rPr lang="en-US" sz="1250" b="1" dirty="0">
                <a:solidFill>
                  <a:srgbClr val="16233A"/>
                </a:solidFill>
                <a:latin typeface="Calibri" pitchFamily="34" charset="0"/>
                <a:ea typeface="Calibri" pitchFamily="34" charset="-122"/>
                <a:cs typeface="Calibri" pitchFamily="34" charset="-120"/>
              </a:rPr>
              <a:t>Final answer: a weighted vote, where models that turned out more accurate get more say than the ones that struggled.</a:t>
            </a:r>
            <a:endParaRPr lang="en-US" sz="1250" dirty="0"/>
          </a:p>
        </p:txBody>
      </p:sp>
      <p:sp>
        <p:nvSpPr>
          <p:cNvPr id="7" name="Shape 5"/>
          <p:cNvSpPr/>
          <p:nvPr/>
        </p:nvSpPr>
        <p:spPr>
          <a:xfrm>
            <a:off x="548640" y="4251960"/>
            <a:ext cx="11064240" cy="1280160"/>
          </a:xfrm>
          <a:prstGeom prst="rect">
            <a:avLst/>
          </a:prstGeom>
          <a:solidFill>
            <a:srgbClr val="EAF7EF"/>
          </a:solidFill>
          <a:ln w="12700">
            <a:solidFill>
              <a:srgbClr val="3FB871"/>
            </a:solidFill>
            <a:prstDash val="solid"/>
          </a:ln>
        </p:spPr>
      </p:sp>
      <p:sp>
        <p:nvSpPr>
          <p:cNvPr id="8" name="Text 6"/>
          <p:cNvSpPr/>
          <p:nvPr/>
        </p:nvSpPr>
        <p:spPr>
          <a:xfrm>
            <a:off x="777240" y="4389120"/>
            <a:ext cx="10607040" cy="320040"/>
          </a:xfrm>
          <a:prstGeom prst="rect">
            <a:avLst/>
          </a:prstGeom>
          <a:noFill/>
          <a:ln/>
        </p:spPr>
        <p:txBody>
          <a:bodyPr wrap="square" rtlCol="0" anchor="ctr"/>
          <a:lstStyle/>
          <a:p>
            <a:pPr indent="0" marL="0">
              <a:buNone/>
            </a:pPr>
            <a:r>
              <a:rPr lang="en-US" sz="1350" b="1" dirty="0">
                <a:solidFill>
                  <a:srgbClr val="1B6B3A"/>
                </a:solidFill>
                <a:latin typeface="Calibri" pitchFamily="34" charset="0"/>
                <a:ea typeface="Calibri" pitchFamily="34" charset="-122"/>
                <a:cs typeface="Calibri" pitchFamily="34" charset="-120"/>
              </a:rPr>
              <a:t>The Remarkable Guarantee</a:t>
            </a:r>
            <a:endParaRPr lang="en-US" sz="1350" dirty="0"/>
          </a:p>
        </p:txBody>
      </p:sp>
      <p:sp>
        <p:nvSpPr>
          <p:cNvPr id="9" name="Text 7"/>
          <p:cNvSpPr/>
          <p:nvPr/>
        </p:nvSpPr>
        <p:spPr>
          <a:xfrm>
            <a:off x="777240" y="4754880"/>
            <a:ext cx="10607040" cy="5943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Even if each individual model is only barely better than a coin flip, boosting enough of them together can drive practice-set mistakes all the way down to zero — regardless of how weak any single model in the committee is on its own.</a:t>
            </a:r>
            <a:endParaRPr lang="en-US" sz="1250" dirty="0"/>
          </a:p>
        </p:txBody>
      </p:sp>
      <p:sp>
        <p:nvSpPr>
          <p:cNvPr id="10" name="Text 8"/>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48 of 61</a:t>
            </a:r>
            <a:endParaRPr lang="en-US" sz="1000" dirty="0"/>
          </a:p>
        </p:txBody>
      </p:sp>
      <p:sp>
        <p:nvSpPr>
          <p:cNvPr id="11" name="Text 9"/>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19.8.4</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Boosting in Action: A Simple Committee Beats a Single Rule</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A genuinely surprising result that changed how people think about model complexity</a:t>
            </a:r>
            <a:endParaRPr lang="en-US" sz="14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1554480"/>
        </p:xfrm>
        <a:graphic>
          <a:graphicData uri="http://schemas.openxmlformats.org/drawingml/2006/table">
            <a:tbl>
              <a:tblPr/>
              <a:tblGrid>
                <a:gridCol w="5532120"/>
                <a:gridCol w="5532120"/>
              </a:tblGrid>
              <a:tr h="388620">
                <a:tc>
                  <a:txBody>
                    <a:bodyPr/>
                    <a:lstStyle/>
                    <a:p>
                      <a:pPr algn="ctr" indent="0" marL="0">
                        <a:buNone/>
                      </a:pPr>
                      <a:r>
                        <a:rPr lang="en-US" sz="1050" b="1" dirty="0">
                          <a:solidFill>
                            <a:srgbClr val="FFFFFF"/>
                          </a:solidFill>
                        </a:rPr>
                        <a:t>Approach</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c>
                  <a:txBody>
                    <a:bodyPr/>
                    <a:lstStyle/>
                    <a:p>
                      <a:pPr algn="ctr" indent="0" marL="0">
                        <a:buNone/>
                      </a:pPr>
                      <a:r>
                        <a:rPr lang="en-US" sz="1050" b="1" dirty="0">
                          <a:solidFill>
                            <a:srgbClr val="FFFFFF"/>
                          </a:solidFill>
                        </a:rPr>
                        <a:t>Accuracy at 100 Practice Examples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122540"/>
                    </a:solidFill>
                  </a:tcPr>
                </a:tc>
              </a:tr>
              <a:tr h="388620">
                <a:tc>
                  <a:txBody>
                    <a:bodyPr/>
                    <a:lstStyle/>
                    <a:p>
                      <a:pPr algn="ctr" indent="0" marL="0">
                        <a:buNone/>
                      </a:pPr>
                      <a:r>
                        <a:rPr lang="en-US" sz="1050" dirty="0">
                          <a:solidFill>
                            <a:srgbClr val="16233A"/>
                          </a:solidFill>
                        </a:rPr>
                        <a:t>One single, very simple rule (just one question)</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81%</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r>
              <a:tr h="388620">
                <a:tc>
                  <a:txBody>
                    <a:bodyPr/>
                    <a:lstStyle/>
                    <a:p>
                      <a:pPr algn="ctr" indent="0" marL="0">
                        <a:buNone/>
                      </a:pPr>
                      <a:r>
                        <a:rPr lang="en-US" sz="1050" dirty="0">
                          <a:solidFill>
                            <a:srgbClr val="16233A"/>
                          </a:solidFill>
                        </a:rPr>
                        <a:t>A boosted committee of 5 simple rules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6233A"/>
                          </a:solidFill>
                        </a:rPr>
                        <a:t>93%</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7F9FC"/>
                    </a:solidFill>
                  </a:tcPr>
                </a:tc>
              </a:tr>
              <a:tr h="388620">
                <a:tc>
                  <a:txBody>
                    <a:bodyPr/>
                    <a:lstStyle/>
                    <a:p>
                      <a:pPr algn="ctr" indent="0" marL="0">
                        <a:buNone/>
                      </a:pPr>
                      <a:r>
                        <a:rPr lang="en-US" sz="1050" dirty="0">
                          <a:solidFill>
                            <a:srgbClr val="16233A"/>
                          </a:solidFill>
                        </a:rPr>
                        <a:t>A boosted committee of 20 simple rules</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6233A"/>
                          </a:solidFill>
                        </a:rPr>
                        <a:t>100% on the practice set — memorized perfectly</a:t>
                      </a:r>
                      <a:endParaRPr lang="en-US" sz="1050" dirty="0"/>
                    </a:p>
                  </a:txBody>
                  <a:tcPr marL="25400" marR="25400" marT="25400" marB="25400" anchor="ctr">
                    <a:lnL w="6350" cap="flat" cmpd="sng" algn="ctr">
                      <a:solidFill>
                        <a:srgbClr val="DCE3ED"/>
                      </a:solidFill>
                      <a:prstDash val="solid"/>
                      <a:round/>
                      <a:headEnd type="none" w="med" len="med"/>
                      <a:tailEnd type="none" w="med" len="med"/>
                    </a:lnL>
                    <a:lnR w="6350" cap="flat" cmpd="sng" algn="ctr">
                      <a:solidFill>
                        <a:srgbClr val="DCE3ED"/>
                      </a:solidFill>
                      <a:prstDash val="solid"/>
                      <a:round/>
                      <a:headEnd type="none" w="med" len="med"/>
                      <a:tailEnd type="none" w="med" len="med"/>
                    </a:lnR>
                    <a:lnT w="6350" cap="flat" cmpd="sng" algn="ctr">
                      <a:solidFill>
                        <a:srgbClr val="DCE3ED"/>
                      </a:solidFill>
                      <a:prstDash val="solid"/>
                      <a:round/>
                      <a:headEnd type="none" w="med" len="med"/>
                      <a:tailEnd type="none" w="med" len="med"/>
                    </a:lnT>
                    <a:lnB w="6350" cap="flat" cmpd="sng" algn="ctr">
                      <a:solidFill>
                        <a:srgbClr val="DCE3ED"/>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3566160"/>
            <a:ext cx="11064240" cy="2468880"/>
          </a:xfrm>
          <a:prstGeom prst="rect">
            <a:avLst/>
          </a:prstGeom>
          <a:solidFill>
            <a:srgbClr val="EAF7EF"/>
          </a:solidFill>
          <a:ln w="12700">
            <a:solidFill>
              <a:srgbClr val="3FB871"/>
            </a:solidFill>
            <a:prstDash val="solid"/>
          </a:ln>
        </p:spPr>
      </p:sp>
      <p:sp>
        <p:nvSpPr>
          <p:cNvPr id="7" name="Text 4"/>
          <p:cNvSpPr/>
          <p:nvPr/>
        </p:nvSpPr>
        <p:spPr>
          <a:xfrm>
            <a:off x="777240" y="3703320"/>
            <a:ext cx="10607040" cy="320040"/>
          </a:xfrm>
          <a:prstGeom prst="rect">
            <a:avLst/>
          </a:prstGeom>
          <a:noFill/>
          <a:ln/>
        </p:spPr>
        <p:txBody>
          <a:bodyPr wrap="square" rtlCol="0" anchor="ctr"/>
          <a:lstStyle/>
          <a:p>
            <a:pPr indent="0" marL="0">
              <a:buNone/>
            </a:pPr>
            <a:r>
              <a:rPr lang="en-US" sz="1350" b="1" dirty="0">
                <a:solidFill>
                  <a:srgbClr val="1B6B3A"/>
                </a:solidFill>
                <a:latin typeface="Calibri" pitchFamily="34" charset="0"/>
                <a:ea typeface="Calibri" pitchFamily="34" charset="-122"/>
                <a:cs typeface="Calibri" pitchFamily="34" charset="-120"/>
              </a:rPr>
              <a:t>The Genuine Surprise</a:t>
            </a:r>
            <a:endParaRPr lang="en-US" sz="1350" dirty="0"/>
          </a:p>
        </p:txBody>
      </p:sp>
      <p:sp>
        <p:nvSpPr>
          <p:cNvPr id="8" name="Text 5"/>
          <p:cNvSpPr/>
          <p:nvPr/>
        </p:nvSpPr>
        <p:spPr>
          <a:xfrm>
            <a:off x="777240" y="4069080"/>
            <a:ext cx="10607040" cy="178308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Real-world accuracy keeps climbing even long after the practice-set score hits a perfect 100% — rising from 95% at 20 rules to 98% around 137 rules, before settling back near 95%.</a:t>
            </a:r>
            <a:endParaRPr lang="en-US" sz="1250" dirty="0"/>
          </a:p>
          <a:p>
            <a:pPr marL="342900" indent="-342900">
              <a:spcAft>
                <a:spcPts val="1000"/>
              </a:spcAft>
              <a:buSzPct val="100000"/>
              <a:buChar char="•"/>
            </a:pPr>
            <a:r>
              <a:rPr lang="en-US" sz="1250" b="1" dirty="0">
                <a:solidFill>
                  <a:srgbClr val="16233A"/>
                </a:solidFill>
                <a:latin typeface="Calibri" pitchFamily="34" charset="0"/>
                <a:ea typeface="Calibri" pitchFamily="34" charset="-122"/>
                <a:cs typeface="Calibri" pitchFamily="34" charset="-120"/>
              </a:rPr>
              <a:t>Common sense (“don't add complexity you don't need”) would predict this should hurt, not help. One explanation: extra committee members let the group become more confident right near the boundary between yes and no, and that added confidence pays off on brand-new cases.</a:t>
            </a:r>
            <a:endParaRPr lang="en-US" sz="1250" dirty="0"/>
          </a:p>
        </p:txBody>
      </p:sp>
      <p:sp>
        <p:nvSpPr>
          <p:cNvPr id="9" name="Text 6"/>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49 of 61</a:t>
            </a:r>
            <a:endParaRPr lang="en-US" sz="1000" dirty="0"/>
          </a:p>
        </p:txBody>
      </p:sp>
      <p:sp>
        <p:nvSpPr>
          <p:cNvPr id="10"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19.8.5 – 19.8.6</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Two Useful Extensions</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A smoother version of boosting, and what to do when the world itself keeps changing</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Gradient Boosting</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Instead of just reweighting wrong examples, each new model chases the specific gap between the right answers and the committee's current best guess.</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Powers a huge share of industrial-scale models and competition-winning entries today.</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Learning When the World Keeps Shifting</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For situations where the rules themselves change over time — like spam evolving as spammers adapt.</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Basic idea: keep a running scorecard on a panel of “experts,” and trust each one in proportion to how well they've actually done lately.</a:t>
            </a:r>
            <a:endParaRPr lang="en-US" sz="1250" dirty="0"/>
          </a:p>
          <a:p>
            <a:pPr marL="342900" indent="-342900">
              <a:spcAft>
                <a:spcPts val="1000"/>
              </a:spcAft>
              <a:buSzPct val="100000"/>
              <a:buChar char="•"/>
            </a:pPr>
            <a:r>
              <a:rPr lang="en-US" sz="1250" b="1" dirty="0">
                <a:solidFill>
                  <a:srgbClr val="16233A"/>
                </a:solidFill>
                <a:latin typeface="Calibri" pitchFamily="34" charset="0"/>
                <a:ea typeface="Calibri" pitchFamily="34" charset="-122"/>
                <a:cs typeface="Calibri" pitchFamily="34" charset="-120"/>
              </a:rPr>
              <a:t>There's a real, calculable limit on how much worse you can possibly do than the single best expert, even in the worst case.</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50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2540"/>
        </a:solidFill>
      </p:bgPr>
    </p:bg>
    <p:spTree>
      <p:nvGrpSpPr>
        <p:cNvPr id="1" name=""/>
        <p:cNvGrpSpPr/>
        <p:nvPr/>
      </p:nvGrpSpPr>
      <p:grpSpPr>
        <a:xfrm>
          <a:off x="0" y="0"/>
          <a:ext cx="0" cy="0"/>
          <a:chOff x="0" y="0"/>
          <a:chExt cx="0" cy="0"/>
        </a:xfrm>
      </p:grpSpPr>
      <p:sp>
        <p:nvSpPr>
          <p:cNvPr id="2" name="Text 0"/>
          <p:cNvSpPr/>
          <p:nvPr/>
        </p:nvSpPr>
        <p:spPr>
          <a:xfrm>
            <a:off x="822960" y="2286000"/>
            <a:ext cx="3657600" cy="1188720"/>
          </a:xfrm>
          <a:prstGeom prst="rect">
            <a:avLst/>
          </a:prstGeom>
          <a:noFill/>
          <a:ln/>
        </p:spPr>
        <p:txBody>
          <a:bodyPr wrap="square" rtlCol="0" anchor="ctr"/>
          <a:lstStyle/>
          <a:p>
            <a:pPr indent="0" marL="0">
              <a:buNone/>
            </a:pPr>
            <a:r>
              <a:rPr lang="en-US" sz="6000" b="1" dirty="0">
                <a:solidFill>
                  <a:srgbClr val="F0A828"/>
                </a:solidFill>
                <a:latin typeface="Cambria" pitchFamily="34" charset="0"/>
                <a:ea typeface="Cambria" pitchFamily="34" charset="-122"/>
                <a:cs typeface="Cambria" pitchFamily="34" charset="-120"/>
              </a:rPr>
              <a:t>19.9</a:t>
            </a:r>
            <a:endParaRPr lang="en-US" sz="6000" dirty="0"/>
          </a:p>
        </p:txBody>
      </p:sp>
      <p:sp>
        <p:nvSpPr>
          <p:cNvPr id="3" name="Text 1"/>
          <p:cNvSpPr/>
          <p:nvPr/>
        </p:nvSpPr>
        <p:spPr>
          <a:xfrm>
            <a:off x="822960" y="3337560"/>
            <a:ext cx="96012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Developing Machine Learning Systems</a:t>
            </a:r>
            <a:endParaRPr lang="en-US" sz="3200" dirty="0"/>
          </a:p>
        </p:txBody>
      </p:sp>
      <p:sp>
        <p:nvSpPr>
          <p:cNvPr id="4" name="Text 2"/>
          <p:cNvSpPr/>
          <p:nvPr/>
        </p:nvSpPr>
        <p:spPr>
          <a:xfrm>
            <a:off x="822960" y="4160520"/>
            <a:ext cx="9144000" cy="731520"/>
          </a:xfrm>
          <a:prstGeom prst="rect">
            <a:avLst/>
          </a:prstGeom>
          <a:noFill/>
          <a:ln/>
        </p:spPr>
        <p:txBody>
          <a:bodyPr wrap="square" rtlCol="0" anchor="ctr"/>
          <a:lstStyle/>
          <a:p>
            <a:pPr indent="0" marL="0">
              <a:buNone/>
            </a:pPr>
            <a:r>
              <a:rPr lang="en-US" sz="1600" i="1" dirty="0">
                <a:solidFill>
                  <a:srgbClr val="D7E2F2"/>
                </a:solidFill>
                <a:latin typeface="Calibri" pitchFamily="34" charset="0"/>
                <a:ea typeface="Calibri" pitchFamily="34" charset="-122"/>
                <a:cs typeface="Calibri" pitchFamily="34" charset="-120"/>
              </a:rPr>
              <a:t>The math is only half the job — building something people can actually trust is the other half</a:t>
            </a:r>
            <a:endParaRPr lang="en-US" sz="1600" dirty="0"/>
          </a:p>
        </p:txBody>
      </p:sp>
      <p:sp>
        <p:nvSpPr>
          <p:cNvPr id="5" name="Text 3"/>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51 of 61</a:t>
            </a:r>
            <a:endParaRPr lang="en-US" sz="1000" dirty="0"/>
          </a:p>
        </p:txBody>
      </p:sp>
      <p:sp>
        <p:nvSpPr>
          <p:cNvPr id="6" name="Text 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19.9.1</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Get the Question Right Before You Touch Any Model</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Vague goals produce vague, unusable systems — be painfully specific</a:t>
            </a:r>
            <a:endParaRPr lang="en-US" sz="1400" dirty="0"/>
          </a:p>
        </p:txBody>
      </p:sp>
      <p:sp>
        <p:nvSpPr>
          <p:cNvPr id="5" name="Text 3"/>
          <p:cNvSpPr/>
          <p:nvPr/>
        </p:nvSpPr>
        <p:spPr>
          <a:xfrm>
            <a:off x="548640" y="169164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Too vague: “help patients understand their risk.” Specific enough to actually build: “predict, from vitals and labs, the chance a patient needs urgent surgery.”</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Your scoring rule should be related to your real goal, but it's usually only a stand-in for it, not the same thing — predicting labels correctly is a proxy for the actual goal of better outcomes, not identical to it.</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Sometimes there's a genuine choice between learning styles — a small amount of labeled data plus a lot of unlabeled data, or labels that are a bit noisy or imprecise rather than perfectly reliable.</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Even your “answer key” might be wrong sometimes — patient charts, like any real-world records, can have honest mistakes and inconsistencies baked in, and a careful project plans for that.</a:t>
            </a:r>
            <a:endParaRPr lang="en-US" sz="1350" dirty="0"/>
          </a:p>
        </p:txBody>
      </p:sp>
      <p:sp>
        <p:nvSpPr>
          <p:cNvPr id="6" name="Text 4"/>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52 of 61</a:t>
            </a:r>
            <a:endParaRPr lang="en-US" sz="1000" dirty="0"/>
          </a:p>
        </p:txBody>
      </p:sp>
      <p:sp>
        <p:nvSpPr>
          <p:cNvPr id="7" name="Text 5"/>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19.9.2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Data: Where It Comes From, and Healthy Skepticism About It</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A well-organized, well-understood pipeline of data matters more than which fancy method you pick</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Know Your Data Like You'd Know a Recipe</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For every single column, know exactly what it means, where it came from, and its history — did the way it was measured ever change partway through?</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Watch for lopsided data (99.99% of cases are the boring, normal kind) — a model that always guesses “normal” looks accurate on paper and is completely useless in practice.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Watch for oddball outliers — curve-fitting methods get thrown badly off by them; flowchart-style methods handle them more gracefully.</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Practical Fixes</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Manufacture more examples when data is scarce (for images: rotate, crop, adjust brightness).</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For lopsided data, deliberately show the model more of the rare, important cases, or fewer of the boring ones, or penalize missing a rare case more heavily.</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For skewed numeric values (like price), a simple math transformation can shrink the outsized influence of extreme values.</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53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19.9.2</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Choosing the Right Facts to Feed the Model</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“Easily the most important factor is the features used.” — Pedro Domingos</a:t>
            </a:r>
            <a:endParaRPr lang="en-US" sz="1400" dirty="0"/>
          </a:p>
        </p:txBody>
      </p:sp>
      <p:sp>
        <p:nvSpPr>
          <p:cNvPr id="5" name="Text 3"/>
          <p:cNvSpPr/>
          <p:nvPr/>
        </p:nvSpPr>
        <p:spPr>
          <a:xfrm>
            <a:off x="548640" y="1691640"/>
            <a:ext cx="110642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Bucketing: turn an exact number into a handful of ranges — exactly what “wait time: short, medium, long, very long” already does in our restaurant data.</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One-fact-per-option: turn a category like sunny/cloudy/rainy into three separate yes/no facts, exactly one of which is true at a time — especially helpful for some model types.</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Add brand-new facts using common sense — a plain calendar date becomes far more useful once you also note whether it's a weekend or holiday.</a:t>
            </a:r>
            <a:endParaRPr lang="en-US" sz="1350" dirty="0"/>
          </a:p>
          <a:p>
            <a:pPr marL="342900" indent="-342900">
              <a:spcAft>
                <a:spcPts val="1000"/>
              </a:spcAft>
              <a:buSzPct val="100000"/>
              <a:buChar char="•"/>
            </a:pPr>
            <a:r>
              <a:rPr lang="en-US" sz="1350" b="1" dirty="0">
                <a:solidFill>
                  <a:srgbClr val="16233A"/>
                </a:solidFill>
                <a:latin typeface="Calibri" pitchFamily="34" charset="0"/>
                <a:ea typeface="Calibri" pitchFamily="34" charset="-122"/>
                <a:cs typeface="Calibri" pitchFamily="34" charset="-120"/>
              </a:rPr>
              <a:t>Northgate example: raw vital signs are useful, but a derived fact like “hours since symptoms started” often carries more real signal than any single raw number alone.</a:t>
            </a:r>
            <a:endParaRPr lang="en-US" sz="1350" dirty="0"/>
          </a:p>
        </p:txBody>
      </p:sp>
      <p:sp>
        <p:nvSpPr>
          <p:cNvPr id="6" name="Text 4"/>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54 of 61</a:t>
            </a:r>
            <a:endParaRPr lang="en-US" sz="1000" dirty="0"/>
          </a:p>
        </p:txBody>
      </p:sp>
      <p:sp>
        <p:nvSpPr>
          <p:cNvPr id="7" name="Text 5"/>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19.9.2 – 19.9.3</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Look Before You Model, Then Choose Deliberately</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Get a feel for your data first; then pick a method on purpose, not by accident</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Get a Feel for the Data First</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Simple charts and summaries — before trying to predict anything — often reveal missing values, weird errors, or natural groupings you didn't expect.</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Special techniques can flatten complicated, many-fact data down to a simple 2D picture for the human eye, revealing clusters that were invisible in the raw numbers.</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Then Pick a Method on Purpose</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Random forests: lots of categories, and you suspect several of them don't actually matter.</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Just-keep-everything methods: tons of data, not much prior sense of the right formula, and a manageable number of facts.</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Dimmer-switch / straight-line methods: the yes's and no's are already roughly separable.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Deep neural networks: pattern recognition like images or speech.</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55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19.9.3</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Grading a Classifier Honestly</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A single “percent correct” number can hide a lot of important detail</a:t>
            </a:r>
            <a:endParaRPr lang="en-US" sz="1400" dirty="0"/>
          </a:p>
        </p:txBody>
      </p:sp>
      <p:sp>
        <p:nvSpPr>
          <p:cNvPr id="5" name="Text 3"/>
          <p:cNvSpPr/>
          <p:nvPr/>
        </p:nvSpPr>
        <p:spPr>
          <a:xfrm>
            <a:off x="548640" y="1691640"/>
            <a:ext cx="603504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 “false alarm” is flagging something totally normal as if it were the problem you're hunting for — like calling a healthy patient high-risk.</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There's always a tradeoff between false alarms and missed real cases — tightening one loosens the other, there's no free lunch here.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 simple chart can show you every possible tradeoff point at once, so you can pick where on that spectrum you actually want to sit.</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That whole chart can even be boiled down to one single summary number, if you just need a quick way to compare two models.</a:t>
            </a:r>
            <a:endParaRPr lang="en-US" sz="1350" dirty="0"/>
          </a:p>
        </p:txBody>
      </p:sp>
      <p:sp>
        <p:nvSpPr>
          <p:cNvPr id="6" name="Shape 4"/>
          <p:cNvSpPr/>
          <p:nvPr/>
        </p:nvSpPr>
        <p:spPr>
          <a:xfrm>
            <a:off x="6766560" y="1691640"/>
            <a:ext cx="4846320" cy="3200400"/>
          </a:xfrm>
          <a:prstGeom prst="rect">
            <a:avLst/>
          </a:prstGeom>
          <a:solidFill>
            <a:srgbClr val="D7E2F2"/>
          </a:solidFill>
          <a:ln w="12700">
            <a:solidFill>
              <a:srgbClr val="F0A828"/>
            </a:solidFill>
            <a:prstDash val="solid"/>
          </a:ln>
        </p:spPr>
      </p:sp>
      <p:sp>
        <p:nvSpPr>
          <p:cNvPr id="7" name="Text 5"/>
          <p:cNvSpPr/>
          <p:nvPr/>
        </p:nvSpPr>
        <p:spPr>
          <a:xfrm>
            <a:off x="6995160" y="1828800"/>
            <a:ext cx="4389120" cy="320040"/>
          </a:xfrm>
          <a:prstGeom prst="rect">
            <a:avLst/>
          </a:prstGeom>
          <a:noFill/>
          <a:ln/>
        </p:spPr>
        <p:txBody>
          <a:bodyPr wrap="square" rtlCol="0" anchor="ctr"/>
          <a:lstStyle/>
          <a:p>
            <a:pPr indent="0" marL="0">
              <a:buNone/>
            </a:pPr>
            <a:r>
              <a:rPr lang="en-US" sz="1350" b="1" dirty="0">
                <a:solidFill>
                  <a:srgbClr val="122540"/>
                </a:solidFill>
                <a:latin typeface="Calibri" pitchFamily="34" charset="0"/>
                <a:ea typeface="Calibri" pitchFamily="34" charset="-122"/>
                <a:cs typeface="Calibri" pitchFamily="34" charset="-120"/>
              </a:rPr>
              <a:t>The Full Breakdown Table</a:t>
            </a:r>
            <a:endParaRPr lang="en-US" sz="1350" dirty="0"/>
          </a:p>
        </p:txBody>
      </p:sp>
      <p:sp>
        <p:nvSpPr>
          <p:cNvPr id="8" name="Text 6"/>
          <p:cNvSpPr/>
          <p:nvPr/>
        </p:nvSpPr>
        <p:spPr>
          <a:xfrm>
            <a:off x="6995160" y="2194560"/>
            <a:ext cx="4389120" cy="251460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A simple table showing exactly which categories get confused with which other categories — not just an overall score.</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At Northgate: is “appendicitis” specifically getting confused with “stomach flu” unusually often? A single accuracy number would never tell you that — the full table would.</a:t>
            </a:r>
            <a:endParaRPr lang="en-US" sz="1250" dirty="0"/>
          </a:p>
        </p:txBody>
      </p:sp>
      <p:sp>
        <p:nvSpPr>
          <p:cNvPr id="9" name="Text 7"/>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56 of 61</a:t>
            </a:r>
            <a:endParaRPr lang="en-US" sz="1000" dirty="0"/>
          </a:p>
        </p:txBody>
      </p:sp>
      <p:sp>
        <p:nvSpPr>
          <p:cNvPr id="10" name="Text 8"/>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19.9.4</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Two Different Flavors of “I Trust This”</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Can you see why it decided that, or can someone just explain why, after the fact?</a:t>
            </a:r>
            <a:endParaRPr lang="en-US" sz="1400" dirty="0"/>
          </a:p>
        </p:txBody>
      </p:sp>
      <p:sp>
        <p:nvSpPr>
          <p:cNvPr id="5" name="Shape 3"/>
          <p:cNvSpPr/>
          <p:nvPr/>
        </p:nvSpPr>
        <p:spPr>
          <a:xfrm>
            <a:off x="548640" y="1691640"/>
            <a:ext cx="5349240" cy="4572000"/>
          </a:xfrm>
          <a:prstGeom prst="rect">
            <a:avLst/>
          </a:prstGeom>
          <a:solidFill>
            <a:srgbClr val="F7F9FC"/>
          </a:solidFill>
          <a:ln w="9525">
            <a:solidFill>
              <a:srgbClr val="DCE3ED"/>
            </a:solidFill>
            <a:prstDash val="solid"/>
          </a:ln>
        </p:spPr>
      </p:sp>
      <p:sp>
        <p:nvSpPr>
          <p:cNvPr id="6" name="Shape 4"/>
          <p:cNvSpPr/>
          <p:nvPr/>
        </p:nvSpPr>
        <p:spPr>
          <a:xfrm>
            <a:off x="6263640" y="1691640"/>
            <a:ext cx="5349240" cy="4572000"/>
          </a:xfrm>
          <a:prstGeom prst="rect">
            <a:avLst/>
          </a:prstGeom>
          <a:solidFill>
            <a:srgbClr val="F7F9FC"/>
          </a:solidFill>
          <a:ln w="9525">
            <a:solidFill>
              <a:srgbClr val="DCE3ED"/>
            </a:solidFill>
            <a:prstDash val="solid"/>
          </a:ln>
        </p:spPr>
      </p:sp>
      <p:sp>
        <p:nvSpPr>
          <p:cNvPr id="7" name="Text 5"/>
          <p:cNvSpPr/>
          <p:nvPr/>
        </p:nvSpPr>
        <p:spPr>
          <a:xfrm>
            <a:off x="777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“I Can See Why” (Interpretable)</a:t>
            </a:r>
            <a:endParaRPr lang="en-US" sz="1450" dirty="0"/>
          </a:p>
        </p:txBody>
      </p:sp>
      <p:sp>
        <p:nvSpPr>
          <p:cNvPr id="8" name="Text 6"/>
          <p:cNvSpPr/>
          <p:nvPr/>
        </p:nvSpPr>
        <p:spPr>
          <a:xfrm>
            <a:off x="777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You can look directly at the model itself and understand exactly why it landed on this particular answer.</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Flowcharts are naturally like this — humans are already comfortable following a chain of if-this-then-that questions.</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Straight-line models are like this too — “every extra bedroom adds about $500 to predicted rent” is a plain, readable statement.</a:t>
            </a:r>
            <a:endParaRPr lang="en-US" sz="1250" dirty="0"/>
          </a:p>
        </p:txBody>
      </p:sp>
      <p:sp>
        <p:nvSpPr>
          <p:cNvPr id="9" name="Text 7"/>
          <p:cNvSpPr/>
          <p:nvPr/>
        </p:nvSpPr>
        <p:spPr>
          <a:xfrm>
            <a:off x="6492240" y="1856232"/>
            <a:ext cx="4892040" cy="365760"/>
          </a:xfrm>
          <a:prstGeom prst="rect">
            <a:avLst/>
          </a:prstGeom>
          <a:noFill/>
          <a:ln/>
        </p:spPr>
        <p:txBody>
          <a:bodyPr wrap="square" rtlCol="0" anchor="ctr"/>
          <a:lstStyle/>
          <a:p>
            <a:pPr indent="0" marL="0">
              <a:buNone/>
            </a:pPr>
            <a:r>
              <a:rPr lang="en-US" sz="1450" b="1" dirty="0">
                <a:solidFill>
                  <a:srgbClr val="122540"/>
                </a:solidFill>
                <a:latin typeface="Calibri" pitchFamily="34" charset="0"/>
                <a:ea typeface="Calibri" pitchFamily="34" charset="-122"/>
                <a:cs typeface="Calibri" pitchFamily="34" charset="-120"/>
              </a:rPr>
              <a:t>“Someone Explained It to Me” (Explainable)</a:t>
            </a:r>
            <a:endParaRPr lang="en-US" sz="1450" dirty="0"/>
          </a:p>
        </p:txBody>
      </p:sp>
      <p:sp>
        <p:nvSpPr>
          <p:cNvPr id="10" name="Text 8"/>
          <p:cNvSpPr/>
          <p:nvPr/>
        </p:nvSpPr>
        <p:spPr>
          <a:xfrm>
            <a:off x="6492240" y="2286000"/>
            <a:ext cx="4892040" cy="379476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The underlying model might genuinely be a black box — but a separate, after-the-fact process can still explain a specific decision in plain terms.</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Example: a tool that probes a black-box model with lots of nearby “what if” cases, and builds a simple, honest local explanation just for this one decision.</a:t>
            </a:r>
            <a:endParaRPr lang="en-US" sz="1250" dirty="0"/>
          </a:p>
          <a:p>
            <a:pPr marL="342900" indent="-342900">
              <a:spcAft>
                <a:spcPts val="1000"/>
              </a:spcAft>
              <a:buSzPct val="100000"/>
              <a:buChar char="•"/>
            </a:pPr>
            <a:r>
              <a:rPr lang="en-US" sz="1250" b="1" dirty="0">
                <a:solidFill>
                  <a:srgbClr val="16233A"/>
                </a:solidFill>
                <a:latin typeface="Calibri" pitchFamily="34" charset="0"/>
                <a:ea typeface="Calibri" pitchFamily="34" charset="-122"/>
                <a:cs typeface="Calibri" pitchFamily="34" charset="-120"/>
              </a:rPr>
              <a:t>Some regulations, like the EU's GDPR, legally require certain systems to provide explanations, no matter what kind of model is running underneath.</a:t>
            </a:r>
            <a:endParaRPr lang="en-US" sz="1250" dirty="0"/>
          </a:p>
        </p:txBody>
      </p:sp>
      <p:sp>
        <p:nvSpPr>
          <p:cNvPr id="11" name="Text 9"/>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57 of 61</a:t>
            </a:r>
            <a:endParaRPr lang="en-US" sz="1000" dirty="0"/>
          </a:p>
        </p:txBody>
      </p:sp>
      <p:sp>
        <p:nvSpPr>
          <p:cNvPr id="12" name="Text 10"/>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19.9.5</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Shipping It, Watching It, and Keeping It Healthy</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The world keeps changing after you ship — your system has to keep up, or it quietly rots</a:t>
            </a:r>
            <a:endParaRPr lang="en-US" sz="1400" dirty="0"/>
          </a:p>
        </p:txBody>
      </p:sp>
      <p:sp>
        <p:nvSpPr>
          <p:cNvPr id="5" name="Text 3"/>
          <p:cNvSpPr/>
          <p:nvPr/>
        </p:nvSpPr>
        <p:spPr>
          <a:xfrm>
            <a:off x="548640" y="1691640"/>
            <a:ext cx="585216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Real users will bring you situations your testing never covered — you need ongoing, live monitoring and alerts, not just a one-time report card.</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The world itself keeps shifting — spammers change tactics the moment a filter starts catching them, exactly the way any adversary adapts to your defenses.</a:t>
            </a:r>
            <a:endParaRPr lang="en-US" sz="1350" dirty="0"/>
          </a:p>
        </p:txBody>
      </p:sp>
      <p:sp>
        <p:nvSpPr>
          <p:cNvPr id="6" name="Shape 4"/>
          <p:cNvSpPr/>
          <p:nvPr/>
        </p:nvSpPr>
        <p:spPr>
          <a:xfrm>
            <a:off x="6400800" y="1691640"/>
            <a:ext cx="5212080" cy="4480560"/>
          </a:xfrm>
          <a:prstGeom prst="rect">
            <a:avLst/>
          </a:prstGeom>
          <a:solidFill>
            <a:srgbClr val="EAF7EF"/>
          </a:solidFill>
          <a:ln w="12700">
            <a:solidFill>
              <a:srgbClr val="3FB871"/>
            </a:solidFill>
            <a:prstDash val="solid"/>
          </a:ln>
        </p:spPr>
      </p:sp>
      <p:sp>
        <p:nvSpPr>
          <p:cNvPr id="7" name="Text 5"/>
          <p:cNvSpPr/>
          <p:nvPr/>
        </p:nvSpPr>
        <p:spPr>
          <a:xfrm>
            <a:off x="6629400" y="1828800"/>
            <a:ext cx="4754880" cy="320040"/>
          </a:xfrm>
          <a:prstGeom prst="rect">
            <a:avLst/>
          </a:prstGeom>
          <a:noFill/>
          <a:ln/>
        </p:spPr>
        <p:txBody>
          <a:bodyPr wrap="square" rtlCol="0" anchor="ctr"/>
          <a:lstStyle/>
          <a:p>
            <a:pPr indent="0" marL="0">
              <a:buNone/>
            </a:pPr>
            <a:r>
              <a:rPr lang="en-US" sz="1350" b="1" dirty="0">
                <a:solidFill>
                  <a:srgbClr val="1B6B3A"/>
                </a:solidFill>
                <a:latin typeface="Calibri" pitchFamily="34" charset="0"/>
                <a:ea typeface="Calibri" pitchFamily="34" charset="-122"/>
                <a:cs typeface="Calibri" pitchFamily="34" charset="-120"/>
              </a:rPr>
              <a:t>A Practical Health Checklist</a:t>
            </a:r>
            <a:endParaRPr lang="en-US" sz="1350" dirty="0"/>
          </a:p>
        </p:txBody>
      </p:sp>
      <p:sp>
        <p:nvSpPr>
          <p:cNvPr id="8" name="Text 6"/>
          <p:cNvSpPr/>
          <p:nvPr/>
        </p:nvSpPr>
        <p:spPr>
          <a:xfrm>
            <a:off x="6629400" y="2194560"/>
            <a:ext cx="4754880" cy="3794760"/>
          </a:xfrm>
          <a:prstGeom prst="rect">
            <a:avLst/>
          </a:prstGeom>
          <a:noFill/>
          <a:ln/>
        </p:spPr>
        <p:txBody>
          <a:bodyPr wrap="square" rtlCol="0" anchor="t"/>
          <a:lstStyle/>
          <a:p>
            <a:pPr marL="228600" indent="-228600">
              <a:spcAft>
                <a:spcPts val="600"/>
              </a:spcAft>
              <a:buSzPct val="100000"/>
              <a:buChar char="–"/>
            </a:pPr>
            <a:r>
              <a:rPr lang="en-US" sz="1150" b="1" dirty="0">
                <a:solidFill>
                  <a:srgbClr val="16233A"/>
                </a:solidFill>
                <a:latin typeface="Calibri" pitchFamily="34" charset="0"/>
                <a:ea typeface="Calibri" pitchFamily="34" charset="-122"/>
                <a:cs typeface="Calibri" pitchFamily="34" charset="-120"/>
              </a:rPr>
              <a:t>Data &amp; facts:</a:t>
            </a:r>
            <a:endParaRPr lang="en-US" sz="1150" dirty="0"/>
          </a:p>
          <a:p>
            <a:pPr marL="228600" indent="-228600">
              <a:spcAft>
                <a:spcPts val="600"/>
              </a:spcAft>
              <a:buSzPct val="100000"/>
              <a:buChar char="–"/>
            </a:pPr>
            <a:r>
              <a:rPr lang="en-US" sz="1150" dirty="0">
                <a:solidFill>
                  <a:srgbClr val="16233A"/>
                </a:solidFill>
                <a:latin typeface="Calibri" pitchFamily="34" charset="0"/>
                <a:ea typeface="Calibri" pitchFamily="34" charset="-122"/>
                <a:cs typeface="Calibri" pitchFamily="34" charset="-120"/>
              </a:rPr>
              <a:t>Every fact fed to the model is actually pulling its weight; privacy is respected.</a:t>
            </a:r>
            <a:endParaRPr lang="en-US" sz="1150" dirty="0"/>
          </a:p>
          <a:p>
            <a:pPr marL="228600" indent="-228600">
              <a:spcAft>
                <a:spcPts val="600"/>
              </a:spcAft>
              <a:buSzPct val="100000"/>
              <a:buChar char="–"/>
            </a:pPr>
            <a:r>
              <a:rPr lang="en-US" sz="1150" b="1" dirty="0">
                <a:solidFill>
                  <a:srgbClr val="16233A"/>
                </a:solidFill>
                <a:latin typeface="Calibri" pitchFamily="34" charset="0"/>
                <a:ea typeface="Calibri" pitchFamily="34" charset="-122"/>
                <a:cs typeface="Calibri" pitchFamily="34" charset="-120"/>
              </a:rPr>
              <a:t>Building the model:</a:t>
            </a:r>
            <a:endParaRPr lang="en-US" sz="1150" dirty="0"/>
          </a:p>
          <a:p>
            <a:pPr marL="228600" indent="-228600">
              <a:spcAft>
                <a:spcPts val="600"/>
              </a:spcAft>
              <a:buSzPct val="100000"/>
              <a:buChar char="–"/>
            </a:pPr>
            <a:r>
              <a:rPr lang="en-US" sz="1150" dirty="0">
                <a:solidFill>
                  <a:srgbClr val="16233A"/>
                </a:solidFill>
                <a:latin typeface="Calibri" pitchFamily="34" charset="0"/>
                <a:ea typeface="Calibri" pitchFamily="34" charset="-122"/>
                <a:cs typeface="Calibri" pitchFamily="34" charset="-120"/>
              </a:rPr>
              <a:t>Someone else reviewed it; the dials are properly tuned; it's checked carefully across every important group, not just on average.</a:t>
            </a:r>
            <a:endParaRPr lang="en-US" sz="1150" dirty="0"/>
          </a:p>
          <a:p>
            <a:pPr marL="228600" indent="-228600">
              <a:spcAft>
                <a:spcPts val="600"/>
              </a:spcAft>
              <a:buSzPct val="100000"/>
              <a:buChar char="–"/>
            </a:pPr>
            <a:r>
              <a:rPr lang="en-US" sz="1150" b="1" dirty="0">
                <a:solidFill>
                  <a:srgbClr val="16233A"/>
                </a:solidFill>
                <a:latin typeface="Calibri" pitchFamily="34" charset="0"/>
                <a:ea typeface="Calibri" pitchFamily="34" charset="-122"/>
                <a:cs typeface="Calibri" pitchFamily="34" charset="-120"/>
              </a:rPr>
              <a:t>The plumbing behind it:</a:t>
            </a:r>
            <a:endParaRPr lang="en-US" sz="1150" dirty="0"/>
          </a:p>
          <a:p>
            <a:pPr marL="228600" indent="-228600">
              <a:spcAft>
                <a:spcPts val="600"/>
              </a:spcAft>
              <a:buSzPct val="100000"/>
              <a:buChar char="–"/>
            </a:pPr>
            <a:r>
              <a:rPr lang="en-US" sz="1150" dirty="0">
                <a:solidFill>
                  <a:srgbClr val="16233A"/>
                </a:solidFill>
                <a:latin typeface="Calibri" pitchFamily="34" charset="0"/>
                <a:ea typeface="Calibri" pitchFamily="34" charset="-122"/>
                <a:cs typeface="Calibri" pitchFamily="34" charset="-120"/>
              </a:rPr>
              <a:t>You can rebuild it from scratch reliably; it's tested carefully before a full rollout; you can undo a bad update quickly.</a:t>
            </a:r>
            <a:endParaRPr lang="en-US" sz="1150" dirty="0"/>
          </a:p>
          <a:p>
            <a:pPr marL="228600" indent="-228600">
              <a:spcAft>
                <a:spcPts val="600"/>
              </a:spcAft>
              <a:buSzPct val="100000"/>
              <a:buChar char="–"/>
            </a:pPr>
            <a:r>
              <a:rPr lang="en-US" sz="1150" b="1" dirty="0">
                <a:solidFill>
                  <a:srgbClr val="16233A"/>
                </a:solidFill>
                <a:latin typeface="Calibri" pitchFamily="34" charset="0"/>
                <a:ea typeface="Calibri" pitchFamily="34" charset="-122"/>
                <a:cs typeface="Calibri" pitchFamily="34" charset="-120"/>
              </a:rPr>
              <a:t>Ongoing health checks:</a:t>
            </a:r>
            <a:endParaRPr lang="en-US" sz="1150" dirty="0"/>
          </a:p>
          <a:p>
            <a:pPr marL="228600" indent="-228600">
              <a:spcAft>
                <a:spcPts val="600"/>
              </a:spcAft>
              <a:buSzPct val="100000"/>
              <a:buChar char="–"/>
            </a:pPr>
            <a:r>
              <a:rPr lang="en-US" sz="1150" dirty="0">
                <a:solidFill>
                  <a:srgbClr val="16233A"/>
                </a:solidFill>
                <a:latin typeface="Calibri" pitchFamily="34" charset="0"/>
                <a:ea typeface="Calibri" pitchFamily="34" charset="-122"/>
                <a:cs typeface="Calibri" pitchFamily="34" charset="-120"/>
              </a:rPr>
              <a:t>You get alerted if it goes stale, gets slow, or starts quietly making worse guesses.</a:t>
            </a:r>
            <a:endParaRPr lang="en-US" sz="1150" dirty="0"/>
          </a:p>
        </p:txBody>
      </p:sp>
      <p:sp>
        <p:nvSpPr>
          <p:cNvPr id="9" name="Text 7"/>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58 of 61</a:t>
            </a:r>
            <a:endParaRPr lang="en-US" sz="1000" dirty="0"/>
          </a:p>
        </p:txBody>
      </p:sp>
      <p:sp>
        <p:nvSpPr>
          <p:cNvPr id="10" name="Text 8"/>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CHAPTER SUMMARY</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What We Covered in Chapter 19</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From “what is learning” to a real, trustworthy machine learning system</a:t>
            </a:r>
            <a:endParaRPr lang="en-US" sz="1400" dirty="0"/>
          </a:p>
        </p:txBody>
      </p:sp>
      <p:sp>
        <p:nvSpPr>
          <p:cNvPr id="5" name="Text 3"/>
          <p:cNvSpPr/>
          <p:nvPr/>
        </p:nvSpPr>
        <p:spPr>
          <a:xfrm>
            <a:off x="548640" y="1691640"/>
            <a:ext cx="566928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Learning takes many shapes depending on what's being improved and what kind of feedback is available (19.1).</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Supervised learning means guessing a rule from an answer key, then checking it against fresh, unseen questions (19.2).</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Decision-tree flowcharts, grown using “most useful question first,” can represent basically any yes/no rule; pruning keeps them from getting too fussy (19.3).</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 genuine practice-test quiz, plus a built-in preference for simplicity, keeps us honest when comparing models; a good scoring rule weighs real-world cost, not just “right or wrong” (19.4).</a:t>
            </a:r>
            <a:endParaRPr lang="en-US" sz="1350" dirty="0"/>
          </a:p>
        </p:txBody>
      </p:sp>
      <p:sp>
        <p:nvSpPr>
          <p:cNvPr id="6" name="Text 4"/>
          <p:cNvSpPr/>
          <p:nvPr/>
        </p:nvSpPr>
        <p:spPr>
          <a:xfrm>
            <a:off x="6309360" y="1691640"/>
            <a:ext cx="530352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There's a real, calculable answer for how many examples you need before you can trust a rule (19.5).</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Straight-line and dimmer-switch models, trained by walking downhill, predict numbers and yes/no answers (19.6); “who's-most-similar” style methods let big piles of data speak for themselves (19.7).</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 committee — bagging, random forests, stacking, boosting — usually beats any single model (19.8).</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Shipping ML responsibly means careful data habits, honest grading, real explanations, and ongoing health checks after launch (19.9).</a:t>
            </a:r>
            <a:endParaRPr lang="en-US" sz="1350" dirty="0"/>
          </a:p>
        </p:txBody>
      </p:sp>
      <p:sp>
        <p:nvSpPr>
          <p:cNvPr id="7" name="Text 5"/>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59 of 61</a:t>
            </a:r>
            <a:endParaRPr lang="en-US" sz="1000" dirty="0"/>
          </a:p>
        </p:txBody>
      </p:sp>
      <p:sp>
        <p:nvSpPr>
          <p:cNvPr id="8" name="Text 6"/>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rtlCol="0" anchor="ctr"/>
          <a:lstStyle/>
          <a:p>
            <a:pPr indent="0" marL="0">
              <a:buNone/>
            </a:pPr>
            <a:r>
              <a:rPr lang="en-US" sz="1200" b="1" spc="100" kern="0" dirty="0">
                <a:solidFill>
                  <a:srgbClr val="F0A828"/>
                </a:solidFill>
                <a:latin typeface="Calibri" pitchFamily="34" charset="0"/>
                <a:ea typeface="Calibri" pitchFamily="34" charset="-122"/>
                <a:cs typeface="Calibri" pitchFamily="34" charset="-120"/>
              </a:rPr>
              <a:t>LOOKING AHEAD</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indent="0" marL="0">
              <a:buNone/>
            </a:pPr>
            <a:r>
              <a:rPr lang="en-US" sz="2500" b="1" dirty="0">
                <a:solidFill>
                  <a:srgbClr val="122540"/>
                </a:solidFill>
                <a:latin typeface="Cambria" pitchFamily="34" charset="0"/>
                <a:ea typeface="Cambria" pitchFamily="34" charset="-122"/>
                <a:cs typeface="Cambria" pitchFamily="34" charset="-120"/>
              </a:rPr>
              <a:t>Questions?</a:t>
            </a:r>
            <a:endParaRPr lang="en-US" sz="2500" dirty="0"/>
          </a:p>
        </p:txBody>
      </p:sp>
      <p:sp>
        <p:nvSpPr>
          <p:cNvPr id="4" name="Text 2"/>
          <p:cNvSpPr/>
          <p:nvPr/>
        </p:nvSpPr>
        <p:spPr>
          <a:xfrm>
            <a:off x="548640" y="1170432"/>
            <a:ext cx="11064240" cy="411480"/>
          </a:xfrm>
          <a:prstGeom prst="rect">
            <a:avLst/>
          </a:prstGeom>
          <a:noFill/>
          <a:ln/>
        </p:spPr>
        <p:txBody>
          <a:bodyPr wrap="square" rtlCol="0" anchor="ctr"/>
          <a:lstStyle/>
          <a:p>
            <a:pPr indent="0" marL="0">
              <a:buNone/>
            </a:pPr>
            <a:r>
              <a:rPr lang="en-US" sz="1400" i="1" dirty="0">
                <a:solidFill>
                  <a:srgbClr val="5B6B80"/>
                </a:solidFill>
                <a:latin typeface="Calibri" pitchFamily="34" charset="0"/>
                <a:ea typeface="Calibri" pitchFamily="34" charset="-122"/>
                <a:cs typeface="Calibri" pitchFamily="34" charset="-120"/>
              </a:rPr>
              <a:t>Next: Chapter 20, Knowledge in Learning — learning when you already know something going in</a:t>
            </a:r>
            <a:endParaRPr lang="en-US" sz="1400" dirty="0"/>
          </a:p>
        </p:txBody>
      </p:sp>
      <p:sp>
        <p:nvSpPr>
          <p:cNvPr id="5" name="Shape 3"/>
          <p:cNvSpPr/>
          <p:nvPr/>
        </p:nvSpPr>
        <p:spPr>
          <a:xfrm>
            <a:off x="548640" y="1691640"/>
            <a:ext cx="11064240" cy="3108960"/>
          </a:xfrm>
          <a:prstGeom prst="rect">
            <a:avLst/>
          </a:prstGeom>
          <a:solidFill>
            <a:srgbClr val="D7E2F2"/>
          </a:solidFill>
          <a:ln w="12700">
            <a:solidFill>
              <a:srgbClr val="F0A828"/>
            </a:solidFill>
            <a:prstDash val="solid"/>
          </a:ln>
        </p:spPr>
      </p:sp>
      <p:sp>
        <p:nvSpPr>
          <p:cNvPr id="6" name="Text 4"/>
          <p:cNvSpPr/>
          <p:nvPr/>
        </p:nvSpPr>
        <p:spPr>
          <a:xfrm>
            <a:off x="777240" y="1874520"/>
            <a:ext cx="10607040" cy="2743200"/>
          </a:xfrm>
          <a:prstGeom prst="rect">
            <a:avLst/>
          </a:prstGeom>
          <a:noFill/>
          <a:ln/>
        </p:spPr>
        <p:txBody>
          <a:bodyPr wrap="square" rtlCol="0" anchor="t"/>
          <a:lstStyle/>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Before next class: be able to build a small flowchart by hand from a handful of examples, using “most useful question first.”</a:t>
            </a:r>
            <a:endParaRPr lang="en-US" sz="1250" dirty="0"/>
          </a:p>
          <a:p>
            <a:pPr marL="342900" indent="-3429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Also review: why acing the practice set proves nothing on its own, and the difference between “I can see why” and “someone explained it to me” — both ideas come back in every later chapter on learning.</a:t>
            </a:r>
            <a:endParaRPr lang="en-US" sz="1250" dirty="0"/>
          </a:p>
        </p:txBody>
      </p:sp>
      <p:sp>
        <p:nvSpPr>
          <p:cNvPr id="7" name="Text 5"/>
          <p:cNvSpPr/>
          <p:nvPr/>
        </p:nvSpPr>
        <p:spPr>
          <a:xfrm>
            <a:off x="10881360" y="6510528"/>
            <a:ext cx="1097280" cy="274320"/>
          </a:xfrm>
          <a:prstGeom prst="rect">
            <a:avLst/>
          </a:prstGeom>
          <a:noFill/>
          <a:ln/>
        </p:spPr>
        <p:txBody>
          <a:bodyPr wrap="square" rtlCol="0" anchor="ctr"/>
          <a:lstStyle/>
          <a:p>
            <a:pPr algn="r" indent="0" marL="0">
              <a:buNone/>
            </a:pPr>
            <a:r>
              <a:rPr lang="en-US" sz="1000" dirty="0">
                <a:solidFill>
                  <a:srgbClr val="5B6B80"/>
                </a:solidFill>
                <a:latin typeface="Calibri" pitchFamily="34" charset="0"/>
                <a:ea typeface="Calibri" pitchFamily="34" charset="-122"/>
                <a:cs typeface="Calibri" pitchFamily="34" charset="-120"/>
              </a:rPr>
              <a:t>60 of 61</a:t>
            </a:r>
            <a:endParaRPr lang="en-US" sz="1000" dirty="0"/>
          </a:p>
        </p:txBody>
      </p:sp>
      <p:sp>
        <p:nvSpPr>
          <p:cNvPr id="8" name="Text 6"/>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5B6B80"/>
                </a:solidFill>
                <a:latin typeface="Calibri" pitchFamily="34" charset="0"/>
                <a:ea typeface="Calibri" pitchFamily="34" charset="-122"/>
                <a:cs typeface="Calibri" pitchFamily="34" charset="-120"/>
              </a:rPr>
              <a:t>Learning from Examples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19: Learning from Examples</dc:title>
  <dc:subject>PptxGenJS Presentation</dc:subject>
  <dc:creator>CS650 Artificial Intelligence</dc:creator>
  <cp:lastModifiedBy>CS650 Artificial Intelligence</cp:lastModifiedBy>
  <cp:revision>1</cp:revision>
  <dcterms:created xsi:type="dcterms:W3CDTF">2026-07-16T22:20:47Z</dcterms:created>
  <dcterms:modified xsi:type="dcterms:W3CDTF">2026-07-16T22:20:47Z</dcterms:modified>
</cp:coreProperties>
</file>